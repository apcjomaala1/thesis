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3"/>
  </p:notesMasterIdLst>
  <p:sldIdLst>
    <p:sldId id="256" r:id="rId2"/>
    <p:sldId id="257" r:id="rId3"/>
    <p:sldId id="259" r:id="rId4"/>
    <p:sldId id="261" r:id="rId5"/>
    <p:sldId id="262" r:id="rId6"/>
    <p:sldId id="290" r:id="rId7"/>
    <p:sldId id="291" r:id="rId8"/>
    <p:sldId id="267" r:id="rId9"/>
    <p:sldId id="292" r:id="rId10"/>
    <p:sldId id="270" r:id="rId11"/>
    <p:sldId id="264" r:id="rId12"/>
    <p:sldId id="293" r:id="rId13"/>
    <p:sldId id="272" r:id="rId14"/>
    <p:sldId id="275" r:id="rId15"/>
    <p:sldId id="294" r:id="rId16"/>
    <p:sldId id="276" r:id="rId17"/>
    <p:sldId id="295" r:id="rId18"/>
    <p:sldId id="297" r:id="rId19"/>
    <p:sldId id="304" r:id="rId20"/>
    <p:sldId id="277" r:id="rId21"/>
    <p:sldId id="300" r:id="rId22"/>
    <p:sldId id="278" r:id="rId23"/>
    <p:sldId id="299" r:id="rId24"/>
    <p:sldId id="284" r:id="rId25"/>
    <p:sldId id="298" r:id="rId26"/>
    <p:sldId id="303" r:id="rId27"/>
    <p:sldId id="285" r:id="rId28"/>
    <p:sldId id="286" r:id="rId29"/>
    <p:sldId id="287" r:id="rId30"/>
    <p:sldId id="288" r:id="rId31"/>
    <p:sldId id="289"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383" autoAdjust="0"/>
  </p:normalViewPr>
  <p:slideViewPr>
    <p:cSldViewPr snapToGrid="0">
      <p:cViewPr varScale="1">
        <p:scale>
          <a:sx n="64" d="100"/>
          <a:sy n="64" d="100"/>
        </p:scale>
        <p:origin x="135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PR-AUC</c:v>
          </c:tx>
          <c:spPr>
            <a:solidFill>
              <a:srgbClr val="36588C"/>
            </a:solidFill>
            <a:ln>
              <a:noFill/>
            </a:ln>
          </c:spPr>
          <c:invertIfNegative val="1"/>
          <c:dLbls>
            <c:numFmt formatCode="0.000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Keyword</c:v>
                </c:pt>
                <c:pt idx="1">
                  <c:v>Maximum L1</c:v>
                </c:pt>
                <c:pt idx="2">
                  <c:v>Weighted</c:v>
                </c:pt>
                <c:pt idx="3">
                  <c:v>7-feature LSTM</c:v>
                </c:pt>
                <c:pt idx="4">
                  <c:v>775-input LSTM</c:v>
                </c:pt>
              </c:strCache>
            </c:strRef>
          </c:cat>
          <c:val>
            <c:numRef>
              <c:f>'Sheet1'!$B$2:$B$6</c:f>
              <c:numCache>
                <c:formatCode>General</c:formatCode>
                <c:ptCount val="5"/>
                <c:pt idx="0">
                  <c:v>0.4451</c:v>
                </c:pt>
                <c:pt idx="1">
                  <c:v>0.55230000000000001</c:v>
                </c:pt>
                <c:pt idx="2">
                  <c:v>0.80500000000000005</c:v>
                </c:pt>
                <c:pt idx="3">
                  <c:v>0.9153</c:v>
                </c:pt>
                <c:pt idx="4">
                  <c:v>0.94830000000000003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89B-4763-9187-A4EB114318B8}"/>
            </c:ext>
          </c:extLst>
        </c:ser>
        <c:ser>
          <c:idx val="1"/>
          <c:order val="1"/>
          <c:tx>
            <c:v>F2</c:v>
          </c:tx>
          <c:spPr>
            <a:solidFill>
              <a:srgbClr val="257656"/>
            </a:solidFill>
            <a:ln>
              <a:noFill/>
            </a:ln>
          </c:spPr>
          <c:invertIfNegative val="1"/>
          <c:dLbls>
            <c:numFmt formatCode="0.000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Keyword</c:v>
                </c:pt>
                <c:pt idx="1">
                  <c:v>Maximum L1</c:v>
                </c:pt>
                <c:pt idx="2">
                  <c:v>Weighted</c:v>
                </c:pt>
                <c:pt idx="3">
                  <c:v>7-feature LSTM</c:v>
                </c:pt>
                <c:pt idx="4">
                  <c:v>775-input LSTM</c:v>
                </c:pt>
              </c:strCache>
            </c:strRef>
          </c:cat>
          <c:val>
            <c:numRef>
              <c:f>'Sheet1'!$C$2:$C$6</c:f>
              <c:numCache>
                <c:formatCode>General</c:formatCode>
                <c:ptCount val="5"/>
                <c:pt idx="0">
                  <c:v>0.63080000000000003</c:v>
                </c:pt>
                <c:pt idx="1">
                  <c:v>0.66549999999999998</c:v>
                </c:pt>
                <c:pt idx="2">
                  <c:v>0.79830000000000001</c:v>
                </c:pt>
                <c:pt idx="3">
                  <c:v>0.86129999999999995</c:v>
                </c:pt>
                <c:pt idx="4">
                  <c:v>0.84289999999999998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289B-4763-9187-A4EB114318B8}"/>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1"/>
          <c:min val="0"/>
        </c:scaling>
        <c:delete val="0"/>
        <c:axPos val="l"/>
        <c:majorGridlines>
          <c:spPr>
            <a:ln w="6350">
              <a:solidFill>
                <a:srgbClr val="E5E8ED"/>
              </a:solidFill>
            </a:ln>
          </c:spPr>
        </c:majorGridlines>
        <c:numFmt formatCode="0.0" sourceLinked="0"/>
        <c:majorTickMark val="none"/>
        <c:minorTickMark val="none"/>
        <c:tickLblPos val="nextTo"/>
        <c:txPr>
          <a:bodyPr/>
          <a:lstStyle/>
          <a:p>
            <a:pPr>
              <a:defRPr sz="1600">
                <a:latin typeface="Calibri"/>
              </a:defRPr>
            </a:pPr>
            <a:endParaRPr lang="en-US"/>
          </a:p>
        </c:txPr>
        <c:crossAx val="10"/>
        <c:crosses val="autoZero"/>
        <c:crossBetween val="between"/>
        <c:majorUnit val="0.2"/>
      </c:valAx>
    </c:plotArea>
    <c:legend>
      <c:legendPos val="b"/>
      <c:overlay val="0"/>
      <c:txPr>
        <a:bodyPr/>
        <a:lstStyle/>
        <a:p>
          <a:pPr>
            <a:defRPr sz="1700">
              <a:latin typeface="Calibri"/>
            </a:defRPr>
          </a:pPr>
          <a:endParaRPr lang="en-US"/>
        </a:p>
      </c:txPr>
    </c:legend>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Missed positives (FN)</c:v>
          </c:tx>
          <c:spPr>
            <a:solidFill>
              <a:srgbClr val="D59A16"/>
            </a:solidFill>
            <a:ln>
              <a:noFill/>
            </a:ln>
          </c:spPr>
          <c:invertIfNegative val="1"/>
          <c:dLbls>
            <c:numFmt formatCode="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Keyword</c:v>
                </c:pt>
                <c:pt idx="1">
                  <c:v>Maximum L1</c:v>
                </c:pt>
                <c:pt idx="2">
                  <c:v>Weighted</c:v>
                </c:pt>
                <c:pt idx="3">
                  <c:v>7-feature LSTM</c:v>
                </c:pt>
                <c:pt idx="4">
                  <c:v>775-input LSTM</c:v>
                </c:pt>
              </c:strCache>
            </c:strRef>
          </c:cat>
          <c:val>
            <c:numRef>
              <c:f>'Sheet1'!$B$2:$B$6</c:f>
              <c:numCache>
                <c:formatCode>General</c:formatCode>
                <c:ptCount val="5"/>
                <c:pt idx="0">
                  <c:v>17</c:v>
                </c:pt>
                <c:pt idx="1">
                  <c:v>5</c:v>
                </c:pt>
                <c:pt idx="2">
                  <c:v>6</c:v>
                </c:pt>
                <c:pt idx="3">
                  <c:v>3</c:v>
                </c:pt>
                <c:pt idx="4">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627-43F6-BFA4-4D52BE2C6397}"/>
            </c:ext>
          </c:extLst>
        </c:ser>
        <c:ser>
          <c:idx val="1"/>
          <c:order val="1"/>
          <c:tx>
            <c:v>False alerts (FP)</c:v>
          </c:tx>
          <c:spPr>
            <a:solidFill>
              <a:srgbClr val="36588C"/>
            </a:solidFill>
            <a:ln>
              <a:noFill/>
            </a:ln>
          </c:spPr>
          <c:invertIfNegative val="1"/>
          <c:dLbls>
            <c:numFmt formatCode="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Keyword</c:v>
                </c:pt>
                <c:pt idx="1">
                  <c:v>Maximum L1</c:v>
                </c:pt>
                <c:pt idx="2">
                  <c:v>Weighted</c:v>
                </c:pt>
                <c:pt idx="3">
                  <c:v>7-feature LSTM</c:v>
                </c:pt>
                <c:pt idx="4">
                  <c:v>775-input LSTM</c:v>
                </c:pt>
              </c:strCache>
            </c:strRef>
          </c:cat>
          <c:val>
            <c:numRef>
              <c:f>'Sheet1'!$C$2:$C$6</c:f>
              <c:numCache>
                <c:formatCode>General</c:formatCode>
                <c:ptCount val="5"/>
                <c:pt idx="0">
                  <c:v>11</c:v>
                </c:pt>
                <c:pt idx="1">
                  <c:v>78</c:v>
                </c:pt>
                <c:pt idx="2">
                  <c:v>24</c:v>
                </c:pt>
                <c:pt idx="3">
                  <c:v>21</c:v>
                </c:pt>
                <c:pt idx="4">
                  <c:v>41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2627-43F6-BFA4-4D52BE2C6397}"/>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90"/>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defRPr>
            </a:pPr>
            <a:endParaRPr lang="en-US"/>
          </a:p>
        </c:txPr>
        <c:crossAx val="10"/>
        <c:crosses val="autoZero"/>
        <c:crossBetween val="between"/>
        <c:majorUnit val="15"/>
      </c:valAx>
    </c:plotArea>
    <c:legend>
      <c:legendPos val="b"/>
      <c:overlay val="0"/>
      <c:txPr>
        <a:bodyPr/>
        <a:lstStyle/>
        <a:p>
          <a:pPr>
            <a:defRPr sz="1700">
              <a:latin typeface="Calibri"/>
            </a:defRPr>
          </a:pPr>
          <a:endParaRPr lang="en-US"/>
        </a:p>
      </c:txPr>
    </c:legend>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Conversation length in turns</c:v>
          </c:tx>
          <c:spPr>
            <a:solidFill>
              <a:srgbClr val="D59A16"/>
            </a:solidFill>
            <a:ln>
              <a:noFill/>
            </a:ln>
          </c:spPr>
          <c:invertIfNegative val="1"/>
          <c:dLbls>
            <c:numFmt formatCode="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Missed case 1</c:v>
                </c:pt>
                <c:pt idx="1">
                  <c:v>Missed case 2</c:v>
                </c:pt>
                <c:pt idx="2">
                  <c:v>Missed case 3</c:v>
                </c:pt>
              </c:strCache>
            </c:strRef>
          </c:cat>
          <c:val>
            <c:numRef>
              <c:f>'Sheet1'!$B$2:$B$4</c:f>
              <c:numCache>
                <c:formatCode>General</c:formatCode>
                <c:ptCount val="3"/>
                <c:pt idx="0">
                  <c:v>2</c:v>
                </c:pt>
                <c:pt idx="1">
                  <c:v>11</c:v>
                </c:pt>
                <c:pt idx="2">
                  <c:v>26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18A-4E32-8547-033A8D737AD2}"/>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40"/>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defRPr>
            </a:pPr>
            <a:endParaRPr lang="en-US"/>
          </a:p>
        </c:txPr>
        <c:crossAx val="10"/>
        <c:crosses val="autoZero"/>
        <c:crossBetween val="between"/>
        <c:majorUnit val="10"/>
      </c:valAx>
    </c:plotArea>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Good day. Our study asks a practical question: can a chat moderation system recognize a concerning conversation by following how it develops, rather than judging each message in isolation? GroomShield combines language context with a model of the conversation sequence. We built the module, compared it with simpler methods on the same conversations, and measured what happens when we prioritize finding positives. I will show the design first, then the evidence behind that choice.</a:t>
            </a:r>
          </a:p>
          <a:p>
            <a:endParaRPr lang="en-US">
              <a:latin typeface="Calibri" panose="020F0502020204030204" pitchFamily="34" charset="0"/>
            </a:endParaRPr>
          </a:p>
          <a:p>
            <a:r>
              <a:rPr lang="en-US">
                <a:latin typeface="Calibri" panose="020F0502020204030204" pitchFamily="34" charset="0"/>
              </a:rPr>
              <a:t>Sources: thesis_docs/Finals_Revised_Paper_WASD.md, title and Sections 1.2-1.3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am presenting the work of Andrei Torres, Don Idos, Justin Arroco, and Michael Maala, advised by Manuel Calimlim Jr. We approached this as both a modeling problem and a moderation problem: a useful result must identify more conversations that deserve attention while making the review cost visible. That is the question that organizes the presentation.</a:t>
            </a:r>
          </a:p>
          <a:p>
            <a:endParaRPr lang="en-US"/>
          </a:p>
          <a:p>
            <a:r>
              <a:rPr lang="en-US"/>
              <a:t>Sources: Original presentation team slide.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A single message can be hard to judge without the exchange around it. Keyword filters catch explicit wording, but gradual or indirect interactions may only make sense across several turns. User reports also depend on someone recognizing the problem first. That gap motivates a module that follows how contextual evidence develops across a conversation and helps prioritize what a moderator should review.</a:t>
            </a:r>
          </a:p>
          <a:p>
            <a:endParaRPr lang="en-US">
              <a:latin typeface="Calibri" panose="020F0502020204030204" pitchFamily="34" charset="0"/>
            </a:endParaRPr>
          </a:p>
          <a:p>
            <a:r>
              <a:rPr lang="en-US">
                <a:latin typeface="Calibri" panose="020F0502020204030204" pitchFamily="34" charset="0"/>
              </a:rPr>
              <a:t>Sources: thesis_docs/Finals_Revised_Paper_WASD.md, Section 1.1;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research questions lead from the existing practice to our proposed module. We ask what keyword and rule-based approaches can detect, where they lose conversational meaning, and how machine learning can follow behavior across a chat. The final question is whether that complete module finds more positive conversations and reduces misses. Those questions determine the comparisons we report; they are not separate promises to label every message or predict the exact start of grooming.</a:t>
            </a:r>
          </a:p>
          <a:p>
            <a:endParaRPr lang="en-US">
              <a:latin typeface="Calibri" panose="020F0502020204030204" pitchFamily="34" charset="0"/>
            </a:endParaRPr>
          </a:p>
          <a:p>
            <a:r>
              <a:rPr lang="en-US">
                <a:latin typeface="Calibri" panose="020F0502020204030204" pitchFamily="34" charset="0"/>
              </a:rPr>
              <a:t>Sources: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approved objectives follow the same logic. First, assess the limits of conventional approaches. Second, build a module that combines conversational context with behavioral sequence analysis. Third, test whether that module reduces missed positive conversations. The general objective is an AI moderation module that strengthens human review. We kept these objectives intact and use the next alignment tables to show the method and evidence for each one.</a:t>
            </a:r>
          </a:p>
          <a:p>
            <a:endParaRPr lang="en-US">
              <a:latin typeface="Calibri" panose="020F0502020204030204" pitchFamily="34" charset="0"/>
            </a:endParaRPr>
          </a:p>
          <a:p>
            <a:r>
              <a:rPr lang="en-US">
                <a:latin typeface="Calibri" panose="020F0502020204030204" pitchFamily="34" charset="0"/>
              </a:rPr>
              <a:t>Sources: thesis_docs/Finals_Revised_Paper_WASD.md, Section 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For the first objective, we needed concrete comparators. We implemented a keyword rule and a method that takes the highest contextual score seen in a conversation. Both were tested on the same held-out conversations as the sequence models. The keyword rule found 27 of the 44 positives and missed 17. That result gives us a measured baseline for the question about static moderation. We did not run a separate field trial of an operational user-report system.</a:t>
            </a:r>
          </a:p>
          <a:p>
            <a:endParaRPr lang="en-US">
              <a:latin typeface="Calibri" panose="020F0502020204030204" pitchFamily="34" charset="0"/>
            </a:endParaRPr>
          </a:p>
          <a:p>
            <a:r>
              <a:rPr lang="en-US">
                <a:latin typeface="Calibri" panose="020F0502020204030204" pitchFamily="34" charset="0"/>
              </a:rPr>
              <a:t>Sources: Alignment Table.docx, rows 1-2;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second objective is demonstrated by the working two-layer module and review interface. The third is answered by the controlled result: under our recall-oriented F2 policy, the Trajectory-Feature LSTM found 41 of 44 positive conversations and missed three, compared with six misses for the weighted scorer. The other LSTM variant found all 44, with a higher false-alert cost. We will return to that trade-off in the results section, because improving coverage alone is not the entire moderation decision.</a:t>
            </a:r>
          </a:p>
          <a:p>
            <a:endParaRPr lang="en-US">
              <a:latin typeface="Calibri" panose="020F0502020204030204" pitchFamily="34" charset="0"/>
            </a:endParaRPr>
          </a:p>
          <a:p>
            <a:r>
              <a:rPr lang="en-US">
                <a:latin typeface="Calibri" panose="020F0502020204030204" pitchFamily="34" charset="0"/>
              </a:rPr>
              <a:t>Sources: Alignment Table.docx, rows 3-4; thesis_docs/CHAPTER_IV_RESULTS_AND_DISCUSSION.md, Tables 4.1-4.2; thesis_docs/CHAPTER_V_SUMMARY_CONCLUSIONS_AND_RECOMMENDATIONS.md, Section 5.2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DistilBERT helps interpret a turn in its nearby conversational context. The LSTM then follows how evidence changes over the full exchange. The Online Grooming Discourse Model motivated this attention to developing, recurring interaction rather than a fixed list of words or a rigid sequence of stages. We turn that motivation into measurable signals on the next slide.</a:t>
            </a:r>
          </a:p>
          <a:p>
            <a:endParaRPr lang="en-US" b="1">
              <a:latin typeface="Calibri" panose="020F0502020204030204" pitchFamily="34" charset="0"/>
            </a:endParaRPr>
          </a:p>
          <a:p>
            <a:r>
              <a:rPr lang="en-US" b="1">
                <a:latin typeface="Calibri" panose="020F0502020204030204" pitchFamily="34" charset="0"/>
              </a:rPr>
              <a:t>Sources: thesis_docs/Finals_Revised_Paper_WASD.md, Sections 2.1-2.3; thesis_docs/Finals_Revised_Paper_WASD.md, Section 2.3 and references [11], [13]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table shows that translation. Current and peak scores let the model see whether contextual evidence appears and persists. A rising score or a spike followed by a drop captures change rather than a fixed keyword. Topic distance and turn-taking add information about where the exchange moves and how the two speakers participate. We call these theory-informed indicators, not direct OGDM stage labels. Their purpose is to give the LSTM a structured history to learn from.</a:t>
            </a:r>
          </a:p>
          <a:p>
            <a:endParaRPr lang="en-US">
              <a:latin typeface="Calibri" panose="020F0502020204030204" pitchFamily="34" charset="0"/>
            </a:endParaRPr>
          </a:p>
          <a:p>
            <a:r>
              <a:rPr lang="en-US">
                <a:latin typeface="Calibri" panose="020F0502020204030204" pitchFamily="34" charset="0"/>
              </a:rPr>
              <a:t>Sources: thesis_docs/Finals_Revised_Paper_WASD.md, Sections 2.3 and 3.3.4; thesis_docs/CHAPTER_IV_RESULTS_AND_DISCUSSION.md, Section 4.5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A new turn enters with recent context. Layer 1 produces an author-derived proxy score, while a fixed encoder supplies a current-turn embedding. Seven features track the conversation as it unfolds. The Trajectory-Feature LSTM receives those seven features; the Embedding-and-Feature LSTM receives them plus 768 embedding values. Each produces a conversation score, which a validation-selected cutoff turns into a flag for human review.</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Sections 3.3.2-3.4.2; thesis_docs/assets/AI_Model_Architecture_Diagram.svg; thesis_docs/Finals_Revised_Paper_WASD.md, Sections 3.1 and 3.4</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selected PAN-2012 for the evaluation because it has ordered chats and speaker identifiers, which this sequence design requires. Our measured positive endpoint is a conversation containing an author on the official predator list. Layer 1 learns an author-derived proxy, and Layer 2 uses the unfolding signals to classify the conversation. This matters when interpreting the results: the final counts describe conversations, while turn scores are model inputs rather than independently verified grooming labels for individual messages.</a:t>
            </a:r>
          </a:p>
          <a:p>
            <a:endParaRPr lang="en-US">
              <a:latin typeface="Calibri" panose="020F0502020204030204" pitchFamily="34" charset="0"/>
            </a:endParaRPr>
          </a:p>
          <a:p>
            <a:r>
              <a:rPr lang="en-US">
                <a:latin typeface="Calibri" panose="020F0502020204030204" pitchFamily="34" charset="0"/>
              </a:rPr>
              <a:t>Sources: thesis_docs/Finals_Revised_Paper_WASD.md, Sections 1.4 and 3.3.1;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preserve conversation order and construct derived resources using training data only. We also partition by connected authors, not by individual rows. If one chat has A and B and another has B and C, both chats stay in the same partition through their shared author. This prevents recurring participants from appearing in both development and test. We verified zero author overlap across the partitions.</a:t>
            </a:r>
          </a:p>
          <a:p>
            <a:endParaRPr lang="en-US">
              <a:latin typeface="Calibri" panose="020F0502020204030204" pitchFamily="34" charset="0"/>
            </a:endParaRPr>
          </a:p>
          <a:p>
            <a:r>
              <a:rPr lang="en-US">
                <a:latin typeface="Calibri" panose="020F0502020204030204" pitchFamily="34" charset="0"/>
              </a:rPr>
              <a:t>Sources: thesis_docs/Finals_Revised_Paper_WASD.md, Sections 3.3.3 and 3.5.2; thesis_docs/CHAPTER_IV_RESULTS_AND_DISCUSSION.md, Section 4.1; thesis_docs/Finals_Revised_Paper_WASD.md, Sections 3.3 and 3.5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Our key comparison holds the input features constant. The weighted scorer combines the seven trajectory features without learning their order. The Trajectory-Feature LSTM receives the same seven features but learns from their sequence. If it improves, that is evidence for the value of the selected sequence aggregator over this static combination. The Embedding-and-Feature LSTM receives additional text information, so we report it alongside the others without pretending it is the same matched-input experiment.</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 3.4.3; thesis_docs/CHAPTER_IV_RESULTS_AND_DISCUSSION.md, Sections 4.2-4.5</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Training contains 13,031 conversations, validation 1,827, and test 1,862. Only 44 test conversations are positive, so missed-case and false-alert counts matter alongside percentages. Connected authors stay in one partition. We selected operating cutoffs on validation and applied them to preserved test scores. The original evaluation used F0.5; the later F1 and F2 comparisons did not retrain the models or rerun inference.</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thesis_docs/CHAPTER_IV_RESULTS_AND_DISCUSSION.md, Sections 4.1 and 4.2.1; thesis_docs/Finals_Revised_Paper_WASD.md, Section 3.5.2; thesis_docs/CHAPTER_IV_RESULTS_AND_DISCUSSION.md, Sections 4.1-4.3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cutoff policy deserves its own explanation. F0.5 favors precision, F1 balances precision and recall, and F2 favors recall. Our research emphasis is reducing missed positive conversations, so F2 is the main reporting policy. We choose each cutoff on validation, not on the test set. The original evaluation used F0.5; afterward, we compared validation-selected F1 and F2 cutoffs on the preserved test scores. The model weights did not change. The three-policy tables will show exactly what that choice costs and gains.</a:t>
            </a:r>
          </a:p>
          <a:p>
            <a:endParaRPr lang="en-US">
              <a:latin typeface="Calibri" panose="020F0502020204030204" pitchFamily="34" charset="0"/>
            </a:endParaRPr>
          </a:p>
          <a:p>
            <a:r>
              <a:rPr lang="en-US">
                <a:latin typeface="Calibri" panose="020F0502020204030204" pitchFamily="34" charset="0"/>
              </a:rPr>
              <a:t>Sources: thesis_docs/Finals_Revised_Paper_WASD.md, Sections 3.5.1-3.5.3; thesis_docs/CHAPTER_IV_RESULTS_AND_DISCUSSION.md, Section 4.2.1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This table gives the main F2 result. The Trajectory-Feature LSTM found 41 of 44 positives and missed three, while producing 21 false alerts. The Embedding-and-Feature LSTM found all 44, with 41 false alerts. Both exceed the weighted scorer's 38 detections, although the two LSTMs make a different coverage-versus-workload trade-off. For the matched seven-feature comparison, the trajectory model also has stronger PR-AUC and F2 than the weighted scorer; the paired analysis behind that comparison appears shortly.</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PR-AUC describes how well a method ranks positive conversations across possible cutoffs; F2 describes our recall-oriented operating point. The embedding model has the highest observed PR-AUC, while the trajectory model has the highest observed F2. Neither figure alone declares a universal winner. For the specific sequence-model claim, compare the trajectory LSTM with weighted scoring: both use the same seven inputs, but only one learns their order.</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4.1-4.2;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Here the cost of greater coverage becomes concrete. The trajectory model cuts weighted scoring's six misses to three and also lowers false alerts from 24 to 21. The embedding model has no misses on these 44 positives but creates 41 false alerts. Maximum Layer 1 catches 39 positives yet produces 78 false alerts. Those are conversation counts, not individual messages. The question for an actual review team is how many extra alerts are acceptable for each additional positive found, which is why we tested other cutoff policies.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 and Section 4.7</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These six rows use the same two trained LSTMs and the same saved test scores; only the validation-selected cutoff changes. For the embedding model, F1 finds 43 of 44 positives with 14 false alerts, while F2 finds all 44 with 41 false alerts. That last positive adds 27 alerts in this test. The trajectory model behaves differently: F1 adds two alerts over F0.5 without finding another positive. F2 remains our main recall-first reporting policy. The table shows why a later moderator-workflow study must choose its operating point deliberately.</a:t>
            </a:r>
          </a:p>
          <a:p>
            <a:endParaRPr lang="en-US">
              <a:latin typeface="Calibri" panose="020F0502020204030204" pitchFamily="34" charset="0"/>
            </a:endParaRPr>
          </a:p>
          <a:p>
            <a:r>
              <a:rPr lang="en-US">
                <a:latin typeface="Calibri" panose="020F0502020204030204" pitchFamily="34" charset="0"/>
              </a:rPr>
              <a:t>Sources: thesis_docs/CHAPTER_IV_RESULTS_AND_DISCUSSION.md, Section 4.2.1 and Table 4.1a; thesis_docs/CHAPTER_V_SUMMARY_CONCLUSIONS_AND_RECOMMENDATIONS.md, Recommendation 7; thesis_docs/CHAPTER_IV_RESULTS_AND_DISCUSSION.md, Section 4.2.1 and Table 4.1a</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For the matched seven-feature comparison, we resampled whole author-connected groups 2,000 times and compared the trajectory LSTM with weighted scoring each time. The estimated gain is 0.1103 in PR-AUC and 0.0630 in F2, with both paired 95 percent intervals above zero. That supports the claim that the selected sequence model improves on static scoring of the same features. The observed miss reduction is real in this test, although its separate recall-difference interval includes zero. This is the evidence behind our sequence-model conclusion.</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thesis_docs/CHAPTER_IV_RESULTS_AND_DISCUSSION.md, Table 4.2 and Section 4.5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also tested the complete local scoring path, because a turn-by-turn prototype has to respond within a usable time. Across 160 sequential requests per model on this CPU, the trajectory model's median was 267 milliseconds and the embedding model's was 246. Their p95 times were about 709 and 718 milliseconds, while the embedding model had a longer p99 tail. The demo recomputes the full history after every turn, so longer conversations take longer. These timings establish local feasibility for the tested prefixes; concurrent users and production hardware remain a separate evaluation.</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 4.4; thesis_docs/.benchmark_evidence/latency_2026-09-27.json</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We can now answer the objectives directly. The static methods exposed measurable coverage and false-alert limits. We delivered the contextual and sequence-based module with a working review interface. Under F2, the trajectory model reduced weighted scoring's six misses to three, and the embedding model found all 44 positives with a larger alert workload. The matched-input paired result supports the benefit of sequence modeling. Together, these results advance the general objective of strengthening conversation-level review while making the cutoff trade-off explicit.</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thesis_docs/CHAPTER_V_SUMMARY_CONCLUSIONS_AND_RECOMMENDATIONS.md, Sections 5.1-5.2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would first test the fixed models and cutoffs on contemporary chats and measure how moderators handle the resulting queue. The embedding model's F1 and F2 settings are the clearest workflow comparison: one additional positive at F2 came with 27 additional alerts in this test. The three trajectory-model misses were short conversations, so fixed-prefix testing also deserves attention. Production work still needs longer chats and concurrent-load measurement; onset detection requires independent expert annotations.</a:t>
            </a:r>
          </a:p>
          <a:p>
            <a:endParaRPr lang="en-US">
              <a:latin typeface="Calibri" panose="020F0502020204030204" pitchFamily="34" charset="0"/>
            </a:endParaRPr>
          </a:p>
          <a:p>
            <a:r>
              <a:rPr lang="en-US">
                <a:latin typeface="Calibri" panose="020F0502020204030204" pitchFamily="34" charset="0"/>
              </a:rPr>
              <a:t>Sources: thesis_docs/CHAPTER_V_SUMMARY_CONCLUSIONS_AND_RECOMMENDATIONS.md, Section 5.3, especially Recommendation 7; thesis_docs/PANEL_COMMENTS_MATRIX.md; thesis_docs/CHAPTER_IV_RESULTS_AND_DISCUSSION.md, Section 4.6</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GroomShield shows that following a conversation's development can strengthen chat review. The trajectory model has a supported advantage over static scoring of the same inputs, and the embedding model offers the highest observed coverage under F2. The alternative cutoffs show the practical price of that coverage rather than hiding it. Our contribution is a working two-layer system and a clear evidence base for deciding how to use it in a human review workflow. Thank you. We welcome your questions.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4.1-4.2; thesis_docs/CHAPTER_V_SUMMARY_CONCLUSIONS_AND_RECOMMENDATIONS.md, Sections 5.2-5.3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remaining trajectory-model misses help identify what to study next. Those positive conversations had only 2, 11, and 26 turns. Each is shorter than the 36-turn lower quartile of the positives that model detected. This suggests short-history performance deserves targeted testing. It does not identify the exact reason for each miss, and we did not have independently annotated grooming-onset times. The next study should assess fixed conversation prefixes before making an early-detection claim.</a:t>
            </a:r>
          </a:p>
          <a:p>
            <a:endParaRPr lang="en-US">
              <a:latin typeface="Calibri" panose="020F0502020204030204" pitchFamily="34" charset="0"/>
            </a:endParaRPr>
          </a:p>
          <a:p>
            <a:r>
              <a:rPr lang="en-US">
                <a:latin typeface="Calibri" panose="020F0502020204030204" pitchFamily="34" charset="0"/>
              </a:rPr>
              <a:t>Sources: thesis_docs/CHAPTER_IV_RESULTS_AND_DISCUSSION.md, Section 4.6</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If asked about the baselines under other cutoffs, this backup table contains the complete counts. Maximum Layer 1 rises from 23 to 39 detected positives as we move from F0.5 to F2, while false alerts rise from 18 to 78. Weighted scoring makes identical F0.5 and F1 decisions, then finds two more positives under F2 with 11 more false alerts. The keyword rule is binary, so its decisions do not change across the three policies. Every row uses the same 1,862 test conversations.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 4.1a; thesis_docs/.threshold_analysis/test_threshold_policy_comparison.json</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1" name="Picture 11"/>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141889" y="5257800"/>
            <a:ext cx="3730228" cy="1598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7"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092" y="261292"/>
            <a:ext cx="2018121" cy="1078777"/>
          </a:xfrm>
          <a:prstGeom prst="rect">
            <a:avLst/>
          </a:prstGeom>
        </p:spPr>
      </p:pic>
      <p:pic>
        <p:nvPicPr>
          <p:cNvPr id="28" name="Graphic 17"/>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5311" y="3976038"/>
            <a:ext cx="1680181" cy="1760189"/>
          </a:xfrm>
          <a:prstGeom prst="rect">
            <a:avLst/>
          </a:prstGeom>
        </p:spPr>
      </p:pic>
      <p:pic>
        <p:nvPicPr>
          <p:cNvPr id="29" name="Picture 18"/>
          <p:cNvPicPr>
            <a:picLocks noChangeAspect="1"/>
          </p:cNvPicPr>
          <p:nvPr/>
        </p:nvPicPr>
        <p:blipFill>
          <a:blip r:embed="rId5"/>
          <a:stretch>
            <a:fillRect/>
          </a:stretch>
        </p:blipFill>
        <p:spPr>
          <a:xfrm>
            <a:off x="916741" y="5793265"/>
            <a:ext cx="2193834" cy="7936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0" name="Picture 14"/>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4160312" y="337011"/>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6" name="Graphic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60312" y="337011"/>
            <a:ext cx="647700" cy="1295400"/>
          </a:xfrm>
          <a:prstGeom prst="rect">
            <a:avLst/>
          </a:prstGeom>
        </p:spPr>
      </p:pic>
      <p:pic>
        <p:nvPicPr>
          <p:cNvPr id="27" name="Graphic 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3092" y="261292"/>
            <a:ext cx="2018121" cy="107877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09B8A-7AB0-01A2-A126-A218F7CD2D94}"/>
              </a:ext>
            </a:extLst>
          </p:cNvPr>
          <p:cNvSpPr>
            <a:spLocks noGrp="1"/>
          </p:cNvSpPr>
          <p:nvPr>
            <p:ph type="title"/>
          </p:nvPr>
        </p:nvSpPr>
        <p:spPr>
          <a:xfrm>
            <a:off x="838200" y="365125"/>
            <a:ext cx="9781489" cy="1325563"/>
          </a:xfrm>
        </p:spPr>
        <p:txBody>
          <a:bodyPr/>
          <a:lstStyle/>
          <a:p>
            <a:r>
              <a:t>Click to edit Master title style</a:t>
            </a:r>
          </a:p>
        </p:txBody>
      </p:sp>
      <p:sp>
        <p:nvSpPr>
          <p:cNvPr id="3" name="Content Placeholder 2">
            <a:extLst>
              <a:ext uri="{FF2B5EF4-FFF2-40B4-BE49-F238E27FC236}">
                <a16:creationId xmlns:a16="http://schemas.microsoft.com/office/drawing/2014/main" id="{E2AF2D31-8C3D-DD6A-FF19-980A28830403}"/>
              </a:ext>
            </a:extLst>
          </p:cNvPr>
          <p:cNvSpPr>
            <a:spLocks noGrp="1"/>
          </p:cNvSpPr>
          <p:nvPr>
            <p:ph idx="1"/>
          </p:nvPr>
        </p:nvSpPr>
        <p:spPr>
          <a:xfrm>
            <a:off x="838200" y="1825625"/>
            <a:ext cx="9781489"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0E098455-C645-8AEB-AC43-0325DA4FAF77}"/>
              </a:ext>
            </a:extLst>
          </p:cNvPr>
          <p:cNvSpPr>
            <a:spLocks noGrp="1"/>
          </p:cNvSpPr>
          <p:nvPr>
            <p:ph type="dt" idx="10"/>
          </p:nvPr>
        </p:nvSpPr>
        <p:spPr/>
        <p:txBody>
          <a:bodyPr/>
          <a:lstStyle/>
          <a:p>
            <a:fld id="{5750368A-0602-41DA-8C72-F3668C4CC159}" type="datetimeFigureOut">
              <a:t>9/30/2026</a:t>
            </a:fld>
            <a:endParaRPr/>
          </a:p>
        </p:txBody>
      </p:sp>
      <p:sp>
        <p:nvSpPr>
          <p:cNvPr id="5" name="Footer Placeholder 4">
            <a:extLst>
              <a:ext uri="{FF2B5EF4-FFF2-40B4-BE49-F238E27FC236}">
                <a16:creationId xmlns:a16="http://schemas.microsoft.com/office/drawing/2014/main" id="{E7065D6F-F540-C08F-2265-B5D2D5CCF52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49F2013-7326-AAFC-EDFD-0E440ADDE41A}"/>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C6FA413D-DBF3-6C5E-11D0-8AD41C06F2E3}"/>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7"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56153" y="153965"/>
            <a:ext cx="842573" cy="882695"/>
          </a:xfrm>
          <a:prstGeom prst="rect">
            <a:avLst/>
          </a:prstGeom>
        </p:spPr>
      </p:pic>
      <p:pic>
        <p:nvPicPr>
          <p:cNvPr id="18" name="Picture 11"/>
          <p:cNvPicPr>
            <a:picLocks noChangeAspect="1"/>
          </p:cNvPicPr>
          <p:nvPr/>
        </p:nvPicPr>
        <p:blipFill>
          <a:blip r:embed="rId3"/>
          <a:stretch>
            <a:fillRect/>
          </a:stretch>
        </p:blipFill>
        <p:spPr>
          <a:xfrm>
            <a:off x="10984081" y="1246733"/>
            <a:ext cx="1009241" cy="36512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17" name="Picture 15"/>
          <p:cNvPicPr>
            <a:picLocks noChangeAspect="1"/>
          </p:cNvPicPr>
          <p:nvPr/>
        </p:nvPicPr>
        <p:blipFill>
          <a:blip r:embed="rId2"/>
          <a:stretch>
            <a:fillRect/>
          </a:stretch>
        </p:blipFill>
        <p:spPr>
          <a:xfrm>
            <a:off x="9836" y="0"/>
            <a:ext cx="12172328" cy="6858000"/>
          </a:xfrm>
          <a:prstGeom prst="rect">
            <a:avLst/>
          </a:prstGeom>
        </p:spPr>
      </p:pic>
      <p:sp>
        <p:nvSpPr>
          <p:cNvPr id="2" name="Title 1">
            <a:extLst>
              <a:ext uri="{FF2B5EF4-FFF2-40B4-BE49-F238E27FC236}">
                <a16:creationId xmlns:a16="http://schemas.microsoft.com/office/drawing/2014/main" id="{6308B091-CA0E-212E-D29C-ACABD2F8DDFB}"/>
              </a:ext>
            </a:extLst>
          </p:cNvPr>
          <p:cNvSpPr>
            <a:spLocks noGrp="1"/>
          </p:cNvSpPr>
          <p:nvPr>
            <p:ph type="title"/>
          </p:nvPr>
        </p:nvSpPr>
        <p:spPr>
          <a:xfrm>
            <a:off x="831850" y="3657550"/>
            <a:ext cx="10062122" cy="1284059"/>
          </a:xfrm>
        </p:spPr>
        <p:txBody>
          <a:bodyPr anchor="b"/>
          <a:lstStyle>
            <a:lvl1pPr>
              <a:buNone/>
              <a:defRPr sz="6000">
                <a:solidFill>
                  <a:schemeClr val="bg1"/>
                </a:solidFill>
              </a:defRPr>
            </a:lvl1pPr>
          </a:lstStyle>
          <a:p>
            <a:r>
              <a:t>Click to edit Master title style</a:t>
            </a:r>
          </a:p>
        </p:txBody>
      </p:sp>
      <p:sp>
        <p:nvSpPr>
          <p:cNvPr id="3" name="Text Placeholder 2">
            <a:extLst>
              <a:ext uri="{FF2B5EF4-FFF2-40B4-BE49-F238E27FC236}">
                <a16:creationId xmlns:a16="http://schemas.microsoft.com/office/drawing/2014/main" id="{371A8C11-013C-7F67-5D2A-FB3AE080AD0D}"/>
              </a:ext>
            </a:extLst>
          </p:cNvPr>
          <p:cNvSpPr>
            <a:spLocks noGrp="1"/>
          </p:cNvSpPr>
          <p:nvPr>
            <p:ph type="body" idx="1"/>
          </p:nvPr>
        </p:nvSpPr>
        <p:spPr>
          <a:xfrm>
            <a:off x="831850" y="4968598"/>
            <a:ext cx="10062122" cy="843282"/>
          </a:xfrm>
        </p:spPr>
        <p:txBody>
          <a:bodyPr/>
          <a:lstStyle>
            <a:lvl1pPr marL="0" indent="0">
              <a:buNone/>
              <a:defRPr sz="2400">
                <a:solidFill>
                  <a:schemeClr val="bg1">
                    <a:lumMod val="8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D40B097E-EB72-FBAD-1C85-21B5359E6DB1}"/>
              </a:ext>
            </a:extLst>
          </p:cNvPr>
          <p:cNvSpPr>
            <a:spLocks noGrp="1"/>
          </p:cNvSpPr>
          <p:nvPr>
            <p:ph type="dt" idx="10"/>
          </p:nvPr>
        </p:nvSpPr>
        <p:spPr/>
        <p:txBody>
          <a:bodyPr/>
          <a:lstStyle/>
          <a:p>
            <a:fld id="{5750368A-0602-41DA-8C72-F3668C4CC159}" type="datetimeFigureOut">
              <a:t>9/30/2026</a:t>
            </a:fld>
            <a:endParaRPr/>
          </a:p>
        </p:txBody>
      </p:sp>
      <p:sp>
        <p:nvSpPr>
          <p:cNvPr id="5" name="Footer Placeholder 4">
            <a:extLst>
              <a:ext uri="{FF2B5EF4-FFF2-40B4-BE49-F238E27FC236}">
                <a16:creationId xmlns:a16="http://schemas.microsoft.com/office/drawing/2014/main" id="{92E519E1-451E-47E7-BC93-7F69CEEB6A0B}"/>
              </a:ext>
            </a:extLst>
          </p:cNvPr>
          <p:cNvSpPr>
            <a:spLocks noGrp="1"/>
          </p:cNvSpPr>
          <p:nvPr>
            <p:ph type="ftr" idx="11"/>
          </p:nvPr>
        </p:nvSpPr>
        <p:spPr/>
        <p:txBody>
          <a:bodyPr/>
          <a:lstStyle/>
          <a:p>
            <a:endParaRPr/>
          </a:p>
        </p:txBody>
      </p:sp>
      <p:sp>
        <p:nvSpPr>
          <p:cNvPr id="13" name="Date Placeholder 3">
            <a:extLst>
              <a:ext uri="{FF2B5EF4-FFF2-40B4-BE49-F238E27FC236}">
                <a16:creationId xmlns:a16="http://schemas.microsoft.com/office/drawing/2014/main" id="{E6B67043-CB4F-0116-BB76-C70A70583552}"/>
              </a:ext>
            </a:extLst>
          </p:cNvPr>
          <p:cNvSpPr>
            <a:spLocks noGrp="1"/>
          </p:cNvSpPr>
          <p:nvPr/>
        </p:nvSpPr>
        <p:spPr>
          <a:xfrm>
            <a:off x="838200" y="6357212"/>
            <a:ext cx="2743200" cy="365125"/>
          </a:xfrm>
          <a:prstGeom prst="rect">
            <a:avLst/>
          </a:prstGeom>
        </p:spPr>
        <p:txBody>
          <a:bodyPr vert="horz" lIns="91440" tIns="45720" rIns="91440" bIns="45720" anchor="ctr"/>
          <a:lstStyle>
            <a:lvl1pPr marL="0" algn="l" defTabSz="914400">
              <a:buNone/>
              <a:defRPr sz="1200" kern="1200">
                <a:solidFill>
                  <a:schemeClr val="tx1">
                    <a:tint val="75000"/>
                  </a:schemeClr>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a:fld id="{5750368A-0602-41DA-8C72-F3668C4CC159}" type="datetimeFigureOut">
              <a:t>9/30/2026</a:t>
            </a:fld>
            <a:endParaRPr/>
          </a:p>
        </p:txBody>
      </p:sp>
      <p:sp>
        <p:nvSpPr>
          <p:cNvPr id="11" name="Rectangle 10">
            <a:extLst>
              <a:ext uri="{FF2B5EF4-FFF2-40B4-BE49-F238E27FC236}">
                <a16:creationId xmlns:a16="http://schemas.microsoft.com/office/drawing/2014/main" id="{D1544972-4926-2F64-D0DC-83BF6176CC0D}"/>
              </a:ext>
            </a:extLst>
          </p:cNvPr>
          <p:cNvSpPr>
            <a:spLocks noGrp="1"/>
          </p:cNvSpPr>
          <p:nvPr/>
        </p:nvSpPr>
        <p:spPr>
          <a:xfrm>
            <a:off x="11407448" y="5473373"/>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07448" y="5473373"/>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73253" y="261293"/>
            <a:ext cx="1292556" cy="69093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B5681-F3A2-40A5-A9EA-7166B07C9EA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EB8B488-E7D3-935C-277F-C21ECB6D87A0}"/>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795AA6DE-DDA8-FF2B-FD76-96F4B00724E9}"/>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26C2EDAA-B6F0-BAE3-0023-77078903916A}"/>
              </a:ext>
            </a:extLst>
          </p:cNvPr>
          <p:cNvSpPr>
            <a:spLocks noGrp="1"/>
          </p:cNvSpPr>
          <p:nvPr>
            <p:ph type="dt" idx="10"/>
          </p:nvPr>
        </p:nvSpPr>
        <p:spPr/>
        <p:txBody>
          <a:bodyPr/>
          <a:lstStyle/>
          <a:p>
            <a:fld id="{5750368A-0602-41DA-8C72-F3668C4CC159}" type="datetimeFigureOut">
              <a:t>9/30/2026</a:t>
            </a:fld>
            <a:endParaRPr/>
          </a:p>
        </p:txBody>
      </p:sp>
      <p:sp>
        <p:nvSpPr>
          <p:cNvPr id="6" name="Footer Placeholder 5">
            <a:extLst>
              <a:ext uri="{FF2B5EF4-FFF2-40B4-BE49-F238E27FC236}">
                <a16:creationId xmlns:a16="http://schemas.microsoft.com/office/drawing/2014/main" id="{DC10A058-AA1A-CDC2-FF66-8D3A35F6DB4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489E0F8-44E2-4A76-2B57-8359A388CD9C}"/>
              </a:ext>
            </a:extLst>
          </p:cNvPr>
          <p:cNvSpPr>
            <a:spLocks noGrp="1"/>
          </p:cNvSpPr>
          <p:nvPr>
            <p:ph type="sldNum" idx="12"/>
          </p:nvPr>
        </p:nvSpPr>
        <p:spPr/>
        <p:txBody>
          <a:bodyPr/>
          <a:lstStyle/>
          <a:p>
            <a:fld id="{DEA345B2-507C-43D7-80BF-79F59DDCF0A3}" type="slidenum">
              <a:t>‹#›</a:t>
            </a:fld>
            <a:endParaRPr/>
          </a:p>
        </p:txBody>
      </p:sp>
      <p:sp>
        <p:nvSpPr>
          <p:cNvPr id="10" name="Rectangle 9">
            <a:extLst>
              <a:ext uri="{FF2B5EF4-FFF2-40B4-BE49-F238E27FC236}">
                <a16:creationId xmlns:a16="http://schemas.microsoft.com/office/drawing/2014/main" id="{4D025B53-CC35-C249-1081-E752796BE04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1"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779F0-5F10-E13F-AB63-76AC9A23EA8A}"/>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58DFCF9-73B2-EF35-7501-7BE217954C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6B7AC54-B991-35A0-F037-68B94E344518}"/>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C28D6D34-BBA3-122B-A6D7-45A5E90F8C64}"/>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CAFA6EFC-F0B8-F706-C203-A56328A24E13}"/>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DFCEBC52-F71A-B504-62EF-9D7E439E71B0}"/>
              </a:ext>
            </a:extLst>
          </p:cNvPr>
          <p:cNvSpPr>
            <a:spLocks noGrp="1"/>
          </p:cNvSpPr>
          <p:nvPr>
            <p:ph type="dt" idx="10"/>
          </p:nvPr>
        </p:nvSpPr>
        <p:spPr/>
        <p:txBody>
          <a:bodyPr/>
          <a:lstStyle/>
          <a:p>
            <a:fld id="{5750368A-0602-41DA-8C72-F3668C4CC159}" type="datetimeFigureOut">
              <a:t>9/30/2026</a:t>
            </a:fld>
            <a:endParaRPr/>
          </a:p>
        </p:txBody>
      </p:sp>
      <p:sp>
        <p:nvSpPr>
          <p:cNvPr id="8" name="Footer Placeholder 7">
            <a:extLst>
              <a:ext uri="{FF2B5EF4-FFF2-40B4-BE49-F238E27FC236}">
                <a16:creationId xmlns:a16="http://schemas.microsoft.com/office/drawing/2014/main" id="{147BD498-27EC-05AD-4788-497CF407CAB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06AD9F0F-FA93-6068-7489-31750FAC1EAC}"/>
              </a:ext>
            </a:extLst>
          </p:cNvPr>
          <p:cNvSpPr>
            <a:spLocks noGrp="1"/>
          </p:cNvSpPr>
          <p:nvPr>
            <p:ph type="sldNum" idx="12"/>
          </p:nvPr>
        </p:nvSpPr>
        <p:spPr/>
        <p:txBody>
          <a:bodyPr/>
          <a:lstStyle/>
          <a:p>
            <a:fld id="{DEA345B2-507C-43D7-80BF-79F59DDCF0A3}" type="slidenum">
              <a:t>‹#›</a:t>
            </a:fld>
            <a:endParaRPr/>
          </a:p>
        </p:txBody>
      </p:sp>
      <p:sp>
        <p:nvSpPr>
          <p:cNvPr id="12" name="Rectangle 11">
            <a:extLst>
              <a:ext uri="{FF2B5EF4-FFF2-40B4-BE49-F238E27FC236}">
                <a16:creationId xmlns:a16="http://schemas.microsoft.com/office/drawing/2014/main" id="{56B6D730-5CCC-3A0F-07C5-E177B23EB43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69776FB-D0A1-D9FE-95EC-7FC45484C5D7}"/>
              </a:ext>
            </a:extLst>
          </p:cNvPr>
          <p:cNvSpPr>
            <a:spLocks noGrp="1"/>
          </p:cNvSpPr>
          <p:nvPr/>
        </p:nvSpPr>
        <p:spPr>
          <a:xfrm>
            <a:off x="0" y="6721474"/>
            <a:ext cx="12191999" cy="150019"/>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9/30/2026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9" name="Rectangle 8">
            <a:extLst>
              <a:ext uri="{FF2B5EF4-FFF2-40B4-BE49-F238E27FC236}">
                <a16:creationId xmlns:a16="http://schemas.microsoft.com/office/drawing/2014/main" id="{36BE3AD5-276B-966C-24E2-2E7C8C7B4B3B}"/>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1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9/30/2026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D11C6594-2F3D-BF1F-E328-BEF238877366}"/>
              </a:ext>
            </a:extLst>
          </p:cNvPr>
          <p:cNvSpPr>
            <a:spLocks noGrp="1"/>
          </p:cNvSpPr>
          <p:nvPr/>
        </p:nvSpPr>
        <p:spPr>
          <a:xfrm>
            <a:off x="12021015" y="0"/>
            <a:ext cx="170984"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Rectangle 8">
            <a:extLst>
              <a:ext uri="{FF2B5EF4-FFF2-40B4-BE49-F238E27FC236}">
                <a16:creationId xmlns:a16="http://schemas.microsoft.com/office/drawing/2014/main" id="{6F2C923C-188F-78A4-9EBF-A50E775EE8BF}"/>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8FCBA4-BC60-BBA3-1928-200ADA4CB434}"/>
              </a:ext>
            </a:extLst>
          </p:cNvPr>
          <p:cNvSpPr>
            <a:spLocks noGrp="1"/>
          </p:cNvSpPr>
          <p:nvPr>
            <p:ph type="dt" idx="10"/>
          </p:nvPr>
        </p:nvSpPr>
        <p:spPr/>
        <p:txBody>
          <a:bodyPr/>
          <a:lstStyle/>
          <a:p>
            <a:fld id="{5750368A-0602-41DA-8C72-F3668C4CC159}" type="datetimeFigureOut">
              <a:t>9/30/2026</a:t>
            </a:fld>
            <a:endParaRPr/>
          </a:p>
        </p:txBody>
      </p:sp>
      <p:sp>
        <p:nvSpPr>
          <p:cNvPr id="3" name="Footer Placeholder 2">
            <a:extLst>
              <a:ext uri="{FF2B5EF4-FFF2-40B4-BE49-F238E27FC236}">
                <a16:creationId xmlns:a16="http://schemas.microsoft.com/office/drawing/2014/main" id="{FBF75781-DD6B-802C-A2A1-0C35279A16A1}"/>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1782606-1EA0-41A1-3BF0-BF1A775C445A}"/>
              </a:ext>
            </a:extLst>
          </p:cNvPr>
          <p:cNvSpPr>
            <a:spLocks noGrp="1"/>
          </p:cNvSpPr>
          <p:nvPr>
            <p:ph type="sldNum" idx="12"/>
          </p:nvPr>
        </p:nvSpPr>
        <p:spPr/>
        <p:txBody>
          <a:bodyPr/>
          <a:lstStyle/>
          <a:p>
            <a:fld id="{DEA345B2-507C-43D7-80BF-79F59DDCF0A3}" type="slidenum">
              <a:t>‹#›</a:t>
            </a:fld>
            <a:endParaRPr/>
          </a:p>
        </p:txBody>
      </p:sp>
      <p:sp>
        <p:nvSpPr>
          <p:cNvPr id="5" name="Rectangle 4">
            <a:extLst>
              <a:ext uri="{FF2B5EF4-FFF2-40B4-BE49-F238E27FC236}">
                <a16:creationId xmlns:a16="http://schemas.microsoft.com/office/drawing/2014/main" id="{CBC13CDF-943F-636D-D5DB-2FDBB1961722}"/>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00C19DF9-E21D-1085-1DFC-9FE4B99E53AD}"/>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phic 8"/>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17"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5ECBE-34FA-41CD-B39E-E682DB66CCF8}"/>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75407737-3DE7-D4A3-E002-F26143FB5EA5}"/>
              </a:ext>
            </a:extLst>
          </p:cNvPr>
          <p:cNvSpPr>
            <a:spLocks noGrp="1"/>
          </p:cNvSpPr>
          <p:nvPr>
            <p:ph idx="1"/>
          </p:nvPr>
        </p:nvSpPr>
        <p:spPr>
          <a:xfrm>
            <a:off x="5183188" y="1244600"/>
            <a:ext cx="6172200" cy="4616450"/>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27DDE05A-F981-052B-D9CA-2307E6582F24}"/>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E2B4FF3B-390C-C8D3-3713-88461DB202A3}"/>
              </a:ext>
            </a:extLst>
          </p:cNvPr>
          <p:cNvSpPr>
            <a:spLocks noGrp="1"/>
          </p:cNvSpPr>
          <p:nvPr>
            <p:ph type="dt" idx="10"/>
          </p:nvPr>
        </p:nvSpPr>
        <p:spPr/>
        <p:txBody>
          <a:bodyPr/>
          <a:lstStyle/>
          <a:p>
            <a:fld id="{5750368A-0602-41DA-8C72-F3668C4CC159}" type="datetimeFigureOut">
              <a:t>9/30/2026</a:t>
            </a:fld>
            <a:endParaRPr/>
          </a:p>
        </p:txBody>
      </p:sp>
      <p:sp>
        <p:nvSpPr>
          <p:cNvPr id="6" name="Footer Placeholder 5">
            <a:extLst>
              <a:ext uri="{FF2B5EF4-FFF2-40B4-BE49-F238E27FC236}">
                <a16:creationId xmlns:a16="http://schemas.microsoft.com/office/drawing/2014/main" id="{508635E4-8B8B-231A-102E-E0EF2EE4228E}"/>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6EB191B-A130-1FB5-D1C7-27E0B608ADBF}"/>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70DD950B-956C-0CC5-90DF-600294A61021}"/>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4E872611-7B62-0858-2F35-215FC7BEDC7C}"/>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5" name="Graphic 1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6"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73E5F-CFA9-31D3-ED26-1E57AC1EFA0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F349FB75-59BA-B6B1-9EFA-B9D58E548B8E}"/>
              </a:ext>
            </a:extLst>
          </p:cNvPr>
          <p:cNvSpPr>
            <a:spLocks noGrp="1"/>
          </p:cNvSpPr>
          <p:nvPr>
            <p:ph type="pic" idx="1"/>
          </p:nvPr>
        </p:nvSpPr>
        <p:spPr>
          <a:xfrm>
            <a:off x="5183188" y="1219200"/>
            <a:ext cx="6172200" cy="4641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15C4119-4703-ABFE-3D93-76F1F254DF5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25208027-E9E1-AFE8-C2CF-267B0B717A63}"/>
              </a:ext>
            </a:extLst>
          </p:cNvPr>
          <p:cNvSpPr>
            <a:spLocks noGrp="1"/>
          </p:cNvSpPr>
          <p:nvPr>
            <p:ph type="dt" idx="10"/>
          </p:nvPr>
        </p:nvSpPr>
        <p:spPr/>
        <p:txBody>
          <a:bodyPr/>
          <a:lstStyle/>
          <a:p>
            <a:fld id="{5750368A-0602-41DA-8C72-F3668C4CC159}" type="datetimeFigureOut">
              <a:t>9/30/2026</a:t>
            </a:fld>
            <a:endParaRPr/>
          </a:p>
        </p:txBody>
      </p:sp>
      <p:sp>
        <p:nvSpPr>
          <p:cNvPr id="6" name="Footer Placeholder 5">
            <a:extLst>
              <a:ext uri="{FF2B5EF4-FFF2-40B4-BE49-F238E27FC236}">
                <a16:creationId xmlns:a16="http://schemas.microsoft.com/office/drawing/2014/main" id="{17FFCF05-D3BC-4D51-B7E1-EDFADA0E8FE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DD992EE-B08D-5105-202E-3F06215E82B9}"/>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66BB9E47-266A-449B-0690-EA113F897327}"/>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641E680E-9AE0-1F51-2218-98C4A676EA4E}"/>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2" name="Graphic 11"/>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3"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BFC79-23A1-4C75-E226-24FAA8769F6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CF9E1CF8-7906-6964-F94B-A82C18B6DC4E}"/>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EF018C3-1F7A-68D9-F106-B3E9DF573BD4}"/>
              </a:ext>
            </a:extLst>
          </p:cNvPr>
          <p:cNvSpPr>
            <a:spLocks noGrp="1"/>
          </p:cNvSpPr>
          <p:nvPr>
            <p:ph type="dt" idx="10"/>
          </p:nvPr>
        </p:nvSpPr>
        <p:spPr/>
        <p:txBody>
          <a:bodyPr/>
          <a:lstStyle/>
          <a:p>
            <a:fld id="{5750368A-0602-41DA-8C72-F3668C4CC159}" type="datetimeFigureOut">
              <a:t>9/30/2026</a:t>
            </a:fld>
            <a:endParaRPr/>
          </a:p>
        </p:txBody>
      </p:sp>
      <p:sp>
        <p:nvSpPr>
          <p:cNvPr id="5" name="Footer Placeholder 4">
            <a:extLst>
              <a:ext uri="{FF2B5EF4-FFF2-40B4-BE49-F238E27FC236}">
                <a16:creationId xmlns:a16="http://schemas.microsoft.com/office/drawing/2014/main" id="{D75C044C-642A-B1F3-B761-AC4E930E04C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F30CAD-B8A9-C9D6-2C4B-86E1BC5168AE}"/>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F067F39E-E68E-53C9-D0D5-DBD631643F9E}"/>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F1B0B79-95A6-CFCE-EFDD-FECD5A381C32}"/>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1"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63DC65-B013-FE6E-EC24-75CE5E5821E6}"/>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3F5FF98-96D5-B94A-633D-AA80D7617E36}"/>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4A29F5-20EF-68ED-9A31-EF9B85F25C39}"/>
              </a:ext>
            </a:extLst>
          </p:cNvPr>
          <p:cNvSpPr>
            <a:spLocks noGrp="1"/>
          </p:cNvSpPr>
          <p:nvPr>
            <p:ph type="dt" idx="10"/>
          </p:nvPr>
        </p:nvSpPr>
        <p:spPr/>
        <p:txBody>
          <a:bodyPr/>
          <a:lstStyle/>
          <a:p>
            <a:fld id="{5750368A-0602-41DA-8C72-F3668C4CC159}" type="datetimeFigureOut">
              <a:t>9/30/2026</a:t>
            </a:fld>
            <a:endParaRPr/>
          </a:p>
        </p:txBody>
      </p:sp>
      <p:sp>
        <p:nvSpPr>
          <p:cNvPr id="5" name="Footer Placeholder 4">
            <a:extLst>
              <a:ext uri="{FF2B5EF4-FFF2-40B4-BE49-F238E27FC236}">
                <a16:creationId xmlns:a16="http://schemas.microsoft.com/office/drawing/2014/main" id="{04EE87FD-C808-4643-2317-3CDB3CBCB44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CF01170-CC99-1C80-2814-8C172DEF9DA3}"/>
              </a:ext>
            </a:extLst>
          </p:cNvPr>
          <p:cNvSpPr>
            <a:spLocks noGrp="1"/>
          </p:cNvSpPr>
          <p:nvPr>
            <p:ph type="sldNum" idx="12"/>
          </p:nvPr>
        </p:nvSpPr>
        <p:spPr/>
        <p:txBody>
          <a:bodyPr/>
          <a:lstStyle/>
          <a:p>
            <a:fld id="{DEA345B2-507C-43D7-80BF-79F59DDCF0A3}"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61B42E-1446-2B7F-B0AB-68026A695039}"/>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32E6454A-9B58-1467-10AE-5BAA8852317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6688D33-D71B-794B-B556-D3F17CC2B08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latin typeface="+mj-lt"/>
                <a:ea typeface="+mj-lt"/>
                <a:cs typeface="+mj-lt"/>
              </a:defRPr>
            </a:lvl1pPr>
          </a:lstStyle>
          <a:p>
            <a:fld id="{5750368A-0602-41DA-8C72-F3668C4CC159}" type="datetimeFigureOut">
              <a:t>9/30/2026</a:t>
            </a:fld>
            <a:endParaRPr/>
          </a:p>
        </p:txBody>
      </p:sp>
      <p:sp>
        <p:nvSpPr>
          <p:cNvPr id="5" name="Footer Placeholder 4">
            <a:extLst>
              <a:ext uri="{FF2B5EF4-FFF2-40B4-BE49-F238E27FC236}">
                <a16:creationId xmlns:a16="http://schemas.microsoft.com/office/drawing/2014/main" id="{E82302E3-550F-6EB1-3682-88ECDCAB2B66}"/>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latin typeface="+mj-lt"/>
                <a:ea typeface="+mj-lt"/>
                <a:cs typeface="+mj-lt"/>
              </a:defRPr>
            </a:lvl1pPr>
          </a:lstStyle>
          <a:p>
            <a:endParaRPr/>
          </a:p>
        </p:txBody>
      </p:sp>
      <p:sp>
        <p:nvSpPr>
          <p:cNvPr id="6" name="Slide Number Placeholder 5">
            <a:extLst>
              <a:ext uri="{FF2B5EF4-FFF2-40B4-BE49-F238E27FC236}">
                <a16:creationId xmlns:a16="http://schemas.microsoft.com/office/drawing/2014/main" id="{F30F3CC4-BECA-E918-14B4-1688C26034E1}"/>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latin typeface="+mj-lt"/>
                <a:ea typeface="+mj-lt"/>
                <a:cs typeface="+mj-lt"/>
              </a:defRPr>
            </a:lvl1pPr>
          </a:lstStyle>
          <a:p>
            <a:fld id="{DEA345B2-507C-43D7-80BF-79F59DDCF0A3}"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j-lt"/>
          <a:ea typeface="+mj-lt"/>
          <a:cs typeface="+mj-lt"/>
        </a:defRPr>
      </a:lvl1pPr>
      <a:lvl2pPr marL="685800" indent="-228600" algn="l" defTabSz="914400">
        <a:lnSpc>
          <a:spcPct val="90000"/>
        </a:lnSpc>
        <a:spcBef>
          <a:spcPts val="500"/>
        </a:spcBef>
        <a:buFont typeface="Arial"/>
        <a:buChar char="•"/>
        <a:defRPr sz="2400" kern="1200">
          <a:solidFill>
            <a:schemeClr val="tx1"/>
          </a:solidFill>
          <a:latin typeface="+mj-lt"/>
          <a:ea typeface="+mj-lt"/>
          <a:cs typeface="+mj-lt"/>
        </a:defRPr>
      </a:lvl2pPr>
      <a:lvl3pPr marL="1143000" indent="-228600" algn="l" defTabSz="914400">
        <a:lnSpc>
          <a:spcPct val="90000"/>
        </a:lnSpc>
        <a:spcBef>
          <a:spcPts val="500"/>
        </a:spcBef>
        <a:buFont typeface="Arial"/>
        <a:buChar char="•"/>
        <a:defRPr sz="2000" kern="1200">
          <a:solidFill>
            <a:schemeClr val="tx1"/>
          </a:solidFill>
          <a:latin typeface="+mj-lt"/>
          <a:ea typeface="+mj-lt"/>
          <a:cs typeface="+mj-lt"/>
        </a:defRPr>
      </a:lvl3pPr>
      <a:lvl4pPr marL="1600200" indent="-228600" algn="l" defTabSz="914400">
        <a:lnSpc>
          <a:spcPct val="90000"/>
        </a:lnSpc>
        <a:spcBef>
          <a:spcPts val="500"/>
        </a:spcBef>
        <a:buFont typeface="Arial"/>
        <a:buChar char="•"/>
        <a:defRPr sz="1800" kern="1200">
          <a:solidFill>
            <a:schemeClr val="tx1"/>
          </a:solidFill>
          <a:latin typeface="+mj-lt"/>
          <a:ea typeface="+mj-lt"/>
          <a:cs typeface="+mj-lt"/>
        </a:defRPr>
      </a:lvl4pPr>
      <a:lvl5pPr marL="2057400" indent="-228600" algn="l" defTabSz="914400">
        <a:lnSpc>
          <a:spcPct val="90000"/>
        </a:lnSpc>
        <a:spcBef>
          <a:spcPts val="500"/>
        </a:spcBef>
        <a:buFont typeface="Arial"/>
        <a:buChar char="•"/>
        <a:defRPr sz="1800" kern="1200">
          <a:solidFill>
            <a:schemeClr val="tx1"/>
          </a:solidFill>
          <a:latin typeface="+mj-lt"/>
          <a:ea typeface="+mj-lt"/>
          <a:cs typeface="+mj-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BC628D34-8338-454B-E97A-2B8FE3681CB4}"/>
              </a:ext>
            </a:extLst>
          </p:cNvPr>
          <p:cNvSpPr>
            <a:spLocks noGrp="1"/>
          </p:cNvSpPr>
          <p:nvPr>
            <p:ph type="subTitle" idx="1"/>
          </p:nvPr>
        </p:nvSpPr>
        <p:spPr>
          <a:xfrm>
            <a:off x="6096000" y="3429000"/>
            <a:ext cx="5077521" cy="2667000"/>
          </a:xfrm>
        </p:spPr>
        <p:txBody>
          <a:bodyPr>
            <a:normAutofit/>
          </a:bodyPr>
          <a:lstStyle/>
          <a:p>
            <a:r>
              <a:rPr lang="en-US" sz="2500"/>
              <a:t>Detecting Grooming-Related Interactions in Chat Conversations Using DistilBERT and LSTM-Based Behavioral Sequence Modeling</a:t>
            </a:r>
            <a:endParaRPr sz="2500"/>
          </a:p>
        </p:txBody>
      </p:sp>
      <p:sp>
        <p:nvSpPr>
          <p:cNvPr id="5" name="Title 4">
            <a:extLst>
              <a:ext uri="{FF2B5EF4-FFF2-40B4-BE49-F238E27FC236}">
                <a16:creationId xmlns:a16="http://schemas.microsoft.com/office/drawing/2014/main" id="{F6ED2DF7-F311-FDB6-B94A-056A1A4D8792}"/>
              </a:ext>
            </a:extLst>
          </p:cNvPr>
          <p:cNvSpPr>
            <a:spLocks noGrp="1"/>
          </p:cNvSpPr>
          <p:nvPr>
            <p:ph type="ctrTitle"/>
          </p:nvPr>
        </p:nvSpPr>
        <p:spPr>
          <a:xfrm>
            <a:off x="6096000" y="1651000"/>
            <a:ext cx="5077521" cy="1270000"/>
          </a:xfrm>
        </p:spPr>
        <p:txBody>
          <a:bodyPr>
            <a:normAutofit/>
          </a:bodyPr>
          <a:lstStyle/>
          <a:p>
            <a:r>
              <a:rPr lang="en-PH" sz="5000">
                <a:solidFill>
                  <a:srgbClr val="FFFFFF"/>
                </a:solidFill>
              </a:rPr>
              <a:t>GroomShield</a:t>
            </a:r>
          </a:p>
        </p:txBody>
      </p:sp>
    </p:spTree>
    <p:extLst>
      <p:ext uri="{BB962C8B-B14F-4D97-AF65-F5344CB8AC3E}">
        <p14:creationId xmlns:p14="http://schemas.microsoft.com/office/powerpoint/2010/main" val="687419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
          <p:cNvPicPr>
            <a:picLocks noChangeAspect="1"/>
          </p:cNvPicPr>
          <p:nvPr/>
        </p:nvPicPr>
        <p:blipFill>
          <a:blip r:embed="rId3"/>
          <a:stretch>
            <a:fillRect/>
          </a:stretch>
        </p:blipFill>
        <p:spPr>
          <a:xfrm>
            <a:off x="0" y="5568"/>
            <a:ext cx="12192000" cy="6846864"/>
          </a:xfrm>
          <a:prstGeom prst="rect">
            <a:avLst/>
          </a:prstGeom>
        </p:spPr>
      </p:pic>
      <p:pic>
        <p:nvPicPr>
          <p:cNvPr id="7" name="Picture 6"/>
          <p:cNvPicPr>
            <a:picLocks noChangeAspect="1"/>
          </p:cNvPicPr>
          <p:nvPr/>
        </p:nvPicPr>
        <p:blipFill>
          <a:blip r:embed="rId4"/>
          <a:stretch>
            <a:fillRect/>
          </a:stretch>
        </p:blipFill>
        <p:spPr>
          <a:xfrm>
            <a:off x="10719917" y="6099734"/>
            <a:ext cx="1286054" cy="514422"/>
          </a:xfrm>
          <a:prstGeom prst="rect">
            <a:avLst/>
          </a:prstGeom>
        </p:spPr>
      </p:pic>
    </p:spTree>
    <p:extLst>
      <p:ext uri="{BB962C8B-B14F-4D97-AF65-F5344CB8AC3E}">
        <p14:creationId xmlns:p14="http://schemas.microsoft.com/office/powerpoint/2010/main" val="170495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44C2198-1C42-A790-4121-5218735B7DDB}"/>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8" name="Content Placeholder 6">
            <a:extLst>
              <a:ext uri="{FF2B5EF4-FFF2-40B4-BE49-F238E27FC236}">
                <a16:creationId xmlns:a16="http://schemas.microsoft.com/office/drawing/2014/main" id="{166323FE-9773-D041-E0C5-1689233D65B8}"/>
              </a:ext>
            </a:extLst>
          </p:cNvPr>
          <p:cNvSpPr>
            <a:spLocks noGrp="1"/>
          </p:cNvSpPr>
          <p:nvPr>
            <p:ph idx="1"/>
          </p:nvPr>
        </p:nvSpPr>
        <p:spPr>
          <a:xfrm>
            <a:off x="838200" y="1825625"/>
            <a:ext cx="9781489" cy="4351338"/>
          </a:xfrm>
        </p:spPr>
        <p:txBody>
          <a:bodyPr vert="horz" wrap="square" lIns="91440" tIns="45720" rIns="91440" bIns="45720" anchor="t">
            <a:noAutofit/>
          </a:bodyPr>
          <a:lstStyle/>
          <a:p>
            <a:pPr>
              <a:lnSpc>
                <a:spcPct val="100000"/>
              </a:lnSpc>
              <a:spcAft>
                <a:spcPts val="700"/>
              </a:spcAft>
            </a:pPr>
            <a:r>
              <a:rPr lang="en-US" sz="2700">
                <a:latin typeface="Calibri Light" panose="020F0302020204030204" pitchFamily="34" charset="0"/>
              </a:rPr>
              <a:t>Online chats can carry harmful interactions across many turns.</a:t>
            </a:r>
          </a:p>
          <a:p>
            <a:pPr>
              <a:lnSpc>
                <a:spcPct val="100000"/>
              </a:lnSpc>
              <a:spcAft>
                <a:spcPts val="700"/>
              </a:spcAft>
            </a:pPr>
            <a:r>
              <a:rPr lang="en-US" sz="2700">
                <a:latin typeface="Calibri Light" panose="020F0302020204030204" pitchFamily="34" charset="0"/>
              </a:rPr>
              <a:t>Keyword filters detect explicit words but miss context and progression.</a:t>
            </a:r>
          </a:p>
          <a:p>
            <a:pPr>
              <a:lnSpc>
                <a:spcPct val="100000"/>
              </a:lnSpc>
              <a:spcAft>
                <a:spcPts val="700"/>
              </a:spcAft>
            </a:pPr>
            <a:r>
              <a:rPr lang="en-US" sz="2700">
                <a:latin typeface="Calibri Light" panose="020F0302020204030204" pitchFamily="34" charset="0"/>
              </a:rPr>
              <a:t>User reports help, but they usually act after someone notices a problem.</a:t>
            </a:r>
          </a:p>
          <a:p>
            <a:pPr>
              <a:lnSpc>
                <a:spcPct val="100000"/>
              </a:lnSpc>
              <a:spcAft>
                <a:spcPts val="700"/>
              </a:spcAft>
            </a:pPr>
            <a:r>
              <a:rPr lang="en-US" sz="2700">
                <a:latin typeface="Calibri Light" panose="020F0302020204030204" pitchFamily="34" charset="0"/>
              </a:rPr>
              <a:t>Moderation needs both local context and conversation-wide patterns.</a:t>
            </a:r>
            <a:endParaRPr sz="2700">
              <a:latin typeface="Calibri Light" panose="020F0302020204030204" pitchFamily="34" charset="0"/>
            </a:endParaRPr>
          </a:p>
        </p:txBody>
      </p:sp>
      <p:sp>
        <p:nvSpPr>
          <p:cNvPr id="9" name="Rectangle 8">
            <a:extLst>
              <a:ext uri="{FF2B5EF4-FFF2-40B4-BE49-F238E27FC236}">
                <a16:creationId xmlns:a16="http://schemas.microsoft.com/office/drawing/2014/main" id="{B1F26A3C-9B81-B8D3-EEA5-D7DD35D3D218}"/>
              </a:ext>
            </a:extLst>
          </p:cNvPr>
          <p:cNvSpPr>
            <a:spLocks noGrp="1"/>
          </p:cNvSpPr>
          <p:nvPr/>
        </p:nvSpPr>
        <p:spPr>
          <a:xfrm>
            <a:off x="161544" y="0"/>
            <a:ext cx="10710672" cy="741680"/>
          </a:xfrm>
          <a:prstGeom prst="rect">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Title 5">
            <a:extLst>
              <a:ext uri="{FF2B5EF4-FFF2-40B4-BE49-F238E27FC236}">
                <a16:creationId xmlns:a16="http://schemas.microsoft.com/office/drawing/2014/main" id="{562366F7-771B-E12D-0784-5DF536657F4F}"/>
              </a:ext>
            </a:extLst>
          </p:cNvPr>
          <p:cNvSpPr>
            <a:spLocks noGrp="1"/>
          </p:cNvSpPr>
          <p:nvPr/>
        </p:nvSpPr>
        <p:spPr>
          <a:xfrm>
            <a:off x="3148127" y="87629"/>
            <a:ext cx="8882329" cy="593408"/>
          </a:xfrm>
          <a:prstGeom prst="rect">
            <a:avLst/>
          </a:prstGeom>
        </p:spPr>
        <p:txBody>
          <a:bodyPr vert="horz" lIns="91440" tIns="45720" rIns="91440" bIns="45720" anchor="ctr">
            <a:normAutofit fontScale="90000" lnSpcReduction="10000"/>
          </a:bodyPr>
          <a:lstStyle>
            <a:lvl1pPr algn="l" defTabSz="914400">
              <a:lnSpc>
                <a:spcPct val="90000"/>
              </a:lnSpc>
              <a:spcBef>
                <a:spcPct val="0"/>
              </a:spcBef>
              <a:buNone/>
              <a:defRPr sz="4400" kern="1200">
                <a:solidFill>
                  <a:schemeClr val="tx1"/>
                </a:solidFill>
                <a:latin typeface="+mj-lt"/>
                <a:ea typeface="+mj-lt"/>
                <a:cs typeface="+mj-lt"/>
              </a:defRPr>
            </a:lvl1pPr>
          </a:lstStyle>
          <a:p>
            <a:r>
              <a:t>Background of the Study</a:t>
            </a:r>
            <a:endParaRPr>
              <a:latin typeface="Corbel"/>
              <a:ea typeface="Corbel"/>
              <a:cs typeface="Corbel"/>
            </a:endParaRPr>
          </a:p>
        </p:txBody>
      </p:sp>
    </p:spTree>
    <p:extLst>
      <p:ext uri="{BB962C8B-B14F-4D97-AF65-F5344CB8AC3E}">
        <p14:creationId xmlns:p14="http://schemas.microsoft.com/office/powerpoint/2010/main" val="487461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F420E-DB4F-AAC4-E6C3-9E670B879997}"/>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Research Questions</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C6973DE6-43FD-6A2F-BD6D-2870C787B5DE}"/>
              </a:ext>
            </a:extLst>
          </p:cNvPr>
          <p:cNvSpPr>
            <a:spLocks noGrp="1"/>
          </p:cNvSpPr>
          <p:nvPr>
            <p:ph idx="1"/>
          </p:nvPr>
        </p:nvSpPr>
        <p:spPr/>
        <p:txBody>
          <a:bodyPr wrap="square">
            <a:noAutofit/>
          </a:bodyPr>
          <a:lstStyle/>
          <a:p>
            <a:pPr>
              <a:lnSpc>
                <a:spcPct val="100000"/>
              </a:lnSpc>
              <a:spcAft>
                <a:spcPts val="700"/>
              </a:spcAft>
            </a:pPr>
            <a:r>
              <a:rPr lang="en-US" sz="2500">
                <a:latin typeface="Calibri Light" panose="020F0302020204030204" pitchFamily="34" charset="0"/>
              </a:rPr>
              <a:t>How effective are existing chat moderation systems?</a:t>
            </a:r>
          </a:p>
          <a:p>
            <a:pPr>
              <a:lnSpc>
                <a:spcPct val="100000"/>
              </a:lnSpc>
              <a:spcAft>
                <a:spcPts val="700"/>
              </a:spcAft>
            </a:pPr>
            <a:r>
              <a:rPr lang="en-US" sz="2500">
                <a:latin typeface="Calibri Light" panose="020F0302020204030204" pitchFamily="34" charset="0"/>
              </a:rPr>
              <a:t>Where do keyword and rule-based methods fail on context?</a:t>
            </a:r>
          </a:p>
          <a:p>
            <a:pPr>
              <a:lnSpc>
                <a:spcPct val="100000"/>
              </a:lnSpc>
              <a:spcAft>
                <a:spcPts val="700"/>
              </a:spcAft>
            </a:pPr>
            <a:r>
              <a:rPr lang="en-US" sz="2500">
                <a:latin typeface="Calibri Light" panose="020F0302020204030204" pitchFamily="34" charset="0"/>
              </a:rPr>
              <a:t>How can ML and NLP analyze behavior across a conversation?</a:t>
            </a:r>
          </a:p>
          <a:p>
            <a:pPr>
              <a:lnSpc>
                <a:spcPct val="100000"/>
              </a:lnSpc>
              <a:spcAft>
                <a:spcPts val="700"/>
              </a:spcAft>
            </a:pPr>
            <a:r>
              <a:rPr lang="en-US" sz="2500">
                <a:latin typeface="Calibri Light" panose="020F0302020204030204" pitchFamily="34" charset="0"/>
              </a:rPr>
              <a:t>How much can the proposed module improve recall and reduce false negatives?</a:t>
            </a:r>
            <a:endParaRPr sz="2500">
              <a:latin typeface="Calibri Light" panose="020F0302020204030204" pitchFamily="34" charset="0"/>
            </a:endParaRPr>
          </a:p>
        </p:txBody>
      </p:sp>
    </p:spTree>
    <p:extLst>
      <p:ext uri="{BB962C8B-B14F-4D97-AF65-F5344CB8AC3E}">
        <p14:creationId xmlns:p14="http://schemas.microsoft.com/office/powerpoint/2010/main" val="578051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E9F28-BE19-01F7-925B-315A4EB7E37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Objectives of the Study</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862A178E-C1B3-DC86-F272-7BC7DA7322ED}"/>
              </a:ext>
            </a:extLst>
          </p:cNvPr>
          <p:cNvSpPr>
            <a:spLocks noGrp="1"/>
          </p:cNvSpPr>
          <p:nvPr>
            <p:ph idx="1"/>
          </p:nvPr>
        </p:nvSpPr>
        <p:spPr>
          <a:xfrm>
            <a:off x="838200" y="1825625"/>
            <a:ext cx="10017369" cy="4351338"/>
          </a:xfrm>
        </p:spPr>
        <p:txBody>
          <a:bodyPr wrap="square">
            <a:noAutofit/>
          </a:bodyPr>
          <a:lstStyle/>
          <a:p>
            <a:pPr marL="34" indent="-20">
              <a:lnSpc>
                <a:spcPct val="100000"/>
              </a:lnSpc>
              <a:spcAft>
                <a:spcPts val="700"/>
              </a:spcAft>
              <a:buChar char="•"/>
            </a:pPr>
            <a:r>
              <a:rPr lang="en-US" sz="2400" b="0">
                <a:latin typeface="Calibri Light" panose="020F0302020204030204" pitchFamily="34" charset="0"/>
              </a:rPr>
              <a:t>General: Build an AI moderation module using context and behavioral patterns.</a:t>
            </a:r>
          </a:p>
          <a:p>
            <a:pPr marL="34" indent="-20">
              <a:lnSpc>
                <a:spcPct val="100000"/>
              </a:lnSpc>
              <a:spcAft>
                <a:spcPts val="700"/>
              </a:spcAft>
              <a:buChar char="•"/>
            </a:pPr>
            <a:r>
              <a:rPr lang="en-US" sz="2400" b="0">
                <a:latin typeface="Calibri Light" panose="020F0302020204030204" pitchFamily="34" charset="0"/>
              </a:rPr>
              <a:t>1. Evaluate the limits of keyword-based and rule-based moderation.</a:t>
            </a:r>
          </a:p>
          <a:p>
            <a:pPr marL="34" indent="-20">
              <a:lnSpc>
                <a:spcPct val="100000"/>
              </a:lnSpc>
              <a:spcAft>
                <a:spcPts val="700"/>
              </a:spcAft>
              <a:buChar char="•"/>
            </a:pPr>
            <a:r>
              <a:rPr lang="en-US" sz="2400" b="0">
                <a:latin typeface="Calibri Light" panose="020F0302020204030204" pitchFamily="34" charset="0"/>
              </a:rPr>
              <a:t>2. Develop a two-layer module for multi-turn chat analysis.</a:t>
            </a:r>
          </a:p>
          <a:p>
            <a:pPr marL="34" indent="-20">
              <a:lnSpc>
                <a:spcPct val="100000"/>
              </a:lnSpc>
              <a:spcAft>
                <a:spcPts val="700"/>
              </a:spcAft>
              <a:buChar char="•"/>
            </a:pPr>
            <a:r>
              <a:rPr lang="en-US" sz="2400" b="0">
                <a:latin typeface="Calibri Light" panose="020F0302020204030204" pitchFamily="34" charset="0"/>
              </a:rPr>
              <a:t>3. Measure recall improvement and false-negative reduction.</a:t>
            </a:r>
            <a:endParaRPr sz="2400" b="0">
              <a:latin typeface="Calibri Light" panose="020F0302020204030204" pitchFamily="34" charset="0"/>
            </a:endParaRPr>
          </a:p>
        </p:txBody>
      </p:sp>
    </p:spTree>
    <p:extLst>
      <p:ext uri="{BB962C8B-B14F-4D97-AF65-F5344CB8AC3E}">
        <p14:creationId xmlns:p14="http://schemas.microsoft.com/office/powerpoint/2010/main" val="1880484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Research Alignment: Existing Methods</a:t>
            </a:r>
            <a:endParaRPr sz="3400">
              <a:solidFill>
                <a:schemeClr val="accent1">
                  <a:lumMod val="75000"/>
                </a:schemeClr>
              </a:solidFill>
            </a:endParaRPr>
          </a:p>
        </p:txBody>
      </p:sp>
      <p:graphicFrame>
        <p:nvGraphicFramePr>
          <p:cNvPr id="5" name="Evidence table">
            <a:extLst>
              <a:ext uri="{FF2B5EF4-FFF2-40B4-BE49-F238E27FC236}">
                <a16:creationId xmlns:a16="http://schemas.microsoft.com/office/drawing/2014/main" id="{BDAA3C98-483E-4858-C8BE-2F383C6F96F1}"/>
              </a:ext>
            </a:extLst>
          </p:cNvPr>
          <p:cNvGraphicFramePr>
            <a:graphicFrameLocks noGrp="1"/>
          </p:cNvGraphicFramePr>
          <p:nvPr>
            <p:ph idx="1"/>
            <p:extLst>
              <p:ext uri="{D42A27DB-BD31-4B8C-83A1-F6EECF244321}">
                <p14:modId xmlns:p14="http://schemas.microsoft.com/office/powerpoint/2010/main" val="2488525637"/>
              </p:ext>
            </p:extLst>
          </p:nvPr>
        </p:nvGraphicFramePr>
        <p:xfrm>
          <a:off x="685799" y="1930400"/>
          <a:ext cx="10795000" cy="3992033"/>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346889064"/>
                    </a:ext>
                  </a:extLst>
                </a:gridCol>
                <a:gridCol w="2679700">
                  <a:extLst>
                    <a:ext uri="{9D8B030D-6E8A-4147-A177-3AD203B41FA5}">
                      <a16:colId xmlns:a16="http://schemas.microsoft.com/office/drawing/2014/main" val="277590277"/>
                    </a:ext>
                  </a:extLst>
                </a:gridCol>
                <a:gridCol w="2806700">
                  <a:extLst>
                    <a:ext uri="{9D8B030D-6E8A-4147-A177-3AD203B41FA5}">
                      <a16:colId xmlns:a16="http://schemas.microsoft.com/office/drawing/2014/main" val="429554503"/>
                    </a:ext>
                  </a:extLst>
                </a:gridCol>
                <a:gridCol w="2794000">
                  <a:extLst>
                    <a:ext uri="{9D8B030D-6E8A-4147-A177-3AD203B41FA5}">
                      <a16:colId xmlns:a16="http://schemas.microsoft.com/office/drawing/2014/main" val="945222498"/>
                    </a:ext>
                  </a:extLst>
                </a:gridCol>
              </a:tblGrid>
              <a:tr h="1248833">
                <a:tc>
                  <a:txBody>
                    <a:bodyPr/>
                    <a:lstStyle/>
                    <a:p>
                      <a:r>
                        <a:rPr lang="en-PH" sz="2000" b="1">
                          <a:solidFill>
                            <a:srgbClr val="191F28"/>
                          </a:solidFill>
                          <a:latin typeface="Calibri" panose="020F0502020204030204" pitchFamily="34" charset="0"/>
                        </a:rPr>
                        <a:t>Problem</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Question / Objective</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Method</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Results evidence</a:t>
                      </a:r>
                    </a:p>
                  </a:txBody>
                  <a:tcPr marL="101600" marR="101600" marT="76200" marB="76200" anchor="ctr">
                    <a:solidFill>
                      <a:srgbClr val="E0E8F1"/>
                    </a:solidFill>
                  </a:tcPr>
                </a:tc>
                <a:extLst>
                  <a:ext uri="{0D108BD9-81ED-4DB2-BD59-A6C34878D82A}">
                    <a16:rowId xmlns:a16="http://schemas.microsoft.com/office/drawing/2014/main" val="2039143541"/>
                  </a:ext>
                </a:extLst>
              </a:tr>
              <a:tr h="1248833">
                <a:tc>
                  <a:txBody>
                    <a:bodyPr/>
                    <a:lstStyle/>
                    <a:p>
                      <a:r>
                        <a:rPr lang="en-US" sz="2000" b="0">
                          <a:solidFill>
                            <a:srgbClr val="191F28"/>
                          </a:solidFill>
                          <a:latin typeface="Calibri" panose="020F0502020204030204" pitchFamily="34" charset="0"/>
                        </a:rPr>
                        <a:t>How well do existing systems detect relevant conversations?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RQ1 / Objective 1: Evaluate existing moderation.</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Test the keyword rule on the same held-out conversations.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Keyword rule: 61.36% recall and 17 missed cases.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206382432"/>
                  </a:ext>
                </a:extLst>
              </a:tr>
              <a:tr h="1248833">
                <a:tc>
                  <a:txBody>
                    <a:bodyPr/>
                    <a:lstStyle/>
                    <a:p>
                      <a:r>
                        <a:rPr lang="en-US" sz="2000" b="0">
                          <a:solidFill>
                            <a:srgbClr val="191F28"/>
                          </a:solidFill>
                          <a:latin typeface="Calibri" panose="020F0502020204030204" pitchFamily="34" charset="0"/>
                        </a:rPr>
                        <a:t>Static methods can miss meaning that develops across turns.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RQ2 / Objective 1: Examine the limits of static methods.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Compare keyword and score aggregation with the trajectory LSTM.</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LSTM gains over maximum Layer 1: +0.3630 PR-AUC and +0.1958 F2.</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50964375"/>
                  </a:ext>
                </a:extLst>
              </a:tr>
            </a:tbl>
          </a:graphicData>
        </a:graphic>
      </p:graphicFrame>
    </p:spTree>
    <p:extLst>
      <p:ext uri="{BB962C8B-B14F-4D97-AF65-F5344CB8AC3E}">
        <p14:creationId xmlns:p14="http://schemas.microsoft.com/office/powerpoint/2010/main" val="735982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Research Alignment: Module and Improvement</a:t>
            </a:r>
            <a:endParaRPr sz="3400">
              <a:solidFill>
                <a:schemeClr val="accent1">
                  <a:lumMod val="75000"/>
                </a:schemeClr>
              </a:solidFill>
            </a:endParaRPr>
          </a:p>
        </p:txBody>
      </p:sp>
      <p:graphicFrame>
        <p:nvGraphicFramePr>
          <p:cNvPr id="5" name="Evidence table">
            <a:extLst>
              <a:ext uri="{FF2B5EF4-FFF2-40B4-BE49-F238E27FC236}">
                <a16:creationId xmlns:a16="http://schemas.microsoft.com/office/drawing/2014/main" id="{658E6B48-24A1-22A5-6387-F4A04A4A17B4}"/>
              </a:ext>
            </a:extLst>
          </p:cNvPr>
          <p:cNvGraphicFramePr>
            <a:graphicFrameLocks noGrp="1"/>
          </p:cNvGraphicFramePr>
          <p:nvPr>
            <p:ph idx="1"/>
            <p:extLst>
              <p:ext uri="{D42A27DB-BD31-4B8C-83A1-F6EECF244321}">
                <p14:modId xmlns:p14="http://schemas.microsoft.com/office/powerpoint/2010/main" val="1644084966"/>
              </p:ext>
            </p:extLst>
          </p:nvPr>
        </p:nvGraphicFramePr>
        <p:xfrm>
          <a:off x="685799" y="1930400"/>
          <a:ext cx="10795000" cy="4296833"/>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799624030"/>
                    </a:ext>
                  </a:extLst>
                </a:gridCol>
                <a:gridCol w="2679700">
                  <a:extLst>
                    <a:ext uri="{9D8B030D-6E8A-4147-A177-3AD203B41FA5}">
                      <a16:colId xmlns:a16="http://schemas.microsoft.com/office/drawing/2014/main" val="284024264"/>
                    </a:ext>
                  </a:extLst>
                </a:gridCol>
                <a:gridCol w="2806700">
                  <a:extLst>
                    <a:ext uri="{9D8B030D-6E8A-4147-A177-3AD203B41FA5}">
                      <a16:colId xmlns:a16="http://schemas.microsoft.com/office/drawing/2014/main" val="2757323129"/>
                    </a:ext>
                  </a:extLst>
                </a:gridCol>
                <a:gridCol w="2794000">
                  <a:extLst>
                    <a:ext uri="{9D8B030D-6E8A-4147-A177-3AD203B41FA5}">
                      <a16:colId xmlns:a16="http://schemas.microsoft.com/office/drawing/2014/main" val="3525452511"/>
                    </a:ext>
                  </a:extLst>
                </a:gridCol>
              </a:tblGrid>
              <a:tr h="1248833">
                <a:tc>
                  <a:txBody>
                    <a:bodyPr/>
                    <a:lstStyle/>
                    <a:p>
                      <a:r>
                        <a:rPr lang="en-PH" sz="2000" b="1">
                          <a:solidFill>
                            <a:srgbClr val="191F28"/>
                          </a:solidFill>
                          <a:latin typeface="Calibri" panose="020F0502020204030204" pitchFamily="34" charset="0"/>
                        </a:rPr>
                        <a:t>Problem</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Question / Objective</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Method</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Results evidence</a:t>
                      </a:r>
                    </a:p>
                  </a:txBody>
                  <a:tcPr marL="101600" marR="101600" marT="76200" marB="76200" anchor="ctr">
                    <a:solidFill>
                      <a:srgbClr val="E0E8F1"/>
                    </a:solidFill>
                  </a:tcPr>
                </a:tc>
                <a:extLst>
                  <a:ext uri="{0D108BD9-81ED-4DB2-BD59-A6C34878D82A}">
                    <a16:rowId xmlns:a16="http://schemas.microsoft.com/office/drawing/2014/main" val="815225734"/>
                  </a:ext>
                </a:extLst>
              </a:tr>
              <a:tr h="1248833">
                <a:tc>
                  <a:txBody>
                    <a:bodyPr/>
                    <a:lstStyle/>
                    <a:p>
                      <a:r>
                        <a:rPr lang="en-US" sz="2000" b="0">
                          <a:solidFill>
                            <a:srgbClr val="191F28"/>
                          </a:solidFill>
                          <a:latin typeface="Calibri" panose="020F0502020204030204" pitchFamily="34" charset="0"/>
                        </a:rPr>
                        <a:t>Chat analysis needs both context and behavioral development.</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RQ3 / Objective 2: Develop the AI moderation module.</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Combine DistilBERT, seven trajectory features, and an LSTM.</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Completed two-layer module and sequential review interface.</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2194784163"/>
                  </a:ext>
                </a:extLst>
              </a:tr>
              <a:tr h="1248833">
                <a:tc>
                  <a:txBody>
                    <a:bodyPr/>
                    <a:lstStyle/>
                    <a:p>
                      <a:r>
                        <a:rPr lang="en-US" sz="2000" b="0">
                          <a:solidFill>
                            <a:srgbClr val="191F28"/>
                          </a:solidFill>
                          <a:latin typeface="Calibri" panose="020F0502020204030204" pitchFamily="34" charset="0"/>
                        </a:rPr>
                        <a:t>The module must improve detection and reduce missed cases.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RQ4 / Objective 3: Measure recall and false-negative reduction.</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Use a locked test and paired comparisons across author groups.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Trajectory-Feature LSTM: 93.18% recall and three misses; 50% fewer misses than weighted scoring.</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3028070350"/>
                  </a:ext>
                </a:extLst>
              </a:tr>
            </a:tbl>
          </a:graphicData>
        </a:graphic>
      </p:graphicFrame>
    </p:spTree>
    <p:extLst>
      <p:ext uri="{BB962C8B-B14F-4D97-AF65-F5344CB8AC3E}">
        <p14:creationId xmlns:p14="http://schemas.microsoft.com/office/powerpoint/2010/main" val="2776312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D346D-8683-5037-C23F-47F648DF5CA9}"/>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4000">
                <a:solidFill>
                  <a:schemeClr val="accent1">
                    <a:lumMod val="75000"/>
                  </a:schemeClr>
                </a:solidFill>
              </a:rPr>
              <a:t>Why Context and Sequence Matter</a:t>
            </a:r>
            <a:endParaRPr sz="4000">
              <a:solidFill>
                <a:schemeClr val="accent1">
                  <a:lumMod val="75000"/>
                </a:schemeClr>
              </a:solidFill>
            </a:endParaRPr>
          </a:p>
        </p:txBody>
      </p:sp>
      <p:sp>
        <p:nvSpPr>
          <p:cNvPr id="7" name="Content Placeholder 6">
            <a:extLst>
              <a:ext uri="{FF2B5EF4-FFF2-40B4-BE49-F238E27FC236}">
                <a16:creationId xmlns:a16="http://schemas.microsoft.com/office/drawing/2014/main" id="{33D99DDF-C87D-BE06-E16D-DC3C465370B2}"/>
              </a:ext>
            </a:extLst>
          </p:cNvPr>
          <p:cNvSpPr>
            <a:spLocks noGrp="1"/>
          </p:cNvSpPr>
          <p:nvPr>
            <p:ph idx="1"/>
          </p:nvPr>
        </p:nvSpPr>
        <p:spPr>
          <a:xfrm>
            <a:off x="838200" y="1825624"/>
            <a:ext cx="10909151" cy="4811843"/>
          </a:xfrm>
        </p:spPr>
        <p:txBody>
          <a:bodyPr wrap="square">
            <a:noAutofit/>
          </a:bodyPr>
          <a:lstStyle/>
          <a:p>
            <a:pPr>
              <a:lnSpc>
                <a:spcPct val="100000"/>
              </a:lnSpc>
              <a:spcAft>
                <a:spcPts val="700"/>
              </a:spcAft>
            </a:pPr>
            <a:r>
              <a:rPr lang="en-US" b="1">
                <a:latin typeface="Calibri Light" panose="020F0302020204030204" pitchFamily="34" charset="0"/>
              </a:rPr>
              <a:t>The meaning of a turn depends on the surrounding conversation.</a:t>
            </a:r>
          </a:p>
          <a:p>
            <a:pPr>
              <a:lnSpc>
                <a:spcPct val="100000"/>
              </a:lnSpc>
              <a:spcAft>
                <a:spcPts val="700"/>
              </a:spcAft>
            </a:pPr>
            <a:r>
              <a:rPr lang="en-US" b="1">
                <a:latin typeface="Calibri Light" panose="020F0302020204030204" pitchFamily="34" charset="0"/>
              </a:rPr>
              <a:t>Transformers represent local conversational context.</a:t>
            </a:r>
          </a:p>
          <a:p>
            <a:pPr>
              <a:lnSpc>
                <a:spcPct val="100000"/>
              </a:lnSpc>
              <a:spcAft>
                <a:spcPts val="700"/>
              </a:spcAft>
            </a:pPr>
            <a:r>
              <a:rPr lang="en-US" b="1">
                <a:latin typeface="Calibri Light" panose="020F0302020204030204" pitchFamily="34" charset="0"/>
              </a:rPr>
              <a:t>Behavioral evidence develops across multiple turns.</a:t>
            </a:r>
          </a:p>
          <a:p>
            <a:pPr>
              <a:lnSpc>
                <a:spcPct val="100000"/>
              </a:lnSpc>
              <a:spcAft>
                <a:spcPts val="700"/>
              </a:spcAft>
            </a:pPr>
            <a:r>
              <a:rPr lang="en-US" b="1">
                <a:latin typeface="Calibri Light" panose="020F0302020204030204" pitchFamily="34" charset="0"/>
              </a:rPr>
              <a:t>Sequence models can learn how that evidence changes over time.</a:t>
            </a:r>
            <a:endParaRPr>
              <a:latin typeface="Calibri Light" panose="020F0302020204030204" pitchFamily="34" charset="0"/>
            </a:endParaRPr>
          </a:p>
        </p:txBody>
      </p:sp>
    </p:spTree>
    <p:extLst>
      <p:ext uri="{BB962C8B-B14F-4D97-AF65-F5344CB8AC3E}">
        <p14:creationId xmlns:p14="http://schemas.microsoft.com/office/powerpoint/2010/main" val="21857111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How OGDM Informs the Features</a:t>
            </a:r>
            <a:endParaRPr sz="3400">
              <a:solidFill>
                <a:schemeClr val="accent1">
                  <a:lumMod val="75000"/>
                </a:schemeClr>
              </a:solidFill>
            </a:endParaRPr>
          </a:p>
        </p:txBody>
      </p:sp>
      <p:graphicFrame>
        <p:nvGraphicFramePr>
          <p:cNvPr id="3" name="Evidence table">
            <a:extLst>
              <a:ext uri="{FF2B5EF4-FFF2-40B4-BE49-F238E27FC236}">
                <a16:creationId xmlns:a16="http://schemas.microsoft.com/office/drawing/2014/main" id="{66B26F94-C6FC-C85B-F9DD-4FD83B3FA049}"/>
              </a:ext>
            </a:extLst>
          </p:cNvPr>
          <p:cNvGraphicFramePr>
            <a:graphicFrameLocks noGrp="1"/>
          </p:cNvGraphicFramePr>
          <p:nvPr>
            <p:extLst>
              <p:ext uri="{D42A27DB-BD31-4B8C-83A1-F6EECF244321}">
                <p14:modId xmlns:p14="http://schemas.microsoft.com/office/powerpoint/2010/main" val="1027191965"/>
              </p:ext>
            </p:extLst>
          </p:nvPr>
        </p:nvGraphicFramePr>
        <p:xfrm>
          <a:off x="685800" y="1841500"/>
          <a:ext cx="10795000" cy="3606800"/>
        </p:xfrm>
        <a:graphic>
          <a:graphicData uri="http://schemas.openxmlformats.org/drawingml/2006/table">
            <a:tbl>
              <a:tblPr firstRow="1" bandRow="1">
                <a:tableStyleId>{5C22544A-7EE6-4342-B048-85BDC9FD1C3A}</a:tableStyleId>
              </a:tblPr>
              <a:tblGrid>
                <a:gridCol w="4508500">
                  <a:extLst>
                    <a:ext uri="{9D8B030D-6E8A-4147-A177-3AD203B41FA5}">
                      <a16:colId xmlns:a16="http://schemas.microsoft.com/office/drawing/2014/main" val="1143059944"/>
                    </a:ext>
                  </a:extLst>
                </a:gridCol>
                <a:gridCol w="6286500">
                  <a:extLst>
                    <a:ext uri="{9D8B030D-6E8A-4147-A177-3AD203B41FA5}">
                      <a16:colId xmlns:a16="http://schemas.microsoft.com/office/drawing/2014/main" val="1544061047"/>
                    </a:ext>
                  </a:extLst>
                </a:gridCol>
              </a:tblGrid>
              <a:tr h="721360">
                <a:tc>
                  <a:txBody>
                    <a:bodyPr/>
                    <a:lstStyle/>
                    <a:p>
                      <a:r>
                        <a:rPr lang="en-PH" sz="2200" b="1">
                          <a:solidFill>
                            <a:srgbClr val="191F28"/>
                          </a:solidFill>
                          <a:latin typeface="Calibri" panose="020F0502020204030204" pitchFamily="34" charset="0"/>
                        </a:rPr>
                        <a:t>Conversational property</a:t>
                      </a:r>
                    </a:p>
                  </a:txBody>
                  <a:tcPr marL="101600" marR="101600" marT="76200" marB="76200" anchor="ctr">
                    <a:solidFill>
                      <a:srgbClr val="E0E8F1"/>
                    </a:solidFill>
                  </a:tcPr>
                </a:tc>
                <a:tc>
                  <a:txBody>
                    <a:bodyPr/>
                    <a:lstStyle/>
                    <a:p>
                      <a:r>
                        <a:rPr lang="en-PH" sz="2200" b="1">
                          <a:solidFill>
                            <a:srgbClr val="191F28"/>
                          </a:solidFill>
                          <a:latin typeface="Calibri" panose="020F0502020204030204" pitchFamily="34" charset="0"/>
                        </a:rPr>
                        <a:t>Features used</a:t>
                      </a:r>
                    </a:p>
                  </a:txBody>
                  <a:tcPr marL="101600" marR="101600" marT="76200" marB="76200" anchor="ctr">
                    <a:solidFill>
                      <a:srgbClr val="E0E8F1"/>
                    </a:solidFill>
                  </a:tcPr>
                </a:tc>
                <a:extLst>
                  <a:ext uri="{0D108BD9-81ED-4DB2-BD59-A6C34878D82A}">
                    <a16:rowId xmlns:a16="http://schemas.microsoft.com/office/drawing/2014/main" val="842626567"/>
                  </a:ext>
                </a:extLst>
              </a:tr>
              <a:tr h="721360">
                <a:tc>
                  <a:txBody>
                    <a:bodyPr/>
                    <a:lstStyle/>
                    <a:p>
                      <a:r>
                        <a:rPr lang="en-PH" sz="2200" b="0">
                          <a:solidFill>
                            <a:srgbClr val="191F28"/>
                          </a:solidFill>
                          <a:latin typeface="Calibri" panose="020F0502020204030204" pitchFamily="34" charset="0"/>
                        </a:rPr>
                        <a:t>Accumulation and persistence</a:t>
                      </a:r>
                    </a:p>
                  </a:txBody>
                  <a:tcPr marL="101600" marR="101600" marT="76200" marB="76200" anchor="ctr">
                    <a:solidFill>
                      <a:srgbClr val="FFFFFF"/>
                    </a:solidFill>
                  </a:tcPr>
                </a:tc>
                <a:tc>
                  <a:txBody>
                    <a:bodyPr/>
                    <a:lstStyle/>
                    <a:p>
                      <a:r>
                        <a:rPr lang="en-US" sz="2200" b="0">
                          <a:solidFill>
                            <a:srgbClr val="191F28"/>
                          </a:solidFill>
                          <a:latin typeface="Calibri" panose="020F0502020204030204" pitchFamily="34" charset="0"/>
                        </a:rPr>
                        <a:t>Peak score, current score, spike count</a:t>
                      </a:r>
                      <a:endParaRPr lang="en-PH" sz="22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1308661531"/>
                  </a:ext>
                </a:extLst>
              </a:tr>
              <a:tr h="721360">
                <a:tc>
                  <a:txBody>
                    <a:bodyPr/>
                    <a:lstStyle/>
                    <a:p>
                      <a:r>
                        <a:rPr lang="en-PH" sz="2200" b="0">
                          <a:solidFill>
                            <a:srgbClr val="191F28"/>
                          </a:solidFill>
                          <a:latin typeface="Calibri" panose="020F0502020204030204" pitchFamily="34" charset="0"/>
                        </a:rPr>
                        <a:t>Escalation and retreat</a:t>
                      </a:r>
                    </a:p>
                  </a:txBody>
                  <a:tcPr marL="101600" marR="101600" marT="76200" marB="76200" anchor="ctr">
                    <a:solidFill>
                      <a:srgbClr val="FFFFFF"/>
                    </a:solidFill>
                  </a:tcPr>
                </a:tc>
                <a:tc>
                  <a:txBody>
                    <a:bodyPr/>
                    <a:lstStyle/>
                    <a:p>
                      <a:r>
                        <a:rPr lang="en-PH" sz="2200" b="0">
                          <a:solidFill>
                            <a:srgbClr val="191F28"/>
                          </a:solidFill>
                          <a:latin typeface="Calibri" panose="020F0502020204030204" pitchFamily="34" charset="0"/>
                        </a:rPr>
                        <a:t>Rate of change, spike-then-drop</a:t>
                      </a:r>
                    </a:p>
                  </a:txBody>
                  <a:tcPr marL="101600" marR="101600" marT="76200" marB="76200" anchor="ctr">
                    <a:solidFill>
                      <a:srgbClr val="FFFFFF"/>
                    </a:solidFill>
                  </a:tcPr>
                </a:tc>
                <a:extLst>
                  <a:ext uri="{0D108BD9-81ED-4DB2-BD59-A6C34878D82A}">
                    <a16:rowId xmlns:a16="http://schemas.microsoft.com/office/drawing/2014/main" val="2130883091"/>
                  </a:ext>
                </a:extLst>
              </a:tr>
              <a:tr h="721360">
                <a:tc>
                  <a:txBody>
                    <a:bodyPr/>
                    <a:lstStyle/>
                    <a:p>
                      <a:r>
                        <a:rPr lang="en-PH" sz="2200" b="0">
                          <a:solidFill>
                            <a:srgbClr val="191F28"/>
                          </a:solidFill>
                          <a:latin typeface="Calibri" panose="020F0502020204030204" pitchFamily="34" charset="0"/>
                        </a:rPr>
                        <a:t>Movement in conversational content</a:t>
                      </a:r>
                    </a:p>
                  </a:txBody>
                  <a:tcPr marL="101600" marR="101600" marT="76200" marB="76200" anchor="ctr">
                    <a:solidFill>
                      <a:srgbClr val="FFFFFF"/>
                    </a:solidFill>
                  </a:tcPr>
                </a:tc>
                <a:tc>
                  <a:txBody>
                    <a:bodyPr/>
                    <a:lstStyle/>
                    <a:p>
                      <a:r>
                        <a:rPr lang="en-US" sz="2200" b="0">
                          <a:solidFill>
                            <a:srgbClr val="191F28"/>
                          </a:solidFill>
                          <a:latin typeface="Calibri" panose="020F0502020204030204" pitchFamily="34" charset="0"/>
                        </a:rPr>
                        <a:t>Topic distance from the benign training reference</a:t>
                      </a:r>
                      <a:endParaRPr lang="en-PH" sz="22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1962073543"/>
                  </a:ext>
                </a:extLst>
              </a:tr>
              <a:tr h="721360">
                <a:tc>
                  <a:txBody>
                    <a:bodyPr/>
                    <a:lstStyle/>
                    <a:p>
                      <a:r>
                        <a:rPr lang="en-PH" sz="2200" b="0">
                          <a:solidFill>
                            <a:srgbClr val="191F28"/>
                          </a:solidFill>
                          <a:latin typeface="Calibri" panose="020F0502020204030204" pitchFamily="34" charset="0"/>
                        </a:rPr>
                        <a:t>Interaction structure</a:t>
                      </a:r>
                    </a:p>
                  </a:txBody>
                  <a:tcPr marL="101600" marR="101600" marT="76200" marB="76200" anchor="ctr">
                    <a:solidFill>
                      <a:srgbClr val="FFFFFF"/>
                    </a:solidFill>
                  </a:tcPr>
                </a:tc>
                <a:tc>
                  <a:txBody>
                    <a:bodyPr/>
                    <a:lstStyle/>
                    <a:p>
                      <a:r>
                        <a:rPr lang="en-PH" sz="2200" b="0">
                          <a:solidFill>
                            <a:srgbClr val="191F28"/>
                          </a:solidFill>
                          <a:latin typeface="Calibri" panose="020F0502020204030204" pitchFamily="34" charset="0"/>
                        </a:rPr>
                        <a:t>Cumulative turn-taking imbalance</a:t>
                      </a:r>
                    </a:p>
                  </a:txBody>
                  <a:tcPr marL="101600" marR="101600" marT="76200" marB="76200" anchor="ctr">
                    <a:solidFill>
                      <a:srgbClr val="FFFFFF"/>
                    </a:solidFill>
                  </a:tcPr>
                </a:tc>
                <a:extLst>
                  <a:ext uri="{0D108BD9-81ED-4DB2-BD59-A6C34878D82A}">
                    <a16:rowId xmlns:a16="http://schemas.microsoft.com/office/drawing/2014/main" val="2424512005"/>
                  </a:ext>
                </a:extLst>
              </a:tr>
            </a:tbl>
          </a:graphicData>
        </a:graphic>
      </p:graphicFrame>
      <p:sp>
        <p:nvSpPr>
          <p:cNvPr id="6" name="Interpretation">
            <a:extLst>
              <a:ext uri="{FF2B5EF4-FFF2-40B4-BE49-F238E27FC236}">
                <a16:creationId xmlns:a16="http://schemas.microsoft.com/office/drawing/2014/main" id="{ADC6AA4B-AB5D-A030-9813-7E5727D2DE3A}"/>
              </a:ext>
            </a:extLst>
          </p:cNvPr>
          <p:cNvSpPr txBox="1"/>
          <p:nvPr/>
        </p:nvSpPr>
        <p:spPr>
          <a:xfrm>
            <a:off x="812800" y="5676900"/>
            <a:ext cx="10439400" cy="5461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The LSTM learns how these signals develop together across turns.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775542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96913-EAEA-8B97-D32E-31E06E13A28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AI Model Architecture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AE47215D-E5CE-47B1-FCFE-617B4EAA2608}"/>
              </a:ext>
            </a:extLst>
          </p:cNvPr>
          <p:cNvSpPr>
            <a:spLocks noGrp="1"/>
          </p:cNvSpPr>
          <p:nvPr>
            <p:ph idx="1"/>
          </p:nvPr>
        </p:nvSpPr>
        <p:spPr/>
        <p:txBody>
          <a:bodyPr/>
          <a:lstStyle/>
          <a:p>
            <a:endParaRPr lang="en-PH"/>
          </a:p>
        </p:txBody>
      </p:sp>
      <p:sp>
        <p:nvSpPr>
          <p:cNvPr id="5" name="Current turn input">
            <a:extLst>
              <a:ext uri="{FF2B5EF4-FFF2-40B4-BE49-F238E27FC236}">
                <a16:creationId xmlns:a16="http://schemas.microsoft.com/office/drawing/2014/main" id="{E6895191-94C9-2F5B-0946-D1B793400C72}"/>
              </a:ext>
            </a:extLst>
          </p:cNvPr>
          <p:cNvSpPr/>
          <p:nvPr/>
        </p:nvSpPr>
        <p:spPr>
          <a:xfrm>
            <a:off x="609600" y="2552700"/>
            <a:ext cx="2032000" cy="13208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200">
                <a:solidFill>
                  <a:srgbClr val="191F28"/>
                </a:solidFill>
                <a:latin typeface="Calibri" panose="020F0502020204030204" pitchFamily="34" charset="0"/>
              </a:rPr>
              <a:t>Current turn</a:t>
            </a:r>
          </a:p>
          <a:p>
            <a:pPr algn="ctr"/>
            <a:r>
              <a:rPr lang="en-US" sz="2200">
                <a:solidFill>
                  <a:srgbClr val="191F28"/>
                </a:solidFill>
                <a:latin typeface="Calibri" panose="020F0502020204030204" pitchFamily="34" charset="0"/>
              </a:rPr>
              <a:t>+ up to two</a:t>
            </a:r>
          </a:p>
          <a:p>
            <a:pPr algn="ctr"/>
            <a:r>
              <a:rPr lang="en-US" sz="2200">
                <a:solidFill>
                  <a:srgbClr val="191F28"/>
                </a:solidFill>
                <a:latin typeface="Calibri" panose="020F0502020204030204" pitchFamily="34" charset="0"/>
              </a:rPr>
              <a:t>previous turns</a:t>
            </a:r>
            <a:endParaRPr lang="en-PH" sz="2200">
              <a:solidFill>
                <a:srgbClr val="191F28"/>
              </a:solidFill>
              <a:latin typeface="Calibri" panose="020F0502020204030204" pitchFamily="34" charset="0"/>
            </a:endParaRPr>
          </a:p>
        </p:txBody>
      </p:sp>
      <p:sp>
        <p:nvSpPr>
          <p:cNvPr id="6" name="Context classifier">
            <a:extLst>
              <a:ext uri="{FF2B5EF4-FFF2-40B4-BE49-F238E27FC236}">
                <a16:creationId xmlns:a16="http://schemas.microsoft.com/office/drawing/2014/main" id="{B1D94D3D-F46A-F928-3E33-ACE425F7AE27}"/>
              </a:ext>
            </a:extLst>
          </p:cNvPr>
          <p:cNvSpPr/>
          <p:nvPr/>
        </p:nvSpPr>
        <p:spPr>
          <a:xfrm>
            <a:off x="3111500" y="1943100"/>
            <a:ext cx="2755900" cy="12319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100">
                <a:solidFill>
                  <a:srgbClr val="191F28"/>
                </a:solidFill>
                <a:latin typeface="Calibri" panose="020F0502020204030204" pitchFamily="34" charset="0"/>
              </a:rPr>
              <a:t>Layer 1: DistilBERT</a:t>
            </a:r>
          </a:p>
          <a:p>
            <a:pPr algn="ctr"/>
            <a:r>
              <a:rPr lang="en-US" sz="2100">
                <a:solidFill>
                  <a:srgbClr val="191F28"/>
                </a:solidFill>
                <a:latin typeface="Calibri" panose="020F0502020204030204" pitchFamily="34" charset="0"/>
              </a:rPr>
              <a:t>Author-derived</a:t>
            </a:r>
          </a:p>
          <a:p>
            <a:pPr algn="ctr"/>
            <a:r>
              <a:rPr lang="en-US" sz="2100">
                <a:solidFill>
                  <a:srgbClr val="191F28"/>
                </a:solidFill>
                <a:latin typeface="Calibri" panose="020F0502020204030204" pitchFamily="34" charset="0"/>
              </a:rPr>
              <a:t>proxy score</a:t>
            </a:r>
            <a:endParaRPr lang="en-PH" sz="2100">
              <a:solidFill>
                <a:srgbClr val="191F28"/>
              </a:solidFill>
              <a:latin typeface="Calibri" panose="020F0502020204030204" pitchFamily="34" charset="0"/>
            </a:endParaRPr>
          </a:p>
        </p:txBody>
      </p:sp>
      <p:sp>
        <p:nvSpPr>
          <p:cNvPr id="8" name="Base encoder">
            <a:extLst>
              <a:ext uri="{FF2B5EF4-FFF2-40B4-BE49-F238E27FC236}">
                <a16:creationId xmlns:a16="http://schemas.microsoft.com/office/drawing/2014/main" id="{61BE1F36-041B-4B5F-7A71-5C5767617604}"/>
              </a:ext>
            </a:extLst>
          </p:cNvPr>
          <p:cNvSpPr/>
          <p:nvPr/>
        </p:nvSpPr>
        <p:spPr>
          <a:xfrm>
            <a:off x="3111500" y="4279900"/>
            <a:ext cx="2755900" cy="12319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1900">
                <a:solidFill>
                  <a:srgbClr val="191F28"/>
                </a:solidFill>
                <a:latin typeface="Calibri" panose="020F0502020204030204" pitchFamily="34" charset="0"/>
              </a:rPr>
              <a:t>Fixed base encoder</a:t>
            </a:r>
          </a:p>
          <a:p>
            <a:pPr algn="ctr"/>
            <a:r>
              <a:rPr lang="en-US" sz="1900">
                <a:solidFill>
                  <a:srgbClr val="191F28"/>
                </a:solidFill>
                <a:latin typeface="Calibri" panose="020F0502020204030204" pitchFamily="34" charset="0"/>
              </a:rPr>
              <a:t>Current-turn embedding</a:t>
            </a:r>
          </a:p>
          <a:p>
            <a:pPr algn="ctr"/>
            <a:r>
              <a:rPr lang="en-US" sz="1900">
                <a:solidFill>
                  <a:srgbClr val="191F28"/>
                </a:solidFill>
                <a:latin typeface="Calibri" panose="020F0502020204030204" pitchFamily="34" charset="0"/>
              </a:rPr>
              <a:t>+ training reference</a:t>
            </a:r>
            <a:endParaRPr lang="en-PH" sz="1900">
              <a:solidFill>
                <a:srgbClr val="191F28"/>
              </a:solidFill>
              <a:latin typeface="Calibri" panose="020F0502020204030204" pitchFamily="34" charset="0"/>
            </a:endParaRPr>
          </a:p>
        </p:txBody>
      </p:sp>
      <p:sp>
        <p:nvSpPr>
          <p:cNvPr id="9" name="Trajectory features">
            <a:extLst>
              <a:ext uri="{FF2B5EF4-FFF2-40B4-BE49-F238E27FC236}">
                <a16:creationId xmlns:a16="http://schemas.microsoft.com/office/drawing/2014/main" id="{3DD60086-D214-9E72-8168-A28885D575F6}"/>
              </a:ext>
            </a:extLst>
          </p:cNvPr>
          <p:cNvSpPr/>
          <p:nvPr/>
        </p:nvSpPr>
        <p:spPr>
          <a:xfrm>
            <a:off x="6350000" y="1943100"/>
            <a:ext cx="2781300" cy="35687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000">
                <a:solidFill>
                  <a:srgbClr val="191F28"/>
                </a:solidFill>
                <a:latin typeface="Calibri" panose="020F0502020204030204" pitchFamily="34" charset="0"/>
              </a:rPr>
              <a:t>Layer 2 inputs</a:t>
            </a:r>
          </a:p>
          <a:p>
            <a:pPr algn="ctr"/>
            <a:endParaRPr lang="en-US" sz="2000">
              <a:solidFill>
                <a:srgbClr val="191F28"/>
              </a:solidFill>
              <a:latin typeface="Calibri" panose="020F0502020204030204" pitchFamily="34" charset="0"/>
            </a:endParaRPr>
          </a:p>
          <a:p>
            <a:pPr algn="ctr"/>
            <a:r>
              <a:rPr lang="en-US" sz="2000">
                <a:solidFill>
                  <a:srgbClr val="191F28"/>
                </a:solidFill>
                <a:latin typeface="Calibri" panose="020F0502020204030204" pitchFamily="34" charset="0"/>
              </a:rPr>
              <a:t>Seven behavioral</a:t>
            </a:r>
          </a:p>
          <a:p>
            <a:pPr algn="ctr"/>
            <a:r>
              <a:rPr lang="en-US" sz="2000">
                <a:solidFill>
                  <a:srgbClr val="191F28"/>
                </a:solidFill>
                <a:latin typeface="Calibri" panose="020F0502020204030204" pitchFamily="34" charset="0"/>
              </a:rPr>
              <a:t>features</a:t>
            </a:r>
          </a:p>
          <a:p>
            <a:pPr algn="ctr"/>
            <a:endParaRPr lang="en-US" sz="2000">
              <a:solidFill>
                <a:srgbClr val="191F28"/>
              </a:solidFill>
              <a:latin typeface="Calibri" panose="020F0502020204030204" pitchFamily="34" charset="0"/>
            </a:endParaRPr>
          </a:p>
          <a:p>
            <a:pPr algn="ctr"/>
            <a:r>
              <a:rPr lang="en-US" sz="2000">
                <a:solidFill>
                  <a:srgbClr val="191F28"/>
                </a:solidFill>
                <a:latin typeface="Calibri" panose="020F0502020204030204" pitchFamily="34" charset="0"/>
              </a:rPr>
              <a:t>Embedding variant:</a:t>
            </a:r>
          </a:p>
          <a:p>
            <a:pPr algn="ctr"/>
            <a:r>
              <a:rPr lang="en-US" sz="2000">
                <a:solidFill>
                  <a:srgbClr val="191F28"/>
                </a:solidFill>
                <a:latin typeface="Calibri" panose="020F0502020204030204" pitchFamily="34" charset="0"/>
              </a:rPr>
              <a:t>+ 768 text values</a:t>
            </a:r>
            <a:endParaRPr lang="en-PH" sz="2000">
              <a:solidFill>
                <a:srgbClr val="191F28"/>
              </a:solidFill>
              <a:latin typeface="Calibri" panose="020F0502020204030204" pitchFamily="34" charset="0"/>
            </a:endParaRPr>
          </a:p>
        </p:txBody>
      </p:sp>
      <p:sp>
        <p:nvSpPr>
          <p:cNvPr id="10" name="Sequence model">
            <a:extLst>
              <a:ext uri="{FF2B5EF4-FFF2-40B4-BE49-F238E27FC236}">
                <a16:creationId xmlns:a16="http://schemas.microsoft.com/office/drawing/2014/main" id="{3A5AF613-2F19-8CB6-A0F8-1E0AB1DECBFA}"/>
              </a:ext>
            </a:extLst>
          </p:cNvPr>
          <p:cNvSpPr/>
          <p:nvPr/>
        </p:nvSpPr>
        <p:spPr>
          <a:xfrm>
            <a:off x="9588500" y="1943100"/>
            <a:ext cx="2070100" cy="1333500"/>
          </a:xfrm>
          <a:prstGeom prst="rect">
            <a:avLst/>
          </a:prstGeom>
          <a:solidFill>
            <a:srgbClr val="ECF6EF"/>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100">
                <a:solidFill>
                  <a:srgbClr val="191F28"/>
                </a:solidFill>
                <a:latin typeface="Calibri" panose="020F0502020204030204" pitchFamily="34" charset="0"/>
              </a:rPr>
              <a:t>Layer 2: LSTM</a:t>
            </a:r>
          </a:p>
          <a:p>
            <a:pPr algn="ctr"/>
            <a:r>
              <a:rPr lang="en-US" sz="2100">
                <a:solidFill>
                  <a:srgbClr val="191F28"/>
                </a:solidFill>
                <a:latin typeface="Calibri" panose="020F0502020204030204" pitchFamily="34" charset="0"/>
              </a:rPr>
              <a:t>7 or 775 inputs</a:t>
            </a:r>
          </a:p>
          <a:p>
            <a:pPr algn="ctr"/>
            <a:r>
              <a:rPr lang="en-US" sz="2100">
                <a:solidFill>
                  <a:srgbClr val="191F28"/>
                </a:solidFill>
                <a:latin typeface="Calibri" panose="020F0502020204030204" pitchFamily="34" charset="0"/>
              </a:rPr>
              <a:t>Ordered sequence</a:t>
            </a:r>
            <a:endParaRPr lang="en-PH" sz="2100">
              <a:solidFill>
                <a:srgbClr val="191F28"/>
              </a:solidFill>
              <a:latin typeface="Calibri" panose="020F0502020204030204" pitchFamily="34" charset="0"/>
            </a:endParaRPr>
          </a:p>
        </p:txBody>
      </p:sp>
      <p:sp>
        <p:nvSpPr>
          <p:cNvPr id="11" name="Review decision">
            <a:extLst>
              <a:ext uri="{FF2B5EF4-FFF2-40B4-BE49-F238E27FC236}">
                <a16:creationId xmlns:a16="http://schemas.microsoft.com/office/drawing/2014/main" id="{7413A3D3-841E-984E-A4A2-1DE4FE91C837}"/>
              </a:ext>
            </a:extLst>
          </p:cNvPr>
          <p:cNvSpPr/>
          <p:nvPr/>
        </p:nvSpPr>
        <p:spPr>
          <a:xfrm>
            <a:off x="9588500" y="4279900"/>
            <a:ext cx="2070100" cy="1231900"/>
          </a:xfrm>
          <a:prstGeom prst="rect">
            <a:avLst/>
          </a:prstGeom>
          <a:solidFill>
            <a:srgbClr val="ECF6EF"/>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1800">
                <a:solidFill>
                  <a:srgbClr val="191F28"/>
                </a:solidFill>
                <a:latin typeface="Calibri" panose="020F0502020204030204" pitchFamily="34" charset="0"/>
              </a:rPr>
              <a:t>Conversation score</a:t>
            </a:r>
          </a:p>
          <a:p>
            <a:pPr algn="ctr"/>
            <a:r>
              <a:rPr lang="en-US" sz="1800">
                <a:solidFill>
                  <a:srgbClr val="191F28"/>
                </a:solidFill>
                <a:latin typeface="Calibri" panose="020F0502020204030204" pitchFamily="34" charset="0"/>
              </a:rPr>
              <a:t>F2-selected cutoff</a:t>
            </a:r>
          </a:p>
          <a:p>
            <a:pPr algn="ctr"/>
            <a:r>
              <a:rPr lang="en-US" sz="1800">
                <a:solidFill>
                  <a:srgbClr val="191F28"/>
                </a:solidFill>
                <a:latin typeface="Calibri" panose="020F0502020204030204" pitchFamily="34" charset="0"/>
              </a:rPr>
              <a:t>Human review</a:t>
            </a:r>
            <a:endParaRPr lang="en-PH" sz="2000">
              <a:solidFill>
                <a:srgbClr val="191F28"/>
              </a:solidFill>
              <a:latin typeface="Calibri" panose="020F0502020204030204" pitchFamily="34" charset="0"/>
            </a:endParaRPr>
          </a:p>
        </p:txBody>
      </p:sp>
      <p:cxnSp>
        <p:nvCxnSpPr>
          <p:cNvPr id="12" name="Straight Connector 11">
            <a:extLst>
              <a:ext uri="{FF2B5EF4-FFF2-40B4-BE49-F238E27FC236}">
                <a16:creationId xmlns:a16="http://schemas.microsoft.com/office/drawing/2014/main" id="{2EAA3094-7942-EA33-2570-2EB75C687840}"/>
              </a:ext>
            </a:extLst>
          </p:cNvPr>
          <p:cNvCxnSpPr/>
          <p:nvPr/>
        </p:nvCxnSpPr>
        <p:spPr>
          <a:xfrm>
            <a:off x="2641600" y="2844800"/>
            <a:ext cx="2413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5489064-505C-13B2-96F1-5EDB044C3D54}"/>
              </a:ext>
            </a:extLst>
          </p:cNvPr>
          <p:cNvCxnSpPr/>
          <p:nvPr/>
        </p:nvCxnSpPr>
        <p:spPr>
          <a:xfrm flipV="1">
            <a:off x="2882900" y="2552700"/>
            <a:ext cx="0" cy="2921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F3CA9F5-FB78-DA19-424A-82EC903F4FD4}"/>
              </a:ext>
            </a:extLst>
          </p:cNvPr>
          <p:cNvCxnSpPr/>
          <p:nvPr/>
        </p:nvCxnSpPr>
        <p:spPr>
          <a:xfrm>
            <a:off x="2882900" y="2552700"/>
            <a:ext cx="228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F33E58E-F8FF-8BE9-7353-223A7419862C}"/>
              </a:ext>
            </a:extLst>
          </p:cNvPr>
          <p:cNvCxnSpPr/>
          <p:nvPr/>
        </p:nvCxnSpPr>
        <p:spPr>
          <a:xfrm>
            <a:off x="2641600" y="3530600"/>
            <a:ext cx="2413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A13E255-0385-DF91-BC35-7E014906115D}"/>
              </a:ext>
            </a:extLst>
          </p:cNvPr>
          <p:cNvCxnSpPr/>
          <p:nvPr/>
        </p:nvCxnSpPr>
        <p:spPr>
          <a:xfrm>
            <a:off x="2882900" y="3530600"/>
            <a:ext cx="0" cy="13589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C7AA78B-BD31-2EE1-CB06-98438A006AC9}"/>
              </a:ext>
            </a:extLst>
          </p:cNvPr>
          <p:cNvCxnSpPr/>
          <p:nvPr/>
        </p:nvCxnSpPr>
        <p:spPr>
          <a:xfrm>
            <a:off x="2882900" y="4889500"/>
            <a:ext cx="228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E2C3102-0168-249B-BD5F-A675CA2D54F1}"/>
              </a:ext>
            </a:extLst>
          </p:cNvPr>
          <p:cNvCxnSpPr/>
          <p:nvPr/>
        </p:nvCxnSpPr>
        <p:spPr>
          <a:xfrm>
            <a:off x="5867400" y="2552700"/>
            <a:ext cx="482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C9E530-0149-E4D0-3980-60D516A6612F}"/>
              </a:ext>
            </a:extLst>
          </p:cNvPr>
          <p:cNvCxnSpPr/>
          <p:nvPr/>
        </p:nvCxnSpPr>
        <p:spPr>
          <a:xfrm>
            <a:off x="5867400" y="4889500"/>
            <a:ext cx="482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2FC4FD5-A87E-B20E-E14A-DD30449C7DC3}"/>
              </a:ext>
            </a:extLst>
          </p:cNvPr>
          <p:cNvCxnSpPr/>
          <p:nvPr/>
        </p:nvCxnSpPr>
        <p:spPr>
          <a:xfrm>
            <a:off x="9131300" y="2552700"/>
            <a:ext cx="4572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C9AB3E0-5991-5352-E474-387DEA8287BC}"/>
              </a:ext>
            </a:extLst>
          </p:cNvPr>
          <p:cNvCxnSpPr/>
          <p:nvPr/>
        </p:nvCxnSpPr>
        <p:spPr>
          <a:xfrm>
            <a:off x="10617200" y="3276600"/>
            <a:ext cx="0" cy="10033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sp>
        <p:nvSpPr>
          <p:cNvPr id="22" name="Architecture summary">
            <a:extLst>
              <a:ext uri="{FF2B5EF4-FFF2-40B4-BE49-F238E27FC236}">
                <a16:creationId xmlns:a16="http://schemas.microsoft.com/office/drawing/2014/main" id="{19E48753-796B-3305-A838-5BD816C00558}"/>
              </a:ext>
            </a:extLst>
          </p:cNvPr>
          <p:cNvSpPr txBox="1"/>
          <p:nvPr/>
        </p:nvSpPr>
        <p:spPr>
          <a:xfrm>
            <a:off x="812800" y="5854700"/>
            <a:ext cx="10541000" cy="5334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Two input variants; each new turn updates the conversation score.</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2522183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49445-6B2E-B038-2128-77567FA741F6}"/>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Dataset and Evaluation Scope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D9BCD19F-8F4B-C8F1-BCF6-513AD6198481}"/>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5FB06679-67DF-40F1-E66A-31A43363C7FE}"/>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We selected PAN-2012 to evaluate the proposed architecture.</a:t>
            </a:r>
          </a:p>
          <a:p>
            <a:pPr>
              <a:spcAft>
                <a:spcPts val="1500"/>
              </a:spcAft>
            </a:pPr>
            <a:r>
              <a:rPr lang="en-US" sz="2600">
                <a:solidFill>
                  <a:srgbClr val="191F28"/>
                </a:solidFill>
                <a:latin typeface="Calibri Light" panose="020F0302020204030204" pitchFamily="34" charset="0"/>
              </a:rPr>
              <a:t>18,567 eligible two-speaker conversations and 218,114 turns.</a:t>
            </a:r>
          </a:p>
          <a:p>
            <a:pPr>
              <a:spcAft>
                <a:spcPts val="1500"/>
              </a:spcAft>
            </a:pPr>
            <a:r>
              <a:rPr lang="en-US" sz="2600">
                <a:solidFill>
                  <a:srgbClr val="191F28"/>
                </a:solidFill>
                <a:latin typeface="Calibri Light" panose="020F0302020204030204" pitchFamily="34" charset="0"/>
              </a:rPr>
              <a:t>The test evaluates conversation decisions on unseen author groups.</a:t>
            </a:r>
          </a:p>
          <a:p>
            <a:pPr>
              <a:spcAft>
                <a:spcPts val="1500"/>
              </a:spcAft>
            </a:pPr>
            <a:r>
              <a:rPr lang="en-US" sz="2600">
                <a:solidFill>
                  <a:srgbClr val="191F28"/>
                </a:solidFill>
                <a:latin typeface="Calibri Light" panose="020F0302020204030204" pitchFamily="34" charset="0"/>
              </a:rPr>
              <a:t>The completed experiment uses offline sequential replay.</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4613100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Why Authors Stay in One Partition</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A567BBC8-0432-20E4-9AD0-B37EC311679D}"/>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700">
                <a:solidFill>
                  <a:srgbClr val="191F28"/>
                </a:solidFill>
                <a:latin typeface="Calibri Light" panose="020F0302020204030204" pitchFamily="34" charset="0"/>
              </a:rPr>
              <a:t>Conversations that share an author belong to one connected group.</a:t>
            </a:r>
          </a:p>
          <a:p>
            <a:pPr>
              <a:spcAft>
                <a:spcPts val="1500"/>
              </a:spcAft>
            </a:pPr>
            <a:r>
              <a:rPr lang="en-US" sz="2700">
                <a:solidFill>
                  <a:srgbClr val="191F28"/>
                </a:solidFill>
                <a:latin typeface="Calibri Light" panose="020F0302020204030204" pitchFamily="34" charset="0"/>
              </a:rPr>
              <a:t>Each entire group goes into training, validation, or test.</a:t>
            </a:r>
          </a:p>
          <a:p>
            <a:pPr>
              <a:spcAft>
                <a:spcPts val="1500"/>
              </a:spcAft>
            </a:pPr>
            <a:r>
              <a:rPr lang="en-US" sz="2700">
                <a:solidFill>
                  <a:srgbClr val="191F28"/>
                </a:solidFill>
                <a:latin typeface="Calibri Light" panose="020F0302020204030204" pitchFamily="34" charset="0"/>
              </a:rPr>
              <a:t>This prevents the model from meeting the same author across splits.</a:t>
            </a:r>
          </a:p>
          <a:p>
            <a:pPr>
              <a:spcAft>
                <a:spcPts val="1500"/>
              </a:spcAft>
            </a:pPr>
            <a:r>
              <a:rPr lang="en-US" sz="2700">
                <a:solidFill>
                  <a:srgbClr val="191F28"/>
                </a:solidFill>
                <a:latin typeface="Calibri Light" panose="020F0302020204030204" pitchFamily="34" charset="0"/>
              </a:rPr>
              <a:t>The final test contains unseen author groups.</a:t>
            </a:r>
            <a:endParaRPr lang="en-PH" sz="27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8523682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AC6D1-29B6-538B-7D25-7C5544CC89C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Models Compared Fairly</a:t>
            </a:r>
            <a:endParaRPr sz="4000">
              <a:solidFill>
                <a:schemeClr val="accent1">
                  <a:lumMod val="75000"/>
                </a:schemeClr>
              </a:solidFill>
            </a:endParaRPr>
          </a:p>
        </p:txBody>
      </p:sp>
      <p:sp>
        <p:nvSpPr>
          <p:cNvPr id="7" name="Content Placeholder 6">
            <a:extLst>
              <a:ext uri="{FF2B5EF4-FFF2-40B4-BE49-F238E27FC236}">
                <a16:creationId xmlns:a16="http://schemas.microsoft.com/office/drawing/2014/main" id="{F2C7DB05-330E-CFEE-9864-80C9E88E5EAE}"/>
              </a:ext>
            </a:extLst>
          </p:cNvPr>
          <p:cNvSpPr>
            <a:spLocks noGrp="1"/>
          </p:cNvSpPr>
          <p:nvPr>
            <p:ph idx="1"/>
          </p:nvPr>
        </p:nvSpPr>
        <p:spPr>
          <a:xfrm>
            <a:off x="838200" y="1825624"/>
            <a:ext cx="10417629" cy="4812919"/>
          </a:xfrm>
        </p:spPr>
        <p:txBody>
          <a:bodyPr wrap="square">
            <a:noAutofit/>
          </a:bodyPr>
          <a:lstStyle/>
          <a:p>
            <a:pPr>
              <a:lnSpc>
                <a:spcPct val="100000"/>
              </a:lnSpc>
              <a:spcAft>
                <a:spcPts val="700"/>
              </a:spcAft>
            </a:pPr>
            <a:r>
              <a:rPr lang="en-US" sz="2400" b="1">
                <a:latin typeface="Calibri Light" panose="020F0302020204030204" pitchFamily="34" charset="0"/>
              </a:rPr>
              <a:t>Trajectory-Feature LSTM: seven behavioral features.</a:t>
            </a:r>
          </a:p>
          <a:p>
            <a:pPr>
              <a:lnSpc>
                <a:spcPct val="100000"/>
              </a:lnSpc>
              <a:spcAft>
                <a:spcPts val="700"/>
              </a:spcAft>
            </a:pPr>
            <a:r>
              <a:rPr lang="en-US" sz="2400" b="1">
                <a:latin typeface="Calibri Light" panose="020F0302020204030204" pitchFamily="34" charset="0"/>
              </a:rPr>
              <a:t>Embedding-and-Feature LSTM: those features plus 768 text-embedding values.</a:t>
            </a:r>
          </a:p>
          <a:p>
            <a:pPr>
              <a:lnSpc>
                <a:spcPct val="100000"/>
              </a:lnSpc>
              <a:spcAft>
                <a:spcPts val="700"/>
              </a:spcAft>
            </a:pPr>
            <a:r>
              <a:rPr lang="en-US" sz="2400" b="1">
                <a:latin typeface="Calibri Light" panose="020F0302020204030204" pitchFamily="34" charset="0"/>
              </a:rPr>
              <a:t>Both use contextual DistilBERT upstream.</a:t>
            </a:r>
          </a:p>
          <a:p>
            <a:pPr>
              <a:lnSpc>
                <a:spcPct val="100000"/>
              </a:lnSpc>
              <a:spcAft>
                <a:spcPts val="700"/>
              </a:spcAft>
            </a:pPr>
            <a:r>
              <a:rPr lang="en-US" sz="2400" b="1">
                <a:latin typeface="Calibri Light" panose="020F0302020204030204" pitchFamily="34" charset="0"/>
              </a:rPr>
              <a:t>Weighted scoring uses the same seven features as the trajectory variant.</a:t>
            </a:r>
            <a:endParaRPr sz="2400">
              <a:latin typeface="Calibri Light" panose="020F0302020204030204" pitchFamily="34" charset="0"/>
            </a:endParaRPr>
          </a:p>
        </p:txBody>
      </p:sp>
    </p:spTree>
    <p:extLst>
      <p:ext uri="{BB962C8B-B14F-4D97-AF65-F5344CB8AC3E}">
        <p14:creationId xmlns:p14="http://schemas.microsoft.com/office/powerpoint/2010/main" val="3649870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DCEE2-687D-86E2-A4AC-7703E81DFB2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800">
                <a:solidFill>
                  <a:schemeClr val="accent1">
                    <a:lumMod val="75000"/>
                  </a:schemeClr>
                </a:solidFill>
              </a:rPr>
              <a:t>Frozen Experimental Setup</a:t>
            </a:r>
            <a:endParaRPr sz="3800">
              <a:solidFill>
                <a:schemeClr val="accent1">
                  <a:lumMod val="75000"/>
                </a:schemeClr>
              </a:solidFill>
            </a:endParaRPr>
          </a:p>
        </p:txBody>
      </p:sp>
      <p:sp>
        <p:nvSpPr>
          <p:cNvPr id="7" name="Content Placeholder 6">
            <a:extLst>
              <a:ext uri="{FF2B5EF4-FFF2-40B4-BE49-F238E27FC236}">
                <a16:creationId xmlns:a16="http://schemas.microsoft.com/office/drawing/2014/main" id="{B91042CF-BDB0-7449-206F-A9449A7E0216}"/>
              </a:ext>
            </a:extLst>
          </p:cNvPr>
          <p:cNvSpPr>
            <a:spLocks noGrp="1"/>
          </p:cNvSpPr>
          <p:nvPr>
            <p:ph idx="1"/>
          </p:nvPr>
        </p:nvSpPr>
        <p:spPr>
          <a:xfrm>
            <a:off x="838200" y="1825624"/>
            <a:ext cx="10417629" cy="4812919"/>
          </a:xfrm>
        </p:spPr>
        <p:txBody>
          <a:bodyPr wrap="square">
            <a:noAutofit/>
          </a:bodyPr>
          <a:lstStyle/>
          <a:p>
            <a:pPr marL="34" indent="-20">
              <a:lnSpc>
                <a:spcPct val="100000"/>
              </a:lnSpc>
              <a:spcAft>
                <a:spcPts val="700"/>
              </a:spcAft>
              <a:buChar char="•"/>
            </a:pPr>
            <a:r>
              <a:rPr lang="en-US" sz="2600" b="1">
                <a:latin typeface="Calibri Light" panose="020F0302020204030204" pitchFamily="34" charset="0"/>
              </a:rPr>
              <a:t>Training: 13,031 conversations; 319 positive.</a:t>
            </a:r>
          </a:p>
          <a:p>
            <a:pPr marL="34" indent="-20">
              <a:lnSpc>
                <a:spcPct val="100000"/>
              </a:lnSpc>
              <a:spcAft>
                <a:spcPts val="700"/>
              </a:spcAft>
              <a:buChar char="•"/>
            </a:pPr>
            <a:r>
              <a:rPr lang="en-US" sz="2600" b="1">
                <a:latin typeface="Calibri Light" panose="020F0302020204030204" pitchFamily="34" charset="0"/>
              </a:rPr>
              <a:t>Validation: 1,827 conversations; 49 positive.</a:t>
            </a:r>
          </a:p>
          <a:p>
            <a:pPr marL="34" indent="-20">
              <a:lnSpc>
                <a:spcPct val="100000"/>
              </a:lnSpc>
              <a:spcAft>
                <a:spcPts val="700"/>
              </a:spcAft>
              <a:buChar char="•"/>
            </a:pPr>
            <a:r>
              <a:rPr lang="en-US" sz="2600" b="1">
                <a:latin typeface="Calibri Light" panose="020F0302020204030204" pitchFamily="34" charset="0"/>
              </a:rPr>
              <a:t>Test: 1,862 conversations; 44 positive.</a:t>
            </a:r>
          </a:p>
          <a:p>
            <a:pPr marL="34" indent="-20">
              <a:lnSpc>
                <a:spcPct val="100000"/>
              </a:lnSpc>
              <a:spcAft>
                <a:spcPts val="700"/>
              </a:spcAft>
              <a:buChar char="•"/>
            </a:pPr>
            <a:r>
              <a:rPr lang="en-US" sz="2600" b="1">
                <a:latin typeface="Calibri Light" panose="020F0302020204030204" pitchFamily="34" charset="0"/>
              </a:rPr>
              <a:t>Zero author overlap. All cutoffs selected on validation.</a:t>
            </a:r>
            <a:endParaRPr sz="2600" b="0" dirty="0">
              <a:latin typeface="Calibri Light" panose="020F0302020204030204" pitchFamily="34" charset="0"/>
            </a:endParaRPr>
          </a:p>
        </p:txBody>
      </p:sp>
    </p:spTree>
    <p:extLst>
      <p:ext uri="{BB962C8B-B14F-4D97-AF65-F5344CB8AC3E}">
        <p14:creationId xmlns:p14="http://schemas.microsoft.com/office/powerpoint/2010/main" val="2325337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Why We Use F2</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B2882D18-A969-99A5-D5BF-EA2B673DD92F}"/>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F0.5: emphasizes precision.</a:t>
            </a:r>
          </a:p>
          <a:p>
            <a:pPr>
              <a:spcAft>
                <a:spcPts val="1500"/>
              </a:spcAft>
            </a:pPr>
            <a:r>
              <a:rPr lang="en-US" sz="2600">
                <a:solidFill>
                  <a:srgbClr val="191F28"/>
                </a:solidFill>
                <a:latin typeface="Calibri Light" panose="020F0302020204030204" pitchFamily="34" charset="0"/>
              </a:rPr>
              <a:t>F1: balances precision and recall.</a:t>
            </a:r>
          </a:p>
          <a:p>
            <a:pPr>
              <a:spcAft>
                <a:spcPts val="1500"/>
              </a:spcAft>
            </a:pPr>
            <a:r>
              <a:rPr lang="en-US" sz="2600">
                <a:solidFill>
                  <a:srgbClr val="191F28"/>
                </a:solidFill>
                <a:latin typeface="Calibri Light" panose="020F0302020204030204" pitchFamily="34" charset="0"/>
              </a:rPr>
              <a:t>F2: emphasizes recall; our main reporting policy.</a:t>
            </a:r>
          </a:p>
          <a:p>
            <a:pPr>
              <a:spcAft>
                <a:spcPts val="1500"/>
              </a:spcAft>
            </a:pPr>
            <a:r>
              <a:rPr lang="en-US" sz="2600">
                <a:solidFill>
                  <a:srgbClr val="191F28"/>
                </a:solidFill>
                <a:latin typeface="Calibri Light" panose="020F0302020204030204" pitchFamily="34" charset="0"/>
              </a:rPr>
              <a:t>Validation selects the cutoff. We still report false alerts.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503556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9D8BC-1F83-AEE8-FB1E-A56E1DC9E5A3}"/>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Conversation Results: F2 Policy</a:t>
            </a:r>
            <a:endParaRPr sz="3400">
              <a:solidFill>
                <a:schemeClr val="accent1">
                  <a:lumMod val="75000"/>
                </a:schemeClr>
              </a:solidFill>
            </a:endParaRPr>
          </a:p>
        </p:txBody>
      </p:sp>
      <p:graphicFrame>
        <p:nvGraphicFramePr>
          <p:cNvPr id="5" name="Results Table">
            <a:extLst>
              <a:ext uri="{FF2B5EF4-FFF2-40B4-BE49-F238E27FC236}">
                <a16:creationId xmlns:a16="http://schemas.microsoft.com/office/drawing/2014/main" id="{C856E440-A226-86DE-A51C-5161681A5DFD}"/>
              </a:ext>
            </a:extLst>
          </p:cNvPr>
          <p:cNvGraphicFramePr>
            <a:graphicFrameLocks noGrp="1"/>
          </p:cNvGraphicFramePr>
          <p:nvPr>
            <p:ph idx="1"/>
            <p:extLst>
              <p:ext uri="{D42A27DB-BD31-4B8C-83A1-F6EECF244321}">
                <p14:modId xmlns:p14="http://schemas.microsoft.com/office/powerpoint/2010/main" val="2090199089"/>
              </p:ext>
            </p:extLst>
          </p:nvPr>
        </p:nvGraphicFramePr>
        <p:xfrm>
          <a:off x="660399" y="1651000"/>
          <a:ext cx="10871200" cy="3708402"/>
        </p:xfrm>
        <a:graphic>
          <a:graphicData uri="http://schemas.openxmlformats.org/drawingml/2006/table">
            <a:tbl>
              <a:tblPr firstRow="1" bandRow="1">
                <a:tableStyleId>{5C22544A-7EE6-4342-B048-85BDC9FD1C3A}</a:tableStyleId>
              </a:tblPr>
              <a:tblGrid>
                <a:gridCol w="2997200">
                  <a:extLst>
                    <a:ext uri="{9D8B030D-6E8A-4147-A177-3AD203B41FA5}">
                      <a16:colId xmlns:a16="http://schemas.microsoft.com/office/drawing/2014/main" val="2060636180"/>
                    </a:ext>
                  </a:extLst>
                </a:gridCol>
                <a:gridCol w="1524000">
                  <a:extLst>
                    <a:ext uri="{9D8B030D-6E8A-4147-A177-3AD203B41FA5}">
                      <a16:colId xmlns:a16="http://schemas.microsoft.com/office/drawing/2014/main" val="4199649200"/>
                    </a:ext>
                  </a:extLst>
                </a:gridCol>
                <a:gridCol w="1397000">
                  <a:extLst>
                    <a:ext uri="{9D8B030D-6E8A-4147-A177-3AD203B41FA5}">
                      <a16:colId xmlns:a16="http://schemas.microsoft.com/office/drawing/2014/main" val="3668404456"/>
                    </a:ext>
                  </a:extLst>
                </a:gridCol>
                <a:gridCol w="1524000">
                  <a:extLst>
                    <a:ext uri="{9D8B030D-6E8A-4147-A177-3AD203B41FA5}">
                      <a16:colId xmlns:a16="http://schemas.microsoft.com/office/drawing/2014/main" val="1410816486"/>
                    </a:ext>
                  </a:extLst>
                </a:gridCol>
                <a:gridCol w="1397000">
                  <a:extLst>
                    <a:ext uri="{9D8B030D-6E8A-4147-A177-3AD203B41FA5}">
                      <a16:colId xmlns:a16="http://schemas.microsoft.com/office/drawing/2014/main" val="2794559133"/>
                    </a:ext>
                  </a:extLst>
                </a:gridCol>
                <a:gridCol w="1016000">
                  <a:extLst>
                    <a:ext uri="{9D8B030D-6E8A-4147-A177-3AD203B41FA5}">
                      <a16:colId xmlns:a16="http://schemas.microsoft.com/office/drawing/2014/main" val="352518138"/>
                    </a:ext>
                  </a:extLst>
                </a:gridCol>
                <a:gridCol w="1016000">
                  <a:extLst>
                    <a:ext uri="{9D8B030D-6E8A-4147-A177-3AD203B41FA5}">
                      <a16:colId xmlns:a16="http://schemas.microsoft.com/office/drawing/2014/main" val="194572329"/>
                    </a:ext>
                  </a:extLst>
                </a:gridCol>
              </a:tblGrid>
              <a:tr h="618067">
                <a:tc>
                  <a:txBody>
                    <a:bodyPr/>
                    <a:lstStyle/>
                    <a:p>
                      <a:pPr algn="l"/>
                      <a:r>
                        <a:rPr lang="en-PH" sz="1600" b="1">
                          <a:solidFill>
                            <a:srgbClr val="000000"/>
                          </a:solidFill>
                          <a:latin typeface="Calibri" panose="020F0502020204030204" pitchFamily="34" charset="0"/>
                        </a:rPr>
                        <a:t>Method</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PR-AUC</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F2</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Precision</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Recall</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FP</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FN</a:t>
                      </a:r>
                    </a:p>
                  </a:txBody>
                  <a:tcPr marL="50800" marR="50800" marT="38100" marB="38100" anchor="ctr">
                    <a:solidFill>
                      <a:srgbClr val="E1E7EF"/>
                    </a:solidFill>
                  </a:tcPr>
                </a:tc>
                <a:extLst>
                  <a:ext uri="{0D108BD9-81ED-4DB2-BD59-A6C34878D82A}">
                    <a16:rowId xmlns:a16="http://schemas.microsoft.com/office/drawing/2014/main" val="936655367"/>
                  </a:ext>
                </a:extLst>
              </a:tr>
              <a:tr h="618067">
                <a:tc>
                  <a:txBody>
                    <a:bodyPr/>
                    <a:lstStyle/>
                    <a:p>
                      <a:pPr algn="l"/>
                      <a:r>
                        <a:rPr lang="en-PH" sz="1600">
                          <a:solidFill>
                            <a:srgbClr val="000000"/>
                          </a:solidFill>
                          <a:latin typeface="Calibri" panose="020F0502020204030204" pitchFamily="34" charset="0"/>
                        </a:rPr>
                        <a:t>Keyword rule</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0.4451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0.6308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0.7105</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0.6136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17</a:t>
                      </a:r>
                    </a:p>
                  </a:txBody>
                  <a:tcPr marL="50800" marR="50800" marT="38100" marB="38100" anchor="ctr">
                    <a:solidFill>
                      <a:srgbClr val="FFFFFF"/>
                    </a:solidFill>
                  </a:tcPr>
                </a:tc>
                <a:extLst>
                  <a:ext uri="{0D108BD9-81ED-4DB2-BD59-A6C34878D82A}">
                    <a16:rowId xmlns:a16="http://schemas.microsoft.com/office/drawing/2014/main" val="3916212824"/>
                  </a:ext>
                </a:extLst>
              </a:tr>
              <a:tr h="618067">
                <a:tc>
                  <a:txBody>
                    <a:bodyPr/>
                    <a:lstStyle/>
                    <a:p>
                      <a:pPr algn="l"/>
                      <a:r>
                        <a:rPr lang="en-PH" sz="1600">
                          <a:solidFill>
                            <a:srgbClr val="000000"/>
                          </a:solidFill>
                          <a:latin typeface="Calibri" panose="020F0502020204030204" pitchFamily="34" charset="0"/>
                        </a:rPr>
                        <a:t>Maximum Layer 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0.5523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0.6655</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0.3333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0.8864</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78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5</a:t>
                      </a:r>
                    </a:p>
                  </a:txBody>
                  <a:tcPr marL="50800" marR="50800" marT="38100" marB="38100" anchor="ctr">
                    <a:solidFill>
                      <a:srgbClr val="FFFFFF"/>
                    </a:solidFill>
                  </a:tcPr>
                </a:tc>
                <a:extLst>
                  <a:ext uri="{0D108BD9-81ED-4DB2-BD59-A6C34878D82A}">
                    <a16:rowId xmlns:a16="http://schemas.microsoft.com/office/drawing/2014/main" val="3868423462"/>
                  </a:ext>
                </a:extLst>
              </a:tr>
              <a:tr h="618067">
                <a:tc>
                  <a:txBody>
                    <a:bodyPr/>
                    <a:lstStyle/>
                    <a:p>
                      <a:pPr algn="l"/>
                      <a:r>
                        <a:rPr lang="en-PH" sz="1600">
                          <a:solidFill>
                            <a:srgbClr val="000000"/>
                          </a:solidFill>
                          <a:latin typeface="Calibri" panose="020F0502020204030204" pitchFamily="34" charset="0"/>
                        </a:rPr>
                        <a:t>Weighted scorer</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0.8050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0.7983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0.6129</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0.8636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24</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6</a:t>
                      </a:r>
                    </a:p>
                  </a:txBody>
                  <a:tcPr marL="50800" marR="50800" marT="38100" marB="38100" anchor="ctr">
                    <a:solidFill>
                      <a:srgbClr val="FFFFFF"/>
                    </a:solidFill>
                  </a:tcPr>
                </a:tc>
                <a:extLst>
                  <a:ext uri="{0D108BD9-81ED-4DB2-BD59-A6C34878D82A}">
                    <a16:rowId xmlns:a16="http://schemas.microsoft.com/office/drawing/2014/main" val="594079778"/>
                  </a:ext>
                </a:extLst>
              </a:tr>
              <a:tr h="618067">
                <a:tc>
                  <a:txBody>
                    <a:bodyPr/>
                    <a:lstStyle/>
                    <a:p>
                      <a:pPr algn="l"/>
                      <a:r>
                        <a:rPr lang="en-PH" sz="1600" b="0">
                          <a:solidFill>
                            <a:srgbClr val="000000"/>
                          </a:solidFill>
                          <a:latin typeface="Calibri" panose="020F0502020204030204" pitchFamily="34" charset="0"/>
                        </a:rPr>
                        <a:t>Trajectory-Feature LSTM</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0.9153</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0.8613</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0.6613</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0.9318</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21</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3</a:t>
                      </a:r>
                    </a:p>
                  </a:txBody>
                  <a:tcPr marL="50800" marR="50800" marT="38100" marB="38100" anchor="ctr">
                    <a:solidFill>
                      <a:srgbClr val="FFFFFF"/>
                    </a:solidFill>
                  </a:tcPr>
                </a:tc>
                <a:extLst>
                  <a:ext uri="{0D108BD9-81ED-4DB2-BD59-A6C34878D82A}">
                    <a16:rowId xmlns:a16="http://schemas.microsoft.com/office/drawing/2014/main" val="3528414813"/>
                  </a:ext>
                </a:extLst>
              </a:tr>
              <a:tr h="618067">
                <a:tc>
                  <a:txBody>
                    <a:bodyPr/>
                    <a:lstStyle/>
                    <a:p>
                      <a:pPr algn="l"/>
                      <a:r>
                        <a:rPr lang="en-PH" sz="1600" b="0">
                          <a:solidFill>
                            <a:srgbClr val="000000"/>
                          </a:solidFill>
                          <a:latin typeface="Calibri" panose="020F0502020204030204" pitchFamily="34" charset="0"/>
                        </a:rPr>
                        <a:t>Embedding-and-Feature LSTM</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0.9483</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0.8429</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0.5176</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1.0000</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41</a:t>
                      </a:r>
                    </a:p>
                  </a:txBody>
                  <a:tcPr marL="50800" marR="50800" marT="38100" marB="38100" anchor="ctr">
                    <a:solidFill>
                      <a:srgbClr val="FFFFFF"/>
                    </a:solidFill>
                  </a:tcPr>
                </a:tc>
                <a:tc>
                  <a:txBody>
                    <a:bodyPr/>
                    <a:lstStyle/>
                    <a:p>
                      <a:pPr algn="ctr"/>
                      <a:r>
                        <a:rPr lang="en-PH" sz="1600" b="0">
                          <a:solidFill>
                            <a:srgbClr val="000000"/>
                          </a:solidFill>
                          <a:latin typeface="Calibri" panose="020F0502020204030204" pitchFamily="34" charset="0"/>
                        </a:rPr>
                        <a:t>0</a:t>
                      </a:r>
                    </a:p>
                  </a:txBody>
                  <a:tcPr marL="50800" marR="50800" marT="38100" marB="38100" anchor="ctr">
                    <a:solidFill>
                      <a:srgbClr val="FFFFFF"/>
                    </a:solidFill>
                  </a:tcPr>
                </a:tc>
                <a:extLst>
                  <a:ext uri="{0D108BD9-81ED-4DB2-BD59-A6C34878D82A}">
                    <a16:rowId xmlns:a16="http://schemas.microsoft.com/office/drawing/2014/main" val="2266072408"/>
                  </a:ext>
                </a:extLst>
              </a:tr>
            </a:tbl>
          </a:graphicData>
        </a:graphic>
      </p:graphicFrame>
      <p:sp>
        <p:nvSpPr>
          <p:cNvPr id="8" name="Results Footnote">
            <a:extLst>
              <a:ext uri="{FF2B5EF4-FFF2-40B4-BE49-F238E27FC236}">
                <a16:creationId xmlns:a16="http://schemas.microsoft.com/office/drawing/2014/main" id="{0B2770C0-A40A-B5FB-1DC6-B35CA7D9AE11}"/>
              </a:ext>
            </a:extLst>
          </p:cNvPr>
          <p:cNvSpPr txBox="1"/>
          <p:nvPr/>
        </p:nvSpPr>
        <p:spPr>
          <a:xfrm>
            <a:off x="660400" y="5588000"/>
            <a:ext cx="10871200" cy="353943"/>
          </a:xfrm>
          <a:prstGeom prst="rect">
            <a:avLst/>
          </a:prstGeom>
          <a:noFill/>
        </p:spPr>
        <p:txBody>
          <a:bodyPr vert="horz" rtlCol="0">
            <a:spAutoFit/>
          </a:bodyPr>
          <a:lstStyle/>
          <a:p>
            <a:pPr algn="ctr"/>
            <a:r>
              <a:rPr lang="en-US" sz="1700">
                <a:solidFill>
                  <a:srgbClr val="404040"/>
                </a:solidFill>
                <a:latin typeface="Calibri Light" panose="020F0302020204030204" pitchFamily="34" charset="0"/>
              </a:rPr>
              <a:t>N = 1,862; 44 positive. Validation-selected F2 cutoffs on saved test scores.</a:t>
            </a:r>
            <a:endParaRPr lang="en-PH" sz="1700">
              <a:solidFill>
                <a:srgbClr val="404040"/>
              </a:solidFill>
              <a:latin typeface="Calibri Light" panose="020F0302020204030204" pitchFamily="34" charset="0"/>
            </a:endParaRPr>
          </a:p>
        </p:txBody>
      </p:sp>
    </p:spTree>
    <p:extLst>
      <p:ext uri="{BB962C8B-B14F-4D97-AF65-F5344CB8AC3E}">
        <p14:creationId xmlns:p14="http://schemas.microsoft.com/office/powerpoint/2010/main" val="1657540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Detection Performance Across Methods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Graph interpretation">
            <a:extLst>
              <a:ext uri="{FF2B5EF4-FFF2-40B4-BE49-F238E27FC236}">
                <a16:creationId xmlns:a16="http://schemas.microsoft.com/office/drawing/2014/main" id="{ACFDF581-69AF-0ADA-B1C4-CE5780D68745}"/>
              </a:ext>
            </a:extLst>
          </p:cNvPr>
          <p:cNvSpPr txBox="1"/>
          <p:nvPr/>
        </p:nvSpPr>
        <p:spPr>
          <a:xfrm>
            <a:off x="825500" y="5791200"/>
            <a:ext cx="10414000" cy="736600"/>
          </a:xfrm>
          <a:prstGeom prst="rect">
            <a:avLst/>
          </a:prstGeom>
          <a:noFill/>
        </p:spPr>
        <p:txBody>
          <a:bodyPr vert="horz" wrap="square" lIns="25400" tIns="25400" rIns="25400" bIns="25400" rtlCol="0">
            <a:noAutofit/>
          </a:bodyPr>
          <a:lstStyle/>
          <a:p>
            <a:r>
              <a:rPr lang="en-US" sz="2100">
                <a:solidFill>
                  <a:srgbClr val="191F28"/>
                </a:solidFill>
                <a:latin typeface="Calibri Light" panose="020F0302020204030204" pitchFamily="34" charset="0"/>
              </a:rPr>
              <a:t>Matched-input comparison: weighted scorer and Trajectory-Feature LSTM use the same seven features.</a:t>
            </a:r>
            <a:endParaRPr lang="en-PH" sz="21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2378493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Missed Positives and False Alerts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Error interpretation">
            <a:extLst>
              <a:ext uri="{FF2B5EF4-FFF2-40B4-BE49-F238E27FC236}">
                <a16:creationId xmlns:a16="http://schemas.microsoft.com/office/drawing/2014/main" id="{9C633023-A631-14C6-B7AC-316CD801B7AB}"/>
              </a:ext>
            </a:extLst>
          </p:cNvPr>
          <p:cNvSpPr txBox="1"/>
          <p:nvPr/>
        </p:nvSpPr>
        <p:spPr>
          <a:xfrm>
            <a:off x="825500" y="5791200"/>
            <a:ext cx="10414000" cy="7874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7-feature LSTM: 3 misses and 21 false alerts. 775-input LSTM: 0 misses and 41 false alerts.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14059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Cutoff Choice: Coverage and Alerts</a:t>
            </a:r>
            <a:endParaRPr sz="3400">
              <a:solidFill>
                <a:schemeClr val="accent1">
                  <a:lumMod val="75000"/>
                </a:schemeClr>
              </a:solidFill>
            </a:endParaRPr>
          </a:p>
        </p:txBody>
      </p:sp>
      <p:sp>
        <p:nvSpPr>
          <p:cNvPr id="3" name="Policy context">
            <a:extLst>
              <a:ext uri="{FF2B5EF4-FFF2-40B4-BE49-F238E27FC236}">
                <a16:creationId xmlns:a16="http://schemas.microsoft.com/office/drawing/2014/main" id="{94175046-A9D0-5A93-278F-E1C89721899C}"/>
              </a:ext>
            </a:extLst>
          </p:cNvPr>
          <p:cNvSpPr txBox="1"/>
          <p:nvPr/>
        </p:nvSpPr>
        <p:spPr>
          <a:xfrm>
            <a:off x="685800" y="1739900"/>
            <a:ext cx="10795000" cy="338554"/>
          </a:xfrm>
          <a:prstGeom prst="rect">
            <a:avLst/>
          </a:prstGeom>
          <a:noFill/>
        </p:spPr>
        <p:txBody>
          <a:bodyPr vert="horz" lIns="0" tIns="0" rIns="0" bIns="0" rtlCol="0">
            <a:spAutoFit/>
          </a:bodyPr>
          <a:lstStyle/>
          <a:p>
            <a:r>
              <a:rPr lang="en-US" sz="2200">
                <a:solidFill>
                  <a:srgbClr val="333333"/>
                </a:solidFill>
                <a:latin typeface="Calibri Light" panose="020F0302020204030204" pitchFamily="34" charset="0"/>
              </a:rPr>
              <a:t>Same two trained models. Only the validation-selected cutoff changes.</a:t>
            </a:r>
            <a:endParaRPr lang="en-PH" sz="2200">
              <a:solidFill>
                <a:srgbClr val="333333"/>
              </a:solidFill>
              <a:latin typeface="Calibri Light" panose="020F0302020204030204" pitchFamily="34" charset="0"/>
            </a:endParaRPr>
          </a:p>
        </p:txBody>
      </p:sp>
      <p:graphicFrame>
        <p:nvGraphicFramePr>
          <p:cNvPr id="8" name="Combined policy table">
            <a:extLst>
              <a:ext uri="{FF2B5EF4-FFF2-40B4-BE49-F238E27FC236}">
                <a16:creationId xmlns:a16="http://schemas.microsoft.com/office/drawing/2014/main" id="{A437C8BF-ECD0-1B07-8660-457C11FC6A2E}"/>
              </a:ext>
            </a:extLst>
          </p:cNvPr>
          <p:cNvGraphicFramePr>
            <a:graphicFrameLocks noGrp="1"/>
          </p:cNvGraphicFramePr>
          <p:nvPr>
            <p:extLst>
              <p:ext uri="{D42A27DB-BD31-4B8C-83A1-F6EECF244321}">
                <p14:modId xmlns:p14="http://schemas.microsoft.com/office/powerpoint/2010/main" val="4097553129"/>
              </p:ext>
            </p:extLst>
          </p:nvPr>
        </p:nvGraphicFramePr>
        <p:xfrm>
          <a:off x="685800" y="2146300"/>
          <a:ext cx="10795000" cy="3581403"/>
        </p:xfrm>
        <a:graphic>
          <a:graphicData uri="http://schemas.openxmlformats.org/drawingml/2006/table">
            <a:tbl>
              <a:tblPr firstRow="1" bandRow="1">
                <a:tableStyleId>{5C22544A-7EE6-4342-B048-85BDC9FD1C3A}</a:tableStyleId>
              </a:tblPr>
              <a:tblGrid>
                <a:gridCol w="3111500">
                  <a:extLst>
                    <a:ext uri="{9D8B030D-6E8A-4147-A177-3AD203B41FA5}">
                      <a16:colId xmlns:a16="http://schemas.microsoft.com/office/drawing/2014/main" val="4285618305"/>
                    </a:ext>
                  </a:extLst>
                </a:gridCol>
                <a:gridCol w="952500">
                  <a:extLst>
                    <a:ext uri="{9D8B030D-6E8A-4147-A177-3AD203B41FA5}">
                      <a16:colId xmlns:a16="http://schemas.microsoft.com/office/drawing/2014/main" val="1797071680"/>
                    </a:ext>
                  </a:extLst>
                </a:gridCol>
                <a:gridCol w="952500">
                  <a:extLst>
                    <a:ext uri="{9D8B030D-6E8A-4147-A177-3AD203B41FA5}">
                      <a16:colId xmlns:a16="http://schemas.microsoft.com/office/drawing/2014/main" val="980132809"/>
                    </a:ext>
                  </a:extLst>
                </a:gridCol>
                <a:gridCol w="952500">
                  <a:extLst>
                    <a:ext uri="{9D8B030D-6E8A-4147-A177-3AD203B41FA5}">
                      <a16:colId xmlns:a16="http://schemas.microsoft.com/office/drawing/2014/main" val="1317412603"/>
                    </a:ext>
                  </a:extLst>
                </a:gridCol>
                <a:gridCol w="1397000">
                  <a:extLst>
                    <a:ext uri="{9D8B030D-6E8A-4147-A177-3AD203B41FA5}">
                      <a16:colId xmlns:a16="http://schemas.microsoft.com/office/drawing/2014/main" val="1708381866"/>
                    </a:ext>
                  </a:extLst>
                </a:gridCol>
                <a:gridCol w="1714500">
                  <a:extLst>
                    <a:ext uri="{9D8B030D-6E8A-4147-A177-3AD203B41FA5}">
                      <a16:colId xmlns:a16="http://schemas.microsoft.com/office/drawing/2014/main" val="1232810850"/>
                    </a:ext>
                  </a:extLst>
                </a:gridCol>
                <a:gridCol w="1714500">
                  <a:extLst>
                    <a:ext uri="{9D8B030D-6E8A-4147-A177-3AD203B41FA5}">
                      <a16:colId xmlns:a16="http://schemas.microsoft.com/office/drawing/2014/main" val="3669939012"/>
                    </a:ext>
                  </a:extLst>
                </a:gridCol>
              </a:tblGrid>
              <a:tr h="511629">
                <a:tc>
                  <a:txBody>
                    <a:bodyPr/>
                    <a:lstStyle/>
                    <a:p>
                      <a:pPr algn="l"/>
                      <a:r>
                        <a:rPr lang="en-PH" sz="1800" b="1">
                          <a:solidFill>
                            <a:srgbClr val="FFFFFF"/>
                          </a:solidFill>
                          <a:latin typeface="Calibri" panose="020F0502020204030204" pitchFamily="34" charset="0"/>
                        </a:rPr>
                        <a:t>Model</a:t>
                      </a:r>
                    </a:p>
                  </a:txBody>
                  <a:tcPr marL="50800" marR="50800" marT="25400" marB="25400" anchor="ctr">
                    <a:solidFill>
                      <a:srgbClr val="336699"/>
                    </a:solidFill>
                  </a:tcPr>
                </a:tc>
                <a:tc>
                  <a:txBody>
                    <a:bodyPr/>
                    <a:lstStyle/>
                    <a:p>
                      <a:pPr algn="ctr"/>
                      <a:r>
                        <a:rPr lang="en-PH" sz="1800" b="1">
                          <a:solidFill>
                            <a:srgbClr val="FFFFFF"/>
                          </a:solidFill>
                          <a:latin typeface="Calibri" panose="020F0502020204030204" pitchFamily="34" charset="0"/>
                        </a:rPr>
                        <a:t>Policy</a:t>
                      </a:r>
                    </a:p>
                  </a:txBody>
                  <a:tcPr marL="50800" marR="50800" marT="25400" marB="25400" anchor="ctr">
                    <a:solidFill>
                      <a:srgbClr val="336699"/>
                    </a:solidFill>
                  </a:tcPr>
                </a:tc>
                <a:tc>
                  <a:txBody>
                    <a:bodyPr/>
                    <a:lstStyle/>
                    <a:p>
                      <a:pPr algn="ctr"/>
                      <a:r>
                        <a:rPr lang="en-PH" sz="1800" b="1">
                          <a:solidFill>
                            <a:srgbClr val="FFFFFF"/>
                          </a:solidFill>
                          <a:latin typeface="Calibri" panose="020F0502020204030204" pitchFamily="34" charset="0"/>
                        </a:rPr>
                        <a:t>Found</a:t>
                      </a:r>
                    </a:p>
                  </a:txBody>
                  <a:tcPr marL="50800" marR="50800" marT="25400" marB="25400" anchor="ctr">
                    <a:solidFill>
                      <a:srgbClr val="336699"/>
                    </a:solidFill>
                  </a:tcPr>
                </a:tc>
                <a:tc>
                  <a:txBody>
                    <a:bodyPr/>
                    <a:lstStyle/>
                    <a:p>
                      <a:pPr algn="ctr"/>
                      <a:r>
                        <a:rPr lang="en-PH" sz="1800" b="1">
                          <a:solidFill>
                            <a:srgbClr val="FFFFFF"/>
                          </a:solidFill>
                          <a:latin typeface="Calibri" panose="020F0502020204030204" pitchFamily="34" charset="0"/>
                        </a:rPr>
                        <a:t>Missed</a:t>
                      </a:r>
                    </a:p>
                  </a:txBody>
                  <a:tcPr marL="50800" marR="50800" marT="25400" marB="25400" anchor="ctr">
                    <a:solidFill>
                      <a:srgbClr val="336699"/>
                    </a:solidFill>
                  </a:tcPr>
                </a:tc>
                <a:tc>
                  <a:txBody>
                    <a:bodyPr/>
                    <a:lstStyle/>
                    <a:p>
                      <a:pPr algn="ctr"/>
                      <a:r>
                        <a:rPr lang="en-PH" sz="1800" b="1">
                          <a:solidFill>
                            <a:srgbClr val="FFFFFF"/>
                          </a:solidFill>
                          <a:latin typeface="Calibri" panose="020F0502020204030204" pitchFamily="34" charset="0"/>
                        </a:rPr>
                        <a:t>False alerts</a:t>
                      </a:r>
                    </a:p>
                  </a:txBody>
                  <a:tcPr marL="50800" marR="50800" marT="25400" marB="25400" anchor="ctr">
                    <a:solidFill>
                      <a:srgbClr val="336699"/>
                    </a:solidFill>
                  </a:tcPr>
                </a:tc>
                <a:tc>
                  <a:txBody>
                    <a:bodyPr/>
                    <a:lstStyle/>
                    <a:p>
                      <a:pPr algn="ctr"/>
                      <a:r>
                        <a:rPr lang="en-PH" sz="1800" b="1">
                          <a:solidFill>
                            <a:srgbClr val="FFFFFF"/>
                          </a:solidFill>
                          <a:latin typeface="Calibri" panose="020F0502020204030204" pitchFamily="34" charset="0"/>
                        </a:rPr>
                        <a:t>Precision</a:t>
                      </a:r>
                    </a:p>
                  </a:txBody>
                  <a:tcPr marL="50800" marR="50800" marT="25400" marB="25400" anchor="ctr">
                    <a:solidFill>
                      <a:srgbClr val="336699"/>
                    </a:solidFill>
                  </a:tcPr>
                </a:tc>
                <a:tc>
                  <a:txBody>
                    <a:bodyPr/>
                    <a:lstStyle/>
                    <a:p>
                      <a:pPr algn="ctr"/>
                      <a:r>
                        <a:rPr lang="en-PH" sz="1800" b="1">
                          <a:solidFill>
                            <a:srgbClr val="FFFFFF"/>
                          </a:solidFill>
                          <a:latin typeface="Calibri" panose="020F0502020204030204" pitchFamily="34" charset="0"/>
                        </a:rPr>
                        <a:t>Recall</a:t>
                      </a:r>
                    </a:p>
                  </a:txBody>
                  <a:tcPr marL="50800" marR="50800" marT="25400" marB="25400" anchor="ctr">
                    <a:solidFill>
                      <a:srgbClr val="336699"/>
                    </a:solidFill>
                  </a:tcPr>
                </a:tc>
                <a:extLst>
                  <a:ext uri="{0D108BD9-81ED-4DB2-BD59-A6C34878D82A}">
                    <a16:rowId xmlns:a16="http://schemas.microsoft.com/office/drawing/2014/main" val="3677161963"/>
                  </a:ext>
                </a:extLst>
              </a:tr>
              <a:tr h="511629">
                <a:tc>
                  <a:txBody>
                    <a:bodyPr/>
                    <a:lstStyle/>
                    <a:p>
                      <a:pPr algn="l"/>
                      <a:r>
                        <a:rPr lang="en-PH" sz="1800" b="0">
                          <a:solidFill>
                            <a:srgbClr val="333333"/>
                          </a:solidFill>
                          <a:latin typeface="Calibri" panose="020F0502020204030204" pitchFamily="34" charset="0"/>
                        </a:rPr>
                        <a:t>Embedding-and-Feature LSTM</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F0.5</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3</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6</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87.2%</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93.2%</a:t>
                      </a:r>
                    </a:p>
                  </a:txBody>
                  <a:tcPr marL="50800" marR="50800" marT="25400" marB="25400" anchor="ctr">
                    <a:solidFill>
                      <a:srgbClr val="FFFFFF"/>
                    </a:solidFill>
                  </a:tcPr>
                </a:tc>
                <a:extLst>
                  <a:ext uri="{0D108BD9-81ED-4DB2-BD59-A6C34878D82A}">
                    <a16:rowId xmlns:a16="http://schemas.microsoft.com/office/drawing/2014/main" val="3849901422"/>
                  </a:ext>
                </a:extLst>
              </a:tr>
              <a:tr h="511629">
                <a:tc>
                  <a:txBody>
                    <a:bodyPr/>
                    <a:lstStyle/>
                    <a:p>
                      <a:pPr algn="l"/>
                      <a:r>
                        <a:rPr lang="en-PH" sz="1800" b="0">
                          <a:solidFill>
                            <a:srgbClr val="333333"/>
                          </a:solidFill>
                          <a:latin typeface="Calibri" panose="020F0502020204030204" pitchFamily="34" charset="0"/>
                        </a:rPr>
                        <a:t>Embedding-and-Feature LSTM</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F1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43</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14</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75.4%</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97.7%</a:t>
                      </a:r>
                    </a:p>
                  </a:txBody>
                  <a:tcPr marL="50800" marR="50800" marT="25400" marB="25400" anchor="ctr">
                    <a:solidFill>
                      <a:srgbClr val="FFFFFF"/>
                    </a:solidFill>
                  </a:tcPr>
                </a:tc>
                <a:extLst>
                  <a:ext uri="{0D108BD9-81ED-4DB2-BD59-A6C34878D82A}">
                    <a16:rowId xmlns:a16="http://schemas.microsoft.com/office/drawing/2014/main" val="3181783268"/>
                  </a:ext>
                </a:extLst>
              </a:tr>
              <a:tr h="511629">
                <a:tc>
                  <a:txBody>
                    <a:bodyPr/>
                    <a:lstStyle/>
                    <a:p>
                      <a:pPr algn="l"/>
                      <a:r>
                        <a:rPr lang="en-PH" sz="1800" b="0">
                          <a:solidFill>
                            <a:srgbClr val="333333"/>
                          </a:solidFill>
                          <a:latin typeface="Calibri" panose="020F0502020204030204" pitchFamily="34" charset="0"/>
                        </a:rPr>
                        <a:t>Embedding-and-Feature LSTM</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F2</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44</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0</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51.8%</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100.0%</a:t>
                      </a:r>
                    </a:p>
                  </a:txBody>
                  <a:tcPr marL="50800" marR="50800" marT="25400" marB="25400" anchor="ctr">
                    <a:solidFill>
                      <a:srgbClr val="FFFFFF"/>
                    </a:solidFill>
                  </a:tcPr>
                </a:tc>
                <a:extLst>
                  <a:ext uri="{0D108BD9-81ED-4DB2-BD59-A6C34878D82A}">
                    <a16:rowId xmlns:a16="http://schemas.microsoft.com/office/drawing/2014/main" val="3524694230"/>
                  </a:ext>
                </a:extLst>
              </a:tr>
              <a:tr h="511629">
                <a:tc>
                  <a:txBody>
                    <a:bodyPr/>
                    <a:lstStyle/>
                    <a:p>
                      <a:pPr algn="l"/>
                      <a:r>
                        <a:rPr lang="en-PH" sz="1800" b="0">
                          <a:solidFill>
                            <a:srgbClr val="333333"/>
                          </a:solidFill>
                          <a:latin typeface="Calibri" panose="020F0502020204030204" pitchFamily="34" charset="0"/>
                        </a:rPr>
                        <a:t>Trajectory-Feature LSTM</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F0.5</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40</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7</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85.1%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90.9%</a:t>
                      </a:r>
                    </a:p>
                  </a:txBody>
                  <a:tcPr marL="50800" marR="50800" marT="25400" marB="25400" anchor="ctr">
                    <a:solidFill>
                      <a:srgbClr val="FFFFFF"/>
                    </a:solidFill>
                  </a:tcPr>
                </a:tc>
                <a:extLst>
                  <a:ext uri="{0D108BD9-81ED-4DB2-BD59-A6C34878D82A}">
                    <a16:rowId xmlns:a16="http://schemas.microsoft.com/office/drawing/2014/main" val="3681020595"/>
                  </a:ext>
                </a:extLst>
              </a:tr>
              <a:tr h="511629">
                <a:tc>
                  <a:txBody>
                    <a:bodyPr/>
                    <a:lstStyle/>
                    <a:p>
                      <a:pPr algn="l"/>
                      <a:r>
                        <a:rPr lang="en-PH" sz="1800" b="0">
                          <a:solidFill>
                            <a:srgbClr val="333333"/>
                          </a:solidFill>
                          <a:latin typeface="Calibri" panose="020F0502020204030204" pitchFamily="34" charset="0"/>
                        </a:rPr>
                        <a:t>Trajectory-Feature LSTM</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F1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40</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9</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81.6%</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90.9%</a:t>
                      </a:r>
                    </a:p>
                  </a:txBody>
                  <a:tcPr marL="50800" marR="50800" marT="25400" marB="25400" anchor="ctr">
                    <a:solidFill>
                      <a:srgbClr val="FFFFFF"/>
                    </a:solidFill>
                  </a:tcPr>
                </a:tc>
                <a:extLst>
                  <a:ext uri="{0D108BD9-81ED-4DB2-BD59-A6C34878D82A}">
                    <a16:rowId xmlns:a16="http://schemas.microsoft.com/office/drawing/2014/main" val="4226602888"/>
                  </a:ext>
                </a:extLst>
              </a:tr>
              <a:tr h="511629">
                <a:tc>
                  <a:txBody>
                    <a:bodyPr/>
                    <a:lstStyle/>
                    <a:p>
                      <a:pPr algn="l"/>
                      <a:r>
                        <a:rPr lang="en-PH" sz="1800" b="0">
                          <a:solidFill>
                            <a:srgbClr val="333333"/>
                          </a:solidFill>
                          <a:latin typeface="Calibri" panose="020F0502020204030204" pitchFamily="34" charset="0"/>
                        </a:rPr>
                        <a:t>Trajectory-Feature LSTM</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F2</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41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3</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21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66.1%</a:t>
                      </a:r>
                    </a:p>
                  </a:txBody>
                  <a:tcPr marL="50800" marR="50800" marT="25400" marB="25400" anchor="ctr">
                    <a:solidFill>
                      <a:srgbClr val="FFFFFF"/>
                    </a:solidFill>
                  </a:tcPr>
                </a:tc>
                <a:tc>
                  <a:txBody>
                    <a:bodyPr/>
                    <a:lstStyle/>
                    <a:p>
                      <a:pPr algn="ctr"/>
                      <a:r>
                        <a:rPr lang="en-PH" sz="1800" b="0">
                          <a:solidFill>
                            <a:srgbClr val="333333"/>
                          </a:solidFill>
                          <a:latin typeface="Calibri" panose="020F0502020204030204" pitchFamily="34" charset="0"/>
                        </a:rPr>
                        <a:t>93.2%</a:t>
                      </a:r>
                    </a:p>
                  </a:txBody>
                  <a:tcPr marL="50800" marR="50800" marT="25400" marB="25400" anchor="ctr">
                    <a:solidFill>
                      <a:srgbClr val="FFFFFF"/>
                    </a:solidFill>
                  </a:tcPr>
                </a:tc>
                <a:extLst>
                  <a:ext uri="{0D108BD9-81ED-4DB2-BD59-A6C34878D82A}">
                    <a16:rowId xmlns:a16="http://schemas.microsoft.com/office/drawing/2014/main" val="1666863558"/>
                  </a:ext>
                </a:extLst>
              </a:tr>
            </a:tbl>
          </a:graphicData>
        </a:graphic>
      </p:graphicFrame>
      <p:sp>
        <p:nvSpPr>
          <p:cNvPr id="9" name="Policy meaning">
            <a:extLst>
              <a:ext uri="{FF2B5EF4-FFF2-40B4-BE49-F238E27FC236}">
                <a16:creationId xmlns:a16="http://schemas.microsoft.com/office/drawing/2014/main" id="{BAC7885B-18A0-A3BD-AE47-9C764A55562F}"/>
              </a:ext>
            </a:extLst>
          </p:cNvPr>
          <p:cNvSpPr txBox="1"/>
          <p:nvPr/>
        </p:nvSpPr>
        <p:spPr>
          <a:xfrm>
            <a:off x="685800" y="5918200"/>
            <a:ext cx="10795000" cy="615553"/>
          </a:xfrm>
          <a:prstGeom prst="rect">
            <a:avLst/>
          </a:prstGeom>
          <a:noFill/>
        </p:spPr>
        <p:txBody>
          <a:bodyPr vert="horz" lIns="0" tIns="0" rIns="0" bIns="0" rtlCol="0">
            <a:spAutoFit/>
          </a:bodyPr>
          <a:lstStyle/>
          <a:p>
            <a:r>
              <a:rPr lang="en-US" sz="2000">
                <a:solidFill>
                  <a:srgbClr val="333333"/>
                </a:solidFill>
                <a:latin typeface="Calibri Light" panose="020F0302020204030204" pitchFamily="34" charset="0"/>
              </a:rPr>
              <a:t>Embedding model: F1 catches 43/44 with 14 false alerts.</a:t>
            </a:r>
          </a:p>
          <a:p>
            <a:r>
              <a:rPr lang="en-US" sz="2000">
                <a:solidFill>
                  <a:srgbClr val="333333"/>
                </a:solidFill>
                <a:latin typeface="Calibri Light" panose="020F0302020204030204" pitchFamily="34" charset="0"/>
              </a:rPr>
              <a:t>F2 catches 44/44 with 41 false alerts: 27 more for one additional positive.</a:t>
            </a:r>
            <a:endParaRPr lang="en-PH" sz="2000">
              <a:solidFill>
                <a:srgbClr val="333333"/>
              </a:solidFill>
              <a:latin typeface="Calibri Light" panose="020F0302020204030204" pitchFamily="34" charset="0"/>
            </a:endParaRPr>
          </a:p>
        </p:txBody>
      </p:sp>
    </p:spTree>
    <p:extLst>
      <p:ext uri="{BB962C8B-B14F-4D97-AF65-F5344CB8AC3E}">
        <p14:creationId xmlns:p14="http://schemas.microsoft.com/office/powerpoint/2010/main" val="508017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598A0-9FA3-ADAE-2623-D2D08491DEAB}"/>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Sequence Modeling Added Value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CB07CC07-9904-E8B6-5924-5744447F0EEC}"/>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8C0E438C-2025-E56C-F494-8D54F4A829C4}"/>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The Trajectory-Feature LSTM and weighted scorer share seven inputs.</a:t>
            </a:r>
          </a:p>
          <a:p>
            <a:pPr>
              <a:spcAft>
                <a:spcPts val="1500"/>
              </a:spcAft>
            </a:pPr>
            <a:r>
              <a:rPr lang="en-US" sz="2500">
                <a:solidFill>
                  <a:srgbClr val="191F28"/>
                </a:solidFill>
                <a:latin typeface="Calibri Light" panose="020F0302020204030204" pitchFamily="34" charset="0"/>
              </a:rPr>
              <a:t>PR-AUC difference: +0.1103 [0.0251, 0.2254].</a:t>
            </a:r>
          </a:p>
          <a:p>
            <a:pPr>
              <a:spcAft>
                <a:spcPts val="1500"/>
              </a:spcAft>
            </a:pPr>
            <a:r>
              <a:rPr lang="en-US" sz="2500">
                <a:solidFill>
                  <a:srgbClr val="191F28"/>
                </a:solidFill>
                <a:latin typeface="Calibri Light" panose="020F0302020204030204" pitchFamily="34" charset="0"/>
              </a:rPr>
              <a:t>F2 difference: +0.0630 [0.0034, 0.1294].</a:t>
            </a:r>
          </a:p>
          <a:p>
            <a:pPr>
              <a:spcAft>
                <a:spcPts val="1500"/>
              </a:spcAft>
            </a:pPr>
            <a:r>
              <a:rPr lang="en-US" sz="2500">
                <a:solidFill>
                  <a:srgbClr val="191F28"/>
                </a:solidFill>
                <a:latin typeface="Calibri Light" panose="020F0302020204030204" pitchFamily="34" charset="0"/>
              </a:rPr>
              <a:t>Both paired 95% intervals are above zero.</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944644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Local Turn-by-Turn Latency</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42DE89F6-D2A2-FCA5-073F-70118AC4E153}"/>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Local CPU HTTP benchmark: 160 requests per model.</a:t>
            </a:r>
          </a:p>
          <a:p>
            <a:pPr>
              <a:spcAft>
                <a:spcPts val="1500"/>
              </a:spcAft>
            </a:pPr>
            <a:r>
              <a:rPr lang="en-US" sz="2600">
                <a:solidFill>
                  <a:srgbClr val="191F28"/>
                </a:solidFill>
                <a:latin typeface="Calibri Light" panose="020F0302020204030204" pitchFamily="34" charset="0"/>
              </a:rPr>
              <a:t>7-feature LSTM: median 267 ms, p95 709 ms, p99 830 ms.</a:t>
            </a:r>
          </a:p>
          <a:p>
            <a:pPr>
              <a:spcAft>
                <a:spcPts val="1500"/>
              </a:spcAft>
            </a:pPr>
            <a:r>
              <a:rPr lang="en-US" sz="2600">
                <a:solidFill>
                  <a:srgbClr val="191F28"/>
                </a:solidFill>
                <a:latin typeface="Calibri Light" panose="020F0302020204030204" pitchFamily="34" charset="0"/>
              </a:rPr>
              <a:t>775-input LSTM: median 246 ms, p95 718 ms, p99 1,058 ms.</a:t>
            </a:r>
          </a:p>
          <a:p>
            <a:pPr>
              <a:spcAft>
                <a:spcPts val="1500"/>
              </a:spcAft>
            </a:pPr>
            <a:r>
              <a:rPr lang="en-US" sz="2600">
                <a:solidFill>
                  <a:srgbClr val="191F28"/>
                </a:solidFill>
                <a:latin typeface="Calibri Light" panose="020F0302020204030204" pitchFamily="34" charset="0"/>
              </a:rPr>
              <a:t>Throughput: 3.39 and 3.32 requests/s, respectively.</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16495238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35F6-715A-F097-9D74-51FCC60B8438}"/>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Conclusions by Research Objective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9451E37B-51E5-FF13-489D-A280F0F4FFEC}"/>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CC787A8C-5C08-4D1C-7970-C14948D8AEED}"/>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Objective 1: Quantified the limits of static methods.</a:t>
            </a:r>
          </a:p>
          <a:p>
            <a:pPr>
              <a:spcAft>
                <a:spcPts val="1500"/>
              </a:spcAft>
            </a:pPr>
            <a:r>
              <a:rPr lang="en-US" sz="2500">
                <a:solidFill>
                  <a:srgbClr val="191F28"/>
                </a:solidFill>
                <a:latin typeface="Calibri Light" panose="020F0302020204030204" pitchFamily="34" charset="0"/>
              </a:rPr>
              <a:t>Objective 2: Built the contextual and sequence module.</a:t>
            </a:r>
          </a:p>
          <a:p>
            <a:pPr>
              <a:spcAft>
                <a:spcPts val="1500"/>
              </a:spcAft>
            </a:pPr>
            <a:r>
              <a:rPr lang="en-US" sz="2500">
                <a:solidFill>
                  <a:srgbClr val="191F28"/>
                </a:solidFill>
                <a:latin typeface="Calibri Light" panose="020F0302020204030204" pitchFamily="34" charset="0"/>
              </a:rPr>
              <a:t>Objective 3: F2 misses: weighted 6; trajectory 3; embedding 0.</a:t>
            </a:r>
          </a:p>
          <a:p>
            <a:pPr>
              <a:spcAft>
                <a:spcPts val="1500"/>
              </a:spcAft>
            </a:pPr>
            <a:r>
              <a:rPr lang="en-US" sz="2500">
                <a:solidFill>
                  <a:srgbClr val="191F28"/>
                </a:solidFill>
                <a:latin typeface="Calibri Light" panose="020F0302020204030204" pitchFamily="34" charset="0"/>
              </a:rPr>
              <a:t>General objective: Broader conversation coverage for human review.</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1545632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Next Evaluation Steps</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42DE89F6-D2A2-FCA5-073F-70118AC4E153}"/>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Compare embedding-model F1 and F2 in a moderator workflow.</a:t>
            </a:r>
          </a:p>
          <a:p>
            <a:pPr>
              <a:spcAft>
                <a:spcPts val="1500"/>
              </a:spcAft>
            </a:pPr>
            <a:r>
              <a:rPr lang="en-US" sz="2600">
                <a:solidFill>
                  <a:srgbClr val="191F28"/>
                </a:solidFill>
                <a:latin typeface="Calibri Light" panose="020F0302020204030204" pitchFamily="34" charset="0"/>
              </a:rPr>
              <a:t>Test fixed cutoffs on contemporary external chats.</a:t>
            </a:r>
          </a:p>
          <a:p>
            <a:pPr>
              <a:spcAft>
                <a:spcPts val="1500"/>
              </a:spcAft>
            </a:pPr>
            <a:r>
              <a:rPr lang="en-US" sz="2600">
                <a:solidFill>
                  <a:srgbClr val="191F28"/>
                </a:solidFill>
                <a:latin typeface="Calibri Light" panose="020F0302020204030204" pitchFamily="34" charset="0"/>
              </a:rPr>
              <a:t>Benchmark longer histories, concurrent traffic, and caching.</a:t>
            </a:r>
          </a:p>
          <a:p>
            <a:pPr>
              <a:spcAft>
                <a:spcPts val="1500"/>
              </a:spcAft>
            </a:pPr>
            <a:r>
              <a:rPr lang="en-US" sz="2600">
                <a:solidFill>
                  <a:srgbClr val="191F28"/>
                </a:solidFill>
                <a:latin typeface="Calibri Light" panose="020F0302020204030204" pitchFamily="34" charset="0"/>
              </a:rPr>
              <a:t>Evaluate early prefixes with independently reviewed onset labels.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6771452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E62D6-6609-3BEA-6165-A7F5095A16AC}"/>
              </a:ext>
            </a:extLst>
          </p:cNvPr>
          <p:cNvSpPr>
            <a:spLocks noGrp="1"/>
          </p:cNvSpPr>
          <p:nvPr>
            <p:ph type="title"/>
          </p:nvPr>
        </p:nvSpPr>
        <p:spPr/>
        <p:txBody>
          <a:bodyPr>
            <a:normAutofit/>
          </a:bodyPr>
          <a:lstStyle/>
          <a:p>
            <a:r>
              <a:rPr lang="en-US" sz="4800"/>
              <a:t>GroomShield Reduced Missed Positives</a:t>
            </a:r>
            <a:endParaRPr sz="4800"/>
          </a:p>
        </p:txBody>
      </p:sp>
      <p:sp>
        <p:nvSpPr>
          <p:cNvPr id="3" name="Text Placeholder 2">
            <a:extLst>
              <a:ext uri="{FF2B5EF4-FFF2-40B4-BE49-F238E27FC236}">
                <a16:creationId xmlns:a16="http://schemas.microsoft.com/office/drawing/2014/main" id="{563B6A9D-5621-CA75-6BD4-0A403BD9EBA4}"/>
              </a:ext>
            </a:extLst>
          </p:cNvPr>
          <p:cNvSpPr>
            <a:spLocks noGrp="1"/>
          </p:cNvSpPr>
          <p:nvPr>
            <p:ph type="body" idx="1"/>
          </p:nvPr>
        </p:nvSpPr>
        <p:spPr>
          <a:xfrm>
            <a:off x="831850" y="5186854"/>
            <a:ext cx="10062122" cy="625025"/>
          </a:xfrm>
        </p:spPr>
        <p:txBody>
          <a:bodyPr/>
          <a:lstStyle/>
          <a:p>
            <a:pPr marL="0" marR="0" lvl="0" indent="0" defTabSz="914400">
              <a:lnSpc>
                <a:spcPct val="100000"/>
              </a:lnSpc>
              <a:spcBef>
                <a:spcPts val="0"/>
              </a:spcBef>
              <a:spcAft>
                <a:spcPts val="0"/>
              </a:spcAft>
              <a:buClrTx/>
              <a:buSzTx/>
              <a:buFontTx/>
              <a:buNone/>
            </a:pPr>
            <a:r>
              <a:rPr lang="en-PH" sz="2400" b="0" i="1" u="none" cap="none">
                <a:ln>
                  <a:noFill/>
                </a:ln>
                <a:solidFill>
                  <a:srgbClr val="FFFFFF"/>
                </a:solidFill>
                <a:latin typeface="Calibri Light"/>
                <a:ea typeface="Calibri Light"/>
                <a:cs typeface="Calibri Light"/>
              </a:rPr>
              <a:t>Questions and discussion</a:t>
            </a:r>
            <a:endParaRPr sz="2400" b="0" i="1" u="none" kern="1200" cap="none" spc="0" baseline="0">
              <a:ln>
                <a:noFill/>
              </a:ln>
              <a:solidFill>
                <a:srgbClr val="FFFFFF"/>
              </a:solidFill>
              <a:latin typeface="Calibri Light"/>
              <a:ea typeface="Calibri Light"/>
              <a:cs typeface="Calibri Light"/>
            </a:endParaRPr>
          </a:p>
        </p:txBody>
      </p:sp>
      <p:sp>
        <p:nvSpPr>
          <p:cNvPr id="5" name="Straight Connector 4">
            <a:extLst>
              <a:ext uri="{FF2B5EF4-FFF2-40B4-BE49-F238E27FC236}">
                <a16:creationId xmlns:a16="http://schemas.microsoft.com/office/drawing/2014/main" id="{AE7566C8-41F1-4BB5-AE3E-9D4B12E72064}"/>
              </a:ext>
            </a:extLst>
          </p:cNvPr>
          <p:cNvSpPr>
            <a:spLocks noGrp="1"/>
          </p:cNvSpPr>
          <p:nvPr/>
        </p:nvSpPr>
        <p:spPr>
          <a:xfrm>
            <a:off x="856937" y="5174411"/>
            <a:ext cx="756184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a:lstStyle/>
          <a:p>
            <a:endParaRPr lang="en-PH"/>
          </a:p>
        </p:txBody>
      </p:sp>
      <p:sp>
        <p:nvSpPr>
          <p:cNvPr id="4" name="Correct divider number">
            <a:extLst>
              <a:ext uri="{FF2B5EF4-FFF2-40B4-BE49-F238E27FC236}">
                <a16:creationId xmlns:a16="http://schemas.microsoft.com/office/drawing/2014/main" id="{22613966-2BFE-B0CE-9F18-8B6FC2BE34E1}"/>
              </a:ext>
            </a:extLst>
          </p:cNvPr>
          <p:cNvSpPr/>
          <p:nvPr/>
        </p:nvSpPr>
        <p:spPr>
          <a:xfrm>
            <a:off x="11407447" y="6108700"/>
            <a:ext cx="647700" cy="650055"/>
          </a:xfrm>
          <a:prstGeom prst="rect">
            <a:avLst/>
          </a:prstGeom>
          <a:solidFill>
            <a:srgbClr val="F7A601"/>
          </a:solidFill>
          <a:ln w="127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PH" sz="2800" b="1">
                <a:solidFill>
                  <a:srgbClr val="FFFFFF"/>
                </a:solidFill>
                <a:latin typeface="Calibri" panose="020F0502020204030204" pitchFamily="34" charset="0"/>
              </a:rPr>
              <a:t>24</a:t>
            </a:r>
          </a:p>
        </p:txBody>
      </p:sp>
    </p:spTree>
    <p:extLst>
      <p:ext uri="{BB962C8B-B14F-4D97-AF65-F5344CB8AC3E}">
        <p14:creationId xmlns:p14="http://schemas.microsoft.com/office/powerpoint/2010/main" val="30531080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The Three Missed Conversations Were Short</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Length comparison">
            <a:extLst>
              <a:ext uri="{FF2B5EF4-FFF2-40B4-BE49-F238E27FC236}">
                <a16:creationId xmlns:a16="http://schemas.microsoft.com/office/drawing/2014/main" id="{57C47A18-6EE5-121B-F3C3-8454E0A1E975}"/>
              </a:ext>
            </a:extLst>
          </p:cNvPr>
          <p:cNvSpPr txBox="1"/>
          <p:nvPr/>
        </p:nvSpPr>
        <p:spPr>
          <a:xfrm>
            <a:off x="825500" y="5753100"/>
            <a:ext cx="10414000" cy="8509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Missed cases: 2, 11, and 26 turns. Correctly detected positives: lower quartile 36, median 61 turns.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0179490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Baseline Policy Comparison</a:t>
            </a:r>
            <a:endParaRPr sz="3400">
              <a:solidFill>
                <a:schemeClr val="accent1">
                  <a:lumMod val="75000"/>
                </a:schemeClr>
              </a:solidFill>
            </a:endParaRPr>
          </a:p>
        </p:txBody>
      </p:sp>
      <p:sp>
        <p:nvSpPr>
          <p:cNvPr id="4" name="Backup context">
            <a:extLst>
              <a:ext uri="{FF2B5EF4-FFF2-40B4-BE49-F238E27FC236}">
                <a16:creationId xmlns:a16="http://schemas.microsoft.com/office/drawing/2014/main" id="{58C67348-F18C-2142-1939-221E1F8720E6}"/>
              </a:ext>
            </a:extLst>
          </p:cNvPr>
          <p:cNvSpPr txBox="1"/>
          <p:nvPr/>
        </p:nvSpPr>
        <p:spPr>
          <a:xfrm>
            <a:off x="685800" y="1689100"/>
            <a:ext cx="10795000" cy="307777"/>
          </a:xfrm>
          <a:prstGeom prst="rect">
            <a:avLst/>
          </a:prstGeom>
          <a:noFill/>
        </p:spPr>
        <p:txBody>
          <a:bodyPr vert="horz" lIns="0" tIns="0" rIns="0" bIns="0" rtlCol="0">
            <a:spAutoFit/>
          </a:bodyPr>
          <a:lstStyle/>
          <a:p>
            <a:r>
              <a:rPr lang="en-US" sz="2000">
                <a:solidFill>
                  <a:srgbClr val="333333"/>
                </a:solidFill>
                <a:latin typeface="Calibri Light" panose="020F0302020204030204" pitchFamily="34" charset="0"/>
              </a:rPr>
              <a:t>Same test partition and fixed models; three validation-selected cutoff policies.</a:t>
            </a:r>
            <a:endParaRPr lang="en-PH" sz="2000">
              <a:solidFill>
                <a:srgbClr val="333333"/>
              </a:solidFill>
              <a:latin typeface="Calibri Light" panose="020F0302020204030204" pitchFamily="34" charset="0"/>
            </a:endParaRPr>
          </a:p>
        </p:txBody>
      </p:sp>
      <p:graphicFrame>
        <p:nvGraphicFramePr>
          <p:cNvPr id="5" name="Policy comparison table">
            <a:extLst>
              <a:ext uri="{FF2B5EF4-FFF2-40B4-BE49-F238E27FC236}">
                <a16:creationId xmlns:a16="http://schemas.microsoft.com/office/drawing/2014/main" id="{2E0FB665-A855-147F-760D-D6019912D9F2}"/>
              </a:ext>
            </a:extLst>
          </p:cNvPr>
          <p:cNvGraphicFramePr>
            <a:graphicFrameLocks noGrp="1"/>
          </p:cNvGraphicFramePr>
          <p:nvPr>
            <p:extLst>
              <p:ext uri="{D42A27DB-BD31-4B8C-83A1-F6EECF244321}">
                <p14:modId xmlns:p14="http://schemas.microsoft.com/office/powerpoint/2010/main" val="2401661499"/>
              </p:ext>
            </p:extLst>
          </p:nvPr>
        </p:nvGraphicFramePr>
        <p:xfrm>
          <a:off x="685800" y="2247900"/>
          <a:ext cx="10795000" cy="3835400"/>
        </p:xfrm>
        <a:graphic>
          <a:graphicData uri="http://schemas.openxmlformats.org/drawingml/2006/table">
            <a:tbl>
              <a:tblPr firstRow="1" bandRow="1">
                <a:tableStyleId>{5C22544A-7EE6-4342-B048-85BDC9FD1C3A}</a:tableStyleId>
              </a:tblPr>
              <a:tblGrid>
                <a:gridCol w="2603500">
                  <a:extLst>
                    <a:ext uri="{9D8B030D-6E8A-4147-A177-3AD203B41FA5}">
                      <a16:colId xmlns:a16="http://schemas.microsoft.com/office/drawing/2014/main" val="3151006316"/>
                    </a:ext>
                  </a:extLst>
                </a:gridCol>
                <a:gridCol w="990600">
                  <a:extLst>
                    <a:ext uri="{9D8B030D-6E8A-4147-A177-3AD203B41FA5}">
                      <a16:colId xmlns:a16="http://schemas.microsoft.com/office/drawing/2014/main" val="660418554"/>
                    </a:ext>
                  </a:extLst>
                </a:gridCol>
                <a:gridCol w="673100">
                  <a:extLst>
                    <a:ext uri="{9D8B030D-6E8A-4147-A177-3AD203B41FA5}">
                      <a16:colId xmlns:a16="http://schemas.microsoft.com/office/drawing/2014/main" val="3530721111"/>
                    </a:ext>
                  </a:extLst>
                </a:gridCol>
                <a:gridCol w="673100">
                  <a:extLst>
                    <a:ext uri="{9D8B030D-6E8A-4147-A177-3AD203B41FA5}">
                      <a16:colId xmlns:a16="http://schemas.microsoft.com/office/drawing/2014/main" val="1715896826"/>
                    </a:ext>
                  </a:extLst>
                </a:gridCol>
                <a:gridCol w="673100">
                  <a:extLst>
                    <a:ext uri="{9D8B030D-6E8A-4147-A177-3AD203B41FA5}">
                      <a16:colId xmlns:a16="http://schemas.microsoft.com/office/drawing/2014/main" val="3989115163"/>
                    </a:ext>
                  </a:extLst>
                </a:gridCol>
                <a:gridCol w="990600">
                  <a:extLst>
                    <a:ext uri="{9D8B030D-6E8A-4147-A177-3AD203B41FA5}">
                      <a16:colId xmlns:a16="http://schemas.microsoft.com/office/drawing/2014/main" val="603268406"/>
                    </a:ext>
                  </a:extLst>
                </a:gridCol>
                <a:gridCol w="2095500">
                  <a:extLst>
                    <a:ext uri="{9D8B030D-6E8A-4147-A177-3AD203B41FA5}">
                      <a16:colId xmlns:a16="http://schemas.microsoft.com/office/drawing/2014/main" val="3468694149"/>
                    </a:ext>
                  </a:extLst>
                </a:gridCol>
                <a:gridCol w="2095500">
                  <a:extLst>
                    <a:ext uri="{9D8B030D-6E8A-4147-A177-3AD203B41FA5}">
                      <a16:colId xmlns:a16="http://schemas.microsoft.com/office/drawing/2014/main" val="297307130"/>
                    </a:ext>
                  </a:extLst>
                </a:gridCol>
              </a:tblGrid>
              <a:tr h="383540">
                <a:tc>
                  <a:txBody>
                    <a:bodyPr/>
                    <a:lstStyle/>
                    <a:p>
                      <a:pPr algn="l"/>
                      <a:r>
                        <a:rPr lang="en-PH" sz="1800" b="1">
                          <a:solidFill>
                            <a:srgbClr val="FFFFFF"/>
                          </a:solidFill>
                          <a:latin typeface="Calibri" panose="020F0502020204030204" pitchFamily="34" charset="0"/>
                        </a:rPr>
                        <a:t>Method</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Policy</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TP</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FN</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FP</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TN</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Precision</a:t>
                      </a:r>
                    </a:p>
                  </a:txBody>
                  <a:tcPr marL="63500" marR="63500" marT="38100" marB="38100" anchor="ctr">
                    <a:solidFill>
                      <a:srgbClr val="336699"/>
                    </a:solidFill>
                  </a:tcPr>
                </a:tc>
                <a:tc>
                  <a:txBody>
                    <a:bodyPr/>
                    <a:lstStyle/>
                    <a:p>
                      <a:pPr algn="ctr"/>
                      <a:r>
                        <a:rPr lang="en-PH" sz="1800" b="1">
                          <a:solidFill>
                            <a:srgbClr val="FFFFFF"/>
                          </a:solidFill>
                          <a:latin typeface="Calibri" panose="020F0502020204030204" pitchFamily="34" charset="0"/>
                        </a:rPr>
                        <a:t>Recall</a:t>
                      </a:r>
                    </a:p>
                  </a:txBody>
                  <a:tcPr marL="63500" marR="63500" marT="38100" marB="38100" anchor="ctr">
                    <a:solidFill>
                      <a:srgbClr val="336699"/>
                    </a:solidFill>
                  </a:tcPr>
                </a:tc>
                <a:extLst>
                  <a:ext uri="{0D108BD9-81ED-4DB2-BD59-A6C34878D82A}">
                    <a16:rowId xmlns:a16="http://schemas.microsoft.com/office/drawing/2014/main" val="815468157"/>
                  </a:ext>
                </a:extLst>
              </a:tr>
              <a:tr h="383540">
                <a:tc>
                  <a:txBody>
                    <a:bodyPr/>
                    <a:lstStyle/>
                    <a:p>
                      <a:pPr algn="l"/>
                      <a:r>
                        <a:rPr lang="en-PH" sz="1800" b="0">
                          <a:solidFill>
                            <a:srgbClr val="333333"/>
                          </a:solidFill>
                          <a:latin typeface="Calibri" panose="020F0502020204030204" pitchFamily="34" charset="0"/>
                        </a:rPr>
                        <a:t>Maximum Layer 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23</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1800</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56.10%</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52.27%</a:t>
                      </a:r>
                    </a:p>
                  </a:txBody>
                  <a:tcPr marL="63500" marR="63500" marT="38100" marB="38100" anchor="ctr">
                    <a:solidFill>
                      <a:srgbClr val="FFFFFF"/>
                    </a:solidFill>
                  </a:tcPr>
                </a:tc>
                <a:extLst>
                  <a:ext uri="{0D108BD9-81ED-4DB2-BD59-A6C34878D82A}">
                    <a16:rowId xmlns:a16="http://schemas.microsoft.com/office/drawing/2014/main" val="1686775951"/>
                  </a:ext>
                </a:extLst>
              </a:tr>
              <a:tr h="383540">
                <a:tc>
                  <a:txBody>
                    <a:bodyPr/>
                    <a:lstStyle/>
                    <a:p>
                      <a:pPr algn="l"/>
                      <a:r>
                        <a:rPr lang="en-PH" sz="1800" b="0">
                          <a:solidFill>
                            <a:srgbClr val="333333"/>
                          </a:solidFill>
                          <a:latin typeface="Calibri" panose="020F0502020204030204" pitchFamily="34" charset="0"/>
                        </a:rPr>
                        <a:t>Maximum Layer 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26</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1797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55.32%</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59.09%</a:t>
                      </a:r>
                    </a:p>
                  </a:txBody>
                  <a:tcPr marL="63500" marR="63500" marT="38100" marB="38100" anchor="ctr">
                    <a:solidFill>
                      <a:srgbClr val="FFFFFF"/>
                    </a:solidFill>
                  </a:tcPr>
                </a:tc>
                <a:extLst>
                  <a:ext uri="{0D108BD9-81ED-4DB2-BD59-A6C34878D82A}">
                    <a16:rowId xmlns:a16="http://schemas.microsoft.com/office/drawing/2014/main" val="2362733308"/>
                  </a:ext>
                </a:extLst>
              </a:tr>
              <a:tr h="383540">
                <a:tc>
                  <a:txBody>
                    <a:bodyPr/>
                    <a:lstStyle/>
                    <a:p>
                      <a:pPr algn="l"/>
                      <a:r>
                        <a:rPr lang="en-PH" sz="1800" b="0">
                          <a:solidFill>
                            <a:srgbClr val="333333"/>
                          </a:solidFill>
                          <a:latin typeface="Calibri" panose="020F0502020204030204" pitchFamily="34" charset="0"/>
                        </a:rPr>
                        <a:t>Maximum Layer 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F2</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39</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78</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1740</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33.33%</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88.64%</a:t>
                      </a:r>
                    </a:p>
                  </a:txBody>
                  <a:tcPr marL="63500" marR="63500" marT="38100" marB="38100" anchor="ctr">
                    <a:solidFill>
                      <a:srgbClr val="FFFFFF"/>
                    </a:solidFill>
                  </a:tcPr>
                </a:tc>
                <a:extLst>
                  <a:ext uri="{0D108BD9-81ED-4DB2-BD59-A6C34878D82A}">
                    <a16:rowId xmlns:a16="http://schemas.microsoft.com/office/drawing/2014/main" val="2690509105"/>
                  </a:ext>
                </a:extLst>
              </a:tr>
              <a:tr h="383540">
                <a:tc>
                  <a:txBody>
                    <a:bodyPr/>
                    <a:lstStyle/>
                    <a:p>
                      <a:pPr algn="l"/>
                      <a:r>
                        <a:rPr lang="en-PH" sz="1800" b="0">
                          <a:solidFill>
                            <a:srgbClr val="333333"/>
                          </a:solidFill>
                          <a:latin typeface="Calibri" panose="020F0502020204030204" pitchFamily="34" charset="0"/>
                        </a:rPr>
                        <a:t>Weighted scorer</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36</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8</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13</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73.47%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81.82%</a:t>
                      </a:r>
                    </a:p>
                  </a:txBody>
                  <a:tcPr marL="63500" marR="63500" marT="38100" marB="38100" anchor="ctr">
                    <a:solidFill>
                      <a:srgbClr val="FFFFFF"/>
                    </a:solidFill>
                  </a:tcPr>
                </a:tc>
                <a:extLst>
                  <a:ext uri="{0D108BD9-81ED-4DB2-BD59-A6C34878D82A}">
                    <a16:rowId xmlns:a16="http://schemas.microsoft.com/office/drawing/2014/main" val="1137914380"/>
                  </a:ext>
                </a:extLst>
              </a:tr>
              <a:tr h="383540">
                <a:tc>
                  <a:txBody>
                    <a:bodyPr/>
                    <a:lstStyle/>
                    <a:p>
                      <a:pPr algn="l"/>
                      <a:r>
                        <a:rPr lang="en-PH" sz="1800" b="0">
                          <a:solidFill>
                            <a:srgbClr val="333333"/>
                          </a:solidFill>
                          <a:latin typeface="Calibri" panose="020F0502020204030204" pitchFamily="34" charset="0"/>
                        </a:rPr>
                        <a:t>Weighted scorer</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36</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8</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13</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73.47%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81.82%</a:t>
                      </a:r>
                    </a:p>
                  </a:txBody>
                  <a:tcPr marL="63500" marR="63500" marT="38100" marB="38100" anchor="ctr">
                    <a:solidFill>
                      <a:srgbClr val="FFFFFF"/>
                    </a:solidFill>
                  </a:tcPr>
                </a:tc>
                <a:extLst>
                  <a:ext uri="{0D108BD9-81ED-4DB2-BD59-A6C34878D82A}">
                    <a16:rowId xmlns:a16="http://schemas.microsoft.com/office/drawing/2014/main" val="1946897226"/>
                  </a:ext>
                </a:extLst>
              </a:tr>
              <a:tr h="383540">
                <a:tc>
                  <a:txBody>
                    <a:bodyPr/>
                    <a:lstStyle/>
                    <a:p>
                      <a:pPr algn="l"/>
                      <a:r>
                        <a:rPr lang="en-PH" sz="1800" b="0">
                          <a:solidFill>
                            <a:srgbClr val="333333"/>
                          </a:solidFill>
                          <a:latin typeface="Calibri" panose="020F0502020204030204" pitchFamily="34" charset="0"/>
                        </a:rPr>
                        <a:t>Weighted scorer</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F2</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38</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6</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24</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1794</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61.29%</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86.36%</a:t>
                      </a:r>
                    </a:p>
                  </a:txBody>
                  <a:tcPr marL="63500" marR="63500" marT="38100" marB="38100" anchor="ctr">
                    <a:solidFill>
                      <a:srgbClr val="FFFFFF"/>
                    </a:solidFill>
                  </a:tcPr>
                </a:tc>
                <a:extLst>
                  <a:ext uri="{0D108BD9-81ED-4DB2-BD59-A6C34878D82A}">
                    <a16:rowId xmlns:a16="http://schemas.microsoft.com/office/drawing/2014/main" val="2965266039"/>
                  </a:ext>
                </a:extLst>
              </a:tr>
              <a:tr h="383540">
                <a:tc>
                  <a:txBody>
                    <a:bodyPr/>
                    <a:lstStyle/>
                    <a:p>
                      <a:pPr algn="l"/>
                      <a:r>
                        <a:rPr lang="en-PH" sz="1800" b="0">
                          <a:solidFill>
                            <a:srgbClr val="333333"/>
                          </a:solidFill>
                          <a:latin typeface="Calibri" panose="020F0502020204030204" pitchFamily="34" charset="0"/>
                        </a:rPr>
                        <a:t>Keyword rule</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1807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71.05%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61.36%</a:t>
                      </a:r>
                    </a:p>
                  </a:txBody>
                  <a:tcPr marL="63500" marR="63500" marT="38100" marB="38100" anchor="ctr">
                    <a:solidFill>
                      <a:srgbClr val="FFFFFF"/>
                    </a:solidFill>
                  </a:tcPr>
                </a:tc>
                <a:extLst>
                  <a:ext uri="{0D108BD9-81ED-4DB2-BD59-A6C34878D82A}">
                    <a16:rowId xmlns:a16="http://schemas.microsoft.com/office/drawing/2014/main" val="3108535182"/>
                  </a:ext>
                </a:extLst>
              </a:tr>
              <a:tr h="383540">
                <a:tc>
                  <a:txBody>
                    <a:bodyPr/>
                    <a:lstStyle/>
                    <a:p>
                      <a:pPr algn="l"/>
                      <a:r>
                        <a:rPr lang="en-PH" sz="1800" b="0">
                          <a:solidFill>
                            <a:srgbClr val="333333"/>
                          </a:solidFill>
                          <a:latin typeface="Calibri" panose="020F0502020204030204" pitchFamily="34" charset="0"/>
                        </a:rPr>
                        <a:t>Keyword rule</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1807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71.05%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61.36%</a:t>
                      </a:r>
                    </a:p>
                  </a:txBody>
                  <a:tcPr marL="63500" marR="63500" marT="38100" marB="38100" anchor="ctr">
                    <a:solidFill>
                      <a:srgbClr val="FFFFFF"/>
                    </a:solidFill>
                  </a:tcPr>
                </a:tc>
                <a:extLst>
                  <a:ext uri="{0D108BD9-81ED-4DB2-BD59-A6C34878D82A}">
                    <a16:rowId xmlns:a16="http://schemas.microsoft.com/office/drawing/2014/main" val="2079843198"/>
                  </a:ext>
                </a:extLst>
              </a:tr>
              <a:tr h="383540">
                <a:tc>
                  <a:txBody>
                    <a:bodyPr/>
                    <a:lstStyle/>
                    <a:p>
                      <a:pPr algn="l"/>
                      <a:r>
                        <a:rPr lang="en-PH" sz="1800" b="0">
                          <a:solidFill>
                            <a:srgbClr val="333333"/>
                          </a:solidFill>
                          <a:latin typeface="Calibri" panose="020F0502020204030204" pitchFamily="34" charset="0"/>
                        </a:rPr>
                        <a:t>Keyword rule</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F2</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27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11</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1807</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71.05%</a:t>
                      </a:r>
                    </a:p>
                  </a:txBody>
                  <a:tcPr marL="63500" marR="63500" marT="38100" marB="38100" anchor="ctr">
                    <a:solidFill>
                      <a:srgbClr val="FFFFFF"/>
                    </a:solidFill>
                  </a:tcPr>
                </a:tc>
                <a:tc>
                  <a:txBody>
                    <a:bodyPr/>
                    <a:lstStyle/>
                    <a:p>
                      <a:pPr algn="ctr"/>
                      <a:r>
                        <a:rPr lang="en-PH" sz="1800" b="0">
                          <a:solidFill>
                            <a:srgbClr val="333333"/>
                          </a:solidFill>
                          <a:latin typeface="Calibri" panose="020F0502020204030204" pitchFamily="34" charset="0"/>
                        </a:rPr>
                        <a:t>61.36%</a:t>
                      </a:r>
                    </a:p>
                  </a:txBody>
                  <a:tcPr marL="63500" marR="63500" marT="38100" marB="38100" anchor="ctr">
                    <a:solidFill>
                      <a:srgbClr val="FFFFFF"/>
                    </a:solidFill>
                  </a:tcPr>
                </a:tc>
                <a:extLst>
                  <a:ext uri="{0D108BD9-81ED-4DB2-BD59-A6C34878D82A}">
                    <a16:rowId xmlns:a16="http://schemas.microsoft.com/office/drawing/2014/main" val="1592807575"/>
                  </a:ext>
                </a:extLst>
              </a:tr>
            </a:tbl>
          </a:graphicData>
        </a:graphic>
      </p:graphicFrame>
      <p:sp>
        <p:nvSpPr>
          <p:cNvPr id="6" name="Backup footnote">
            <a:extLst>
              <a:ext uri="{FF2B5EF4-FFF2-40B4-BE49-F238E27FC236}">
                <a16:creationId xmlns:a16="http://schemas.microsoft.com/office/drawing/2014/main" id="{A713DDF1-4C20-37A9-E539-305529AD9DBC}"/>
              </a:ext>
            </a:extLst>
          </p:cNvPr>
          <p:cNvSpPr txBox="1"/>
          <p:nvPr/>
        </p:nvSpPr>
        <p:spPr>
          <a:xfrm>
            <a:off x="685800" y="6248400"/>
            <a:ext cx="10795000" cy="261610"/>
          </a:xfrm>
          <a:prstGeom prst="rect">
            <a:avLst/>
          </a:prstGeom>
          <a:noFill/>
        </p:spPr>
        <p:txBody>
          <a:bodyPr vert="horz" lIns="0" tIns="0" rIns="0" bIns="0" rtlCol="0">
            <a:spAutoFit/>
          </a:bodyPr>
          <a:lstStyle/>
          <a:p>
            <a:r>
              <a:rPr lang="en-PH" sz="1700">
                <a:solidFill>
                  <a:srgbClr val="333333"/>
                </a:solidFill>
                <a:latin typeface="Calibri Light" panose="020F0302020204030204" pitchFamily="34" charset="0"/>
              </a:rPr>
              <a:t>TP: found positives | FN: misses | FP: false alerts | TN: correct negatives. N = 1,862.</a:t>
            </a:r>
          </a:p>
        </p:txBody>
      </p:sp>
    </p:spTree>
    <p:extLst>
      <p:ext uri="{BB962C8B-B14F-4D97-AF65-F5344CB8AC3E}">
        <p14:creationId xmlns:p14="http://schemas.microsoft.com/office/powerpoint/2010/main" val="5919655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844B5-70AB-4288-3250-7B9D2AE0D6B1}"/>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6" name="Title 5">
            <a:extLst>
              <a:ext uri="{FF2B5EF4-FFF2-40B4-BE49-F238E27FC236}">
                <a16:creationId xmlns:a16="http://schemas.microsoft.com/office/drawing/2014/main" id="{9C1D6124-563A-7F70-DF21-E8FEA2257CAD}"/>
              </a:ext>
            </a:extLst>
          </p:cNvPr>
          <p:cNvSpPr>
            <a:spLocks noGrp="1"/>
          </p:cNvSpPr>
          <p:nvPr>
            <p:ph type="title"/>
          </p:nvPr>
        </p:nvSpPr>
        <p:spPr>
          <a:xfrm>
            <a:off x="1205255" y="2850418"/>
            <a:ext cx="9781489" cy="1325563"/>
          </a:xfrm>
        </p:spPr>
        <p:txBody>
          <a:bodyPr>
            <a:noAutofit/>
          </a:bodyPr>
          <a:lstStyle/>
          <a:p>
            <a:pPr algn="ctr">
              <a:buNone/>
            </a:pPr>
            <a:r>
              <a:rPr sz="8000" b="1"/>
              <a:t>RESOURCE SLIDES</a:t>
            </a:r>
            <a:br/>
            <a:r>
              <a:rPr sz="8000" b="1"/>
              <a:t>vvv</a:t>
            </a:r>
          </a:p>
        </p:txBody>
      </p:sp>
      <p:sp>
        <p:nvSpPr>
          <p:cNvPr id="3" name="Rectangle 2">
            <a:extLst>
              <a:ext uri="{FF2B5EF4-FFF2-40B4-BE49-F238E27FC236}">
                <a16:creationId xmlns:a16="http://schemas.microsoft.com/office/drawing/2014/main" id="{972EB74F-12A3-192F-04F0-FA096E2E1BCF}"/>
              </a:ext>
            </a:extLst>
          </p:cNvPr>
          <p:cNvSpPr>
            <a:spLocks noGrp="1"/>
          </p:cNvSpPr>
          <p:nvPr/>
        </p:nvSpPr>
        <p:spPr>
          <a:xfrm>
            <a:off x="-1" y="1342521"/>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 name="Rectangle 3">
            <a:extLst>
              <a:ext uri="{FF2B5EF4-FFF2-40B4-BE49-F238E27FC236}">
                <a16:creationId xmlns:a16="http://schemas.microsoft.com/office/drawing/2014/main" id="{623FB5B4-11EE-FCD9-7BF8-04B000C6621F}"/>
              </a:ext>
            </a:extLst>
          </p:cNvPr>
          <p:cNvSpPr>
            <a:spLocks noGrp="1"/>
          </p:cNvSpPr>
          <p:nvPr/>
        </p:nvSpPr>
        <p:spPr>
          <a:xfrm>
            <a:off x="-1" y="4523293"/>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537506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F6EC9-01F9-3331-09AA-19C64635D555}"/>
              </a:ext>
            </a:extLst>
          </p:cNvPr>
          <p:cNvSpPr>
            <a:spLocks noGrp="1"/>
          </p:cNvSpPr>
          <p:nvPr>
            <p:ph type="ctrTitle"/>
          </p:nvPr>
        </p:nvSpPr>
        <p:spPr>
          <a:xfrm>
            <a:off x="6096000" y="2722563"/>
            <a:ext cx="5077521" cy="2387600"/>
          </a:xfrm>
        </p:spPr>
        <p:txBody>
          <a:bodyPr>
            <a:normAutofit/>
          </a:bodyPr>
          <a:lstStyle/>
          <a:p>
            <a:pPr>
              <a:lnSpc>
                <a:spcPts val="5000"/>
              </a:lnSpc>
              <a:buNone/>
            </a:pPr>
            <a:r>
              <a:rPr sz="6600"/>
              <a:t>PACIFIC COLLEGE</a:t>
            </a:r>
          </a:p>
        </p:txBody>
      </p:sp>
    </p:spTree>
    <p:extLst>
      <p:ext uri="{BB962C8B-B14F-4D97-AF65-F5344CB8AC3E}">
        <p14:creationId xmlns:p14="http://schemas.microsoft.com/office/powerpoint/2010/main" val="40219051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BB60773-11B5-CF24-34E2-87D3F196B882}"/>
              </a:ext>
            </a:extLst>
          </p:cNvPr>
          <p:cNvSpPr>
            <a:spLocks noGrp="1"/>
          </p:cNvSpPr>
          <p:nvPr/>
        </p:nvSpPr>
        <p:spPr>
          <a:xfrm>
            <a:off x="831850" y="605343"/>
            <a:ext cx="10062122" cy="1284059"/>
          </a:xfrm>
          <a:prstGeom prst="rect">
            <a:avLst/>
          </a:prstGeom>
        </p:spPr>
        <p:txBody>
          <a:bodyPr vert="horz" lIns="91440" tIns="45720" rIns="91440" bIns="45720" anchor="b">
            <a:normAutofit/>
          </a:bodyPr>
          <a:lstStyle>
            <a:lvl1pPr algn="l" defTabSz="914400">
              <a:lnSpc>
                <a:spcPct val="90000"/>
              </a:lnSpc>
              <a:spcBef>
                <a:spcPct val="0"/>
              </a:spcBef>
              <a:buNone/>
              <a:defRPr sz="6000" kern="1200">
                <a:solidFill>
                  <a:schemeClr val="bg1"/>
                </a:solidFill>
                <a:latin typeface="+mj-lt"/>
                <a:ea typeface="+mj-lt"/>
                <a:cs typeface="+mj-lt"/>
              </a:defRPr>
            </a:lvl1pPr>
          </a:lstStyle>
          <a:p>
            <a:r>
              <a:rPr b="1"/>
              <a:t>Sustainable Development Goals </a:t>
            </a:r>
          </a:p>
        </p:txBody>
      </p:sp>
      <p:pic>
        <p:nvPicPr>
          <p:cNvPr id="9" name="Picture 5"/>
          <p:cNvPicPr>
            <a:picLocks noChangeAspect="1"/>
          </p:cNvPicPr>
          <p:nvPr/>
        </p:nvPicPr>
        <p:blipFill>
          <a:blip r:embed="rId3"/>
          <a:stretch>
            <a:fillRect/>
          </a:stretch>
        </p:blipFill>
        <p:spPr>
          <a:xfrm>
            <a:off x="1131626" y="2706805"/>
            <a:ext cx="3559791" cy="3548418"/>
          </a:xfrm>
          <a:prstGeom prst="rect">
            <a:avLst/>
          </a:prstGeom>
        </p:spPr>
      </p:pic>
      <p:pic>
        <p:nvPicPr>
          <p:cNvPr id="10" name="Picture 6"/>
          <p:cNvPicPr>
            <a:picLocks noChangeAspect="1"/>
          </p:cNvPicPr>
          <p:nvPr/>
        </p:nvPicPr>
        <p:blipFill>
          <a:blip r:embed="rId4"/>
          <a:stretch>
            <a:fillRect/>
          </a:stretch>
        </p:blipFill>
        <p:spPr>
          <a:xfrm>
            <a:off x="6863687" y="2706805"/>
            <a:ext cx="3616657" cy="3548419"/>
          </a:xfrm>
          <a:prstGeom prst="rect">
            <a:avLst/>
          </a:prstGeom>
        </p:spPr>
      </p:pic>
    </p:spTree>
    <p:extLst>
      <p:ext uri="{BB962C8B-B14F-4D97-AF65-F5344CB8AC3E}">
        <p14:creationId xmlns:p14="http://schemas.microsoft.com/office/powerpoint/2010/main" val="1313818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33980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34F65-AA79-3DA3-8DD3-52D817FFB6A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Tree>
    <p:extLst>
      <p:ext uri="{BB962C8B-B14F-4D97-AF65-F5344CB8AC3E}">
        <p14:creationId xmlns:p14="http://schemas.microsoft.com/office/powerpoint/2010/main" val="5982917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129</TotalTime>
  <Words>4481</Words>
  <Application>Microsoft Office PowerPoint</Application>
  <DocSecurity>0</DocSecurity>
  <PresentationFormat>Widescreen</PresentationFormat>
  <Paragraphs>414</Paragraphs>
  <Slides>31</Slides>
  <Notes>31</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Corbel</vt:lpstr>
      <vt:lpstr>Office Theme</vt:lpstr>
      <vt:lpstr>GroomShield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GroomShield Reduced Missed Positives</vt:lpstr>
      <vt:lpstr>PowerPoint Presentation</vt:lpstr>
      <vt:lpstr>PowerPoint Presentation</vt:lpstr>
      <vt:lpstr>RESOURCE SLIDES vvv</vt:lpstr>
      <vt:lpstr>PACIFIC COLLEGE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Michael Maala</cp:lastModifiedBy>
  <cp:revision>14</cp:revision>
  <dcterms:created xsi:type="dcterms:W3CDTF">2026-08-12T16:37:22Z</dcterms:created>
  <dcterms:modified xsi:type="dcterms:W3CDTF">2026-09-30T00:16:25Z</dcterms:modified>
</cp:coreProperties>
</file>