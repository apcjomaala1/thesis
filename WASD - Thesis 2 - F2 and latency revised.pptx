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notesSlides/notesSlide28.xml" ContentType="application/vnd.openxmlformats-officedocument.presentationml.notesSlide+xml"/>
  <Override PartName="/ppt/charts/chart2.xml" ContentType="application/vnd.openxmlformats-officedocument.drawingml.chart+xml"/>
  <Override PartName="/ppt/notesSlides/notesSlide29.xml" ContentType="application/vnd.openxmlformats-officedocument.presentationml.notesSlide+xml"/>
  <Override PartName="/ppt/charts/chart3.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4.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90" r:id="rId9"/>
    <p:sldId id="291" r:id="rId10"/>
    <p:sldId id="263" r:id="rId11"/>
    <p:sldId id="264" r:id="rId12"/>
    <p:sldId id="265" r:id="rId13"/>
    <p:sldId id="266" r:id="rId14"/>
    <p:sldId id="267" r:id="rId15"/>
    <p:sldId id="268" r:id="rId16"/>
    <p:sldId id="292" r:id="rId17"/>
    <p:sldId id="269" r:id="rId18"/>
    <p:sldId id="270" r:id="rId19"/>
    <p:sldId id="271" r:id="rId20"/>
    <p:sldId id="293" r:id="rId21"/>
    <p:sldId id="272" r:id="rId22"/>
    <p:sldId id="273" r:id="rId23"/>
    <p:sldId id="294" r:id="rId24"/>
    <p:sldId id="274" r:id="rId25"/>
    <p:sldId id="275" r:id="rId26"/>
    <p:sldId id="276" r:id="rId27"/>
    <p:sldId id="295" r:id="rId28"/>
    <p:sldId id="296" r:id="rId29"/>
    <p:sldId id="297" r:id="rId30"/>
    <p:sldId id="277" r:id="rId31"/>
    <p:sldId id="298" r:id="rId32"/>
    <p:sldId id="300" r:id="rId33"/>
    <p:sldId id="278" r:id="rId34"/>
    <p:sldId id="299" r:id="rId35"/>
    <p:sldId id="284" r:id="rId36"/>
    <p:sldId id="285" r:id="rId37"/>
    <p:sldId id="286" r:id="rId38"/>
    <p:sldId id="287" r:id="rId39"/>
    <p:sldId id="288" r:id="rId40"/>
    <p:sldId id="28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83" autoAdjust="0"/>
  </p:normalViewPr>
  <p:slideViewPr>
    <p:cSldViewPr snapToGrid="0">
      <p:cViewPr varScale="1">
        <p:scale>
          <a:sx n="64" d="100"/>
          <a:sy n="64" d="100"/>
        </p:scale>
        <p:origin x="13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PR-AUC</c:v>
          </c:tx>
          <c:spPr>
            <a:solidFill>
              <a:srgbClr val="36588C"/>
            </a:solidFill>
            <a:ln>
              <a:noFill/>
            </a:ln>
          </c:spPr>
          <c:invertIfNegative val="1"/>
          <c:dLbls>
            <c:numFmt formatCode="0.000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'Sheet1'!$B$2:$B$6</c:f>
              <c:numCache>
                <c:formatCode>General</c:formatCode>
                <c:ptCount val="5"/>
                <c:pt idx="0">
                  <c:v>0.4451</c:v>
                </c:pt>
                <c:pt idx="1">
                  <c:v>0.55230000000000001</c:v>
                </c:pt>
                <c:pt idx="2">
                  <c:v>0.80500000000000005</c:v>
                </c:pt>
                <c:pt idx="3">
                  <c:v>0.9153</c:v>
                </c:pt>
                <c:pt idx="4">
                  <c:v>0.94830000000000003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89B-4763-9187-A4EB114318B8}"/>
            </c:ext>
          </c:extLst>
        </c:ser>
        <c:ser>
          <c:idx val="1"/>
          <c:order val="1"/>
          <c:tx>
            <c:v>F2</c:v>
          </c:tx>
          <c:spPr>
            <a:solidFill>
              <a:srgbClr val="257656"/>
            </a:solidFill>
            <a:ln>
              <a:noFill/>
            </a:ln>
          </c:spPr>
          <c:invertIfNegative val="1"/>
          <c:dLbls>
            <c:numFmt formatCode="0.000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'Sheet1'!$C$2:$C$6</c:f>
              <c:numCache>
                <c:formatCode>General</c:formatCode>
                <c:ptCount val="5"/>
                <c:pt idx="0">
                  <c:v>0.63080000000000003</c:v>
                </c:pt>
                <c:pt idx="1">
                  <c:v>0.66549999999999998</c:v>
                </c:pt>
                <c:pt idx="2">
                  <c:v>0.79830000000000001</c:v>
                </c:pt>
                <c:pt idx="3">
                  <c:v>0.86129999999999995</c:v>
                </c:pt>
                <c:pt idx="4">
                  <c:v>0.84289999999999998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89B-4763-9187-A4EB114318B8}"/>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1"/>
          <c:min val="0"/>
        </c:scaling>
        <c:delete val="0"/>
        <c:axPos val="l"/>
        <c:majorGridlines>
          <c:spPr>
            <a:ln w="6350">
              <a:solidFill>
                <a:srgbClr val="E5E8ED"/>
              </a:solidFill>
            </a:ln>
          </c:spPr>
        </c:majorGridlines>
        <c:numFmt formatCode="0.0" sourceLinked="0"/>
        <c:majorTickMark val="none"/>
        <c:minorTickMark val="none"/>
        <c:tickLblPos val="nextTo"/>
        <c:txPr>
          <a:bodyPr/>
          <a:lstStyle/>
          <a:p>
            <a:pPr>
              <a:defRPr sz="1600">
                <a:latin typeface="Calibri"/>
              </a:defRPr>
            </a:pPr>
            <a:endParaRPr lang="en-US"/>
          </a:p>
        </c:txPr>
        <c:crossAx val="10"/>
        <c:crosses val="autoZero"/>
        <c:crossBetween val="between"/>
        <c:majorUnit val="0.2"/>
      </c:valAx>
    </c:plotArea>
    <c:legend>
      <c:legendPos val="b"/>
      <c:overlay val="0"/>
      <c:txPr>
        <a:bodyPr/>
        <a:lstStyle/>
        <a:p>
          <a:pPr>
            <a:defRPr sz="1700">
              <a:latin typeface="Calibri"/>
            </a:defRPr>
          </a:pPr>
          <a:endParaRPr lang="en-US"/>
        </a:p>
      </c:txPr>
    </c:legend>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Recall</c:v>
          </c:tx>
          <c:spPr>
            <a:solidFill>
              <a:srgbClr val="257656"/>
            </a:solidFill>
            <a:ln>
              <a:noFill/>
            </a:ln>
          </c:spPr>
          <c:invertIfNegative val="1"/>
          <c:dLbls>
            <c:numFmt formatCode="0.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'Sheet1'!$B$2:$B$6</c:f>
              <c:numCache>
                <c:formatCode>General</c:formatCode>
                <c:ptCount val="5"/>
                <c:pt idx="0">
                  <c:v>0.61360000000000003</c:v>
                </c:pt>
                <c:pt idx="1">
                  <c:v>0.88639999999999997</c:v>
                </c:pt>
                <c:pt idx="2">
                  <c:v>0.86360000000000003</c:v>
                </c:pt>
                <c:pt idx="3">
                  <c:v>0.93179999999999996</c:v>
                </c:pt>
                <c:pt idx="4">
                  <c:v>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D8C1-4A93-B8C9-2EFF4B82BC43}"/>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1"/>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0.2"/>
      </c:valAx>
    </c:plotArea>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Missed positives (FN)</c:v>
          </c:tx>
          <c:spPr>
            <a:solidFill>
              <a:srgbClr val="D59A16"/>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'Sheet1'!$B$2:$B$6</c:f>
              <c:numCache>
                <c:formatCode>General</c:formatCode>
                <c:ptCount val="5"/>
                <c:pt idx="0">
                  <c:v>17</c:v>
                </c:pt>
                <c:pt idx="1">
                  <c:v>5</c:v>
                </c:pt>
                <c:pt idx="2">
                  <c:v>6</c:v>
                </c:pt>
                <c:pt idx="3">
                  <c:v>3</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627-43F6-BFA4-4D52BE2C6397}"/>
            </c:ext>
          </c:extLst>
        </c:ser>
        <c:ser>
          <c:idx val="1"/>
          <c:order val="1"/>
          <c:tx>
            <c:v>False alerts (FP)</c:v>
          </c:tx>
          <c:spPr>
            <a:solidFill>
              <a:srgbClr val="36588C"/>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'Sheet1'!$C$2:$C$6</c:f>
              <c:numCache>
                <c:formatCode>General</c:formatCode>
                <c:ptCount val="5"/>
                <c:pt idx="0">
                  <c:v>11</c:v>
                </c:pt>
                <c:pt idx="1">
                  <c:v>78</c:v>
                </c:pt>
                <c:pt idx="2">
                  <c:v>24</c:v>
                </c:pt>
                <c:pt idx="3">
                  <c:v>21</c:v>
                </c:pt>
                <c:pt idx="4">
                  <c:v>41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627-43F6-BFA4-4D52BE2C6397}"/>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25"/>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5"/>
      </c:valAx>
    </c:plotArea>
    <c:legend>
      <c:legendPos val="b"/>
      <c:overlay val="0"/>
      <c:txPr>
        <a:bodyPr/>
        <a:lstStyle/>
        <a:p>
          <a:pPr>
            <a:defRPr sz="1700">
              <a:latin typeface="Calibri"/>
            </a:defRPr>
          </a:pPr>
          <a:endParaRPr lang="en-US"/>
        </a:p>
      </c:txPr>
    </c:legend>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Conversation length in turns</c:v>
          </c:tx>
          <c:spPr>
            <a:solidFill>
              <a:srgbClr val="D59A16"/>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Missed case 1</c:v>
                </c:pt>
                <c:pt idx="1">
                  <c:v>Missed case 2</c:v>
                </c:pt>
                <c:pt idx="2">
                  <c:v>Missed case 3</c:v>
                </c:pt>
              </c:strCache>
            </c:strRef>
          </c:cat>
          <c:val>
            <c:numRef>
              <c:f>'Sheet1'!$B$2:$B$4</c:f>
              <c:numCache>
                <c:formatCode>General</c:formatCode>
                <c:ptCount val="3"/>
                <c:pt idx="0">
                  <c:v>2</c:v>
                </c:pt>
                <c:pt idx="1">
                  <c:v>11</c:v>
                </c:pt>
                <c:pt idx="2">
                  <c:v>26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18A-4E32-8547-033A8D737AD2}"/>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40"/>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10"/>
      </c:valAx>
    </c:plotArea>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Good day. GroomShield combines contextual DistilBERT scores with a sequence model that follows how evidence develops across a conversation. We evaluate whether that design identifies more positive conversations than keyword and static-score methods, then show the local processing cost of both LSTM variants.</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team is Andrei Torres, Don Idos, Justin Arroco, and Michael Maala, with Manuel Calimlim Jr. as our project adviser.
Source: Original presentation team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problem begins with how conversations develop. A single turn may provide very little information. Our study examines whether recent context and the longer sequence together improve the evidence available to a moderator.</a:t>
            </a:r>
          </a:p>
          <a:p>
            <a:endParaRPr lang="en-US">
              <a:latin typeface="Calibri" panose="020F0502020204030204" pitchFamily="34" charset="0"/>
            </a:endParaRPr>
          </a:p>
          <a:p>
            <a:r>
              <a:rPr lang="en-US">
                <a:latin typeface="Calibri" panose="020F0502020204030204" pitchFamily="34" charset="0"/>
              </a:rPr>
              <a:t>Sources: thesis_docs/Finals_Revised_Paper_WASD.md, Section 1.1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Keyword filters remain useful for explicit language. The difficulty is that a conversation can develop through ordinary wording, indirect requests, or changing interaction patterns. Reports also depend on someone recognizing a problem. This motivated us to develop an additional module that examines context and the conversation sequence.</a:t>
            </a:r>
          </a:p>
          <a:p>
            <a:endParaRPr lang="en-US">
              <a:latin typeface="Calibri" panose="020F0502020204030204" pitchFamily="34" charset="0"/>
            </a:endParaRPr>
          </a:p>
          <a:p>
            <a:r>
              <a:rPr lang="en-US">
                <a:latin typeface="Calibri" panose="020F0502020204030204" pitchFamily="34" charset="0"/>
              </a:rPr>
              <a:t>Sources: thesis_docs/Finals_Revised_Paper_WASD.md, Section 1.1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Our research asks whether a system that follows the development of a conversation can identify more positive cases than static methods. We built the architecture to address that problem, then selected a dataset with ordered conversations and persistent speaker identifiers to evaluate it.</a:t>
            </a:r>
          </a:p>
          <a:p>
            <a:endParaRPr lang="en-US" dirty="0">
              <a:latin typeface="Calibri" panose="020F0502020204030204" pitchFamily="34" charset="0"/>
            </a:endParaRPr>
          </a:p>
          <a:p>
            <a:r>
              <a:rPr lang="en-US" dirty="0">
                <a:latin typeface="Calibri" panose="020F0502020204030204" pitchFamily="34" charset="0"/>
              </a:rPr>
              <a:t>Sources: </a:t>
            </a:r>
            <a:r>
              <a:rPr lang="en-US" dirty="0" err="1">
                <a:latin typeface="Calibri" panose="020F0502020204030204" pitchFamily="34" charset="0"/>
              </a:rPr>
              <a:t>thesis_docs</a:t>
            </a:r>
            <a:r>
              <a:rPr lang="en-US" dirty="0">
                <a:latin typeface="Calibri" panose="020F0502020204030204" pitchFamily="34" charset="0"/>
              </a:rPr>
              <a:t>/Finals_Revised_Paper_WASD.md, Section 1.2</a:t>
            </a:r>
            <a:endParaRPr dirty="0">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These slide questions summarize the unchanged research questions in the paper. The first two examine existing moderation and its limits. The third concerns the architecture we developed. The fourth asks whether the completed system improves recall and reduces missed cases. Recall means the fraction of positive conversations that the model identifies.</a:t>
            </a:r>
          </a:p>
          <a:p>
            <a:endParaRPr lang="en-US">
              <a:latin typeface="Calibri" panose="020F0502020204030204" pitchFamily="34" charset="0"/>
            </a:endParaRPr>
          </a:p>
          <a:p>
            <a:r>
              <a:rPr lang="en-US">
                <a:latin typeface="Calibri" panose="020F0502020204030204" pitchFamily="34" charset="0"/>
              </a:rPr>
              <a:t>Sources: thesis_docs/Finals_Revised_Paper_WASD.md, Section 1.2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objectives remain the ones approved for the study. We evaluate conventional approaches, develop a module using context and behavioral patterns, and assess the improvement in detection. The next two slides show the alignment between these objectives, our methods, and the resulting evidence. The slide wording is abbreviated for presentation.</a:t>
            </a:r>
          </a:p>
          <a:p>
            <a:endParaRPr lang="en-US">
              <a:latin typeface="Calibri" panose="020F0502020204030204" pitchFamily="34" charset="0"/>
            </a:endParaRPr>
          </a:p>
          <a:p>
            <a:r>
              <a:rPr lang="en-US">
                <a:latin typeface="Calibri" panose="020F0502020204030204" pitchFamily="34" charset="0"/>
              </a:rPr>
              <a:t>Sources: thesis_docs/Finals_Revised_Paper_WASD.md, Section 1.3</a:t>
            </a:r>
          </a:p>
          <a:p>
            <a:endParaRPr lang="en-US">
              <a:latin typeface="Calibri" panose="020F0502020204030204" pitchFamily="34" charset="0"/>
            </a:endParaRPr>
          </a:p>
          <a:p>
            <a:r>
              <a:rPr lang="en-US">
                <a:latin typeface="Calibri" panose="020F0502020204030204" pitchFamily="34" charset="0"/>
              </a:rPr>
              <a:t>Exact approved wording:</a:t>
            </a:r>
          </a:p>
          <a:p>
            <a:r>
              <a:rPr lang="en-US">
                <a:latin typeface="Calibri" panose="020F0502020204030204" pitchFamily="34" charset="0"/>
              </a:rPr>
              <a:t>## 1.3 Objectives of the Study
__General Objective:__ Develop an AI-powered moderation module that enhances existing chat moderation systems by incorporating behavioral pattern analysis and contextual understanding to detect grooming-related interactions in chat environments.
- __Specific Objective:__
	1. Evaluate the limitations and effectiveness of existing keyword-based and rule-based chat moderation systems in handling context-dependent communication.
	2. Design and develop an AI-based chat moderation module that applies machine learning and NLP techniques to analyze behavioral patterns and conversational context across multiple chat interactions.
	3. Assess the improvement in detection performance of the proposed AI-driven module, specifically focusing on the reduction of false negatives compared to traditional keyword-based and report-driven approaches.
</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This is the first half of the alignment table, shortened to keep one clear entry in each cell. Research Questions 1 and 2 both support Objective 1. We assessed the keyword rule on the same test conversations as the other methods. It identified 27 of 44 positives and missed 17. We also tested maximum Layer 1 aggregation, which uses the highest contextual score in a conversation. Comparing these methods with the LSTM establishes where the sequence model improves over static aggregation. We did not run a separate experiment against an operational user-report system.</a:t>
            </a:r>
          </a:p>
          <a:p>
            <a:endParaRPr lang="en-US">
              <a:latin typeface="Calibri" panose="020F0502020204030204" pitchFamily="34" charset="0"/>
            </a:endParaRPr>
          </a:p>
          <a:p>
            <a:r>
              <a:rPr lang="en-US">
                <a:latin typeface="Calibri" panose="020F0502020204030204" pitchFamily="34" charset="0"/>
              </a:rPr>
              <a:t>Sources: Alignment Table.docx, rows 1-2;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For Objective 2, we built the contextual and sequence module with a working review interface. For Objective 3, the Trajectory-Feature LSTM found 41 of 44 positive test conversations. That is 93.18 percent recall and three misses, compared with six misses for the weighted scorer. These F2-policy results use validation-selected cutoffs on preserved test scores.</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system has two learned layers. DistilBERT processes the current turn with up to two preceding turns. We then track seven features across the conversation. The LSTM combines that sequence into a conversation score. The practical output is a priority for human review. The moderator interprets the content and decides what action is appropriate.</a:t>
            </a:r>
          </a:p>
          <a:p>
            <a:endParaRPr lang="en-US">
              <a:latin typeface="Calibri" panose="020F0502020204030204" pitchFamily="34" charset="0"/>
            </a:endParaRPr>
          </a:p>
          <a:p>
            <a:r>
              <a:rPr lang="en-US">
                <a:latin typeface="Calibri" panose="020F0502020204030204" pitchFamily="34" charset="0"/>
              </a:rPr>
              <a:t>Sources: thesis_docs/Finals_Revised_Paper_WASD.md, Sections 3.1 and 3.4</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PAN-2012 met the study's need for a large collection of ordered conversations and stable speaker identifiers. For the evaluated outcome, a positive conversation contains at least one author on the official predator list. Layer 1 learns from author-derived supervision, and Layer 2 learns the conversation label. A turn-level score is an intermediate signal, so we do not interpret it as an independently verified grooming label for that message. This gives every comparison the same measurable conversation outcome.</a:t>
            </a:r>
          </a:p>
          <a:p>
            <a:endParaRPr lang="en-US">
              <a:latin typeface="Calibri" panose="020F0502020204030204" pitchFamily="34" charset="0"/>
            </a:endParaRPr>
          </a:p>
          <a:p>
            <a:r>
              <a:rPr lang="en-US">
                <a:latin typeface="Calibri" panose="020F0502020204030204" pitchFamily="34" charset="0"/>
              </a:rPr>
              <a:t>Sources: thesis_docs/Finals_Revised_Paper_WASD.md, Sections 1.4 and 3.3.1; thesis_docs/CHAPTER_IV_RESULTS_AND_DISCUSSION.md, Section 4.1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contribution is a complete contextual and behavioral architecture with a controlled comparison. It delivers a working review interface and evidence that learned aggregation improves detection over static use of the same inputs. For a moderation workflow, both kinds of errors matter: missed positive conversations and false alerts that consume review time.</a:t>
            </a:r>
          </a:p>
          <a:p>
            <a:endParaRPr lang="en-US">
              <a:latin typeface="Calibri" panose="020F0502020204030204" pitchFamily="34" charset="0"/>
            </a:endParaRPr>
          </a:p>
          <a:p>
            <a:r>
              <a:rPr lang="en-US">
                <a:latin typeface="Calibri" panose="020F0502020204030204" pitchFamily="34" charset="0"/>
              </a:rPr>
              <a:t>Sources: thesis_docs/Finals_Revised_Paper_WASD.md, Section 1.5; thesis_docs/CHAPTER_IV_RESULTS_AND_DISCUSSION.md, Section 4.7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literature supports two parts of our design: understanding language in context and following how interaction develops over time. The theory section explains why a sequence representation is appropriate.</a:t>
            </a:r>
          </a:p>
          <a:p>
            <a:endParaRPr lang="en-US">
              <a:latin typeface="Calibri" panose="020F0502020204030204" pitchFamily="34" charset="0"/>
            </a:endParaRPr>
          </a:p>
          <a:p>
            <a:r>
              <a:rPr lang="en-US">
                <a:latin typeface="Calibri" panose="020F0502020204030204" pitchFamily="34" charset="0"/>
              </a:rPr>
              <a:t>Sources: thesis_docs/Finals_Revised_Paper_WASD.md, Chapter II</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panose="020F0502020204030204" pitchFamily="34" charset="0"/>
              </a:rPr>
              <a:t>Transformers help represent the current wording together with recent context. The LSTM addresses a different scale: how the evidence changes across the conversation. We evaluate their combination through the completed two-layer module.</a:t>
            </a:r>
          </a:p>
          <a:p>
            <a:endParaRPr lang="en-US" b="1">
              <a:latin typeface="Calibri" panose="020F0502020204030204" pitchFamily="34" charset="0"/>
            </a:endParaRPr>
          </a:p>
          <a:p>
            <a:r>
              <a:rPr lang="en-US" b="1">
                <a:latin typeface="Calibri" panose="020F0502020204030204" pitchFamily="34" charset="0"/>
              </a:rPr>
              <a:t>Sources: thesis_docs/Finals_Revised_Paper_WASD.md, Sections 2.1-2.3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panose="020F0502020204030204" pitchFamily="34" charset="0"/>
              </a:rPr>
              <a:t>Our theoretical basis is the Online Grooming Discourse Model, or OGDM. It describes interrelated conversational processes that can recur or overlap rather than always following one fixed order. That motivates tracking how evidence persists and changes across turns. We then selected PAN-2012 as the evaluation dataset because it provides the chronology and participant identifiers needed for this design.</a:t>
            </a:r>
          </a:p>
          <a:p>
            <a:endParaRPr lang="en-US" b="1">
              <a:latin typeface="Calibri" panose="020F0502020204030204" pitchFamily="34" charset="0"/>
            </a:endParaRPr>
          </a:p>
          <a:p>
            <a:r>
              <a:rPr lang="en-US" b="1">
                <a:latin typeface="Calibri" panose="020F0502020204030204" pitchFamily="34" charset="0"/>
              </a:rPr>
              <a:t>Sources: thesis_docs/Finals_Revised_Paper_WASD.md, Section 2.3 and references [11], [13]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This table connects theory to computation. Peak and current scores, together with spike count, represent persistence and accumulation of contextual evidence. Rate of change and spike-then-drop represent increases and retreats. Topic distance measures movement away from a reference built from negative training conversations. Turn-taking imbalance summarizes participation within the pair. These are indicators motivated by the theory. We have not independently annotated them as OGDM stages, and the experiment does not establish the individual causal contribution of each feature.</a:t>
            </a:r>
          </a:p>
          <a:p>
            <a:endParaRPr lang="en-US">
              <a:latin typeface="Calibri" panose="020F0502020204030204" pitchFamily="34" charset="0"/>
            </a:endParaRPr>
          </a:p>
          <a:p>
            <a:r>
              <a:rPr lang="en-US">
                <a:latin typeface="Calibri" panose="020F0502020204030204" pitchFamily="34" charset="0"/>
              </a:rPr>
              <a:t>Sources: thesis_docs/Finals_Revised_Paper_WASD.md, Sections 2.3 and 3.3.4; thesis_docs/CHAPTER_IV_RESULTS_AND_DISCUSSION.md, Section 4.5</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I will now explain the model architecture, how we separated the data, and how we selected the operating threshold before the final test.</a:t>
            </a:r>
          </a:p>
          <a:p>
            <a:endParaRPr lang="en-US">
              <a:latin typeface="Calibri" panose="020F0502020204030204" pitchFamily="34" charset="0"/>
            </a:endParaRPr>
          </a:p>
          <a:p>
            <a:r>
              <a:rPr lang="en-US">
                <a:latin typeface="Calibri" panose="020F0502020204030204" pitchFamily="34" charset="0"/>
              </a:rPr>
              <a:t>Sources: thesis_docs/Finals_Revised_Paper_WASD.md, Chapter III</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Read the diagram from left to right. The current turn and up to two preceding turns enter the fine-tuned DistilBERT classifier. Its output is an author-derived contextual proxy score. A separate fixed base encoder represents the current turn for topic-distance calculation against the benign training reference. The pipeline combines those signals with speaker-turn information into seven features. The LSTM processes the ordered feature sequence and outputs a conversation score. A threshold selected on validation determines which conversations receive a flag for human review. The Trajectory-Feature LSTM has seven inputs per turn. The embedding-and-feature variant additionally feeds 768 embedding values into its recurrent model.</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thesis_docs/Finals_Revised_Paper_WASD.md, Sections 3.3.2-3.4.2; thesis_docs/assets/AI_Model_Architecture_Diagram.svg</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connected-author split prevents participant overlap across partitions. Training builds learned and derived resources; validation selects checkpoints and operating cutoffs. The original test used F0.5 cutoffs. After adopting F2, we applied cutoffs selected only from validation to the preserved test scores. No retraining or new final-test inference occurred.</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Suppose one conversation contains authors A and B, and another contains B and C. The shared author B connects the conversations, so both stay in the same partition. The same rule applies to every connected group, including indirect connections. Otherwise the model could benefit from recognizing recurring participants or their language during testing. We verified zero overlap of conversations, authors, and connected components. The bootstrap analysis resamples these whole groups for the same reason: conversations linked by an author should not be treated as independent observations.</a:t>
            </a:r>
          </a:p>
          <a:p>
            <a:endParaRPr lang="en-US">
              <a:latin typeface="Calibri" panose="020F0502020204030204" pitchFamily="34" charset="0"/>
            </a:endParaRPr>
          </a:p>
          <a:p>
            <a:r>
              <a:rPr lang="en-US">
                <a:latin typeface="Calibri" panose="020F0502020204030204" pitchFamily="34" charset="0"/>
              </a:rPr>
              <a:t>Sources: thesis_docs/Finals_Revised_Paper_WASD.md, Sections 3.3.3 and 3.5.2; thesis_docs/CHAPTER_IV_RESULTS_AND_DISCUSSION.md, Section 4.1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central comparison uses the same seven trajectory features. The weighted scorer combines them statically, while the LSTM learns a recurrent sequence model. This evaluates the selected aggregation methods with matched inputs. Keyword matching and maximum Layer 1 aggregation provide additional baselines. We report the Embedding-and-Feature LSTM separately because it also receives 768 embedding values. Feature-removal and ordering ablations would be needed to isolate individual design contributions.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thesis_docs/Finals_Revised_Paper_WASD.md, Section 3.4.3; thesis_docs/CHAPTER_IV_RESULTS_AND_DISCUSSION.md, Sections 4.2-4.5</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test set contains 44 positives among 1,862 conversations. We therefore report both rates and actual error counts. PR-AUC summarizes the ranking. Recall says how many positives we caught; precision says how many alerts were positive. F2 gives more weight to recall without ignoring precision. The manuscript reports component-grouped uncertainty intervals.</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F2 fits this screening task because missing a positive conversation matters more to the chosen operating objective, while false alerts still count. We selected each model cutoff on the separate validation partition, then applied it to preserved test scores. The Trajectory-Feature LSTM found 41 of 44 positives, with 21 false alerts. F2 changed decisions, not model weights or checkpoint choice. This is a revised-policy analysis of an already evaluated test set.</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next table and graphs show the F2-policy analysis of preserved test scores. They are not a second untouched test. A separate synthetic local benchmark measures latency for each LSTM through the HTTP demo path.</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connected-author partitions contain 13,031 training, 1,827 validation, and 1,862 test conversations. The 44 positive test conversations are the denominator for recall. After the original evaluation, the F2 policy was selected on validation and applied to saved test scores. The original artifacts remain preserved.</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Trajectory-Feature LSTM found 41 of 44 positives, with F2 of 0.8613, precision 0.6613, and recall 0.9318. The Embedding-and-Feature LSTM found all 44, with 41 false alerts and lower precision. The Trajectory-Feature LSTM has the highest F2 point estimate. The main architecture comparison is with the weighted scorer because both use the same seven features. These are F2 cutoffs applied to saved test scores.</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bars compare PR-AUC and F2. The Trajectory-Feature LSTM has the highest F2 point estimate; the embedding-and-feature model has the highest PR-AUC point estimate. The weighted scorer is the matched-input comparison for the Trajectory-Feature LSTM. The paper contains the paired intervals behind these point estimates.</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Recall asks what share of positive conversations we found. The Trajectory-Feature LSTM found 41 of 44, versus 27 for keyword matching, 39 for maximum Layer 1, and 38 for weighted scoring. The embedding-and-feature model found all 44, at a greater false-alert cost. These are final-conversation decisions, not grooming-onset measurements.</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Trajectory-Feature LSTM cut the weighted scorer's six missed positives to three and its 24 false alerts to 21. Relative to the keyword rule, missed positives fell from 17 to three. Maximum Layer 1 caught many positives but generated 78 false alerts. The Embedding-and-Feature LSTM missed none of the 44 test positives, while generating 41 false alerts. These counts show the recall-precision tradeoff directly.</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Within 2,000 paired bootstrap resamples of connected-author groups, Trajectory-Feature LSTM minus weighted scorer was +0.1103 PR-AUC and +0.0630 F2. Both 95 percent intervals were above zero. This supports the advantage of the selected recurrent aggregator over the static combination of the same seven inputs. The separate recall-difference interval included zero, so we do not claim that recall difference as independently established.</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three positives missed by the Trajectory-Feature LSTM were 2, 11, and 26 turns long. Each was shorter than the 36-turn first quartile of correctly detected positives, whose median was 61 turns. This makes short-history testing a focused next step, but length does not prove the cause of a miss or establish when grooming began.</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We benchmarked each LSTM through the local HTTP demo path, including DistilBERT processing, feature computation, redaction, and JSON response. Forty timed requests at each of 1, 4, 8, and 16 turns give 160 per model. In the equal-length mix, the trajectory-feature median was 267 milliseconds, p95 709, p99 830, and throughput 3.39 sequential requests per second. The Embedding-and-Feature LSTM was 246, 718, 1,058, and 3.32. Both variants reused the same upstream path. These are synthetic local CPU timings, not a real-time production guarantee. At 16 turns, median latency was about 0.6 second for each.</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These conclusions answer the approved objectives. We measured limitations of the tested static approaches, built the complete contextual and behavioral module, and improved the observed conversation-level detection tradeoff. The Trajectory-Feature LSTM found 41 positives and missed three, compared with six misses for weighted scoring. Human review remains part of the intended workflow.</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local CPU benchmark answers part of the panel latency question, but production use needs representative traffic, longer chats, concurrent requests, deployment hardware, memory testing, and moderator outcomes. We also need external data reflecting current communication and separately reviewed onset annotations to study early detection. Caching or incremental computation could reduce repeated prefix processing.</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GroomShield provides two tested sequence variants. The Trajectory-Feature LSTM found 41 of 44 positives with 21 false alerts. The Embedding-and-Feature LSTM found all 44 with 41 false alerts. Its extra coverage makes it a useful recall-first option, while the trajectory variant has higher precision and a slightly higher F2 point estimate. The benchmark does not show one variant is faster overall. Thank you.</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1" name="Picture 11"/>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141889" y="5257800"/>
            <a:ext cx="3730228" cy="1598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092" y="261292"/>
            <a:ext cx="2018121" cy="1078777"/>
          </a:xfrm>
          <a:prstGeom prst="rect">
            <a:avLst/>
          </a:prstGeom>
        </p:spPr>
      </p:pic>
      <p:pic>
        <p:nvPicPr>
          <p:cNvPr id="28" name="Graphic 1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5311" y="3976038"/>
            <a:ext cx="1680181" cy="1760189"/>
          </a:xfrm>
          <a:prstGeom prst="rect">
            <a:avLst/>
          </a:prstGeom>
        </p:spPr>
      </p:pic>
      <p:pic>
        <p:nvPicPr>
          <p:cNvPr id="29" name="Picture 18"/>
          <p:cNvPicPr>
            <a:picLocks noChangeAspect="1"/>
          </p:cNvPicPr>
          <p:nvPr/>
        </p:nvPicPr>
        <p:blipFill>
          <a:blip r:embed="rId5"/>
          <a:stretch>
            <a:fillRect/>
          </a:stretch>
        </p:blipFill>
        <p:spPr>
          <a:xfrm>
            <a:off x="916741" y="5793265"/>
            <a:ext cx="2193834" cy="7936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0" name="Picture 14"/>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4160312" y="337011"/>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6" name="Graphic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0312" y="337011"/>
            <a:ext cx="647700" cy="1295400"/>
          </a:xfrm>
          <a:prstGeom prst="rect">
            <a:avLst/>
          </a:prstGeom>
        </p:spPr>
      </p:pic>
      <p:pic>
        <p:nvPicPr>
          <p:cNvPr id="27" name="Graphic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092" y="261292"/>
            <a:ext cx="2018121" cy="10787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9B8A-7AB0-01A2-A126-A218F7CD2D94}"/>
              </a:ext>
            </a:extLst>
          </p:cNvPr>
          <p:cNvSpPr>
            <a:spLocks noGrp="1"/>
          </p:cNvSpPr>
          <p:nvPr>
            <p:ph type="title"/>
          </p:nvPr>
        </p:nvSpPr>
        <p:spPr>
          <a:xfrm>
            <a:off x="838200" y="365125"/>
            <a:ext cx="9781489" cy="1325563"/>
          </a:xfrm>
        </p:spPr>
        <p:txBody>
          <a:bodyPr/>
          <a:lstStyle/>
          <a:p>
            <a:r>
              <a:t>Click to edit Master title style</a:t>
            </a:r>
          </a:p>
        </p:txBody>
      </p:sp>
      <p:sp>
        <p:nvSpPr>
          <p:cNvPr id="3" name="Content Placeholder 2">
            <a:extLst>
              <a:ext uri="{FF2B5EF4-FFF2-40B4-BE49-F238E27FC236}">
                <a16:creationId xmlns:a16="http://schemas.microsoft.com/office/drawing/2014/main" id="{E2AF2D31-8C3D-DD6A-FF19-980A28830403}"/>
              </a:ext>
            </a:extLst>
          </p:cNvPr>
          <p:cNvSpPr>
            <a:spLocks noGrp="1"/>
          </p:cNvSpPr>
          <p:nvPr>
            <p:ph idx="1"/>
          </p:nvPr>
        </p:nvSpPr>
        <p:spPr>
          <a:xfrm>
            <a:off x="838200" y="1825625"/>
            <a:ext cx="978148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098455-C645-8AEB-AC43-0325DA4FAF77}"/>
              </a:ext>
            </a:extLst>
          </p:cNvPr>
          <p:cNvSpPr>
            <a:spLocks noGrp="1"/>
          </p:cNvSpPr>
          <p:nvPr>
            <p:ph type="dt" idx="10"/>
          </p:nvPr>
        </p:nvSpPr>
        <p:spPr/>
        <p:txBody>
          <a:bodyPr/>
          <a:lstStyle/>
          <a:p>
            <a:fld id="{5750368A-0602-41DA-8C72-F3668C4CC159}" type="datetimeFigureOut">
              <a:t>9/28/2026</a:t>
            </a:fld>
            <a:endParaRPr/>
          </a:p>
        </p:txBody>
      </p:sp>
      <p:sp>
        <p:nvSpPr>
          <p:cNvPr id="5" name="Footer Placeholder 4">
            <a:extLst>
              <a:ext uri="{FF2B5EF4-FFF2-40B4-BE49-F238E27FC236}">
                <a16:creationId xmlns:a16="http://schemas.microsoft.com/office/drawing/2014/main" id="{E7065D6F-F540-C08F-2265-B5D2D5CCF5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9F2013-7326-AAFC-EDFD-0E440ADDE41A}"/>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C6FA413D-DBF3-6C5E-11D0-8AD41C06F2E3}"/>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56153" y="153965"/>
            <a:ext cx="842573" cy="882695"/>
          </a:xfrm>
          <a:prstGeom prst="rect">
            <a:avLst/>
          </a:prstGeom>
        </p:spPr>
      </p:pic>
      <p:pic>
        <p:nvPicPr>
          <p:cNvPr id="18" name="Picture 11"/>
          <p:cNvPicPr>
            <a:picLocks noChangeAspect="1"/>
          </p:cNvPicPr>
          <p:nvPr/>
        </p:nvPicPr>
        <p:blipFill>
          <a:blip r:embed="rId3"/>
          <a:stretch>
            <a:fillRect/>
          </a:stretch>
        </p:blipFill>
        <p:spPr>
          <a:xfrm>
            <a:off x="10984081" y="1246733"/>
            <a:ext cx="1009241" cy="365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7" name="Picture 15"/>
          <p:cNvPicPr>
            <a:picLocks noChangeAspect="1"/>
          </p:cNvPicPr>
          <p:nvPr/>
        </p:nvPicPr>
        <p:blipFill>
          <a:blip r:embed="rId2"/>
          <a:stretch>
            <a:fillRect/>
          </a:stretch>
        </p:blipFill>
        <p:spPr>
          <a:xfrm>
            <a:off x="9836" y="0"/>
            <a:ext cx="12172328" cy="6858000"/>
          </a:xfrm>
          <a:prstGeom prst="rect">
            <a:avLst/>
          </a:prstGeom>
        </p:spPr>
      </p:pic>
      <p:sp>
        <p:nvSpPr>
          <p:cNvPr id="2" name="Title 1">
            <a:extLst>
              <a:ext uri="{FF2B5EF4-FFF2-40B4-BE49-F238E27FC236}">
                <a16:creationId xmlns:a16="http://schemas.microsoft.com/office/drawing/2014/main" id="{6308B091-CA0E-212E-D29C-ACABD2F8DDFB}"/>
              </a:ext>
            </a:extLst>
          </p:cNvPr>
          <p:cNvSpPr>
            <a:spLocks noGrp="1"/>
          </p:cNvSpPr>
          <p:nvPr>
            <p:ph type="title"/>
          </p:nvPr>
        </p:nvSpPr>
        <p:spPr>
          <a:xfrm>
            <a:off x="831850" y="3657550"/>
            <a:ext cx="10062122" cy="1284059"/>
          </a:xfrm>
        </p:spPr>
        <p:txBody>
          <a:bodyPr anchor="b"/>
          <a:lstStyle>
            <a:lvl1pPr>
              <a:buNone/>
              <a:defRPr sz="60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371A8C11-013C-7F67-5D2A-FB3AE080AD0D}"/>
              </a:ext>
            </a:extLst>
          </p:cNvPr>
          <p:cNvSpPr>
            <a:spLocks noGrp="1"/>
          </p:cNvSpPr>
          <p:nvPr>
            <p:ph type="body" idx="1"/>
          </p:nvPr>
        </p:nvSpPr>
        <p:spPr>
          <a:xfrm>
            <a:off x="831850" y="4968598"/>
            <a:ext cx="10062122" cy="843282"/>
          </a:xfrm>
        </p:spPr>
        <p:txBody>
          <a:bodyPr/>
          <a:lstStyle>
            <a:lvl1pPr marL="0" indent="0">
              <a:buNone/>
              <a:defRPr sz="24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40B097E-EB72-FBAD-1C85-21B5359E6DB1}"/>
              </a:ext>
            </a:extLst>
          </p:cNvPr>
          <p:cNvSpPr>
            <a:spLocks noGrp="1"/>
          </p:cNvSpPr>
          <p:nvPr>
            <p:ph type="dt" idx="10"/>
          </p:nvPr>
        </p:nvSpPr>
        <p:spPr/>
        <p:txBody>
          <a:bodyPr/>
          <a:lstStyle/>
          <a:p>
            <a:fld id="{5750368A-0602-41DA-8C72-F3668C4CC159}" type="datetimeFigureOut">
              <a:t>9/28/2026</a:t>
            </a:fld>
            <a:endParaRPr/>
          </a:p>
        </p:txBody>
      </p:sp>
      <p:sp>
        <p:nvSpPr>
          <p:cNvPr id="5" name="Footer Placeholder 4">
            <a:extLst>
              <a:ext uri="{FF2B5EF4-FFF2-40B4-BE49-F238E27FC236}">
                <a16:creationId xmlns:a16="http://schemas.microsoft.com/office/drawing/2014/main" id="{92E519E1-451E-47E7-BC93-7F69CEEB6A0B}"/>
              </a:ext>
            </a:extLst>
          </p:cNvPr>
          <p:cNvSpPr>
            <a:spLocks noGrp="1"/>
          </p:cNvSpPr>
          <p:nvPr>
            <p:ph type="ftr" idx="11"/>
          </p:nvPr>
        </p:nvSpPr>
        <p:spPr/>
        <p:txBody>
          <a:bodyPr/>
          <a:lstStyle/>
          <a:p>
            <a:endParaRPr/>
          </a:p>
        </p:txBody>
      </p:sp>
      <p:sp>
        <p:nvSpPr>
          <p:cNvPr id="13" name="Date Placeholder 3">
            <a:extLst>
              <a:ext uri="{FF2B5EF4-FFF2-40B4-BE49-F238E27FC236}">
                <a16:creationId xmlns:a16="http://schemas.microsoft.com/office/drawing/2014/main" id="{E6B67043-CB4F-0116-BB76-C70A70583552}"/>
              </a:ext>
            </a:extLst>
          </p:cNvPr>
          <p:cNvSpPr>
            <a:spLocks noGrp="1"/>
          </p:cNvSpPr>
          <p:nvPr/>
        </p:nvSpPr>
        <p:spPr>
          <a:xfrm>
            <a:off x="838200" y="6357212"/>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750368A-0602-41DA-8C72-F3668C4CC159}" type="datetimeFigureOut">
              <a:t>9/28/2026</a:t>
            </a:fld>
            <a:endParaRPr/>
          </a:p>
        </p:txBody>
      </p:sp>
      <p:sp>
        <p:nvSpPr>
          <p:cNvPr id="11" name="Rectangle 10">
            <a:extLst>
              <a:ext uri="{FF2B5EF4-FFF2-40B4-BE49-F238E27FC236}">
                <a16:creationId xmlns:a16="http://schemas.microsoft.com/office/drawing/2014/main" id="{D1544972-4926-2F64-D0DC-83BF6176CC0D}"/>
              </a:ext>
            </a:extLst>
          </p:cNvPr>
          <p:cNvSpPr>
            <a:spLocks noGrp="1"/>
          </p:cNvSpPr>
          <p:nvPr/>
        </p:nvSpPr>
        <p:spPr>
          <a:xfrm>
            <a:off x="11407448" y="5473373"/>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7448" y="5473373"/>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73253" y="261293"/>
            <a:ext cx="1292556" cy="6909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5681-F3A2-40A5-A9EA-7166B07C9EA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EB8B488-E7D3-935C-277F-C21ECB6D87A0}"/>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95AA6DE-DDA8-FF2B-FD76-96F4B00724E9}"/>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6C2EDAA-B6F0-BAE3-0023-77078903916A}"/>
              </a:ext>
            </a:extLst>
          </p:cNvPr>
          <p:cNvSpPr>
            <a:spLocks noGrp="1"/>
          </p:cNvSpPr>
          <p:nvPr>
            <p:ph type="dt" idx="10"/>
          </p:nvPr>
        </p:nvSpPr>
        <p:spPr/>
        <p:txBody>
          <a:bodyPr/>
          <a:lstStyle/>
          <a:p>
            <a:fld id="{5750368A-0602-41DA-8C72-F3668C4CC159}" type="datetimeFigureOut">
              <a:t>9/28/2026</a:t>
            </a:fld>
            <a:endParaRPr/>
          </a:p>
        </p:txBody>
      </p:sp>
      <p:sp>
        <p:nvSpPr>
          <p:cNvPr id="6" name="Footer Placeholder 5">
            <a:extLst>
              <a:ext uri="{FF2B5EF4-FFF2-40B4-BE49-F238E27FC236}">
                <a16:creationId xmlns:a16="http://schemas.microsoft.com/office/drawing/2014/main" id="{DC10A058-AA1A-CDC2-FF66-8D3A35F6DB4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489E0F8-44E2-4A76-2B57-8359A388CD9C}"/>
              </a:ext>
            </a:extLst>
          </p:cNvPr>
          <p:cNvSpPr>
            <a:spLocks noGrp="1"/>
          </p:cNvSpPr>
          <p:nvPr>
            <p:ph type="sldNum" idx="12"/>
          </p:nvPr>
        </p:nvSpPr>
        <p:spPr/>
        <p:txBody>
          <a:bodyPr/>
          <a:lstStyle/>
          <a:p>
            <a:fld id="{DEA345B2-507C-43D7-80BF-79F59DDCF0A3}" type="slidenum">
              <a:t>‹#›</a:t>
            </a:fld>
            <a:endParaRPr/>
          </a:p>
        </p:txBody>
      </p:sp>
      <p:sp>
        <p:nvSpPr>
          <p:cNvPr id="10" name="Rectangle 9">
            <a:extLst>
              <a:ext uri="{FF2B5EF4-FFF2-40B4-BE49-F238E27FC236}">
                <a16:creationId xmlns:a16="http://schemas.microsoft.com/office/drawing/2014/main" id="{4D025B53-CC35-C249-1081-E752796BE04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1"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79F0-5F10-E13F-AB63-76AC9A23EA8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58DFCF9-73B2-EF35-7501-7BE217954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6B7AC54-B991-35A0-F037-68B94E34451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28D6D34-BBA3-122B-A6D7-45A5E90F8C64}"/>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AFA6EFC-F0B8-F706-C203-A56328A24E13}"/>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FCEBC52-F71A-B504-62EF-9D7E439E71B0}"/>
              </a:ext>
            </a:extLst>
          </p:cNvPr>
          <p:cNvSpPr>
            <a:spLocks noGrp="1"/>
          </p:cNvSpPr>
          <p:nvPr>
            <p:ph type="dt" idx="10"/>
          </p:nvPr>
        </p:nvSpPr>
        <p:spPr/>
        <p:txBody>
          <a:bodyPr/>
          <a:lstStyle/>
          <a:p>
            <a:fld id="{5750368A-0602-41DA-8C72-F3668C4CC159}" type="datetimeFigureOut">
              <a:t>9/28/2026</a:t>
            </a:fld>
            <a:endParaRPr/>
          </a:p>
        </p:txBody>
      </p:sp>
      <p:sp>
        <p:nvSpPr>
          <p:cNvPr id="8" name="Footer Placeholder 7">
            <a:extLst>
              <a:ext uri="{FF2B5EF4-FFF2-40B4-BE49-F238E27FC236}">
                <a16:creationId xmlns:a16="http://schemas.microsoft.com/office/drawing/2014/main" id="{147BD498-27EC-05AD-4788-497CF407CA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6AD9F0F-FA93-6068-7489-31750FAC1EAC}"/>
              </a:ext>
            </a:extLst>
          </p:cNvPr>
          <p:cNvSpPr>
            <a:spLocks noGrp="1"/>
          </p:cNvSpPr>
          <p:nvPr>
            <p:ph type="sldNum" idx="12"/>
          </p:nvPr>
        </p:nvSpPr>
        <p:spPr/>
        <p:txBody>
          <a:bodyPr/>
          <a:lstStyle/>
          <a:p>
            <a:fld id="{DEA345B2-507C-43D7-80BF-79F59DDCF0A3}" type="slidenum">
              <a:t>‹#›</a:t>
            </a:fld>
            <a:endParaRPr/>
          </a:p>
        </p:txBody>
      </p:sp>
      <p:sp>
        <p:nvSpPr>
          <p:cNvPr id="12" name="Rectangle 11">
            <a:extLst>
              <a:ext uri="{FF2B5EF4-FFF2-40B4-BE49-F238E27FC236}">
                <a16:creationId xmlns:a16="http://schemas.microsoft.com/office/drawing/2014/main" id="{56B6D730-5CCC-3A0F-07C5-E177B23EB43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9776FB-D0A1-D9FE-95EC-7FC45484C5D7}"/>
              </a:ext>
            </a:extLst>
          </p:cNvPr>
          <p:cNvSpPr>
            <a:spLocks noGrp="1"/>
          </p:cNvSpPr>
          <p:nvPr/>
        </p:nvSpPr>
        <p:spPr>
          <a:xfrm>
            <a:off x="0" y="6721474"/>
            <a:ext cx="12191999" cy="1500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9/28/2026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9" name="Rectangle 8">
            <a:extLst>
              <a:ext uri="{FF2B5EF4-FFF2-40B4-BE49-F238E27FC236}">
                <a16:creationId xmlns:a16="http://schemas.microsoft.com/office/drawing/2014/main" id="{36BE3AD5-276B-966C-24E2-2E7C8C7B4B3B}"/>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1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9/28/2026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D11C6594-2F3D-BF1F-E328-BEF238877366}"/>
              </a:ext>
            </a:extLst>
          </p:cNvPr>
          <p:cNvSpPr>
            <a:spLocks noGrp="1"/>
          </p:cNvSpPr>
          <p:nvPr/>
        </p:nvSpPr>
        <p:spPr>
          <a:xfrm>
            <a:off x="12021015" y="0"/>
            <a:ext cx="170984"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6F2C923C-188F-78A4-9EBF-A50E775EE8BF}"/>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8FCBA4-BC60-BBA3-1928-200ADA4CB434}"/>
              </a:ext>
            </a:extLst>
          </p:cNvPr>
          <p:cNvSpPr>
            <a:spLocks noGrp="1"/>
          </p:cNvSpPr>
          <p:nvPr>
            <p:ph type="dt" idx="10"/>
          </p:nvPr>
        </p:nvSpPr>
        <p:spPr/>
        <p:txBody>
          <a:bodyPr/>
          <a:lstStyle/>
          <a:p>
            <a:fld id="{5750368A-0602-41DA-8C72-F3668C4CC159}" type="datetimeFigureOut">
              <a:t>9/28/2026</a:t>
            </a:fld>
            <a:endParaRPr/>
          </a:p>
        </p:txBody>
      </p:sp>
      <p:sp>
        <p:nvSpPr>
          <p:cNvPr id="3" name="Footer Placeholder 2">
            <a:extLst>
              <a:ext uri="{FF2B5EF4-FFF2-40B4-BE49-F238E27FC236}">
                <a16:creationId xmlns:a16="http://schemas.microsoft.com/office/drawing/2014/main" id="{FBF75781-DD6B-802C-A2A1-0C35279A16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1782606-1EA0-41A1-3BF0-BF1A775C445A}"/>
              </a:ext>
            </a:extLst>
          </p:cNvPr>
          <p:cNvSpPr>
            <a:spLocks noGrp="1"/>
          </p:cNvSpPr>
          <p:nvPr>
            <p:ph type="sldNum" idx="12"/>
          </p:nvPr>
        </p:nvSpPr>
        <p:spPr/>
        <p:txBody>
          <a:bodyPr/>
          <a:lstStyle/>
          <a:p>
            <a:fld id="{DEA345B2-507C-43D7-80BF-79F59DDCF0A3}" type="slidenum">
              <a:t>‹#›</a:t>
            </a:fld>
            <a:endParaRPr/>
          </a:p>
        </p:txBody>
      </p:sp>
      <p:sp>
        <p:nvSpPr>
          <p:cNvPr id="5" name="Rectangle 4">
            <a:extLst>
              <a:ext uri="{FF2B5EF4-FFF2-40B4-BE49-F238E27FC236}">
                <a16:creationId xmlns:a16="http://schemas.microsoft.com/office/drawing/2014/main" id="{CBC13CDF-943F-636D-D5DB-2FDBB1961722}"/>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00C19DF9-E21D-1085-1DFC-9FE4B99E53AD}"/>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 name="Graphic 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17"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ECBE-34FA-41CD-B39E-E682DB66CCF8}"/>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5407737-3DE7-D4A3-E002-F26143FB5EA5}"/>
              </a:ext>
            </a:extLst>
          </p:cNvPr>
          <p:cNvSpPr>
            <a:spLocks noGrp="1"/>
          </p:cNvSpPr>
          <p:nvPr>
            <p:ph idx="1"/>
          </p:nvPr>
        </p:nvSpPr>
        <p:spPr>
          <a:xfrm>
            <a:off x="5183188" y="1244600"/>
            <a:ext cx="6172200" cy="4616450"/>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7DDE05A-F981-052B-D9CA-2307E6582F2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2B4FF3B-390C-C8D3-3713-88461DB202A3}"/>
              </a:ext>
            </a:extLst>
          </p:cNvPr>
          <p:cNvSpPr>
            <a:spLocks noGrp="1"/>
          </p:cNvSpPr>
          <p:nvPr>
            <p:ph type="dt" idx="10"/>
          </p:nvPr>
        </p:nvSpPr>
        <p:spPr/>
        <p:txBody>
          <a:bodyPr/>
          <a:lstStyle/>
          <a:p>
            <a:fld id="{5750368A-0602-41DA-8C72-F3668C4CC159}" type="datetimeFigureOut">
              <a:t>9/28/2026</a:t>
            </a:fld>
            <a:endParaRPr/>
          </a:p>
        </p:txBody>
      </p:sp>
      <p:sp>
        <p:nvSpPr>
          <p:cNvPr id="6" name="Footer Placeholder 5">
            <a:extLst>
              <a:ext uri="{FF2B5EF4-FFF2-40B4-BE49-F238E27FC236}">
                <a16:creationId xmlns:a16="http://schemas.microsoft.com/office/drawing/2014/main" id="{508635E4-8B8B-231A-102E-E0EF2EE4228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6EB191B-A130-1FB5-D1C7-27E0B608ADBF}"/>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70DD950B-956C-0CC5-90DF-600294A61021}"/>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4E872611-7B62-0858-2F35-215FC7BEDC7C}"/>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5" name="Graphic 1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6"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73E5F-CFA9-31D3-ED26-1E57AC1EFA03}"/>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349FB75-59BA-B6B1-9EFA-B9D58E548B8E}"/>
              </a:ext>
            </a:extLst>
          </p:cNvPr>
          <p:cNvSpPr>
            <a:spLocks noGrp="1"/>
          </p:cNvSpPr>
          <p:nvPr>
            <p:ph type="pic" idx="1"/>
          </p:nvPr>
        </p:nvSpPr>
        <p:spPr>
          <a:xfrm>
            <a:off x="5183188" y="1219200"/>
            <a:ext cx="6172200" cy="4641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15C4119-4703-ABFE-3D93-76F1F254DF5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5208027-E9E1-AFE8-C2CF-267B0B717A63}"/>
              </a:ext>
            </a:extLst>
          </p:cNvPr>
          <p:cNvSpPr>
            <a:spLocks noGrp="1"/>
          </p:cNvSpPr>
          <p:nvPr>
            <p:ph type="dt" idx="10"/>
          </p:nvPr>
        </p:nvSpPr>
        <p:spPr/>
        <p:txBody>
          <a:bodyPr/>
          <a:lstStyle/>
          <a:p>
            <a:fld id="{5750368A-0602-41DA-8C72-F3668C4CC159}" type="datetimeFigureOut">
              <a:t>9/28/2026</a:t>
            </a:fld>
            <a:endParaRPr/>
          </a:p>
        </p:txBody>
      </p:sp>
      <p:sp>
        <p:nvSpPr>
          <p:cNvPr id="6" name="Footer Placeholder 5">
            <a:extLst>
              <a:ext uri="{FF2B5EF4-FFF2-40B4-BE49-F238E27FC236}">
                <a16:creationId xmlns:a16="http://schemas.microsoft.com/office/drawing/2014/main" id="{17FFCF05-D3BC-4D51-B7E1-EDFADA0E8FE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DD992EE-B08D-5105-202E-3F06215E82B9}"/>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66BB9E47-266A-449B-0690-EA113F897327}"/>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641E680E-9AE0-1F51-2218-98C4A676EA4E}"/>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2"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3"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FC79-23A1-4C75-E226-24FAA8769F6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CF9E1CF8-7906-6964-F94B-A82C18B6DC4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EF018C3-1F7A-68D9-F106-B3E9DF573BD4}"/>
              </a:ext>
            </a:extLst>
          </p:cNvPr>
          <p:cNvSpPr>
            <a:spLocks noGrp="1"/>
          </p:cNvSpPr>
          <p:nvPr>
            <p:ph type="dt" idx="10"/>
          </p:nvPr>
        </p:nvSpPr>
        <p:spPr/>
        <p:txBody>
          <a:bodyPr/>
          <a:lstStyle/>
          <a:p>
            <a:fld id="{5750368A-0602-41DA-8C72-F3668C4CC159}" type="datetimeFigureOut">
              <a:t>9/28/2026</a:t>
            </a:fld>
            <a:endParaRPr/>
          </a:p>
        </p:txBody>
      </p:sp>
      <p:sp>
        <p:nvSpPr>
          <p:cNvPr id="5" name="Footer Placeholder 4">
            <a:extLst>
              <a:ext uri="{FF2B5EF4-FFF2-40B4-BE49-F238E27FC236}">
                <a16:creationId xmlns:a16="http://schemas.microsoft.com/office/drawing/2014/main" id="{D75C044C-642A-B1F3-B761-AC4E930E04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F30CAD-B8A9-C9D6-2C4B-86E1BC5168AE}"/>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F067F39E-E68E-53C9-D0D5-DBD631643F9E}"/>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F1B0B79-95A6-CFCE-EFDD-FECD5A381C32}"/>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3DC65-B013-FE6E-EC24-75CE5E5821E6}"/>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3F5FF98-96D5-B94A-633D-AA80D7617E36}"/>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4A29F5-20EF-68ED-9A31-EF9B85F25C39}"/>
              </a:ext>
            </a:extLst>
          </p:cNvPr>
          <p:cNvSpPr>
            <a:spLocks noGrp="1"/>
          </p:cNvSpPr>
          <p:nvPr>
            <p:ph type="dt" idx="10"/>
          </p:nvPr>
        </p:nvSpPr>
        <p:spPr/>
        <p:txBody>
          <a:bodyPr/>
          <a:lstStyle/>
          <a:p>
            <a:fld id="{5750368A-0602-41DA-8C72-F3668C4CC159}" type="datetimeFigureOut">
              <a:t>9/28/2026</a:t>
            </a:fld>
            <a:endParaRPr/>
          </a:p>
        </p:txBody>
      </p:sp>
      <p:sp>
        <p:nvSpPr>
          <p:cNvPr id="5" name="Footer Placeholder 4">
            <a:extLst>
              <a:ext uri="{FF2B5EF4-FFF2-40B4-BE49-F238E27FC236}">
                <a16:creationId xmlns:a16="http://schemas.microsoft.com/office/drawing/2014/main" id="{04EE87FD-C808-4643-2317-3CDB3CBCB4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CF01170-CC99-1C80-2814-8C172DEF9DA3}"/>
              </a:ext>
            </a:extLst>
          </p:cNvPr>
          <p:cNvSpPr>
            <a:spLocks noGrp="1"/>
          </p:cNvSpPr>
          <p:nvPr>
            <p:ph type="sldNum" idx="12"/>
          </p:nvPr>
        </p:nvSpPr>
        <p:spPr/>
        <p:txBody>
          <a:bodyPr/>
          <a:lstStyle/>
          <a:p>
            <a:fld id="{DEA345B2-507C-43D7-80BF-79F59DDCF0A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61B42E-1446-2B7F-B0AB-68026A6950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2E6454A-9B58-1467-10AE-5BAA8852317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6688D33-D71B-794B-B556-D3F17CC2B08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mj-lt"/>
                <a:ea typeface="+mj-lt"/>
                <a:cs typeface="+mj-lt"/>
              </a:defRPr>
            </a:lvl1pPr>
          </a:lstStyle>
          <a:p>
            <a:fld id="{5750368A-0602-41DA-8C72-F3668C4CC159}" type="datetimeFigureOut">
              <a:t>9/28/2026</a:t>
            </a:fld>
            <a:endParaRPr/>
          </a:p>
        </p:txBody>
      </p:sp>
      <p:sp>
        <p:nvSpPr>
          <p:cNvPr id="5" name="Footer Placeholder 4">
            <a:extLst>
              <a:ext uri="{FF2B5EF4-FFF2-40B4-BE49-F238E27FC236}">
                <a16:creationId xmlns:a16="http://schemas.microsoft.com/office/drawing/2014/main" id="{E82302E3-550F-6EB1-3682-88ECDCAB2B6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mj-lt"/>
                <a:ea typeface="+mj-lt"/>
                <a:cs typeface="+mj-lt"/>
              </a:defRPr>
            </a:lvl1pPr>
          </a:lstStyle>
          <a:p>
            <a:endParaRPr/>
          </a:p>
        </p:txBody>
      </p:sp>
      <p:sp>
        <p:nvSpPr>
          <p:cNvPr id="6" name="Slide Number Placeholder 5">
            <a:extLst>
              <a:ext uri="{FF2B5EF4-FFF2-40B4-BE49-F238E27FC236}">
                <a16:creationId xmlns:a16="http://schemas.microsoft.com/office/drawing/2014/main" id="{F30F3CC4-BECA-E918-14B4-1688C26034E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mj-lt"/>
                <a:ea typeface="+mj-lt"/>
                <a:cs typeface="+mj-lt"/>
              </a:defRPr>
            </a:lvl1pPr>
          </a:lstStyle>
          <a:p>
            <a:fld id="{DEA345B2-507C-43D7-80BF-79F59DDCF0A3}"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j-lt"/>
          <a:ea typeface="+mj-lt"/>
          <a:cs typeface="+mj-lt"/>
        </a:defRPr>
      </a:lvl1pPr>
      <a:lvl2pPr marL="685800" indent="-228600" algn="l" defTabSz="914400">
        <a:lnSpc>
          <a:spcPct val="90000"/>
        </a:lnSpc>
        <a:spcBef>
          <a:spcPts val="500"/>
        </a:spcBef>
        <a:buFont typeface="Arial"/>
        <a:buChar char="•"/>
        <a:defRPr sz="2400" kern="1200">
          <a:solidFill>
            <a:schemeClr val="tx1"/>
          </a:solidFill>
          <a:latin typeface="+mj-lt"/>
          <a:ea typeface="+mj-lt"/>
          <a:cs typeface="+mj-lt"/>
        </a:defRPr>
      </a:lvl2pPr>
      <a:lvl3pPr marL="1143000" indent="-228600" algn="l" defTabSz="914400">
        <a:lnSpc>
          <a:spcPct val="90000"/>
        </a:lnSpc>
        <a:spcBef>
          <a:spcPts val="500"/>
        </a:spcBef>
        <a:buFont typeface="Arial"/>
        <a:buChar char="•"/>
        <a:defRPr sz="2000" kern="1200">
          <a:solidFill>
            <a:schemeClr val="tx1"/>
          </a:solidFill>
          <a:latin typeface="+mj-lt"/>
          <a:ea typeface="+mj-lt"/>
          <a:cs typeface="+mj-lt"/>
        </a:defRPr>
      </a:lvl3pPr>
      <a:lvl4pPr marL="1600200" indent="-228600" algn="l" defTabSz="914400">
        <a:lnSpc>
          <a:spcPct val="90000"/>
        </a:lnSpc>
        <a:spcBef>
          <a:spcPts val="500"/>
        </a:spcBef>
        <a:buFont typeface="Arial"/>
        <a:buChar char="•"/>
        <a:defRPr sz="1800" kern="1200">
          <a:solidFill>
            <a:schemeClr val="tx1"/>
          </a:solidFill>
          <a:latin typeface="+mj-lt"/>
          <a:ea typeface="+mj-lt"/>
          <a:cs typeface="+mj-lt"/>
        </a:defRPr>
      </a:lvl4pPr>
      <a:lvl5pPr marL="2057400" indent="-228600" algn="l" defTabSz="914400">
        <a:lnSpc>
          <a:spcPct val="90000"/>
        </a:lnSpc>
        <a:spcBef>
          <a:spcPts val="500"/>
        </a:spcBef>
        <a:buFont typeface="Arial"/>
        <a:buChar char="•"/>
        <a:defRPr sz="1800" kern="1200">
          <a:solidFill>
            <a:schemeClr val="tx1"/>
          </a:solidFill>
          <a:latin typeface="+mj-lt"/>
          <a:ea typeface="+mj-lt"/>
          <a:cs typeface="+mj-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628D34-8338-454B-E97A-2B8FE3681CB4}"/>
              </a:ext>
            </a:extLst>
          </p:cNvPr>
          <p:cNvSpPr>
            <a:spLocks noGrp="1"/>
          </p:cNvSpPr>
          <p:nvPr>
            <p:ph type="subTitle" idx="1"/>
          </p:nvPr>
        </p:nvSpPr>
        <p:spPr>
          <a:xfrm>
            <a:off x="6096000" y="5202238"/>
            <a:ext cx="5077521" cy="1655762"/>
          </a:xfrm>
        </p:spPr>
        <p:txBody>
          <a:bodyPr>
            <a:normAutofit/>
          </a:bodyPr>
          <a:lstStyle/>
          <a:p>
            <a:r>
              <a:rPr lang="en-US" sz="2000"/>
              <a:t>GroomShield: Detecting Grooming-Related Interactions in Chat Conversations Using DistilBERT and LSTM-Based Behavioral Sequence Modeling</a:t>
            </a:r>
            <a:endParaRPr sz="2000"/>
          </a:p>
        </p:txBody>
      </p:sp>
      <p:sp>
        <p:nvSpPr>
          <p:cNvPr id="5" name="Title 4">
            <a:extLst>
              <a:ext uri="{FF2B5EF4-FFF2-40B4-BE49-F238E27FC236}">
                <a16:creationId xmlns:a16="http://schemas.microsoft.com/office/drawing/2014/main" id="{F6ED2DF7-F311-FDB6-B94A-056A1A4D8792}"/>
              </a:ext>
            </a:extLst>
          </p:cNvPr>
          <p:cNvSpPr>
            <a:spLocks noGrp="1"/>
          </p:cNvSpPr>
          <p:nvPr>
            <p:ph type="ctrTitle"/>
          </p:nvPr>
        </p:nvSpPr>
        <p:spPr/>
        <p:txBody>
          <a:bodyPr/>
          <a:lstStyle/>
          <a:p>
            <a:endParaRPr lang="en-PH"/>
          </a:p>
        </p:txBody>
      </p:sp>
    </p:spTree>
    <p:extLst>
      <p:ext uri="{BB962C8B-B14F-4D97-AF65-F5344CB8AC3E}">
        <p14:creationId xmlns:p14="http://schemas.microsoft.com/office/powerpoint/2010/main" val="687419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p:cNvPicPr>
          <p:nvPr/>
        </p:nvPicPr>
        <p:blipFill>
          <a:blip r:embed="rId3"/>
          <a:stretch>
            <a:fillRect/>
          </a:stretch>
        </p:blipFill>
        <p:spPr>
          <a:xfrm>
            <a:off x="0" y="5568"/>
            <a:ext cx="12192000" cy="6846864"/>
          </a:xfrm>
          <a:prstGeom prst="rect">
            <a:avLst/>
          </a:prstGeom>
        </p:spPr>
      </p:pic>
      <p:pic>
        <p:nvPicPr>
          <p:cNvPr id="7" name="Picture 6"/>
          <p:cNvPicPr>
            <a:picLocks noChangeAspect="1"/>
          </p:cNvPicPr>
          <p:nvPr/>
        </p:nvPicPr>
        <p:blipFill>
          <a:blip r:embed="rId4"/>
          <a:stretch>
            <a:fillRect/>
          </a:stretch>
        </p:blipFill>
        <p:spPr>
          <a:xfrm>
            <a:off x="10719917" y="6099734"/>
            <a:ext cx="1286054" cy="514422"/>
          </a:xfrm>
          <a:prstGeom prst="rect">
            <a:avLst/>
          </a:prstGeom>
        </p:spPr>
      </p:pic>
    </p:spTree>
    <p:extLst>
      <p:ext uri="{BB962C8B-B14F-4D97-AF65-F5344CB8AC3E}">
        <p14:creationId xmlns:p14="http://schemas.microsoft.com/office/powerpoint/2010/main" val="170495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FE59-E69B-FA61-1F9F-69D2B6BE4BF3}"/>
              </a:ext>
            </a:extLst>
          </p:cNvPr>
          <p:cNvSpPr>
            <a:spLocks noGrp="1"/>
          </p:cNvSpPr>
          <p:nvPr>
            <p:ph type="title"/>
          </p:nvPr>
        </p:nvSpPr>
        <p:spPr/>
        <p:txBody>
          <a:bodyPr>
            <a:normAutofit/>
          </a:bodyPr>
          <a:lstStyle/>
          <a:p>
            <a:r>
              <a:rPr lang="en-PH"/>
              <a:t>Introduction</a:t>
            </a:r>
            <a:endParaRPr/>
          </a:p>
        </p:txBody>
      </p:sp>
      <p:sp>
        <p:nvSpPr>
          <p:cNvPr id="3" name="Text Placeholder 2">
            <a:extLst>
              <a:ext uri="{FF2B5EF4-FFF2-40B4-BE49-F238E27FC236}">
                <a16:creationId xmlns:a16="http://schemas.microsoft.com/office/drawing/2014/main" id="{361CC8EF-A543-7340-D864-3EE048E2398C}"/>
              </a:ext>
            </a:extLst>
          </p:cNvPr>
          <p:cNvSpPr>
            <a:spLocks noGrp="1"/>
          </p:cNvSpPr>
          <p:nvPr>
            <p:ph type="body" idx="1"/>
          </p:nvPr>
        </p:nvSpPr>
        <p:spPr/>
        <p:txBody>
          <a:bodyPr/>
          <a:lstStyle/>
          <a:p>
            <a:r>
              <a:rPr lang="en-US"/>
              <a:t>Why contextual and behavioral analysis matters</a:t>
            </a:r>
            <a:endParaRPr/>
          </a:p>
        </p:txBody>
      </p:sp>
    </p:spTree>
    <p:extLst>
      <p:ext uri="{BB962C8B-B14F-4D97-AF65-F5344CB8AC3E}">
        <p14:creationId xmlns:p14="http://schemas.microsoft.com/office/powerpoint/2010/main" val="745473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44C2198-1C42-A790-4121-5218735B7DDB}"/>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8" name="Content Placeholder 6">
            <a:extLst>
              <a:ext uri="{FF2B5EF4-FFF2-40B4-BE49-F238E27FC236}">
                <a16:creationId xmlns:a16="http://schemas.microsoft.com/office/drawing/2014/main" id="{166323FE-9773-D041-E0C5-1689233D65B8}"/>
              </a:ext>
            </a:extLst>
          </p:cNvPr>
          <p:cNvSpPr>
            <a:spLocks noGrp="1"/>
          </p:cNvSpPr>
          <p:nvPr>
            <p:ph idx="1"/>
          </p:nvPr>
        </p:nvSpPr>
        <p:spPr>
          <a:xfrm>
            <a:off x="838200" y="1825625"/>
            <a:ext cx="9781489" cy="4351338"/>
          </a:xfrm>
        </p:spPr>
        <p:txBody>
          <a:bodyPr vert="horz" wrap="square" lIns="91440" tIns="45720" rIns="91440" bIns="45720" anchor="t">
            <a:noAutofit/>
          </a:bodyPr>
          <a:lstStyle/>
          <a:p>
            <a:pPr>
              <a:lnSpc>
                <a:spcPct val="100000"/>
              </a:lnSpc>
              <a:spcAft>
                <a:spcPts val="700"/>
              </a:spcAft>
            </a:pPr>
            <a:r>
              <a:rPr lang="en-US" sz="2700">
                <a:latin typeface="Calibri Light" panose="020F0302020204030204" pitchFamily="34" charset="0"/>
              </a:rPr>
              <a:t>Online chats can carry harmful interactions across many turns.</a:t>
            </a:r>
          </a:p>
          <a:p>
            <a:pPr>
              <a:lnSpc>
                <a:spcPct val="100000"/>
              </a:lnSpc>
              <a:spcAft>
                <a:spcPts val="700"/>
              </a:spcAft>
            </a:pPr>
            <a:r>
              <a:rPr lang="en-US" sz="2700">
                <a:latin typeface="Calibri Light" panose="020F0302020204030204" pitchFamily="34" charset="0"/>
              </a:rPr>
              <a:t>Keyword filters detect explicit words but miss context and progression.</a:t>
            </a:r>
          </a:p>
          <a:p>
            <a:pPr>
              <a:lnSpc>
                <a:spcPct val="100000"/>
              </a:lnSpc>
              <a:spcAft>
                <a:spcPts val="700"/>
              </a:spcAft>
            </a:pPr>
            <a:r>
              <a:rPr lang="en-US" sz="2700">
                <a:latin typeface="Calibri Light" panose="020F0302020204030204" pitchFamily="34" charset="0"/>
              </a:rPr>
              <a:t>User reports help, but they usually act after someone notices a problem.</a:t>
            </a:r>
          </a:p>
          <a:p>
            <a:pPr>
              <a:lnSpc>
                <a:spcPct val="100000"/>
              </a:lnSpc>
              <a:spcAft>
                <a:spcPts val="700"/>
              </a:spcAft>
            </a:pPr>
            <a:r>
              <a:rPr lang="en-US" sz="2700">
                <a:latin typeface="Calibri Light" panose="020F0302020204030204" pitchFamily="34" charset="0"/>
              </a:rPr>
              <a:t>Moderation needs both local context and conversation-wide patterns.</a:t>
            </a:r>
            <a:endParaRPr sz="2700">
              <a:latin typeface="Calibri Light" panose="020F0302020204030204" pitchFamily="34" charset="0"/>
            </a:endParaRPr>
          </a:p>
        </p:txBody>
      </p:sp>
      <p:sp>
        <p:nvSpPr>
          <p:cNvPr id="9" name="Rectangle 8">
            <a:extLst>
              <a:ext uri="{FF2B5EF4-FFF2-40B4-BE49-F238E27FC236}">
                <a16:creationId xmlns:a16="http://schemas.microsoft.com/office/drawing/2014/main" id="{B1F26A3C-9B81-B8D3-EEA5-D7DD35D3D218}"/>
              </a:ext>
            </a:extLst>
          </p:cNvPr>
          <p:cNvSpPr>
            <a:spLocks noGrp="1"/>
          </p:cNvSpPr>
          <p:nvPr/>
        </p:nvSpPr>
        <p:spPr>
          <a:xfrm>
            <a:off x="161544" y="0"/>
            <a:ext cx="10710672" cy="741680"/>
          </a:xfrm>
          <a:prstGeom prst="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Title 5">
            <a:extLst>
              <a:ext uri="{FF2B5EF4-FFF2-40B4-BE49-F238E27FC236}">
                <a16:creationId xmlns:a16="http://schemas.microsoft.com/office/drawing/2014/main" id="{562366F7-771B-E12D-0784-5DF536657F4F}"/>
              </a:ext>
            </a:extLst>
          </p:cNvPr>
          <p:cNvSpPr>
            <a:spLocks noGrp="1"/>
          </p:cNvSpPr>
          <p:nvPr/>
        </p:nvSpPr>
        <p:spPr>
          <a:xfrm>
            <a:off x="3148127" y="87629"/>
            <a:ext cx="8882329" cy="593408"/>
          </a:xfrm>
          <a:prstGeom prst="rect">
            <a:avLst/>
          </a:prstGeom>
        </p:spPr>
        <p:txBody>
          <a:bodyPr vert="horz" lIns="91440" tIns="45720" rIns="91440" bIns="45720" anchor="ctr">
            <a:normAutofit fontScale="90000" lnSpcReduction="10000"/>
          </a:bodyPr>
          <a:lstStyle>
            <a:lvl1pPr algn="l" defTabSz="914400">
              <a:lnSpc>
                <a:spcPct val="90000"/>
              </a:lnSpc>
              <a:spcBef>
                <a:spcPct val="0"/>
              </a:spcBef>
              <a:buNone/>
              <a:defRPr sz="4400" kern="1200">
                <a:solidFill>
                  <a:schemeClr val="tx1"/>
                </a:solidFill>
                <a:latin typeface="+mj-lt"/>
                <a:ea typeface="+mj-lt"/>
                <a:cs typeface="+mj-lt"/>
              </a:defRPr>
            </a:lvl1pPr>
          </a:lstStyle>
          <a:p>
            <a:r>
              <a:t>Background of the Study</a:t>
            </a:r>
            <a:endParaRPr>
              <a:latin typeface="Corbel"/>
              <a:ea typeface="Corbel"/>
              <a:cs typeface="Corbel"/>
            </a:endParaRPr>
          </a:p>
        </p:txBody>
      </p:sp>
    </p:spTree>
    <p:extLst>
      <p:ext uri="{BB962C8B-B14F-4D97-AF65-F5344CB8AC3E}">
        <p14:creationId xmlns:p14="http://schemas.microsoft.com/office/powerpoint/2010/main" val="487461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6837-15F7-9AC5-506D-EB98ECC48AD4}"/>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Statement of the Problem</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11F6840A-CC91-616E-AB80-9489D4871FF5}"/>
              </a:ext>
            </a:extLst>
          </p:cNvPr>
          <p:cNvSpPr>
            <a:spLocks noGrp="1"/>
          </p:cNvSpPr>
          <p:nvPr>
            <p:ph idx="1"/>
          </p:nvPr>
        </p:nvSpPr>
        <p:spPr/>
        <p:txBody>
          <a:bodyPr wrap="square">
            <a:noAutofit/>
          </a:bodyPr>
          <a:lstStyle/>
          <a:p>
            <a:pPr>
              <a:lnSpc>
                <a:spcPct val="100000"/>
              </a:lnSpc>
              <a:spcAft>
                <a:spcPts val="700"/>
              </a:spcAft>
            </a:pPr>
            <a:r>
              <a:rPr lang="en-US" sz="2900">
                <a:latin typeface="Calibri Light" panose="020F0302020204030204" pitchFamily="34" charset="0"/>
              </a:rPr>
              <a:t>An ordinary message can change meaning when viewed with surrounding turns.</a:t>
            </a:r>
          </a:p>
          <a:p>
            <a:pPr>
              <a:lnSpc>
                <a:spcPct val="100000"/>
              </a:lnSpc>
              <a:spcAft>
                <a:spcPts val="700"/>
              </a:spcAft>
            </a:pPr>
            <a:r>
              <a:rPr lang="en-US" sz="2900">
                <a:latin typeface="Calibri Light" panose="020F0302020204030204" pitchFamily="34" charset="0"/>
              </a:rPr>
              <a:t>Static methods miss gradual or obfuscated behavior.</a:t>
            </a:r>
          </a:p>
          <a:p>
            <a:pPr>
              <a:lnSpc>
                <a:spcPct val="100000"/>
              </a:lnSpc>
              <a:spcAft>
                <a:spcPts val="700"/>
              </a:spcAft>
            </a:pPr>
            <a:r>
              <a:rPr lang="en-US" sz="2900">
                <a:latin typeface="Calibri Light" panose="020F0302020204030204" pitchFamily="34" charset="0"/>
              </a:rPr>
              <a:t>The study tests whether contextual and trajectory modeling reduces missed cases.</a:t>
            </a:r>
            <a:endParaRPr sz="2900">
              <a:latin typeface="Calibri Light" panose="020F0302020204030204" pitchFamily="34" charset="0"/>
            </a:endParaRPr>
          </a:p>
        </p:txBody>
      </p:sp>
    </p:spTree>
    <p:extLst>
      <p:ext uri="{BB962C8B-B14F-4D97-AF65-F5344CB8AC3E}">
        <p14:creationId xmlns:p14="http://schemas.microsoft.com/office/powerpoint/2010/main" val="2672449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420E-DB4F-AAC4-E6C3-9E670B879997}"/>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Research Questions</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C6973DE6-43FD-6A2F-BD6D-2870C787B5DE}"/>
              </a:ext>
            </a:extLst>
          </p:cNvPr>
          <p:cNvSpPr>
            <a:spLocks noGrp="1"/>
          </p:cNvSpPr>
          <p:nvPr>
            <p:ph idx="1"/>
          </p:nvPr>
        </p:nvSpPr>
        <p:spPr/>
        <p:txBody>
          <a:bodyPr wrap="square">
            <a:noAutofit/>
          </a:bodyPr>
          <a:lstStyle/>
          <a:p>
            <a:pPr>
              <a:lnSpc>
                <a:spcPct val="100000"/>
              </a:lnSpc>
              <a:spcAft>
                <a:spcPts val="700"/>
              </a:spcAft>
            </a:pPr>
            <a:r>
              <a:rPr lang="en-US" sz="2500">
                <a:latin typeface="Calibri Light" panose="020F0302020204030204" pitchFamily="34" charset="0"/>
              </a:rPr>
              <a:t>How effective are existing chat moderation systems?</a:t>
            </a:r>
          </a:p>
          <a:p>
            <a:pPr>
              <a:lnSpc>
                <a:spcPct val="100000"/>
              </a:lnSpc>
              <a:spcAft>
                <a:spcPts val="700"/>
              </a:spcAft>
            </a:pPr>
            <a:r>
              <a:rPr lang="en-US" sz="2500">
                <a:latin typeface="Calibri Light" panose="020F0302020204030204" pitchFamily="34" charset="0"/>
              </a:rPr>
              <a:t>Where do keyword and rule-based methods fail on context?</a:t>
            </a:r>
          </a:p>
          <a:p>
            <a:pPr>
              <a:lnSpc>
                <a:spcPct val="100000"/>
              </a:lnSpc>
              <a:spcAft>
                <a:spcPts val="700"/>
              </a:spcAft>
            </a:pPr>
            <a:r>
              <a:rPr lang="en-US" sz="2500">
                <a:latin typeface="Calibri Light" panose="020F0302020204030204" pitchFamily="34" charset="0"/>
              </a:rPr>
              <a:t>How can ML and NLP analyze behavior across a conversation?</a:t>
            </a:r>
          </a:p>
          <a:p>
            <a:pPr>
              <a:lnSpc>
                <a:spcPct val="100000"/>
              </a:lnSpc>
              <a:spcAft>
                <a:spcPts val="700"/>
              </a:spcAft>
            </a:pPr>
            <a:r>
              <a:rPr lang="en-US" sz="2500">
                <a:latin typeface="Calibri Light" panose="020F0302020204030204" pitchFamily="34" charset="0"/>
              </a:rPr>
              <a:t>How much can the proposed module improve recall and reduce false negatives?</a:t>
            </a:r>
            <a:endParaRPr sz="2500">
              <a:latin typeface="Calibri Light" panose="020F0302020204030204" pitchFamily="34" charset="0"/>
            </a:endParaRPr>
          </a:p>
        </p:txBody>
      </p:sp>
    </p:spTree>
    <p:extLst>
      <p:ext uri="{BB962C8B-B14F-4D97-AF65-F5344CB8AC3E}">
        <p14:creationId xmlns:p14="http://schemas.microsoft.com/office/powerpoint/2010/main" val="5780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9F28-BE19-01F7-925B-315A4EB7E37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Objectives of the Study</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862A178E-C1B3-DC86-F272-7BC7DA7322ED}"/>
              </a:ext>
            </a:extLst>
          </p:cNvPr>
          <p:cNvSpPr>
            <a:spLocks noGrp="1"/>
          </p:cNvSpPr>
          <p:nvPr>
            <p:ph idx="1"/>
          </p:nvPr>
        </p:nvSpPr>
        <p:spPr>
          <a:xfrm>
            <a:off x="838200" y="1825625"/>
            <a:ext cx="10017369" cy="4351338"/>
          </a:xfrm>
        </p:spPr>
        <p:txBody>
          <a:bodyPr wrap="square">
            <a:noAutofit/>
          </a:bodyPr>
          <a:lstStyle/>
          <a:p>
            <a:pPr marL="34" indent="-20">
              <a:lnSpc>
                <a:spcPct val="100000"/>
              </a:lnSpc>
              <a:spcAft>
                <a:spcPts val="700"/>
              </a:spcAft>
              <a:buChar char="•"/>
            </a:pPr>
            <a:r>
              <a:rPr lang="en-US" sz="2400" b="0">
                <a:latin typeface="Calibri Light" panose="020F0302020204030204" pitchFamily="34" charset="0"/>
              </a:rPr>
              <a:t>General: Build an AI moderation module using context and behavioral patterns.</a:t>
            </a:r>
          </a:p>
          <a:p>
            <a:pPr marL="34" indent="-20">
              <a:lnSpc>
                <a:spcPct val="100000"/>
              </a:lnSpc>
              <a:spcAft>
                <a:spcPts val="700"/>
              </a:spcAft>
              <a:buChar char="•"/>
            </a:pPr>
            <a:r>
              <a:rPr lang="en-US" sz="2400" b="0">
                <a:latin typeface="Calibri Light" panose="020F0302020204030204" pitchFamily="34" charset="0"/>
              </a:rPr>
              <a:t>1. Evaluate the limits of keyword-based and rule-based moderation.</a:t>
            </a:r>
          </a:p>
          <a:p>
            <a:pPr marL="34" indent="-20">
              <a:lnSpc>
                <a:spcPct val="100000"/>
              </a:lnSpc>
              <a:spcAft>
                <a:spcPts val="700"/>
              </a:spcAft>
              <a:buChar char="•"/>
            </a:pPr>
            <a:r>
              <a:rPr lang="en-US" sz="2400" b="0">
                <a:latin typeface="Calibri Light" panose="020F0302020204030204" pitchFamily="34" charset="0"/>
              </a:rPr>
              <a:t>2. Develop a two-layer module for multi-turn chat analysis.</a:t>
            </a:r>
          </a:p>
          <a:p>
            <a:pPr marL="34" indent="-20">
              <a:lnSpc>
                <a:spcPct val="100000"/>
              </a:lnSpc>
              <a:spcAft>
                <a:spcPts val="700"/>
              </a:spcAft>
              <a:buChar char="•"/>
            </a:pPr>
            <a:r>
              <a:rPr lang="en-US" sz="2400" b="0">
                <a:latin typeface="Calibri Light" panose="020F0302020204030204" pitchFamily="34" charset="0"/>
              </a:rPr>
              <a:t>3. Measure recall improvement and false-negative reduction.</a:t>
            </a:r>
            <a:endParaRPr sz="2400" b="0">
              <a:latin typeface="Calibri Light" panose="020F0302020204030204" pitchFamily="34" charset="0"/>
            </a:endParaRPr>
          </a:p>
        </p:txBody>
      </p:sp>
    </p:spTree>
    <p:extLst>
      <p:ext uri="{BB962C8B-B14F-4D97-AF65-F5344CB8AC3E}">
        <p14:creationId xmlns:p14="http://schemas.microsoft.com/office/powerpoint/2010/main" val="188048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Research Alignment: Existing Methods</a:t>
            </a:r>
            <a:endParaRPr sz="3400">
              <a:solidFill>
                <a:schemeClr val="accent1">
                  <a:lumMod val="75000"/>
                </a:schemeClr>
              </a:solidFill>
            </a:endParaRPr>
          </a:p>
        </p:txBody>
      </p:sp>
      <p:graphicFrame>
        <p:nvGraphicFramePr>
          <p:cNvPr id="5" name="Evidence table">
            <a:extLst>
              <a:ext uri="{FF2B5EF4-FFF2-40B4-BE49-F238E27FC236}">
                <a16:creationId xmlns:a16="http://schemas.microsoft.com/office/drawing/2014/main" id="{BDAA3C98-483E-4858-C8BE-2F383C6F96F1}"/>
              </a:ext>
            </a:extLst>
          </p:cNvPr>
          <p:cNvGraphicFramePr>
            <a:graphicFrameLocks noGrp="1"/>
          </p:cNvGraphicFramePr>
          <p:nvPr>
            <p:ph idx="1"/>
            <p:extLst>
              <p:ext uri="{D42A27DB-BD31-4B8C-83A1-F6EECF244321}">
                <p14:modId xmlns:p14="http://schemas.microsoft.com/office/powerpoint/2010/main" val="2488525637"/>
              </p:ext>
            </p:extLst>
          </p:nvPr>
        </p:nvGraphicFramePr>
        <p:xfrm>
          <a:off x="685799" y="1930400"/>
          <a:ext cx="10795000" cy="3992033"/>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346889064"/>
                    </a:ext>
                  </a:extLst>
                </a:gridCol>
                <a:gridCol w="2679700">
                  <a:extLst>
                    <a:ext uri="{9D8B030D-6E8A-4147-A177-3AD203B41FA5}">
                      <a16:colId xmlns:a16="http://schemas.microsoft.com/office/drawing/2014/main" val="277590277"/>
                    </a:ext>
                  </a:extLst>
                </a:gridCol>
                <a:gridCol w="2806700">
                  <a:extLst>
                    <a:ext uri="{9D8B030D-6E8A-4147-A177-3AD203B41FA5}">
                      <a16:colId xmlns:a16="http://schemas.microsoft.com/office/drawing/2014/main" val="429554503"/>
                    </a:ext>
                  </a:extLst>
                </a:gridCol>
                <a:gridCol w="2794000">
                  <a:extLst>
                    <a:ext uri="{9D8B030D-6E8A-4147-A177-3AD203B41FA5}">
                      <a16:colId xmlns:a16="http://schemas.microsoft.com/office/drawing/2014/main" val="945222498"/>
                    </a:ext>
                  </a:extLst>
                </a:gridCol>
              </a:tblGrid>
              <a:tr h="1248833">
                <a:tc>
                  <a:txBody>
                    <a:bodyPr/>
                    <a:lstStyle/>
                    <a:p>
                      <a:r>
                        <a:rPr lang="en-PH" sz="2000" b="1">
                          <a:solidFill>
                            <a:srgbClr val="191F28"/>
                          </a:solidFill>
                          <a:latin typeface="Calibri" panose="020F0502020204030204" pitchFamily="34" charset="0"/>
                        </a:rPr>
                        <a:t>Problem</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Question / Objective</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Method</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Results evidence</a:t>
                      </a:r>
                    </a:p>
                  </a:txBody>
                  <a:tcPr marL="101600" marR="101600" marT="76200" marB="76200" anchor="ctr">
                    <a:solidFill>
                      <a:srgbClr val="E0E8F1"/>
                    </a:solidFill>
                  </a:tcPr>
                </a:tc>
                <a:extLst>
                  <a:ext uri="{0D108BD9-81ED-4DB2-BD59-A6C34878D82A}">
                    <a16:rowId xmlns:a16="http://schemas.microsoft.com/office/drawing/2014/main" val="2039143541"/>
                  </a:ext>
                </a:extLst>
              </a:tr>
              <a:tr h="1248833">
                <a:tc>
                  <a:txBody>
                    <a:bodyPr/>
                    <a:lstStyle/>
                    <a:p>
                      <a:r>
                        <a:rPr lang="en-US" sz="2000" b="0">
                          <a:solidFill>
                            <a:srgbClr val="191F28"/>
                          </a:solidFill>
                          <a:latin typeface="Calibri" panose="020F0502020204030204" pitchFamily="34" charset="0"/>
                        </a:rPr>
                        <a:t>How well do existing systems detect relevant conversations?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RQ1 / Objective 1: Evaluate existing moderation.</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Test the keyword rule on the same held-out conversations.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Keyword rule: 61.36% recall and 17 missed cases.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206382432"/>
                  </a:ext>
                </a:extLst>
              </a:tr>
              <a:tr h="1248833">
                <a:tc>
                  <a:txBody>
                    <a:bodyPr/>
                    <a:lstStyle/>
                    <a:p>
                      <a:r>
                        <a:rPr lang="en-US" sz="2000" b="0">
                          <a:solidFill>
                            <a:srgbClr val="191F28"/>
                          </a:solidFill>
                          <a:latin typeface="Calibri" panose="020F0502020204030204" pitchFamily="34" charset="0"/>
                        </a:rPr>
                        <a:t>Static methods can miss meaning that develops across turns.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RQ2 / Objective 1: Examine the limits of static methods.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Compare keyword and score aggregation with the trajectory LSTM.</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LSTM gains over maximum Layer 1: +0.3630 PR-AUC and +0.1958 F2.</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50964375"/>
                  </a:ext>
                </a:extLst>
              </a:tr>
            </a:tbl>
          </a:graphicData>
        </a:graphic>
      </p:graphicFrame>
    </p:spTree>
    <p:extLst>
      <p:ext uri="{BB962C8B-B14F-4D97-AF65-F5344CB8AC3E}">
        <p14:creationId xmlns:p14="http://schemas.microsoft.com/office/powerpoint/2010/main" val="735982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Research Alignment: Module and Improvement</a:t>
            </a:r>
            <a:endParaRPr sz="3400">
              <a:solidFill>
                <a:schemeClr val="accent1">
                  <a:lumMod val="75000"/>
                </a:schemeClr>
              </a:solidFill>
            </a:endParaRPr>
          </a:p>
        </p:txBody>
      </p:sp>
      <p:graphicFrame>
        <p:nvGraphicFramePr>
          <p:cNvPr id="5" name="Evidence table">
            <a:extLst>
              <a:ext uri="{FF2B5EF4-FFF2-40B4-BE49-F238E27FC236}">
                <a16:creationId xmlns:a16="http://schemas.microsoft.com/office/drawing/2014/main" id="{658E6B48-24A1-22A5-6387-F4A04A4A17B4}"/>
              </a:ext>
            </a:extLst>
          </p:cNvPr>
          <p:cNvGraphicFramePr>
            <a:graphicFrameLocks noGrp="1"/>
          </p:cNvGraphicFramePr>
          <p:nvPr>
            <p:ph idx="1"/>
            <p:extLst>
              <p:ext uri="{D42A27DB-BD31-4B8C-83A1-F6EECF244321}">
                <p14:modId xmlns:p14="http://schemas.microsoft.com/office/powerpoint/2010/main" val="1644084966"/>
              </p:ext>
            </p:extLst>
          </p:nvPr>
        </p:nvGraphicFramePr>
        <p:xfrm>
          <a:off x="685799" y="1930400"/>
          <a:ext cx="10795000" cy="3992033"/>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799624030"/>
                    </a:ext>
                  </a:extLst>
                </a:gridCol>
                <a:gridCol w="2679700">
                  <a:extLst>
                    <a:ext uri="{9D8B030D-6E8A-4147-A177-3AD203B41FA5}">
                      <a16:colId xmlns:a16="http://schemas.microsoft.com/office/drawing/2014/main" val="284024264"/>
                    </a:ext>
                  </a:extLst>
                </a:gridCol>
                <a:gridCol w="2806700">
                  <a:extLst>
                    <a:ext uri="{9D8B030D-6E8A-4147-A177-3AD203B41FA5}">
                      <a16:colId xmlns:a16="http://schemas.microsoft.com/office/drawing/2014/main" val="2757323129"/>
                    </a:ext>
                  </a:extLst>
                </a:gridCol>
                <a:gridCol w="2794000">
                  <a:extLst>
                    <a:ext uri="{9D8B030D-6E8A-4147-A177-3AD203B41FA5}">
                      <a16:colId xmlns:a16="http://schemas.microsoft.com/office/drawing/2014/main" val="3525452511"/>
                    </a:ext>
                  </a:extLst>
                </a:gridCol>
              </a:tblGrid>
              <a:tr h="1248833">
                <a:tc>
                  <a:txBody>
                    <a:bodyPr/>
                    <a:lstStyle/>
                    <a:p>
                      <a:r>
                        <a:rPr lang="en-PH" sz="2000" b="1">
                          <a:solidFill>
                            <a:srgbClr val="191F28"/>
                          </a:solidFill>
                          <a:latin typeface="Calibri" panose="020F0502020204030204" pitchFamily="34" charset="0"/>
                        </a:rPr>
                        <a:t>Problem</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Question / Objective</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Method</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Results evidence</a:t>
                      </a:r>
                    </a:p>
                  </a:txBody>
                  <a:tcPr marL="101600" marR="101600" marT="76200" marB="76200" anchor="ctr">
                    <a:solidFill>
                      <a:srgbClr val="E0E8F1"/>
                    </a:solidFill>
                  </a:tcPr>
                </a:tc>
                <a:extLst>
                  <a:ext uri="{0D108BD9-81ED-4DB2-BD59-A6C34878D82A}">
                    <a16:rowId xmlns:a16="http://schemas.microsoft.com/office/drawing/2014/main" val="815225734"/>
                  </a:ext>
                </a:extLst>
              </a:tr>
              <a:tr h="1248833">
                <a:tc>
                  <a:txBody>
                    <a:bodyPr/>
                    <a:lstStyle/>
                    <a:p>
                      <a:r>
                        <a:rPr lang="en-US" sz="2000" b="0">
                          <a:solidFill>
                            <a:srgbClr val="191F28"/>
                          </a:solidFill>
                          <a:latin typeface="Calibri" panose="020F0502020204030204" pitchFamily="34" charset="0"/>
                        </a:rPr>
                        <a:t>Chat analysis needs both context and behavioral development.</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RQ3 / Objective 2: Develop the AI moderation module.</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Combine DistilBERT, seven trajectory features, and an LSTM.</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Completed two-layer module and sequential review interface.</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2194784163"/>
                  </a:ext>
                </a:extLst>
              </a:tr>
              <a:tr h="1248833">
                <a:tc>
                  <a:txBody>
                    <a:bodyPr/>
                    <a:lstStyle/>
                    <a:p>
                      <a:r>
                        <a:rPr lang="en-US" sz="2000" b="0">
                          <a:solidFill>
                            <a:srgbClr val="191F28"/>
                          </a:solidFill>
                          <a:latin typeface="Calibri" panose="020F0502020204030204" pitchFamily="34" charset="0"/>
                        </a:rPr>
                        <a:t>The module must improve detection and reduce missed cases.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RQ4 / Objective 3: Measure recall and false-negative reduction.</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Use a locked test and paired comparisons across author groups.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Trajectory-Feature LSTM: 93.18% recall and three misses; 50% fewer misses than weighted scoring.</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3028070350"/>
                  </a:ext>
                </a:extLst>
              </a:tr>
            </a:tbl>
          </a:graphicData>
        </a:graphic>
      </p:graphicFrame>
    </p:spTree>
    <p:extLst>
      <p:ext uri="{BB962C8B-B14F-4D97-AF65-F5344CB8AC3E}">
        <p14:creationId xmlns:p14="http://schemas.microsoft.com/office/powerpoint/2010/main" val="2776312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What the Study Built</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39EB6132-67A8-7E1F-24BB-A64EFB7A7440}"/>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45E0AAB8-B2E4-8B5C-2CD1-145344CE227E}"/>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dirty="0" err="1">
                <a:solidFill>
                  <a:srgbClr val="191F28"/>
                </a:solidFill>
                <a:latin typeface="Calibri Light" panose="020F0302020204030204" pitchFamily="34" charset="0"/>
              </a:rPr>
              <a:t>DistilBERT</a:t>
            </a:r>
            <a:r>
              <a:rPr lang="en-US" sz="2600" dirty="0">
                <a:solidFill>
                  <a:srgbClr val="191F28"/>
                </a:solidFill>
                <a:latin typeface="Calibri Light" panose="020F0302020204030204" pitchFamily="34" charset="0"/>
              </a:rPr>
              <a:t> reads each turn with recent context.</a:t>
            </a:r>
          </a:p>
          <a:p>
            <a:pPr>
              <a:spcAft>
                <a:spcPts val="1500"/>
              </a:spcAft>
            </a:pPr>
            <a:r>
              <a:rPr lang="en-US" sz="2600" dirty="0">
                <a:solidFill>
                  <a:srgbClr val="191F28"/>
                </a:solidFill>
                <a:latin typeface="Calibri Light" panose="020F0302020204030204" pitchFamily="34" charset="0"/>
              </a:rPr>
              <a:t>Seven features track changes across the conversation.</a:t>
            </a:r>
          </a:p>
          <a:p>
            <a:pPr>
              <a:spcAft>
                <a:spcPts val="1500"/>
              </a:spcAft>
            </a:pPr>
            <a:r>
              <a:rPr lang="en-US" sz="2600" dirty="0">
                <a:solidFill>
                  <a:srgbClr val="191F28"/>
                </a:solidFill>
                <a:latin typeface="Calibri Light" panose="020F0302020204030204" pitchFamily="34" charset="0"/>
              </a:rPr>
              <a:t>An LSTM uses the feature sequence to score the conversation.</a:t>
            </a:r>
          </a:p>
          <a:p>
            <a:pPr>
              <a:spcAft>
                <a:spcPts val="1500"/>
              </a:spcAft>
            </a:pPr>
            <a:r>
              <a:rPr lang="en-US" sz="2600" dirty="0">
                <a:solidFill>
                  <a:srgbClr val="191F28"/>
                </a:solidFill>
                <a:latin typeface="Calibri Light" panose="020F0302020204030204" pitchFamily="34" charset="0"/>
              </a:rPr>
              <a:t>The interface helps a moderator decide what to review.</a:t>
            </a:r>
            <a:endParaRPr lang="en-PH" sz="2600" dirty="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512868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9445-6B2E-B038-2128-77567FA741F6}"/>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Dataset and Evaluation Scope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D9BCD19F-8F4B-C8F1-BCF6-513AD6198481}"/>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5FB06679-67DF-40F1-E66A-31A43363C7FE}"/>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We selected PAN-2012 to evaluate the proposed architecture.</a:t>
            </a:r>
          </a:p>
          <a:p>
            <a:pPr>
              <a:spcAft>
                <a:spcPts val="1500"/>
              </a:spcAft>
            </a:pPr>
            <a:r>
              <a:rPr lang="en-US" sz="2600">
                <a:solidFill>
                  <a:srgbClr val="191F28"/>
                </a:solidFill>
                <a:latin typeface="Calibri Light" panose="020F0302020204030204" pitchFamily="34" charset="0"/>
              </a:rPr>
              <a:t>18,567 eligible two-speaker conversations and 218,114 turns.</a:t>
            </a:r>
          </a:p>
          <a:p>
            <a:pPr>
              <a:spcAft>
                <a:spcPts val="1500"/>
              </a:spcAft>
            </a:pPr>
            <a:r>
              <a:rPr lang="en-US" sz="2600">
                <a:solidFill>
                  <a:srgbClr val="191F28"/>
                </a:solidFill>
                <a:latin typeface="Calibri Light" panose="020F0302020204030204" pitchFamily="34" charset="0"/>
              </a:rPr>
              <a:t>The test evaluates conversation decisions on unseen author groups.</a:t>
            </a:r>
          </a:p>
          <a:p>
            <a:pPr>
              <a:spcAft>
                <a:spcPts val="1500"/>
              </a:spcAft>
            </a:pPr>
            <a:r>
              <a:rPr lang="en-US" sz="2600">
                <a:solidFill>
                  <a:srgbClr val="191F28"/>
                </a:solidFill>
                <a:latin typeface="Calibri Light" panose="020F0302020204030204" pitchFamily="34" charset="0"/>
              </a:rPr>
              <a:t>The completed experiment uses offline sequential replay.</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461310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25D0-52EA-24D7-C74D-83A7B28B9AE9}"/>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Why the Study Matters</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24DE2788-149B-528F-F468-9A8781236B40}"/>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489DFB67-1D78-E2B7-A392-A8CBD9EF6C61}"/>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The study tests whether sequence modeling improves detection.</a:t>
            </a:r>
          </a:p>
          <a:p>
            <a:pPr>
              <a:spcAft>
                <a:spcPts val="1500"/>
              </a:spcAft>
            </a:pPr>
            <a:r>
              <a:rPr lang="en-US" sz="2600">
                <a:solidFill>
                  <a:srgbClr val="191F28"/>
                </a:solidFill>
                <a:latin typeface="Calibri Light" panose="020F0302020204030204" pitchFamily="34" charset="0"/>
              </a:rPr>
              <a:t>The complete module supports conversation review.</a:t>
            </a:r>
          </a:p>
          <a:p>
            <a:pPr>
              <a:spcAft>
                <a:spcPts val="1500"/>
              </a:spcAft>
            </a:pPr>
            <a:r>
              <a:rPr lang="en-US" sz="2600">
                <a:solidFill>
                  <a:srgbClr val="191F28"/>
                </a:solidFill>
                <a:latin typeface="Calibri Light" panose="020F0302020204030204" pitchFamily="34" charset="0"/>
              </a:rPr>
              <a:t>The comparison measures both missed cases and false alerts.</a:t>
            </a:r>
          </a:p>
          <a:p>
            <a:pPr>
              <a:spcAft>
                <a:spcPts val="1500"/>
              </a:spcAft>
            </a:pPr>
            <a:r>
              <a:rPr lang="en-US" sz="2600">
                <a:solidFill>
                  <a:srgbClr val="191F28"/>
                </a:solidFill>
                <a:latin typeface="Calibri Light" panose="020F0302020204030204" pitchFamily="34" charset="0"/>
              </a:rPr>
              <a:t>The evaluation keeps author groups separate across partitions.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1366952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4548-D28E-C567-67D9-A7F73A398348}"/>
              </a:ext>
            </a:extLst>
          </p:cNvPr>
          <p:cNvSpPr>
            <a:spLocks noGrp="1"/>
          </p:cNvSpPr>
          <p:nvPr>
            <p:ph type="title"/>
          </p:nvPr>
        </p:nvSpPr>
        <p:spPr/>
        <p:txBody>
          <a:bodyPr>
            <a:normAutofit/>
          </a:bodyPr>
          <a:lstStyle/>
          <a:p>
            <a:r>
              <a:rPr lang="en-PH"/>
              <a:t>Review of Related Literature</a:t>
            </a:r>
            <a:endParaRPr/>
          </a:p>
        </p:txBody>
      </p:sp>
      <p:sp>
        <p:nvSpPr>
          <p:cNvPr id="3" name="Text Placeholder 2">
            <a:extLst>
              <a:ext uri="{FF2B5EF4-FFF2-40B4-BE49-F238E27FC236}">
                <a16:creationId xmlns:a16="http://schemas.microsoft.com/office/drawing/2014/main" id="{F83A8EAC-3CA8-6793-6398-0B05C4D71CEC}"/>
              </a:ext>
            </a:extLst>
          </p:cNvPr>
          <p:cNvSpPr>
            <a:spLocks noGrp="1"/>
          </p:cNvSpPr>
          <p:nvPr>
            <p:ph type="body" idx="1"/>
          </p:nvPr>
        </p:nvSpPr>
        <p:spPr/>
        <p:txBody>
          <a:bodyPr/>
          <a:lstStyle/>
          <a:p>
            <a:r>
              <a:rPr lang="en-US"/>
              <a:t>Context, behavior, and sequence learning</a:t>
            </a:r>
            <a:endParaRPr/>
          </a:p>
        </p:txBody>
      </p:sp>
    </p:spTree>
    <p:extLst>
      <p:ext uri="{BB962C8B-B14F-4D97-AF65-F5344CB8AC3E}">
        <p14:creationId xmlns:p14="http://schemas.microsoft.com/office/powerpoint/2010/main" val="681611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346D-8683-5037-C23F-47F648DF5CA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4000">
                <a:solidFill>
                  <a:schemeClr val="accent1">
                    <a:lumMod val="75000"/>
                  </a:schemeClr>
                </a:solidFill>
              </a:rPr>
              <a:t>Why Context and Sequence Matter</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33D99DDF-C87D-BE06-E16D-DC3C465370B2}"/>
              </a:ext>
            </a:extLst>
          </p:cNvPr>
          <p:cNvSpPr>
            <a:spLocks noGrp="1"/>
          </p:cNvSpPr>
          <p:nvPr>
            <p:ph idx="1"/>
          </p:nvPr>
        </p:nvSpPr>
        <p:spPr>
          <a:xfrm>
            <a:off x="838200" y="1825624"/>
            <a:ext cx="10909151" cy="4811843"/>
          </a:xfrm>
        </p:spPr>
        <p:txBody>
          <a:bodyPr wrap="square">
            <a:noAutofit/>
          </a:bodyPr>
          <a:lstStyle/>
          <a:p>
            <a:pPr>
              <a:lnSpc>
                <a:spcPct val="100000"/>
              </a:lnSpc>
              <a:spcAft>
                <a:spcPts val="700"/>
              </a:spcAft>
            </a:pPr>
            <a:r>
              <a:rPr lang="en-US" b="1">
                <a:latin typeface="Calibri Light" panose="020F0302020204030204" pitchFamily="34" charset="0"/>
              </a:rPr>
              <a:t>The meaning of a turn depends on the surrounding conversation.</a:t>
            </a:r>
          </a:p>
          <a:p>
            <a:pPr>
              <a:lnSpc>
                <a:spcPct val="100000"/>
              </a:lnSpc>
              <a:spcAft>
                <a:spcPts val="700"/>
              </a:spcAft>
            </a:pPr>
            <a:r>
              <a:rPr lang="en-US" b="1">
                <a:latin typeface="Calibri Light" panose="020F0302020204030204" pitchFamily="34" charset="0"/>
              </a:rPr>
              <a:t>Transformers represent local conversational context.</a:t>
            </a:r>
          </a:p>
          <a:p>
            <a:pPr>
              <a:lnSpc>
                <a:spcPct val="100000"/>
              </a:lnSpc>
              <a:spcAft>
                <a:spcPts val="700"/>
              </a:spcAft>
            </a:pPr>
            <a:r>
              <a:rPr lang="en-US" b="1">
                <a:latin typeface="Calibri Light" panose="020F0302020204030204" pitchFamily="34" charset="0"/>
              </a:rPr>
              <a:t>Behavioral evidence develops across multiple turns.</a:t>
            </a:r>
          </a:p>
          <a:p>
            <a:pPr>
              <a:lnSpc>
                <a:spcPct val="100000"/>
              </a:lnSpc>
              <a:spcAft>
                <a:spcPts val="700"/>
              </a:spcAft>
            </a:pPr>
            <a:r>
              <a:rPr lang="en-US" b="1">
                <a:latin typeface="Calibri Light" panose="020F0302020204030204" pitchFamily="34" charset="0"/>
              </a:rPr>
              <a:t>Sequence models can learn how that evidence changes over time.</a:t>
            </a:r>
            <a:endParaRPr>
              <a:latin typeface="Calibri Light" panose="020F0302020204030204" pitchFamily="34" charset="0"/>
            </a:endParaRPr>
          </a:p>
        </p:txBody>
      </p:sp>
    </p:spTree>
    <p:extLst>
      <p:ext uri="{BB962C8B-B14F-4D97-AF65-F5344CB8AC3E}">
        <p14:creationId xmlns:p14="http://schemas.microsoft.com/office/powerpoint/2010/main" val="2185711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1058-A08A-BE33-9A5D-98508987B929}"/>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Theory and Dataset Selection</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EDE0EA88-01C6-C8C6-6AC1-131A16198D5B}"/>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B8460E8E-EA77-813E-7594-557E98DBF70C}"/>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OGDM describes grooming as a developing conversational process.</a:t>
            </a:r>
          </a:p>
          <a:p>
            <a:pPr>
              <a:spcAft>
                <a:spcPts val="1500"/>
              </a:spcAft>
            </a:pPr>
            <a:r>
              <a:rPr lang="en-US" sz="2500">
                <a:solidFill>
                  <a:srgbClr val="191F28"/>
                </a:solidFill>
                <a:latin typeface="Calibri Light" panose="020F0302020204030204" pitchFamily="34" charset="0"/>
              </a:rPr>
              <a:t>The model tracks persistence, changes, and interaction patterns.</a:t>
            </a:r>
          </a:p>
          <a:p>
            <a:pPr>
              <a:spcAft>
                <a:spcPts val="1500"/>
              </a:spcAft>
            </a:pPr>
            <a:r>
              <a:rPr lang="en-US" sz="2500">
                <a:solidFill>
                  <a:srgbClr val="191F28"/>
                </a:solidFill>
                <a:latin typeface="Calibri Light" panose="020F0302020204030204" pitchFamily="34" charset="0"/>
              </a:rPr>
              <a:t>PAN-2012 provides ordered conversations and persistent speaker IDs.</a:t>
            </a:r>
          </a:p>
          <a:p>
            <a:pPr>
              <a:spcAft>
                <a:spcPts val="1500"/>
              </a:spcAft>
            </a:pPr>
            <a:r>
              <a:rPr lang="en-US" sz="2500">
                <a:solidFill>
                  <a:srgbClr val="191F28"/>
                </a:solidFill>
                <a:latin typeface="Calibri Light" panose="020F0302020204030204" pitchFamily="34" charset="0"/>
              </a:rPr>
              <a:t>These properties support trajectory analysis and author-group testing.</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163701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How OGDM Informs the Features</a:t>
            </a:r>
            <a:endParaRPr sz="3400">
              <a:solidFill>
                <a:schemeClr val="accent1">
                  <a:lumMod val="75000"/>
                </a:schemeClr>
              </a:solidFill>
            </a:endParaRPr>
          </a:p>
        </p:txBody>
      </p:sp>
      <p:graphicFrame>
        <p:nvGraphicFramePr>
          <p:cNvPr id="3" name="Evidence table">
            <a:extLst>
              <a:ext uri="{FF2B5EF4-FFF2-40B4-BE49-F238E27FC236}">
                <a16:creationId xmlns:a16="http://schemas.microsoft.com/office/drawing/2014/main" id="{66B26F94-C6FC-C85B-F9DD-4FD83B3FA049}"/>
              </a:ext>
            </a:extLst>
          </p:cNvPr>
          <p:cNvGraphicFramePr>
            <a:graphicFrameLocks noGrp="1"/>
          </p:cNvGraphicFramePr>
          <p:nvPr>
            <p:extLst>
              <p:ext uri="{D42A27DB-BD31-4B8C-83A1-F6EECF244321}">
                <p14:modId xmlns:p14="http://schemas.microsoft.com/office/powerpoint/2010/main" val="1027191965"/>
              </p:ext>
            </p:extLst>
          </p:nvPr>
        </p:nvGraphicFramePr>
        <p:xfrm>
          <a:off x="685800" y="1841500"/>
          <a:ext cx="10795000" cy="3606800"/>
        </p:xfrm>
        <a:graphic>
          <a:graphicData uri="http://schemas.openxmlformats.org/drawingml/2006/table">
            <a:tbl>
              <a:tblPr firstRow="1" bandRow="1">
                <a:tableStyleId>{5C22544A-7EE6-4342-B048-85BDC9FD1C3A}</a:tableStyleId>
              </a:tblPr>
              <a:tblGrid>
                <a:gridCol w="4508500">
                  <a:extLst>
                    <a:ext uri="{9D8B030D-6E8A-4147-A177-3AD203B41FA5}">
                      <a16:colId xmlns:a16="http://schemas.microsoft.com/office/drawing/2014/main" val="1143059944"/>
                    </a:ext>
                  </a:extLst>
                </a:gridCol>
                <a:gridCol w="6286500">
                  <a:extLst>
                    <a:ext uri="{9D8B030D-6E8A-4147-A177-3AD203B41FA5}">
                      <a16:colId xmlns:a16="http://schemas.microsoft.com/office/drawing/2014/main" val="1544061047"/>
                    </a:ext>
                  </a:extLst>
                </a:gridCol>
              </a:tblGrid>
              <a:tr h="721360">
                <a:tc>
                  <a:txBody>
                    <a:bodyPr/>
                    <a:lstStyle/>
                    <a:p>
                      <a:r>
                        <a:rPr lang="en-PH" sz="2200" b="1">
                          <a:solidFill>
                            <a:srgbClr val="191F28"/>
                          </a:solidFill>
                          <a:latin typeface="Calibri" panose="020F0502020204030204" pitchFamily="34" charset="0"/>
                        </a:rPr>
                        <a:t>Conversational property</a:t>
                      </a:r>
                    </a:p>
                  </a:txBody>
                  <a:tcPr marL="101600" marR="101600" marT="76200" marB="76200" anchor="ctr">
                    <a:solidFill>
                      <a:srgbClr val="E0E8F1"/>
                    </a:solidFill>
                  </a:tcPr>
                </a:tc>
                <a:tc>
                  <a:txBody>
                    <a:bodyPr/>
                    <a:lstStyle/>
                    <a:p>
                      <a:r>
                        <a:rPr lang="en-PH" sz="2200" b="1">
                          <a:solidFill>
                            <a:srgbClr val="191F28"/>
                          </a:solidFill>
                          <a:latin typeface="Calibri" panose="020F0502020204030204" pitchFamily="34" charset="0"/>
                        </a:rPr>
                        <a:t>Features used</a:t>
                      </a:r>
                    </a:p>
                  </a:txBody>
                  <a:tcPr marL="101600" marR="101600" marT="76200" marB="76200" anchor="ctr">
                    <a:solidFill>
                      <a:srgbClr val="E0E8F1"/>
                    </a:solidFill>
                  </a:tcPr>
                </a:tc>
                <a:extLst>
                  <a:ext uri="{0D108BD9-81ED-4DB2-BD59-A6C34878D82A}">
                    <a16:rowId xmlns:a16="http://schemas.microsoft.com/office/drawing/2014/main" val="842626567"/>
                  </a:ext>
                </a:extLst>
              </a:tr>
              <a:tr h="721360">
                <a:tc>
                  <a:txBody>
                    <a:bodyPr/>
                    <a:lstStyle/>
                    <a:p>
                      <a:r>
                        <a:rPr lang="en-PH" sz="2200" b="0">
                          <a:solidFill>
                            <a:srgbClr val="191F28"/>
                          </a:solidFill>
                          <a:latin typeface="Calibri" panose="020F0502020204030204" pitchFamily="34" charset="0"/>
                        </a:rPr>
                        <a:t>Accumulation and persistence</a:t>
                      </a:r>
                    </a:p>
                  </a:txBody>
                  <a:tcPr marL="101600" marR="101600" marT="76200" marB="76200" anchor="ctr">
                    <a:solidFill>
                      <a:srgbClr val="FFFFFF"/>
                    </a:solidFill>
                  </a:tcPr>
                </a:tc>
                <a:tc>
                  <a:txBody>
                    <a:bodyPr/>
                    <a:lstStyle/>
                    <a:p>
                      <a:r>
                        <a:rPr lang="en-US" sz="2200" b="0">
                          <a:solidFill>
                            <a:srgbClr val="191F28"/>
                          </a:solidFill>
                          <a:latin typeface="Calibri" panose="020F0502020204030204" pitchFamily="34" charset="0"/>
                        </a:rPr>
                        <a:t>Peak score, current score, spike count</a:t>
                      </a:r>
                      <a:endParaRPr lang="en-PH" sz="22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1308661531"/>
                  </a:ext>
                </a:extLst>
              </a:tr>
              <a:tr h="721360">
                <a:tc>
                  <a:txBody>
                    <a:bodyPr/>
                    <a:lstStyle/>
                    <a:p>
                      <a:r>
                        <a:rPr lang="en-PH" sz="2200" b="0">
                          <a:solidFill>
                            <a:srgbClr val="191F28"/>
                          </a:solidFill>
                          <a:latin typeface="Calibri" panose="020F0502020204030204" pitchFamily="34" charset="0"/>
                        </a:rPr>
                        <a:t>Escalation and retreat</a:t>
                      </a:r>
                    </a:p>
                  </a:txBody>
                  <a:tcPr marL="101600" marR="101600" marT="76200" marB="76200" anchor="ctr">
                    <a:solidFill>
                      <a:srgbClr val="FFFFFF"/>
                    </a:solidFill>
                  </a:tcPr>
                </a:tc>
                <a:tc>
                  <a:txBody>
                    <a:bodyPr/>
                    <a:lstStyle/>
                    <a:p>
                      <a:r>
                        <a:rPr lang="en-PH" sz="2200" b="0">
                          <a:solidFill>
                            <a:srgbClr val="191F28"/>
                          </a:solidFill>
                          <a:latin typeface="Calibri" panose="020F0502020204030204" pitchFamily="34" charset="0"/>
                        </a:rPr>
                        <a:t>Rate of change, spike-then-drop</a:t>
                      </a:r>
                    </a:p>
                  </a:txBody>
                  <a:tcPr marL="101600" marR="101600" marT="76200" marB="76200" anchor="ctr">
                    <a:solidFill>
                      <a:srgbClr val="FFFFFF"/>
                    </a:solidFill>
                  </a:tcPr>
                </a:tc>
                <a:extLst>
                  <a:ext uri="{0D108BD9-81ED-4DB2-BD59-A6C34878D82A}">
                    <a16:rowId xmlns:a16="http://schemas.microsoft.com/office/drawing/2014/main" val="2130883091"/>
                  </a:ext>
                </a:extLst>
              </a:tr>
              <a:tr h="721360">
                <a:tc>
                  <a:txBody>
                    <a:bodyPr/>
                    <a:lstStyle/>
                    <a:p>
                      <a:r>
                        <a:rPr lang="en-PH" sz="2200" b="0">
                          <a:solidFill>
                            <a:srgbClr val="191F28"/>
                          </a:solidFill>
                          <a:latin typeface="Calibri" panose="020F0502020204030204" pitchFamily="34" charset="0"/>
                        </a:rPr>
                        <a:t>Movement in conversational content</a:t>
                      </a:r>
                    </a:p>
                  </a:txBody>
                  <a:tcPr marL="101600" marR="101600" marT="76200" marB="76200" anchor="ctr">
                    <a:solidFill>
                      <a:srgbClr val="FFFFFF"/>
                    </a:solidFill>
                  </a:tcPr>
                </a:tc>
                <a:tc>
                  <a:txBody>
                    <a:bodyPr/>
                    <a:lstStyle/>
                    <a:p>
                      <a:r>
                        <a:rPr lang="en-US" sz="2200" b="0">
                          <a:solidFill>
                            <a:srgbClr val="191F28"/>
                          </a:solidFill>
                          <a:latin typeface="Calibri" panose="020F0502020204030204" pitchFamily="34" charset="0"/>
                        </a:rPr>
                        <a:t>Topic distance from the benign training reference</a:t>
                      </a:r>
                      <a:endParaRPr lang="en-PH" sz="22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1962073543"/>
                  </a:ext>
                </a:extLst>
              </a:tr>
              <a:tr h="721360">
                <a:tc>
                  <a:txBody>
                    <a:bodyPr/>
                    <a:lstStyle/>
                    <a:p>
                      <a:r>
                        <a:rPr lang="en-PH" sz="2200" b="0">
                          <a:solidFill>
                            <a:srgbClr val="191F28"/>
                          </a:solidFill>
                          <a:latin typeface="Calibri" panose="020F0502020204030204" pitchFamily="34" charset="0"/>
                        </a:rPr>
                        <a:t>Interaction structure</a:t>
                      </a:r>
                    </a:p>
                  </a:txBody>
                  <a:tcPr marL="101600" marR="101600" marT="76200" marB="76200" anchor="ctr">
                    <a:solidFill>
                      <a:srgbClr val="FFFFFF"/>
                    </a:solidFill>
                  </a:tcPr>
                </a:tc>
                <a:tc>
                  <a:txBody>
                    <a:bodyPr/>
                    <a:lstStyle/>
                    <a:p>
                      <a:r>
                        <a:rPr lang="en-PH" sz="2200" b="0">
                          <a:solidFill>
                            <a:srgbClr val="191F28"/>
                          </a:solidFill>
                          <a:latin typeface="Calibri" panose="020F0502020204030204" pitchFamily="34" charset="0"/>
                        </a:rPr>
                        <a:t>Cumulative turn-taking imbalance</a:t>
                      </a:r>
                    </a:p>
                  </a:txBody>
                  <a:tcPr marL="101600" marR="101600" marT="76200" marB="76200" anchor="ctr">
                    <a:solidFill>
                      <a:srgbClr val="FFFFFF"/>
                    </a:solidFill>
                  </a:tcPr>
                </a:tc>
                <a:extLst>
                  <a:ext uri="{0D108BD9-81ED-4DB2-BD59-A6C34878D82A}">
                    <a16:rowId xmlns:a16="http://schemas.microsoft.com/office/drawing/2014/main" val="2424512005"/>
                  </a:ext>
                </a:extLst>
              </a:tr>
            </a:tbl>
          </a:graphicData>
        </a:graphic>
      </p:graphicFrame>
      <p:sp>
        <p:nvSpPr>
          <p:cNvPr id="6" name="Interpretation">
            <a:extLst>
              <a:ext uri="{FF2B5EF4-FFF2-40B4-BE49-F238E27FC236}">
                <a16:creationId xmlns:a16="http://schemas.microsoft.com/office/drawing/2014/main" id="{ADC6AA4B-AB5D-A030-9813-7E5727D2DE3A}"/>
              </a:ext>
            </a:extLst>
          </p:cNvPr>
          <p:cNvSpPr txBox="1"/>
          <p:nvPr/>
        </p:nvSpPr>
        <p:spPr>
          <a:xfrm>
            <a:off x="812800" y="5676900"/>
            <a:ext cx="10439400" cy="5461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The LSTM learns how these signals develop together across turns.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775542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AD7C-1915-C02D-55A4-9E64523BC0CF}"/>
              </a:ext>
            </a:extLst>
          </p:cNvPr>
          <p:cNvSpPr>
            <a:spLocks noGrp="1"/>
          </p:cNvSpPr>
          <p:nvPr>
            <p:ph type="title"/>
          </p:nvPr>
        </p:nvSpPr>
        <p:spPr/>
        <p:txBody>
          <a:bodyPr>
            <a:normAutofit/>
          </a:bodyPr>
          <a:lstStyle/>
          <a:p>
            <a:r>
              <a:rPr lang="en-PH"/>
              <a:t>Methodology</a:t>
            </a:r>
            <a:endParaRPr/>
          </a:p>
        </p:txBody>
      </p:sp>
      <p:sp>
        <p:nvSpPr>
          <p:cNvPr id="3" name="Text Placeholder 2">
            <a:extLst>
              <a:ext uri="{FF2B5EF4-FFF2-40B4-BE49-F238E27FC236}">
                <a16:creationId xmlns:a16="http://schemas.microsoft.com/office/drawing/2014/main" id="{5F4850A2-3852-8302-39D5-B2A6F6E7D26B}"/>
              </a:ext>
            </a:extLst>
          </p:cNvPr>
          <p:cNvSpPr>
            <a:spLocks noGrp="1"/>
          </p:cNvSpPr>
          <p:nvPr>
            <p:ph type="body" idx="1"/>
          </p:nvPr>
        </p:nvSpPr>
        <p:spPr/>
        <p:txBody>
          <a:bodyPr/>
          <a:lstStyle/>
          <a:p>
            <a:r>
              <a:rPr lang="en-US"/>
              <a:t>How the two-layer system was evaluated</a:t>
            </a:r>
            <a:endParaRPr/>
          </a:p>
        </p:txBody>
      </p:sp>
    </p:spTree>
    <p:extLst>
      <p:ext uri="{BB962C8B-B14F-4D97-AF65-F5344CB8AC3E}">
        <p14:creationId xmlns:p14="http://schemas.microsoft.com/office/powerpoint/2010/main" val="2780746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6913-EAEA-8B97-D32E-31E06E13A28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AI Model Architecture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AE47215D-E5CE-47B1-FCFE-617B4EAA2608}"/>
              </a:ext>
            </a:extLst>
          </p:cNvPr>
          <p:cNvSpPr>
            <a:spLocks noGrp="1"/>
          </p:cNvSpPr>
          <p:nvPr>
            <p:ph idx="1"/>
          </p:nvPr>
        </p:nvSpPr>
        <p:spPr/>
        <p:txBody>
          <a:bodyPr/>
          <a:lstStyle/>
          <a:p>
            <a:endParaRPr lang="en-PH"/>
          </a:p>
        </p:txBody>
      </p:sp>
      <p:sp>
        <p:nvSpPr>
          <p:cNvPr id="5" name="Current turn input">
            <a:extLst>
              <a:ext uri="{FF2B5EF4-FFF2-40B4-BE49-F238E27FC236}">
                <a16:creationId xmlns:a16="http://schemas.microsoft.com/office/drawing/2014/main" id="{E6895191-94C9-2F5B-0946-D1B793400C72}"/>
              </a:ext>
            </a:extLst>
          </p:cNvPr>
          <p:cNvSpPr/>
          <p:nvPr/>
        </p:nvSpPr>
        <p:spPr>
          <a:xfrm>
            <a:off x="609600" y="2552700"/>
            <a:ext cx="2032000" cy="13208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200">
                <a:solidFill>
                  <a:srgbClr val="191F28"/>
                </a:solidFill>
                <a:latin typeface="Calibri" panose="020F0502020204030204" pitchFamily="34" charset="0"/>
              </a:rPr>
              <a:t>Current turn</a:t>
            </a:r>
          </a:p>
          <a:p>
            <a:pPr algn="ctr"/>
            <a:r>
              <a:rPr lang="en-US" sz="2200">
                <a:solidFill>
                  <a:srgbClr val="191F28"/>
                </a:solidFill>
                <a:latin typeface="Calibri" panose="020F0502020204030204" pitchFamily="34" charset="0"/>
              </a:rPr>
              <a:t>+ up to two</a:t>
            </a:r>
          </a:p>
          <a:p>
            <a:pPr algn="ctr"/>
            <a:r>
              <a:rPr lang="en-US" sz="2200">
                <a:solidFill>
                  <a:srgbClr val="191F28"/>
                </a:solidFill>
                <a:latin typeface="Calibri" panose="020F0502020204030204" pitchFamily="34" charset="0"/>
              </a:rPr>
              <a:t>previous turns</a:t>
            </a:r>
            <a:endParaRPr lang="en-PH" sz="2200">
              <a:solidFill>
                <a:srgbClr val="191F28"/>
              </a:solidFill>
              <a:latin typeface="Calibri" panose="020F0502020204030204" pitchFamily="34" charset="0"/>
            </a:endParaRPr>
          </a:p>
        </p:txBody>
      </p:sp>
      <p:sp>
        <p:nvSpPr>
          <p:cNvPr id="6" name="Context classifier">
            <a:extLst>
              <a:ext uri="{FF2B5EF4-FFF2-40B4-BE49-F238E27FC236}">
                <a16:creationId xmlns:a16="http://schemas.microsoft.com/office/drawing/2014/main" id="{B1D94D3D-F46A-F928-3E33-ACE425F7AE27}"/>
              </a:ext>
            </a:extLst>
          </p:cNvPr>
          <p:cNvSpPr/>
          <p:nvPr/>
        </p:nvSpPr>
        <p:spPr>
          <a:xfrm>
            <a:off x="3111500" y="19431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1: DistilBERT</a:t>
            </a:r>
          </a:p>
          <a:p>
            <a:pPr algn="ctr"/>
            <a:r>
              <a:rPr lang="en-US" sz="2100">
                <a:solidFill>
                  <a:srgbClr val="191F28"/>
                </a:solidFill>
                <a:latin typeface="Calibri" panose="020F0502020204030204" pitchFamily="34" charset="0"/>
              </a:rPr>
              <a:t>Author-derived</a:t>
            </a:r>
          </a:p>
          <a:p>
            <a:pPr algn="ctr"/>
            <a:r>
              <a:rPr lang="en-US" sz="2100">
                <a:solidFill>
                  <a:srgbClr val="191F28"/>
                </a:solidFill>
                <a:latin typeface="Calibri" panose="020F0502020204030204" pitchFamily="34" charset="0"/>
              </a:rPr>
              <a:t>proxy score</a:t>
            </a:r>
            <a:endParaRPr lang="en-PH" sz="2100">
              <a:solidFill>
                <a:srgbClr val="191F28"/>
              </a:solidFill>
              <a:latin typeface="Calibri" panose="020F0502020204030204" pitchFamily="34" charset="0"/>
            </a:endParaRPr>
          </a:p>
        </p:txBody>
      </p:sp>
      <p:sp>
        <p:nvSpPr>
          <p:cNvPr id="8" name="Base encoder">
            <a:extLst>
              <a:ext uri="{FF2B5EF4-FFF2-40B4-BE49-F238E27FC236}">
                <a16:creationId xmlns:a16="http://schemas.microsoft.com/office/drawing/2014/main" id="{61BE1F36-041B-4B5F-7A71-5C5767617604}"/>
              </a:ext>
            </a:extLst>
          </p:cNvPr>
          <p:cNvSpPr/>
          <p:nvPr/>
        </p:nvSpPr>
        <p:spPr>
          <a:xfrm>
            <a:off x="3111500" y="42799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900">
                <a:solidFill>
                  <a:srgbClr val="191F28"/>
                </a:solidFill>
                <a:latin typeface="Calibri" panose="020F0502020204030204" pitchFamily="34" charset="0"/>
              </a:rPr>
              <a:t>Fixed base encoder</a:t>
            </a:r>
          </a:p>
          <a:p>
            <a:pPr algn="ctr"/>
            <a:r>
              <a:rPr lang="en-US" sz="1900">
                <a:solidFill>
                  <a:srgbClr val="191F28"/>
                </a:solidFill>
                <a:latin typeface="Calibri" panose="020F0502020204030204" pitchFamily="34" charset="0"/>
              </a:rPr>
              <a:t>Current-turn embedding</a:t>
            </a:r>
          </a:p>
          <a:p>
            <a:pPr algn="ctr"/>
            <a:r>
              <a:rPr lang="en-US" sz="1900">
                <a:solidFill>
                  <a:srgbClr val="191F28"/>
                </a:solidFill>
                <a:latin typeface="Calibri" panose="020F0502020204030204" pitchFamily="34" charset="0"/>
              </a:rPr>
              <a:t>+ training reference</a:t>
            </a:r>
            <a:endParaRPr lang="en-PH" sz="1900">
              <a:solidFill>
                <a:srgbClr val="191F28"/>
              </a:solidFill>
              <a:latin typeface="Calibri" panose="020F0502020204030204" pitchFamily="34" charset="0"/>
            </a:endParaRPr>
          </a:p>
        </p:txBody>
      </p:sp>
      <p:sp>
        <p:nvSpPr>
          <p:cNvPr id="9" name="Trajectory features">
            <a:extLst>
              <a:ext uri="{FF2B5EF4-FFF2-40B4-BE49-F238E27FC236}">
                <a16:creationId xmlns:a16="http://schemas.microsoft.com/office/drawing/2014/main" id="{3DD60086-D214-9E72-8168-A28885D575F6}"/>
              </a:ext>
            </a:extLst>
          </p:cNvPr>
          <p:cNvSpPr/>
          <p:nvPr/>
        </p:nvSpPr>
        <p:spPr>
          <a:xfrm>
            <a:off x="6350000" y="1943100"/>
            <a:ext cx="2781300" cy="35687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000">
                <a:solidFill>
                  <a:srgbClr val="191F28"/>
                </a:solidFill>
                <a:latin typeface="Calibri" panose="020F0502020204030204" pitchFamily="34" charset="0"/>
              </a:rPr>
              <a:t>Seven features</a:t>
            </a:r>
          </a:p>
          <a:p>
            <a:pPr algn="ctr"/>
            <a:endParaRPr lang="en-US" sz="2000">
              <a:solidFill>
                <a:srgbClr val="191F28"/>
              </a:solidFill>
              <a:latin typeface="Calibri" panose="020F0502020204030204" pitchFamily="34" charset="0"/>
            </a:endParaRPr>
          </a:p>
          <a:p>
            <a:pPr algn="ctr"/>
            <a:r>
              <a:rPr lang="en-US" sz="2000">
                <a:solidFill>
                  <a:srgbClr val="191F28"/>
                </a:solidFill>
                <a:latin typeface="Calibri" panose="020F0502020204030204" pitchFamily="34" charset="0"/>
              </a:rPr>
              <a:t>Peak / current score</a:t>
            </a:r>
          </a:p>
          <a:p>
            <a:pPr algn="ctr"/>
            <a:r>
              <a:rPr lang="en-US" sz="2000">
                <a:solidFill>
                  <a:srgbClr val="191F28"/>
                </a:solidFill>
                <a:latin typeface="Calibri" panose="020F0502020204030204" pitchFamily="34" charset="0"/>
              </a:rPr>
              <a:t>Spike count / drop</a:t>
            </a:r>
          </a:p>
          <a:p>
            <a:pPr algn="ctr"/>
            <a:r>
              <a:rPr lang="en-US" sz="2000">
                <a:solidFill>
                  <a:srgbClr val="191F28"/>
                </a:solidFill>
                <a:latin typeface="Calibri" panose="020F0502020204030204" pitchFamily="34" charset="0"/>
              </a:rPr>
              <a:t>Rate of change</a:t>
            </a:r>
          </a:p>
          <a:p>
            <a:pPr algn="ctr"/>
            <a:r>
              <a:rPr lang="en-US" sz="2000">
                <a:solidFill>
                  <a:srgbClr val="191F28"/>
                </a:solidFill>
                <a:latin typeface="Calibri" panose="020F0502020204030204" pitchFamily="34" charset="0"/>
              </a:rPr>
              <a:t>Topic distance</a:t>
            </a:r>
          </a:p>
          <a:p>
            <a:pPr algn="ctr"/>
            <a:r>
              <a:rPr lang="en-US" sz="2000">
                <a:solidFill>
                  <a:srgbClr val="191F28"/>
                </a:solidFill>
                <a:latin typeface="Calibri" panose="020F0502020204030204" pitchFamily="34" charset="0"/>
              </a:rPr>
              <a:t>Turn imbalance</a:t>
            </a:r>
            <a:endParaRPr lang="en-PH" sz="2000">
              <a:solidFill>
                <a:srgbClr val="191F28"/>
              </a:solidFill>
              <a:latin typeface="Calibri" panose="020F0502020204030204" pitchFamily="34" charset="0"/>
            </a:endParaRPr>
          </a:p>
        </p:txBody>
      </p:sp>
      <p:sp>
        <p:nvSpPr>
          <p:cNvPr id="10" name="Sequence model">
            <a:extLst>
              <a:ext uri="{FF2B5EF4-FFF2-40B4-BE49-F238E27FC236}">
                <a16:creationId xmlns:a16="http://schemas.microsoft.com/office/drawing/2014/main" id="{3A5AF613-2F19-8CB6-A0F8-1E0AB1DECBFA}"/>
              </a:ext>
            </a:extLst>
          </p:cNvPr>
          <p:cNvSpPr/>
          <p:nvPr/>
        </p:nvSpPr>
        <p:spPr>
          <a:xfrm>
            <a:off x="9588500" y="1943100"/>
            <a:ext cx="2070100" cy="13335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2: LSTM</a:t>
            </a:r>
          </a:p>
          <a:p>
            <a:pPr algn="ctr"/>
            <a:r>
              <a:rPr lang="en-US" sz="2100">
                <a:solidFill>
                  <a:srgbClr val="191F28"/>
                </a:solidFill>
                <a:latin typeface="Calibri" panose="020F0502020204030204" pitchFamily="34" charset="0"/>
              </a:rPr>
              <a:t>Ordered feature sequence</a:t>
            </a:r>
            <a:endParaRPr lang="en-PH" sz="2100">
              <a:solidFill>
                <a:srgbClr val="191F28"/>
              </a:solidFill>
              <a:latin typeface="Calibri" panose="020F0502020204030204" pitchFamily="34" charset="0"/>
            </a:endParaRPr>
          </a:p>
        </p:txBody>
      </p:sp>
      <p:sp>
        <p:nvSpPr>
          <p:cNvPr id="11" name="Review decision">
            <a:extLst>
              <a:ext uri="{FF2B5EF4-FFF2-40B4-BE49-F238E27FC236}">
                <a16:creationId xmlns:a16="http://schemas.microsoft.com/office/drawing/2014/main" id="{7413A3D3-841E-984E-A4A2-1DE4FE91C837}"/>
              </a:ext>
            </a:extLst>
          </p:cNvPr>
          <p:cNvSpPr/>
          <p:nvPr/>
        </p:nvSpPr>
        <p:spPr>
          <a:xfrm>
            <a:off x="9588500" y="4279900"/>
            <a:ext cx="2070100" cy="12319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800">
                <a:solidFill>
                  <a:srgbClr val="191F28"/>
                </a:solidFill>
                <a:latin typeface="Calibri" panose="020F0502020204030204" pitchFamily="34" charset="0"/>
              </a:rPr>
              <a:t>Conversation score</a:t>
            </a:r>
          </a:p>
          <a:p>
            <a:pPr algn="ctr"/>
            <a:r>
              <a:rPr lang="en-US" sz="1800">
                <a:solidFill>
                  <a:srgbClr val="191F28"/>
                </a:solidFill>
                <a:latin typeface="Calibri" panose="020F0502020204030204" pitchFamily="34" charset="0"/>
              </a:rPr>
              <a:t>F2-selected cutoff</a:t>
            </a:r>
          </a:p>
          <a:p>
            <a:pPr algn="ctr"/>
            <a:r>
              <a:rPr lang="en-US" sz="1800">
                <a:solidFill>
                  <a:srgbClr val="191F28"/>
                </a:solidFill>
                <a:latin typeface="Calibri" panose="020F0502020204030204" pitchFamily="34" charset="0"/>
              </a:rPr>
              <a:t>Human review</a:t>
            </a:r>
            <a:endParaRPr lang="en-PH" sz="2000">
              <a:solidFill>
                <a:srgbClr val="191F28"/>
              </a:solidFill>
              <a:latin typeface="Calibri" panose="020F0502020204030204" pitchFamily="34" charset="0"/>
            </a:endParaRPr>
          </a:p>
        </p:txBody>
      </p:sp>
      <p:cxnSp>
        <p:nvCxnSpPr>
          <p:cNvPr id="12" name="Straight Connector 11">
            <a:extLst>
              <a:ext uri="{FF2B5EF4-FFF2-40B4-BE49-F238E27FC236}">
                <a16:creationId xmlns:a16="http://schemas.microsoft.com/office/drawing/2014/main" id="{2EAA3094-7942-EA33-2570-2EB75C687840}"/>
              </a:ext>
            </a:extLst>
          </p:cNvPr>
          <p:cNvCxnSpPr/>
          <p:nvPr/>
        </p:nvCxnSpPr>
        <p:spPr>
          <a:xfrm>
            <a:off x="2641600" y="28448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5489064-505C-13B2-96F1-5EDB044C3D54}"/>
              </a:ext>
            </a:extLst>
          </p:cNvPr>
          <p:cNvCxnSpPr/>
          <p:nvPr/>
        </p:nvCxnSpPr>
        <p:spPr>
          <a:xfrm flipV="1">
            <a:off x="2882900" y="2552700"/>
            <a:ext cx="0" cy="2921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F3CA9F5-FB78-DA19-424A-82EC903F4FD4}"/>
              </a:ext>
            </a:extLst>
          </p:cNvPr>
          <p:cNvCxnSpPr/>
          <p:nvPr/>
        </p:nvCxnSpPr>
        <p:spPr>
          <a:xfrm>
            <a:off x="2882900" y="25527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33E58E-F8FF-8BE9-7353-223A7419862C}"/>
              </a:ext>
            </a:extLst>
          </p:cNvPr>
          <p:cNvCxnSpPr/>
          <p:nvPr/>
        </p:nvCxnSpPr>
        <p:spPr>
          <a:xfrm>
            <a:off x="2641600" y="35306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A13E255-0385-DF91-BC35-7E014906115D}"/>
              </a:ext>
            </a:extLst>
          </p:cNvPr>
          <p:cNvCxnSpPr/>
          <p:nvPr/>
        </p:nvCxnSpPr>
        <p:spPr>
          <a:xfrm>
            <a:off x="2882900" y="3530600"/>
            <a:ext cx="0" cy="13589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C7AA78B-BD31-2EE1-CB06-98438A006AC9}"/>
              </a:ext>
            </a:extLst>
          </p:cNvPr>
          <p:cNvCxnSpPr/>
          <p:nvPr/>
        </p:nvCxnSpPr>
        <p:spPr>
          <a:xfrm>
            <a:off x="2882900" y="48895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E2C3102-0168-249B-BD5F-A675CA2D54F1}"/>
              </a:ext>
            </a:extLst>
          </p:cNvPr>
          <p:cNvCxnSpPr/>
          <p:nvPr/>
        </p:nvCxnSpPr>
        <p:spPr>
          <a:xfrm>
            <a:off x="5867400" y="25527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C9E530-0149-E4D0-3980-60D516A6612F}"/>
              </a:ext>
            </a:extLst>
          </p:cNvPr>
          <p:cNvCxnSpPr/>
          <p:nvPr/>
        </p:nvCxnSpPr>
        <p:spPr>
          <a:xfrm>
            <a:off x="5867400" y="48895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2FC4FD5-A87E-B20E-E14A-DD30449C7DC3}"/>
              </a:ext>
            </a:extLst>
          </p:cNvPr>
          <p:cNvCxnSpPr/>
          <p:nvPr/>
        </p:nvCxnSpPr>
        <p:spPr>
          <a:xfrm>
            <a:off x="9131300" y="2552700"/>
            <a:ext cx="4572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9AB3E0-5991-5352-E474-387DEA8287BC}"/>
              </a:ext>
            </a:extLst>
          </p:cNvPr>
          <p:cNvCxnSpPr/>
          <p:nvPr/>
        </p:nvCxnSpPr>
        <p:spPr>
          <a:xfrm>
            <a:off x="10617200" y="3276600"/>
            <a:ext cx="0" cy="10033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sp>
        <p:nvSpPr>
          <p:cNvPr id="22" name="Architecture summary">
            <a:extLst>
              <a:ext uri="{FF2B5EF4-FFF2-40B4-BE49-F238E27FC236}">
                <a16:creationId xmlns:a16="http://schemas.microsoft.com/office/drawing/2014/main" id="{19E48753-796B-3305-A838-5BD816C00558}"/>
              </a:ext>
            </a:extLst>
          </p:cNvPr>
          <p:cNvSpPr txBox="1"/>
          <p:nvPr/>
        </p:nvSpPr>
        <p:spPr>
          <a:xfrm>
            <a:off x="812800" y="5854700"/>
            <a:ext cx="10541000" cy="533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Each new turn updates the feature sequence and the conversation score.</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252218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8E86-068B-D8BF-990F-DD00E04F07CA}"/>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Data Preparation and Controls</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BEDF5418-4BDF-08F8-4432-E5ACBFE37D3A}"/>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0374AA72-95E7-9C0D-7715-0792530F6F50}"/>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Keep valid, ordered two-speaker conversations. Build the benign reference and keyword list from training data. Use validation to choose models and final F2 cutoffs. Apply those cutoffs to saved test scores.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483455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Why Authors Stay in One Partition</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A567BBC8-0432-20E4-9AD0-B37EC311679D}"/>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700">
                <a:solidFill>
                  <a:srgbClr val="191F28"/>
                </a:solidFill>
                <a:latin typeface="Calibri Light" panose="020F0302020204030204" pitchFamily="34" charset="0"/>
              </a:rPr>
              <a:t>Conversations that share an author belong to one connected group.</a:t>
            </a:r>
          </a:p>
          <a:p>
            <a:pPr>
              <a:spcAft>
                <a:spcPts val="1500"/>
              </a:spcAft>
            </a:pPr>
            <a:r>
              <a:rPr lang="en-US" sz="2700">
                <a:solidFill>
                  <a:srgbClr val="191F28"/>
                </a:solidFill>
                <a:latin typeface="Calibri Light" panose="020F0302020204030204" pitchFamily="34" charset="0"/>
              </a:rPr>
              <a:t>Each entire group goes into training, validation, or test.</a:t>
            </a:r>
          </a:p>
          <a:p>
            <a:pPr>
              <a:spcAft>
                <a:spcPts val="1500"/>
              </a:spcAft>
            </a:pPr>
            <a:r>
              <a:rPr lang="en-US" sz="2700">
                <a:solidFill>
                  <a:srgbClr val="191F28"/>
                </a:solidFill>
                <a:latin typeface="Calibri Light" panose="020F0302020204030204" pitchFamily="34" charset="0"/>
              </a:rPr>
              <a:t>This prevents the model from meeting the same author across splits.</a:t>
            </a:r>
          </a:p>
          <a:p>
            <a:pPr>
              <a:spcAft>
                <a:spcPts val="1500"/>
              </a:spcAft>
            </a:pPr>
            <a:r>
              <a:rPr lang="en-US" sz="2700">
                <a:solidFill>
                  <a:srgbClr val="191F28"/>
                </a:solidFill>
                <a:latin typeface="Calibri Light" panose="020F0302020204030204" pitchFamily="34" charset="0"/>
              </a:rPr>
              <a:t>The final test contains unseen author groups.</a:t>
            </a:r>
            <a:endParaRPr lang="en-PH" sz="27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852368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C6D1-29B6-538B-7D25-7C5544CC89C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Models Compared Fairly</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F2C7DB05-330E-CFEE-9864-80C9E88E5EAE}"/>
              </a:ext>
            </a:extLst>
          </p:cNvPr>
          <p:cNvSpPr>
            <a:spLocks noGrp="1"/>
          </p:cNvSpPr>
          <p:nvPr>
            <p:ph idx="1"/>
          </p:nvPr>
        </p:nvSpPr>
        <p:spPr>
          <a:xfrm>
            <a:off x="838200" y="1825624"/>
            <a:ext cx="10417629" cy="4812919"/>
          </a:xfrm>
        </p:spPr>
        <p:txBody>
          <a:bodyPr wrap="square">
            <a:noAutofit/>
          </a:bodyPr>
          <a:lstStyle/>
          <a:p>
            <a:pPr>
              <a:lnSpc>
                <a:spcPct val="100000"/>
              </a:lnSpc>
              <a:spcAft>
                <a:spcPts val="700"/>
              </a:spcAft>
            </a:pPr>
            <a:r>
              <a:rPr lang="en-US" sz="2400" b="1">
                <a:latin typeface="Calibri Light" panose="020F0302020204030204" pitchFamily="34" charset="0"/>
              </a:rPr>
              <a:t>Trajectory-Feature LSTM: seven behavioral features.</a:t>
            </a:r>
          </a:p>
          <a:p>
            <a:pPr>
              <a:lnSpc>
                <a:spcPct val="100000"/>
              </a:lnSpc>
              <a:spcAft>
                <a:spcPts val="700"/>
              </a:spcAft>
            </a:pPr>
            <a:r>
              <a:rPr lang="en-US" sz="2400" b="1">
                <a:latin typeface="Calibri Light" panose="020F0302020204030204" pitchFamily="34" charset="0"/>
              </a:rPr>
              <a:t>Embedding-and-Feature LSTM: those features plus 768 text-embedding values.</a:t>
            </a:r>
          </a:p>
          <a:p>
            <a:pPr>
              <a:lnSpc>
                <a:spcPct val="100000"/>
              </a:lnSpc>
              <a:spcAft>
                <a:spcPts val="700"/>
              </a:spcAft>
            </a:pPr>
            <a:r>
              <a:rPr lang="en-US" sz="2400" b="1">
                <a:latin typeface="Calibri Light" panose="020F0302020204030204" pitchFamily="34" charset="0"/>
              </a:rPr>
              <a:t>Both use contextual DistilBERT upstream.</a:t>
            </a:r>
          </a:p>
          <a:p>
            <a:pPr>
              <a:lnSpc>
                <a:spcPct val="100000"/>
              </a:lnSpc>
              <a:spcAft>
                <a:spcPts val="700"/>
              </a:spcAft>
            </a:pPr>
            <a:r>
              <a:rPr lang="en-US" sz="2400" b="1">
                <a:latin typeface="Calibri Light" panose="020F0302020204030204" pitchFamily="34" charset="0"/>
              </a:rPr>
              <a:t>Weighted scoring uses the same seven features as the trajectory variant.</a:t>
            </a:r>
            <a:endParaRPr sz="2400">
              <a:latin typeface="Calibri Light" panose="020F0302020204030204" pitchFamily="34" charset="0"/>
            </a:endParaRPr>
          </a:p>
        </p:txBody>
      </p:sp>
    </p:spTree>
    <p:extLst>
      <p:ext uri="{BB962C8B-B14F-4D97-AF65-F5344CB8AC3E}">
        <p14:creationId xmlns:p14="http://schemas.microsoft.com/office/powerpoint/2010/main" val="364987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FB7C-5425-F0E1-52E3-30955A4CD23A}"/>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Evaluation Measures</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415EB77D-B6A6-291F-986F-D21666E5B3E1}"/>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B376781B-D3B2-B1F8-A2FC-6BA573A67BD2}"/>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PR-AUC summarizes ranking across cutoffs. Recall is the share of positive conversations found. Precision is the share of alerts that are positive. F2 combines both while emphasizing recall. We also show false alerts and missed positives.</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198414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Why We Use F2</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B2882D18-A969-99A5-D5BF-EA2B673DD92F}"/>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Our screening goal is to miss fewer positive conversations. Validation F2 selects each final cutoff with extra weight on recall. Precision and false alerts remain visible. Trajectory-Feature LSTM: 41 of 44 found, 21 false alerts.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503556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C014-A5FB-697C-FD43-5C83E2EDF2EF}"/>
              </a:ext>
            </a:extLst>
          </p:cNvPr>
          <p:cNvSpPr>
            <a:spLocks noGrp="1"/>
          </p:cNvSpPr>
          <p:nvPr>
            <p:ph type="title"/>
          </p:nvPr>
        </p:nvSpPr>
        <p:spPr/>
        <p:txBody>
          <a:bodyPr>
            <a:normAutofit/>
          </a:bodyPr>
          <a:lstStyle/>
          <a:p>
            <a:r>
              <a:rPr lang="en-PH" sz="5600"/>
              <a:t>Results and Conclusions</a:t>
            </a:r>
            <a:endParaRPr sz="5600"/>
          </a:p>
        </p:txBody>
      </p:sp>
      <p:sp>
        <p:nvSpPr>
          <p:cNvPr id="3" name="Text Placeholder 2">
            <a:extLst>
              <a:ext uri="{FF2B5EF4-FFF2-40B4-BE49-F238E27FC236}">
                <a16:creationId xmlns:a16="http://schemas.microsoft.com/office/drawing/2014/main" id="{DAAFFF55-7B74-69F4-9D7B-0BC8CB569A04}"/>
              </a:ext>
            </a:extLst>
          </p:cNvPr>
          <p:cNvSpPr>
            <a:spLocks noGrp="1"/>
          </p:cNvSpPr>
          <p:nvPr>
            <p:ph type="body" idx="1"/>
          </p:nvPr>
        </p:nvSpPr>
        <p:spPr/>
        <p:txBody>
          <a:bodyPr/>
          <a:lstStyle/>
          <a:p>
            <a:r>
              <a:rPr lang="en-US"/>
              <a:t>What the F2-selected policy and local latency test showed</a:t>
            </a:r>
            <a:endParaRPr/>
          </a:p>
        </p:txBody>
      </p:sp>
    </p:spTree>
    <p:extLst>
      <p:ext uri="{BB962C8B-B14F-4D97-AF65-F5344CB8AC3E}">
        <p14:creationId xmlns:p14="http://schemas.microsoft.com/office/powerpoint/2010/main" val="1080980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CEE2-687D-86E2-A4AC-7703E81DFB2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800">
                <a:solidFill>
                  <a:schemeClr val="accent1">
                    <a:lumMod val="75000"/>
                  </a:schemeClr>
                </a:solidFill>
              </a:rPr>
              <a:t>Frozen Experimental Setup</a:t>
            </a:r>
            <a:endParaRPr sz="3800">
              <a:solidFill>
                <a:schemeClr val="accent1">
                  <a:lumMod val="75000"/>
                </a:schemeClr>
              </a:solidFill>
            </a:endParaRPr>
          </a:p>
        </p:txBody>
      </p:sp>
      <p:sp>
        <p:nvSpPr>
          <p:cNvPr id="7" name="Content Placeholder 6">
            <a:extLst>
              <a:ext uri="{FF2B5EF4-FFF2-40B4-BE49-F238E27FC236}">
                <a16:creationId xmlns:a16="http://schemas.microsoft.com/office/drawing/2014/main" id="{B91042CF-BDB0-7449-206F-A9449A7E0216}"/>
              </a:ext>
            </a:extLst>
          </p:cNvPr>
          <p:cNvSpPr>
            <a:spLocks noGrp="1"/>
          </p:cNvSpPr>
          <p:nvPr>
            <p:ph idx="1"/>
          </p:nvPr>
        </p:nvSpPr>
        <p:spPr>
          <a:xfrm>
            <a:off x="838200" y="1825624"/>
            <a:ext cx="10417629" cy="4812919"/>
          </a:xfrm>
        </p:spPr>
        <p:txBody>
          <a:bodyPr wrap="square">
            <a:noAutofit/>
          </a:bodyPr>
          <a:lstStyle/>
          <a:p>
            <a:pPr marL="34" indent="-20">
              <a:lnSpc>
                <a:spcPct val="100000"/>
              </a:lnSpc>
              <a:spcAft>
                <a:spcPts val="700"/>
              </a:spcAft>
              <a:buChar char="•"/>
            </a:pPr>
            <a:r>
              <a:rPr lang="en-US" sz="2600" b="1">
                <a:latin typeface="Calibri Light" panose="020F0302020204030204" pitchFamily="34" charset="0"/>
              </a:rPr>
              <a:t>Training: 13,031 conversations - 319 positive.</a:t>
            </a:r>
          </a:p>
          <a:p>
            <a:pPr marL="34" indent="-20">
              <a:lnSpc>
                <a:spcPct val="100000"/>
              </a:lnSpc>
              <a:spcAft>
                <a:spcPts val="700"/>
              </a:spcAft>
              <a:buChar char="•"/>
            </a:pPr>
            <a:r>
              <a:rPr lang="en-US" sz="2600" b="1">
                <a:latin typeface="Calibri Light" panose="020F0302020204030204" pitchFamily="34" charset="0"/>
              </a:rPr>
              <a:t>Validation: 1,827 conversations - 49 positive.</a:t>
            </a:r>
          </a:p>
          <a:p>
            <a:pPr marL="34" indent="-20">
              <a:lnSpc>
                <a:spcPct val="100000"/>
              </a:lnSpc>
              <a:spcAft>
                <a:spcPts val="700"/>
              </a:spcAft>
              <a:buChar char="•"/>
            </a:pPr>
            <a:r>
              <a:rPr lang="en-US" sz="2600" b="1">
                <a:latin typeface="Calibri Light" panose="020F0302020204030204" pitchFamily="34" charset="0"/>
              </a:rPr>
              <a:t>Test: 1,862 conversations - 44 positive.</a:t>
            </a:r>
          </a:p>
          <a:p>
            <a:pPr marL="34" indent="-20">
              <a:lnSpc>
                <a:spcPct val="100000"/>
              </a:lnSpc>
              <a:spcAft>
                <a:spcPts val="700"/>
              </a:spcAft>
              <a:buChar char="•"/>
            </a:pPr>
            <a:r>
              <a:rPr lang="en-US" sz="2600" b="1">
                <a:latin typeface="Calibri Light" panose="020F0302020204030204" pitchFamily="34" charset="0"/>
              </a:rPr>
              <a:t>Zero author overlap. F2 cutoffs selected on validation, then applied to saved test scores.</a:t>
            </a:r>
            <a:endParaRPr sz="2600" b="0" dirty="0">
              <a:latin typeface="Calibri Light" panose="020F0302020204030204" pitchFamily="34" charset="0"/>
            </a:endParaRPr>
          </a:p>
        </p:txBody>
      </p:sp>
    </p:spTree>
    <p:extLst>
      <p:ext uri="{BB962C8B-B14F-4D97-AF65-F5344CB8AC3E}">
        <p14:creationId xmlns:p14="http://schemas.microsoft.com/office/powerpoint/2010/main" val="2325337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D8BC-1F83-AEE8-FB1E-A56E1DC9E5A3}"/>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Held-Out Results</a:t>
            </a:r>
            <a:endParaRPr sz="3400">
              <a:solidFill>
                <a:schemeClr val="accent1">
                  <a:lumMod val="75000"/>
                </a:schemeClr>
              </a:solidFill>
            </a:endParaRPr>
          </a:p>
        </p:txBody>
      </p:sp>
      <p:graphicFrame>
        <p:nvGraphicFramePr>
          <p:cNvPr id="5" name="Results Table">
            <a:extLst>
              <a:ext uri="{FF2B5EF4-FFF2-40B4-BE49-F238E27FC236}">
                <a16:creationId xmlns:a16="http://schemas.microsoft.com/office/drawing/2014/main" id="{C856E440-A226-86DE-A51C-5161681A5DFD}"/>
              </a:ext>
            </a:extLst>
          </p:cNvPr>
          <p:cNvGraphicFramePr>
            <a:graphicFrameLocks noGrp="1"/>
          </p:cNvGraphicFramePr>
          <p:nvPr>
            <p:ph idx="1"/>
            <p:extLst>
              <p:ext uri="{D42A27DB-BD31-4B8C-83A1-F6EECF244321}">
                <p14:modId xmlns:p14="http://schemas.microsoft.com/office/powerpoint/2010/main" val="2090199089"/>
              </p:ext>
            </p:extLst>
          </p:nvPr>
        </p:nvGraphicFramePr>
        <p:xfrm>
          <a:off x="660399" y="1651000"/>
          <a:ext cx="10871200" cy="3708402"/>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060636180"/>
                    </a:ext>
                  </a:extLst>
                </a:gridCol>
                <a:gridCol w="1524000">
                  <a:extLst>
                    <a:ext uri="{9D8B030D-6E8A-4147-A177-3AD203B41FA5}">
                      <a16:colId xmlns:a16="http://schemas.microsoft.com/office/drawing/2014/main" val="4199649200"/>
                    </a:ext>
                  </a:extLst>
                </a:gridCol>
                <a:gridCol w="1397000">
                  <a:extLst>
                    <a:ext uri="{9D8B030D-6E8A-4147-A177-3AD203B41FA5}">
                      <a16:colId xmlns:a16="http://schemas.microsoft.com/office/drawing/2014/main" val="3668404456"/>
                    </a:ext>
                  </a:extLst>
                </a:gridCol>
                <a:gridCol w="1524000">
                  <a:extLst>
                    <a:ext uri="{9D8B030D-6E8A-4147-A177-3AD203B41FA5}">
                      <a16:colId xmlns:a16="http://schemas.microsoft.com/office/drawing/2014/main" val="1410816486"/>
                    </a:ext>
                  </a:extLst>
                </a:gridCol>
                <a:gridCol w="1397000">
                  <a:extLst>
                    <a:ext uri="{9D8B030D-6E8A-4147-A177-3AD203B41FA5}">
                      <a16:colId xmlns:a16="http://schemas.microsoft.com/office/drawing/2014/main" val="2794559133"/>
                    </a:ext>
                  </a:extLst>
                </a:gridCol>
                <a:gridCol w="1016000">
                  <a:extLst>
                    <a:ext uri="{9D8B030D-6E8A-4147-A177-3AD203B41FA5}">
                      <a16:colId xmlns:a16="http://schemas.microsoft.com/office/drawing/2014/main" val="352518138"/>
                    </a:ext>
                  </a:extLst>
                </a:gridCol>
                <a:gridCol w="1016000">
                  <a:extLst>
                    <a:ext uri="{9D8B030D-6E8A-4147-A177-3AD203B41FA5}">
                      <a16:colId xmlns:a16="http://schemas.microsoft.com/office/drawing/2014/main" val="194572329"/>
                    </a:ext>
                  </a:extLst>
                </a:gridCol>
              </a:tblGrid>
              <a:tr h="618067">
                <a:tc>
                  <a:txBody>
                    <a:bodyPr/>
                    <a:lstStyle/>
                    <a:p>
                      <a:pPr algn="l"/>
                      <a:r>
                        <a:rPr lang="en-PH" sz="1600" b="1">
                          <a:solidFill>
                            <a:srgbClr val="000000"/>
                          </a:solidFill>
                          <a:latin typeface="Calibri" panose="020F0502020204030204" pitchFamily="34" charset="0"/>
                        </a:rPr>
                        <a:t>Method</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PR-AUC</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F2</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Precision</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Recall</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FP</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FN</a:t>
                      </a:r>
                    </a:p>
                  </a:txBody>
                  <a:tcPr marL="50800" marR="50800" marT="38100" marB="38100" anchor="ctr">
                    <a:solidFill>
                      <a:srgbClr val="E1E7EF"/>
                    </a:solidFill>
                  </a:tcPr>
                </a:tc>
                <a:extLst>
                  <a:ext uri="{0D108BD9-81ED-4DB2-BD59-A6C34878D82A}">
                    <a16:rowId xmlns:a16="http://schemas.microsoft.com/office/drawing/2014/main" val="936655367"/>
                  </a:ext>
                </a:extLst>
              </a:tr>
              <a:tr h="618067">
                <a:tc>
                  <a:txBody>
                    <a:bodyPr/>
                    <a:lstStyle/>
                    <a:p>
                      <a:pPr algn="l"/>
                      <a:r>
                        <a:rPr lang="en-PH" sz="1600">
                          <a:solidFill>
                            <a:srgbClr val="000000"/>
                          </a:solidFill>
                          <a:latin typeface="Calibri" panose="020F0502020204030204" pitchFamily="34" charset="0"/>
                        </a:rPr>
                        <a:t>Keyword rule</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0.4451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0.6308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0.7105</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0.6136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17</a:t>
                      </a:r>
                    </a:p>
                  </a:txBody>
                  <a:tcPr marL="50800" marR="50800" marT="38100" marB="38100" anchor="ctr">
                    <a:solidFill>
                      <a:srgbClr val="FFFFFF"/>
                    </a:solidFill>
                  </a:tcPr>
                </a:tc>
                <a:extLst>
                  <a:ext uri="{0D108BD9-81ED-4DB2-BD59-A6C34878D82A}">
                    <a16:rowId xmlns:a16="http://schemas.microsoft.com/office/drawing/2014/main" val="3916212824"/>
                  </a:ext>
                </a:extLst>
              </a:tr>
              <a:tr h="618067">
                <a:tc>
                  <a:txBody>
                    <a:bodyPr/>
                    <a:lstStyle/>
                    <a:p>
                      <a:pPr algn="l"/>
                      <a:r>
                        <a:rPr lang="en-PH" sz="1600">
                          <a:solidFill>
                            <a:srgbClr val="000000"/>
                          </a:solidFill>
                          <a:latin typeface="Calibri" panose="020F0502020204030204" pitchFamily="34" charset="0"/>
                        </a:rPr>
                        <a:t>Maximum Layer 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0.5523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0.6655</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0.3333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0.8864</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78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5</a:t>
                      </a:r>
                    </a:p>
                  </a:txBody>
                  <a:tcPr marL="50800" marR="50800" marT="38100" marB="38100" anchor="ctr">
                    <a:solidFill>
                      <a:srgbClr val="FFFFFF"/>
                    </a:solidFill>
                  </a:tcPr>
                </a:tc>
                <a:extLst>
                  <a:ext uri="{0D108BD9-81ED-4DB2-BD59-A6C34878D82A}">
                    <a16:rowId xmlns:a16="http://schemas.microsoft.com/office/drawing/2014/main" val="3868423462"/>
                  </a:ext>
                </a:extLst>
              </a:tr>
              <a:tr h="618067">
                <a:tc>
                  <a:txBody>
                    <a:bodyPr/>
                    <a:lstStyle/>
                    <a:p>
                      <a:pPr algn="l"/>
                      <a:r>
                        <a:rPr lang="en-PH" sz="1600">
                          <a:solidFill>
                            <a:srgbClr val="000000"/>
                          </a:solidFill>
                          <a:latin typeface="Calibri" panose="020F0502020204030204" pitchFamily="34" charset="0"/>
                        </a:rPr>
                        <a:t>Weighted scorer</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0.8050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0.7983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0.6129</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0.8636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24</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6</a:t>
                      </a:r>
                    </a:p>
                  </a:txBody>
                  <a:tcPr marL="50800" marR="50800" marT="38100" marB="38100" anchor="ctr">
                    <a:solidFill>
                      <a:srgbClr val="FFFFFF"/>
                    </a:solidFill>
                  </a:tcPr>
                </a:tc>
                <a:extLst>
                  <a:ext uri="{0D108BD9-81ED-4DB2-BD59-A6C34878D82A}">
                    <a16:rowId xmlns:a16="http://schemas.microsoft.com/office/drawing/2014/main" val="594079778"/>
                  </a:ext>
                </a:extLst>
              </a:tr>
              <a:tr h="618067">
                <a:tc>
                  <a:txBody>
                    <a:bodyPr/>
                    <a:lstStyle/>
                    <a:p>
                      <a:pPr algn="l"/>
                      <a:r>
                        <a:rPr lang="en-PH" sz="1600" b="0">
                          <a:solidFill>
                            <a:srgbClr val="000000"/>
                          </a:solidFill>
                          <a:latin typeface="Calibri" panose="020F0502020204030204" pitchFamily="34" charset="0"/>
                        </a:rPr>
                        <a:t>Trajectory-Feature LSTM</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0.9153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0.8613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0.6613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0.9318</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21</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3</a:t>
                      </a:r>
                    </a:p>
                  </a:txBody>
                  <a:tcPr marL="50800" marR="50800" marT="38100" marB="38100" anchor="ctr">
                    <a:solidFill>
                      <a:srgbClr val="FFFFFF"/>
                    </a:solidFill>
                  </a:tcPr>
                </a:tc>
                <a:extLst>
                  <a:ext uri="{0D108BD9-81ED-4DB2-BD59-A6C34878D82A}">
                    <a16:rowId xmlns:a16="http://schemas.microsoft.com/office/drawing/2014/main" val="3528414813"/>
                  </a:ext>
                </a:extLst>
              </a:tr>
              <a:tr h="618067">
                <a:tc>
                  <a:txBody>
                    <a:bodyPr/>
                    <a:lstStyle/>
                    <a:p>
                      <a:pPr algn="l"/>
                      <a:r>
                        <a:rPr lang="en-PH" sz="1600" b="0">
                          <a:solidFill>
                            <a:srgbClr val="000000"/>
                          </a:solidFill>
                          <a:latin typeface="Calibri" panose="020F0502020204030204" pitchFamily="34" charset="0"/>
                        </a:rPr>
                        <a:t>Embedding-and-Feature LSTM</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0.9483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0.8429</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0.5176</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1.0000</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41</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a:t>
                      </a:r>
                    </a:p>
                  </a:txBody>
                  <a:tcPr marL="50800" marR="50800" marT="38100" marB="38100" anchor="ctr">
                    <a:solidFill>
                      <a:srgbClr val="FFFFFF"/>
                    </a:solidFill>
                  </a:tcPr>
                </a:tc>
                <a:extLst>
                  <a:ext uri="{0D108BD9-81ED-4DB2-BD59-A6C34878D82A}">
                    <a16:rowId xmlns:a16="http://schemas.microsoft.com/office/drawing/2014/main" val="2266072408"/>
                  </a:ext>
                </a:extLst>
              </a:tr>
            </a:tbl>
          </a:graphicData>
        </a:graphic>
      </p:graphicFrame>
      <p:sp>
        <p:nvSpPr>
          <p:cNvPr id="8" name="Results Footnote">
            <a:extLst>
              <a:ext uri="{FF2B5EF4-FFF2-40B4-BE49-F238E27FC236}">
                <a16:creationId xmlns:a16="http://schemas.microsoft.com/office/drawing/2014/main" id="{0B2770C0-A40A-B5FB-1DC6-B35CA7D9AE11}"/>
              </a:ext>
            </a:extLst>
          </p:cNvPr>
          <p:cNvSpPr txBox="1"/>
          <p:nvPr/>
        </p:nvSpPr>
        <p:spPr>
          <a:xfrm>
            <a:off x="660400" y="5588000"/>
            <a:ext cx="10871200" cy="353943"/>
          </a:xfrm>
          <a:prstGeom prst="rect">
            <a:avLst/>
          </a:prstGeom>
          <a:noFill/>
        </p:spPr>
        <p:txBody>
          <a:bodyPr vert="horz" rtlCol="0">
            <a:spAutoFit/>
          </a:bodyPr>
          <a:lstStyle/>
          <a:p>
            <a:pPr algn="ctr"/>
            <a:r>
              <a:rPr lang="en-US" sz="1700">
                <a:solidFill>
                  <a:srgbClr val="404040"/>
                </a:solidFill>
                <a:latin typeface="Calibri Light" panose="020F0302020204030204" pitchFamily="34" charset="0"/>
              </a:rPr>
              <a:t>Saved test scores: N = 1,862; 44 positive. Final cutoffs selected on validation F2.</a:t>
            </a:r>
            <a:endParaRPr lang="en-PH" sz="1700">
              <a:solidFill>
                <a:srgbClr val="404040"/>
              </a:solidFill>
              <a:latin typeface="Calibri Light" panose="020F0302020204030204" pitchFamily="34" charset="0"/>
            </a:endParaRPr>
          </a:p>
        </p:txBody>
      </p:sp>
    </p:spTree>
    <p:extLst>
      <p:ext uri="{BB962C8B-B14F-4D97-AF65-F5344CB8AC3E}">
        <p14:creationId xmlns:p14="http://schemas.microsoft.com/office/powerpoint/2010/main" val="165754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Detection Performance Across Methods</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Graph interpretation">
            <a:extLst>
              <a:ext uri="{FF2B5EF4-FFF2-40B4-BE49-F238E27FC236}">
                <a16:creationId xmlns:a16="http://schemas.microsoft.com/office/drawing/2014/main" id="{ACFDF581-69AF-0ADA-B1C4-CE5780D68745}"/>
              </a:ext>
            </a:extLst>
          </p:cNvPr>
          <p:cNvSpPr txBox="1"/>
          <p:nvPr/>
        </p:nvSpPr>
        <p:spPr>
          <a:xfrm>
            <a:off x="825500" y="5791200"/>
            <a:ext cx="10414000" cy="736600"/>
          </a:xfrm>
          <a:prstGeom prst="rect">
            <a:avLst/>
          </a:prstGeom>
          <a:noFill/>
        </p:spPr>
        <p:txBody>
          <a:bodyPr vert="horz" wrap="square" lIns="25400" tIns="25400" rIns="25400" bIns="25400" rtlCol="0">
            <a:noAutofit/>
          </a:bodyPr>
          <a:lstStyle/>
          <a:p>
            <a:r>
              <a:rPr lang="en-US" sz="2100">
                <a:solidFill>
                  <a:srgbClr val="191F28"/>
                </a:solidFill>
                <a:latin typeface="Calibri Light" panose="020F0302020204030204" pitchFamily="34" charset="0"/>
              </a:rPr>
              <a:t>Matched-input comparison: weighted scorer and Trajectory-Feature LSTM use the same seven features.</a:t>
            </a:r>
            <a:endParaRPr lang="en-PH" sz="21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237849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Detection Coverage: 41 and 44 of 44</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all interpretation">
            <a:extLst>
              <a:ext uri="{FF2B5EF4-FFF2-40B4-BE49-F238E27FC236}">
                <a16:creationId xmlns:a16="http://schemas.microsoft.com/office/drawing/2014/main" id="{324C0D69-8768-E9AF-4620-98C0F7510561}"/>
              </a:ext>
            </a:extLst>
          </p:cNvPr>
          <p:cNvSpPr txBox="1"/>
          <p:nvPr/>
        </p:nvSpPr>
        <p:spPr>
          <a:xfrm>
            <a:off x="825500" y="5791200"/>
            <a:ext cx="10414000" cy="787400"/>
          </a:xfrm>
          <a:prstGeom prst="rect">
            <a:avLst/>
          </a:prstGeom>
          <a:noFill/>
        </p:spPr>
        <p:txBody>
          <a:bodyPr vert="horz" wrap="square" lIns="25400" tIns="25400" rIns="25400" bIns="25400" rtlCol="0">
            <a:noAutofit/>
          </a:bodyPr>
          <a:lstStyle/>
          <a:p>
            <a:r>
              <a:rPr lang="en-US" sz="2100">
                <a:solidFill>
                  <a:srgbClr val="191F28"/>
                </a:solidFill>
                <a:latin typeface="Calibri Light" panose="020F0302020204030204" pitchFamily="34" charset="0"/>
              </a:rPr>
              <a:t>Detected positives: keyword 27, maximum L1 39, weighted 38, 7-feature LSTM 41, 775-input LSTM 44.</a:t>
            </a:r>
            <a:endParaRPr lang="en-PH" sz="21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221788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Missed Positives and False Alerts</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Error interpretation">
            <a:extLst>
              <a:ext uri="{FF2B5EF4-FFF2-40B4-BE49-F238E27FC236}">
                <a16:creationId xmlns:a16="http://schemas.microsoft.com/office/drawing/2014/main" id="{9C633023-A631-14C6-B7AC-316CD801B7AB}"/>
              </a:ext>
            </a:extLst>
          </p:cNvPr>
          <p:cNvSpPr txBox="1"/>
          <p:nvPr/>
        </p:nvSpPr>
        <p:spPr>
          <a:xfrm>
            <a:off x="825500" y="5791200"/>
            <a:ext cx="10414000" cy="787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7-feature LSTM: 3 misses and 21 false alerts. 775-input LSTM: 0 misses and 41 false alerts.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140593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98A0-9FA3-ADAE-2623-D2D08491DEAB}"/>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Sequence Modeling Added Value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CB07CC07-9904-E8B6-5924-5744447F0EEC}"/>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8C0E438C-2025-E56C-F494-8D54F4A829C4}"/>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The Trajectory-Feature LSTM and weighted scorer share seven inputs.</a:t>
            </a:r>
          </a:p>
          <a:p>
            <a:pPr>
              <a:spcAft>
                <a:spcPts val="1500"/>
              </a:spcAft>
            </a:pPr>
            <a:r>
              <a:rPr lang="en-US" sz="2500">
                <a:solidFill>
                  <a:srgbClr val="191F28"/>
                </a:solidFill>
                <a:latin typeface="Calibri Light" panose="020F0302020204030204" pitchFamily="34" charset="0"/>
              </a:rPr>
              <a:t>PR-AUC difference: +0.1103 [0.0251, 0.2254].</a:t>
            </a:r>
          </a:p>
          <a:p>
            <a:pPr>
              <a:spcAft>
                <a:spcPts val="1500"/>
              </a:spcAft>
            </a:pPr>
            <a:r>
              <a:rPr lang="en-US" sz="2500">
                <a:solidFill>
                  <a:srgbClr val="191F28"/>
                </a:solidFill>
                <a:latin typeface="Calibri Light" panose="020F0302020204030204" pitchFamily="34" charset="0"/>
              </a:rPr>
              <a:t>F2 difference: +0.0630 [0.0034, 0.1294].</a:t>
            </a:r>
          </a:p>
          <a:p>
            <a:pPr>
              <a:spcAft>
                <a:spcPts val="1500"/>
              </a:spcAft>
            </a:pPr>
            <a:r>
              <a:rPr lang="en-US" sz="2500">
                <a:solidFill>
                  <a:srgbClr val="191F28"/>
                </a:solidFill>
                <a:latin typeface="Calibri Light" panose="020F0302020204030204" pitchFamily="34" charset="0"/>
              </a:rPr>
              <a:t>Both paired 95% intervals are above zero.</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944644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The Three Missed Conversations Were Short</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Length comparison">
            <a:extLst>
              <a:ext uri="{FF2B5EF4-FFF2-40B4-BE49-F238E27FC236}">
                <a16:creationId xmlns:a16="http://schemas.microsoft.com/office/drawing/2014/main" id="{57C47A18-6EE5-121B-F3C3-8454E0A1E975}"/>
              </a:ext>
            </a:extLst>
          </p:cNvPr>
          <p:cNvSpPr txBox="1"/>
          <p:nvPr/>
        </p:nvSpPr>
        <p:spPr>
          <a:xfrm>
            <a:off x="825500" y="5753100"/>
            <a:ext cx="10414000" cy="8509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Missed cases: 2, 11, and 26 turns. Correctly detected positives: lower quartile 36, median 61 turns.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017949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Local Turn-by-Turn Latency</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42DE89F6-D2A2-FCA5-073F-70118AC4E153}"/>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Local CPU HTTP benchmark: 160 requests per model.</a:t>
            </a:r>
          </a:p>
          <a:p>
            <a:pPr>
              <a:spcAft>
                <a:spcPts val="1500"/>
              </a:spcAft>
            </a:pPr>
            <a:r>
              <a:rPr lang="en-US" sz="2600">
                <a:solidFill>
                  <a:srgbClr val="191F28"/>
                </a:solidFill>
                <a:latin typeface="Calibri Light" panose="020F0302020204030204" pitchFamily="34" charset="0"/>
              </a:rPr>
              <a:t>7-feature LSTM: median 267 ms, p95 709 ms, p99 830 ms.</a:t>
            </a:r>
          </a:p>
          <a:p>
            <a:pPr>
              <a:spcAft>
                <a:spcPts val="1500"/>
              </a:spcAft>
            </a:pPr>
            <a:r>
              <a:rPr lang="en-US" sz="2600">
                <a:solidFill>
                  <a:srgbClr val="191F28"/>
                </a:solidFill>
                <a:latin typeface="Calibri Light" panose="020F0302020204030204" pitchFamily="34" charset="0"/>
              </a:rPr>
              <a:t>775-input LSTM: median 246 ms, p95 718 ms, p99 1,058 ms.</a:t>
            </a:r>
          </a:p>
          <a:p>
            <a:pPr>
              <a:spcAft>
                <a:spcPts val="1500"/>
              </a:spcAft>
            </a:pPr>
            <a:r>
              <a:rPr lang="en-US" sz="2600">
                <a:solidFill>
                  <a:srgbClr val="191F28"/>
                </a:solidFill>
                <a:latin typeface="Calibri Light" panose="020F0302020204030204" pitchFamily="34" charset="0"/>
              </a:rPr>
              <a:t>Throughput: 3.39 and 3.32 requests/s, respectively.</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1649523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35F6-715A-F097-9D74-51FCC60B8438}"/>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Conclusions by Research Objective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9451E37B-51E5-FF13-489D-A280F0F4FFEC}"/>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CC787A8C-5C08-4D1C-7970-C14948D8AEED}"/>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Objective 1: Static methods show detection and false-alert limits.</a:t>
            </a:r>
          </a:p>
          <a:p>
            <a:pPr>
              <a:spcAft>
                <a:spcPts val="1500"/>
              </a:spcAft>
            </a:pPr>
            <a:r>
              <a:rPr lang="en-US" sz="2500">
                <a:solidFill>
                  <a:srgbClr val="191F28"/>
                </a:solidFill>
                <a:latin typeface="Calibri Light" panose="020F0302020204030204" pitchFamily="34" charset="0"/>
              </a:rPr>
              <a:t>Objective 2: GroomShield delivers a two-layer module and review interface.</a:t>
            </a:r>
          </a:p>
          <a:p>
            <a:pPr>
              <a:spcAft>
                <a:spcPts val="1500"/>
              </a:spcAft>
            </a:pPr>
            <a:r>
              <a:rPr lang="en-US" sz="2500">
                <a:solidFill>
                  <a:srgbClr val="191F28"/>
                </a:solidFill>
                <a:latin typeface="Calibri Light" panose="020F0302020204030204" pitchFamily="34" charset="0"/>
              </a:rPr>
              <a:t>Objective 3: Trajectory-Feature LSTM found 41 of 44 positives, with three misses.</a:t>
            </a:r>
          </a:p>
          <a:p>
            <a:pPr>
              <a:spcAft>
                <a:spcPts val="1500"/>
              </a:spcAft>
            </a:pPr>
            <a:r>
              <a:rPr lang="en-US" sz="2500">
                <a:solidFill>
                  <a:srgbClr val="191F28"/>
                </a:solidFill>
                <a:latin typeface="Calibri Light" panose="020F0302020204030204" pitchFamily="34" charset="0"/>
              </a:rPr>
              <a:t>General objective: Broader conversation-level coverage for human review.</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154563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Next Evaluation Steps</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42DE89F6-D2A2-FCA5-073F-70118AC4E153}"/>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Test F2 cutoffs on contemporary external chats.</a:t>
            </a:r>
          </a:p>
          <a:p>
            <a:pPr>
              <a:spcAft>
                <a:spcPts val="1500"/>
              </a:spcAft>
            </a:pPr>
            <a:r>
              <a:rPr lang="en-US" sz="2600">
                <a:solidFill>
                  <a:srgbClr val="191F28"/>
                </a:solidFill>
                <a:latin typeface="Calibri Light" panose="020F0302020204030204" pitchFamily="34" charset="0"/>
              </a:rPr>
              <a:t>Benchmark longer prefixes, concurrent traffic, and memory use.</a:t>
            </a:r>
          </a:p>
          <a:p>
            <a:pPr>
              <a:spcAft>
                <a:spcPts val="1500"/>
              </a:spcAft>
            </a:pPr>
            <a:r>
              <a:rPr lang="en-US" sz="2600">
                <a:solidFill>
                  <a:srgbClr val="191F28"/>
                </a:solidFill>
                <a:latin typeface="Calibri Light" panose="020F0302020204030204" pitchFamily="34" charset="0"/>
              </a:rPr>
              <a:t>Evaluate moderator review outcomes and calibration.</a:t>
            </a:r>
          </a:p>
          <a:p>
            <a:pPr>
              <a:spcAft>
                <a:spcPts val="1500"/>
              </a:spcAft>
            </a:pPr>
            <a:r>
              <a:rPr lang="en-US" sz="2600">
                <a:solidFill>
                  <a:srgbClr val="191F28"/>
                </a:solidFill>
                <a:latin typeface="Calibri Light" panose="020F0302020204030204" pitchFamily="34" charset="0"/>
              </a:rPr>
              <a:t>Study early prefixes and independently annotate grooming onset.</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677145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62D6-6609-3BEA-6165-A7F5095A16AC}"/>
              </a:ext>
            </a:extLst>
          </p:cNvPr>
          <p:cNvSpPr>
            <a:spLocks noGrp="1"/>
          </p:cNvSpPr>
          <p:nvPr>
            <p:ph type="title"/>
          </p:nvPr>
        </p:nvSpPr>
        <p:spPr/>
        <p:txBody>
          <a:bodyPr>
            <a:normAutofit/>
          </a:bodyPr>
          <a:lstStyle/>
          <a:p>
            <a:r>
              <a:rPr lang="en-US" sz="4800"/>
              <a:t>GroomShield Reduced Missed Positives</a:t>
            </a:r>
            <a:endParaRPr sz="4800"/>
          </a:p>
        </p:txBody>
      </p:sp>
      <p:sp>
        <p:nvSpPr>
          <p:cNvPr id="3" name="Text Placeholder 2">
            <a:extLst>
              <a:ext uri="{FF2B5EF4-FFF2-40B4-BE49-F238E27FC236}">
                <a16:creationId xmlns:a16="http://schemas.microsoft.com/office/drawing/2014/main" id="{563B6A9D-5621-CA75-6BD4-0A403BD9EBA4}"/>
              </a:ext>
            </a:extLst>
          </p:cNvPr>
          <p:cNvSpPr>
            <a:spLocks noGrp="1"/>
          </p:cNvSpPr>
          <p:nvPr>
            <p:ph type="body" idx="1"/>
          </p:nvPr>
        </p:nvSpPr>
        <p:spPr>
          <a:xfrm>
            <a:off x="831850" y="5186854"/>
            <a:ext cx="10062122" cy="625025"/>
          </a:xfrm>
        </p:spPr>
        <p:txBody>
          <a:bodyPr/>
          <a:lstStyle/>
          <a:p>
            <a:pPr marL="0" marR="0" lvl="0" indent="0" defTabSz="914400">
              <a:lnSpc>
                <a:spcPct val="100000"/>
              </a:lnSpc>
              <a:spcBef>
                <a:spcPts val="0"/>
              </a:spcBef>
              <a:spcAft>
                <a:spcPts val="0"/>
              </a:spcAft>
              <a:buClrTx/>
              <a:buSzTx/>
              <a:buFontTx/>
              <a:buNone/>
            </a:pPr>
            <a:r>
              <a:rPr lang="en-PH" sz="2400" b="0" i="1" u="none" cap="none">
                <a:ln>
                  <a:noFill/>
                </a:ln>
                <a:solidFill>
                  <a:srgbClr val="FFFFFF"/>
                </a:solidFill>
                <a:latin typeface="Calibri Light"/>
                <a:ea typeface="Calibri Light"/>
                <a:cs typeface="Calibri Light"/>
              </a:rPr>
              <a:t>Questions and discussion</a:t>
            </a:r>
            <a:endParaRPr sz="2400" b="0" i="1" u="none" kern="1200" cap="none" spc="0" baseline="0">
              <a:ln>
                <a:noFill/>
              </a:ln>
              <a:solidFill>
                <a:srgbClr val="FFFFFF"/>
              </a:solidFill>
              <a:latin typeface="Calibri Light"/>
              <a:ea typeface="Calibri Light"/>
              <a:cs typeface="Calibri Light"/>
            </a:endParaRPr>
          </a:p>
        </p:txBody>
      </p:sp>
      <p:sp>
        <p:nvSpPr>
          <p:cNvPr id="5" name="Straight Connector 4">
            <a:extLst>
              <a:ext uri="{FF2B5EF4-FFF2-40B4-BE49-F238E27FC236}">
                <a16:creationId xmlns:a16="http://schemas.microsoft.com/office/drawing/2014/main" id="{AE7566C8-41F1-4BB5-AE3E-9D4B12E72064}"/>
              </a:ext>
            </a:extLst>
          </p:cNvPr>
          <p:cNvSpPr>
            <a:spLocks noGrp="1"/>
          </p:cNvSpPr>
          <p:nvPr/>
        </p:nvSpPr>
        <p:spPr>
          <a:xfrm>
            <a:off x="856937" y="5174411"/>
            <a:ext cx="75618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PH"/>
          </a:p>
        </p:txBody>
      </p:sp>
    </p:spTree>
    <p:extLst>
      <p:ext uri="{BB962C8B-B14F-4D97-AF65-F5344CB8AC3E}">
        <p14:creationId xmlns:p14="http://schemas.microsoft.com/office/powerpoint/2010/main" val="3053108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844B5-70AB-4288-3250-7B9D2AE0D6B1}"/>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9C1D6124-563A-7F70-DF21-E8FEA2257CAD}"/>
              </a:ext>
            </a:extLst>
          </p:cNvPr>
          <p:cNvSpPr>
            <a:spLocks noGrp="1"/>
          </p:cNvSpPr>
          <p:nvPr>
            <p:ph type="title"/>
          </p:nvPr>
        </p:nvSpPr>
        <p:spPr>
          <a:xfrm>
            <a:off x="1205255" y="2850418"/>
            <a:ext cx="9781489" cy="1325563"/>
          </a:xfrm>
        </p:spPr>
        <p:txBody>
          <a:bodyPr>
            <a:noAutofit/>
          </a:bodyPr>
          <a:lstStyle/>
          <a:p>
            <a:pPr algn="ctr">
              <a:buNone/>
            </a:pPr>
            <a:r>
              <a:rPr sz="8000" b="1"/>
              <a:t>RESOURCE SLIDES</a:t>
            </a:r>
            <a:br/>
            <a:r>
              <a:rPr sz="8000" b="1"/>
              <a:t>vvv</a:t>
            </a:r>
          </a:p>
        </p:txBody>
      </p:sp>
      <p:sp>
        <p:nvSpPr>
          <p:cNvPr id="3" name="Rectangle 2">
            <a:extLst>
              <a:ext uri="{FF2B5EF4-FFF2-40B4-BE49-F238E27FC236}">
                <a16:creationId xmlns:a16="http://schemas.microsoft.com/office/drawing/2014/main" id="{972EB74F-12A3-192F-04F0-FA096E2E1BCF}"/>
              </a:ext>
            </a:extLst>
          </p:cNvPr>
          <p:cNvSpPr>
            <a:spLocks noGrp="1"/>
          </p:cNvSpPr>
          <p:nvPr/>
        </p:nvSpPr>
        <p:spPr>
          <a:xfrm>
            <a:off x="-1" y="1342521"/>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623FB5B4-11EE-FCD9-7BF8-04B000C6621F}"/>
              </a:ext>
            </a:extLst>
          </p:cNvPr>
          <p:cNvSpPr>
            <a:spLocks noGrp="1"/>
          </p:cNvSpPr>
          <p:nvPr/>
        </p:nvSpPr>
        <p:spPr>
          <a:xfrm>
            <a:off x="-1" y="4523293"/>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537506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6EC9-01F9-3331-09AA-19C64635D555}"/>
              </a:ext>
            </a:extLst>
          </p:cNvPr>
          <p:cNvSpPr>
            <a:spLocks noGrp="1"/>
          </p:cNvSpPr>
          <p:nvPr>
            <p:ph type="ctrTitle"/>
          </p:nvPr>
        </p:nvSpPr>
        <p:spPr>
          <a:xfrm>
            <a:off x="6096000" y="2722563"/>
            <a:ext cx="5077521" cy="2387600"/>
          </a:xfrm>
        </p:spPr>
        <p:txBody>
          <a:bodyPr>
            <a:normAutofit/>
          </a:bodyPr>
          <a:lstStyle/>
          <a:p>
            <a:pPr>
              <a:lnSpc>
                <a:spcPts val="5000"/>
              </a:lnSpc>
              <a:buNone/>
            </a:pPr>
            <a:r>
              <a:rPr sz="6600"/>
              <a:t>PACIFIC COLLEGE</a:t>
            </a:r>
          </a:p>
        </p:txBody>
      </p:sp>
    </p:spTree>
    <p:extLst>
      <p:ext uri="{BB962C8B-B14F-4D97-AF65-F5344CB8AC3E}">
        <p14:creationId xmlns:p14="http://schemas.microsoft.com/office/powerpoint/2010/main" val="4021905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B60773-11B5-CF24-34E2-87D3F196B882}"/>
              </a:ext>
            </a:extLst>
          </p:cNvPr>
          <p:cNvSpPr>
            <a:spLocks noGrp="1"/>
          </p:cNvSpPr>
          <p:nvPr/>
        </p:nvSpPr>
        <p:spPr>
          <a:xfrm>
            <a:off x="831850" y="605343"/>
            <a:ext cx="10062122" cy="1284059"/>
          </a:xfrm>
          <a:prstGeom prst="rect">
            <a:avLst/>
          </a:prstGeom>
        </p:spPr>
        <p:txBody>
          <a:bodyPr vert="horz" lIns="91440" tIns="45720" rIns="91440" bIns="45720" anchor="b">
            <a:normAutofit/>
          </a:bodyPr>
          <a:lstStyle>
            <a:lvl1pPr algn="l" defTabSz="914400">
              <a:lnSpc>
                <a:spcPct val="90000"/>
              </a:lnSpc>
              <a:spcBef>
                <a:spcPct val="0"/>
              </a:spcBef>
              <a:buNone/>
              <a:defRPr sz="6000" kern="1200">
                <a:solidFill>
                  <a:schemeClr val="bg1"/>
                </a:solidFill>
                <a:latin typeface="+mj-lt"/>
                <a:ea typeface="+mj-lt"/>
                <a:cs typeface="+mj-lt"/>
              </a:defRPr>
            </a:lvl1pPr>
          </a:lstStyle>
          <a:p>
            <a:r>
              <a:rPr b="1"/>
              <a:t>Sustainable Development Goals </a:t>
            </a:r>
          </a:p>
        </p:txBody>
      </p:sp>
      <p:pic>
        <p:nvPicPr>
          <p:cNvPr id="9" name="Picture 5"/>
          <p:cNvPicPr>
            <a:picLocks noChangeAspect="1"/>
          </p:cNvPicPr>
          <p:nvPr/>
        </p:nvPicPr>
        <p:blipFill>
          <a:blip r:embed="rId3"/>
          <a:stretch>
            <a:fillRect/>
          </a:stretch>
        </p:blipFill>
        <p:spPr>
          <a:xfrm>
            <a:off x="1131626" y="2706805"/>
            <a:ext cx="3559791" cy="3548418"/>
          </a:xfrm>
          <a:prstGeom prst="rect">
            <a:avLst/>
          </a:prstGeom>
        </p:spPr>
      </p:pic>
      <p:pic>
        <p:nvPicPr>
          <p:cNvPr id="10" name="Picture 6"/>
          <p:cNvPicPr>
            <a:picLocks noChangeAspect="1"/>
          </p:cNvPicPr>
          <p:nvPr/>
        </p:nvPicPr>
        <p:blipFill>
          <a:blip r:embed="rId4"/>
          <a:stretch>
            <a:fillRect/>
          </a:stretch>
        </p:blipFill>
        <p:spPr>
          <a:xfrm>
            <a:off x="6863687" y="2706805"/>
            <a:ext cx="3616657" cy="3548419"/>
          </a:xfrm>
          <a:prstGeom prst="rect">
            <a:avLst/>
          </a:prstGeom>
        </p:spPr>
      </p:pic>
    </p:spTree>
    <p:extLst>
      <p:ext uri="{BB962C8B-B14F-4D97-AF65-F5344CB8AC3E}">
        <p14:creationId xmlns:p14="http://schemas.microsoft.com/office/powerpoint/2010/main" val="131381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398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34F65-AA79-3DA3-8DD3-52D817FFB6A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Tree>
    <p:extLst>
      <p:ext uri="{BB962C8B-B14F-4D97-AF65-F5344CB8AC3E}">
        <p14:creationId xmlns:p14="http://schemas.microsoft.com/office/powerpoint/2010/main" val="598291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4272</Words>
  <Application>Microsoft Office PowerPoint</Application>
  <DocSecurity>0</DocSecurity>
  <PresentationFormat>Widescreen</PresentationFormat>
  <Paragraphs>299</Paragraphs>
  <Slides>40</Slides>
  <Notes>40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Corbel</vt:lpstr>
      <vt:lpstr>Office Theme</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Review of Related Literature</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Results and Conclusions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GroomShield Reduced Missed Positives</vt:lpstr>
      <vt:lpstr>RESOURCE SLIDES vvv</vt:lpstr>
      <vt:lpstr>PACIFIC COLLEGE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Michael Maala</cp:lastModifiedBy>
  <cp:revision>9</cp:revision>
  <dcterms:created xsi:type="dcterms:W3CDTF">2026-08-12T16:37:22Z</dcterms:created>
  <dcterms:modified xsi:type="dcterms:W3CDTF">2026-09-28T09:05:55Z</dcterms:modified>
</cp:coreProperties>
</file>