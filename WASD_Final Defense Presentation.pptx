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9" r:id="rId4"/>
    <p:sldId id="260" r:id="rId5"/>
    <p:sldId id="261" r:id="rId6"/>
    <p:sldId id="270" r:id="rId7"/>
    <p:sldId id="263" r:id="rId8"/>
    <p:sldId id="297"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g279fHj7m7W/r+t3XY/iQz6ki7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5668C0-25C9-4073-9232-C6F090029EB0}">
  <a:tblStyle styleId="{735668C0-25C9-4073-9232-C6F090029EB0}" styleName="Table_0">
    <a:wholeTbl>
      <a:tcTxStyle b="off" i="off">
        <a:font>
          <a:latin typeface="Calibri"/>
          <a:ea typeface="Calibri"/>
          <a:cs typeface="Calibri"/>
        </a:font>
        <a:schemeClr val="dk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1V>
    <a:band2V>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5"/>
          </a:solidFill>
        </a:fill>
      </a:tcStyle>
    </a:firstRow>
    <a:neCell>
      <a:tcTxStyle/>
      <a:tcStyle>
        <a:tcBdr/>
      </a:tcStyle>
    </a:neCell>
    <a:nwCell>
      <a:tcTxStyle/>
      <a:tcStyle>
        <a:tcBdr/>
      </a:tcStyle>
    </a:nwCell>
  </a:tblStyle>
  <a:tblStyle styleId="{3601A4B7-A01C-410E-90D5-4CEAE505782E}"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8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Missed positives (FN)</c:v>
          </c:tx>
          <c:spPr>
            <a:solidFill>
              <a:srgbClr val="D59A16"/>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'Sheet1'!$B$2:$B$6</c:f>
              <c:numCache>
                <c:formatCode>General</c:formatCode>
                <c:ptCount val="5"/>
                <c:pt idx="0">
                  <c:v>17</c:v>
                </c:pt>
                <c:pt idx="1">
                  <c:v>5</c:v>
                </c:pt>
                <c:pt idx="2">
                  <c:v>6</c:v>
                </c:pt>
                <c:pt idx="3">
                  <c:v>3</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627-43F6-BFA4-4D52BE2C6397}"/>
            </c:ext>
          </c:extLst>
        </c:ser>
        <c:ser>
          <c:idx val="1"/>
          <c:order val="1"/>
          <c:tx>
            <c:v>False alerts (FP)</c:v>
          </c:tx>
          <c:spPr>
            <a:solidFill>
              <a:srgbClr val="36588C"/>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'Sheet1'!$C$2:$C$6</c:f>
              <c:numCache>
                <c:formatCode>General</c:formatCode>
                <c:ptCount val="5"/>
                <c:pt idx="0">
                  <c:v>11</c:v>
                </c:pt>
                <c:pt idx="1">
                  <c:v>78</c:v>
                </c:pt>
                <c:pt idx="2">
                  <c:v>24</c:v>
                </c:pt>
                <c:pt idx="3">
                  <c:v>21</c:v>
                </c:pt>
                <c:pt idx="4">
                  <c:v>41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627-43F6-BFA4-4D52BE2C6397}"/>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90"/>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15"/>
      </c:valAx>
    </c:plotArea>
    <c:legend>
      <c:legendPos val="b"/>
      <c:overlay val="0"/>
      <c:txPr>
        <a:bodyPr/>
        <a:lstStyle/>
        <a:p>
          <a:pPr>
            <a:defRPr sz="1700">
              <a:latin typeface="Calibri"/>
            </a:defRPr>
          </a:pPr>
          <a:endParaRPr lang="en-US"/>
        </a:p>
      </c:txPr>
    </c:legend>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0"/>
            <a:ext cx="5334001" cy="3000375"/>
          </a:xfrm>
        </p:spPr>
      </p:sp>
      <p:sp>
        <p:nvSpPr>
          <p:cNvPr id="3" name="Notes Placeholder 2"/>
          <p:cNvSpPr>
            <a:spLocks noGrp="1"/>
          </p:cNvSpPr>
          <p:nvPr>
            <p:ph type="body" idx="1"/>
          </p:nvPr>
        </p:nvSpPr>
        <p:spPr/>
        <p:txBody>
          <a:bodyPr/>
          <a:lstStyle/>
          <a:p>
            <a:r>
              <a:rPr lang="en-US">
                <a:latin typeface="Calibri" panose="020F0502020204030204" pitchFamily="34" charset="0"/>
              </a:rPr>
              <a:t>Good day. GroomShield asks whether a moderation system can identify concerning chat conversations by following how the exchange develops. We combine contextual language analysis with an LSTM that learns from the ordered conversation. I will first show how the study aligns with our objectives, then explain the method and the results.
Sources: thesis_docs/Finals_Revised_Paper_WASD.md, title and Sections 1.2-1.3.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0"/>
            <a:ext cx="5334001" cy="3000375"/>
          </a:xfrm>
        </p:spPr>
      </p:sp>
      <p:sp>
        <p:nvSpPr>
          <p:cNvPr id="3" name="Notes Placeholder 2"/>
          <p:cNvSpPr>
            <a:spLocks noGrp="1"/>
          </p:cNvSpPr>
          <p:nvPr>
            <p:ph type="body" idx="1"/>
          </p:nvPr>
        </p:nvSpPr>
        <p:spPr/>
        <p:txBody>
          <a:bodyPr/>
          <a:lstStyle/>
          <a:p>
            <a:r>
              <a:rPr lang="en-US"/>
              <a:t>This work was completed by Andrei Torres, Don Idos, Justin Arroco, and Michael Maala under the guidance of Manuel Calimlim Jr. Our focus was to build a working moderation module and test whether it finds more positive conversations than simpler comparison methods.
Sources: original presentation team slide.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 name="Google Shape;163;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modern chats, harmful interactions don't happen in a single message—they build over time. Our current defenses are like digital bouncers looking for obvious explicit words; they catch profanity but completely miss the context. And relying on user reports? That only works </a:t>
            </a:r>
            <a:r>
              <a:rPr lang="en-US" i="1"/>
              <a:t>after</a:t>
            </a:r>
            <a:r>
              <a:rPr lang="en-US"/>
              <a:t> the damage is already done. The real threats hide in the gray areas where these static rules fail. To actually protect users, moderation needs to see the whole picture. So, our core question is: how can we use machine learning to analyze behavior across an entire conversation?</a:t>
            </a:r>
            <a:endParaRPr/>
          </a:p>
        </p:txBody>
      </p:sp>
      <p:sp>
        <p:nvSpPr>
          <p:cNvPr id="164" name="Google Shape;164;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 name="Google Shape;17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So, whats the blind spot? First, we have to prove exactly where these traditional, rule-based systems fail. Because they treat every message in a vacuum. Our main objective is to bridge that gap by building an AI module that actually tracks context and behavioral patterns. We are developing a two-layer architecture built specifically for multi-turn chat analysis. The ultimate benchmark? Measuring exactly how much this system improves recall and gets rid of false negatives compared to the old, static way of doing things.</a:t>
            </a:r>
            <a:endParaRPr/>
          </a:p>
        </p:txBody>
      </p:sp>
      <p:sp>
        <p:nvSpPr>
          <p:cNvPr id="174" name="Google Shape;174;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atin typeface="Calibri"/>
                <a:ea typeface="Calibri"/>
                <a:cs typeface="Calibri"/>
                <a:sym typeface="Calibri"/>
              </a:rPr>
              <a:t>For the first objective, we needed concrete comparators. We implemented a keyword rule and a method that takes the highest contextual score seen in a conversation. Both were tested on the same held-out conversations as the sequence models. The keyword rule found 27 of the 44 positives and missed 17. That result gives us a measured baseline for the question about static moderation. We did not run a separate field trial of an operational user-report system.</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Sources: Alignment Table.docx, rows 1-2; thesis_docs/CHAPTER_IV_RESULTS_AND_DISCUSSION.md, Tables 4.1-4.2</a:t>
            </a:r>
            <a:endParaRPr>
              <a:latin typeface="Calibri"/>
              <a:ea typeface="Calibri"/>
              <a:cs typeface="Calibri"/>
              <a:sym typeface="Calibri"/>
            </a:endParaRPr>
          </a:p>
        </p:txBody>
      </p:sp>
      <p:sp>
        <p:nvSpPr>
          <p:cNvPr id="184" name="Google Shape;184;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Each new turn enters with nearby conversational context. Layer 1 produces an author-derived proxy score, and the fixed encoder supplies a text embedding. Seven trajectory features summarize the developing conversation. One LSTM uses the seven features; the other receives those features plus the embedding. Each produces a conversation score for a validation-selected cutoff and human review. The turn-level score is an input to the system, not a verified label that grooming began at that message.
Sources: thesis_docs/Finals_Revised_Paper_WASD.md, Sections 3.3.2-3.4.2; thesis_docs/assets/AI_Model_Architecture_Diagram.svg.</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chemeClr val="dk1"/>
                </a:solidFill>
                <a:latin typeface="Calibri"/>
                <a:ea typeface="Calibri"/>
                <a:cs typeface="Calibri"/>
                <a:sym typeface="Calibri"/>
              </a:rPr>
              <a:t>This table gives the main F2 result. The Trajectory-Feature LSTM found 41 of 44 positives and missed three, while producing 21 false alerts. The Embedding-and-Feature LSTM found all 44, with 41 false alerts. Both exceed the weighted scorer's 38 detections, although the two LSTMs make a different coverage-versus-workload trade-off. For the matched seven-feature comparison, the trajectory model also has stronger PR-AUC and F2 than the weighted scorer; the paired analysis behind that comparison appears shortly.</a:t>
            </a:r>
            <a:endParaRPr/>
          </a:p>
          <a:p>
            <a:pPr marL="0" lvl="0" indent="0" algn="l" rtl="0">
              <a:spcBef>
                <a:spcPts val="0"/>
              </a:spcBef>
              <a:spcAft>
                <a:spcPts val="0"/>
              </a:spcAft>
              <a:buNone/>
            </a:pPr>
            <a:endParaRPr b="0" i="0">
              <a:solidFill>
                <a:schemeClr val="dk1"/>
              </a:solidFill>
              <a:latin typeface="Calibri"/>
              <a:ea typeface="Calibri"/>
              <a:cs typeface="Calibri"/>
              <a:sym typeface="Calibri"/>
            </a:endParaRPr>
          </a:p>
          <a:p>
            <a:pPr marL="0" lvl="0" indent="0" algn="l" rtl="0">
              <a:spcBef>
                <a:spcPts val="0"/>
              </a:spcBef>
              <a:spcAft>
                <a:spcPts val="0"/>
              </a:spcAft>
              <a:buNone/>
            </a:pPr>
            <a:r>
              <a:rPr lang="en-US" b="0" i="0">
                <a:solidFill>
                  <a:schemeClr val="dk1"/>
                </a:solidFill>
                <a:latin typeface="Calibri"/>
                <a:ea typeface="Calibri"/>
                <a:cs typeface="Calibri"/>
                <a:sym typeface="Calibri"/>
              </a:rPr>
              <a:t>Sources: thesis_docs/CHAPTER_IV_RESULTS_AND_DISCUSSION.md, Tables 4.1-4.2</a:t>
            </a:r>
            <a:endParaRPr>
              <a:latin typeface="Calibri"/>
              <a:ea typeface="Calibri"/>
              <a:cs typeface="Calibri"/>
              <a:sym typeface="Calibri"/>
            </a:endParaRPr>
          </a:p>
        </p:txBody>
      </p:sp>
      <p:sp>
        <p:nvSpPr>
          <p:cNvPr id="212" name="Google Shape;212;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0"/>
            <a:ext cx="5334001" cy="3000375"/>
          </a:xfrm>
        </p:spPr>
      </p:sp>
      <p:sp>
        <p:nvSpPr>
          <p:cNvPr id="3" name="Notes Placeholder 2"/>
          <p:cNvSpPr>
            <a:spLocks noGrp="1"/>
          </p:cNvSpPr>
          <p:nvPr>
            <p:ph type="body" idx="1"/>
          </p:nvPr>
        </p:nvSpPr>
        <p:spPr/>
        <p:txBody>
          <a:bodyPr/>
          <a:lstStyle/>
          <a:p>
            <a:r>
              <a:rPr lang="en-US">
                <a:latin typeface="Calibri" panose="020F0502020204030204" pitchFamily="34" charset="0"/>
              </a:rPr>
              <a:t>This graph turns the result into conversation counts. The trajectory model reduces the weighted scorer's six misses to three while also lowering false alerts from 24 to 21. The embedding model reaches zero misses on these 44 positives, with 41 false alerts. That is the coverage-versus-review-workload decision behind our threshold comparison. These are whole conversations, not individual messages.
Sources: thesis_docs/CHAPTER_IV_RESULTS_AND_DISCUSSION.md, Table 4.1 and Section 4.7.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atin typeface="Calibri"/>
                <a:ea typeface="Calibri"/>
                <a:cs typeface="Calibri"/>
                <a:sym typeface="Calibri"/>
              </a:rPr>
              <a:t>These six rows use the same two trained LSTMs and the same saved test scores; only the validation-selected cutoff changes. For the embedding model, F1 finds 43 of 44 positives with 14 false alerts, while F2 finds all 44 with 41 false alerts. That last positive adds 27 alerts in this test. The trajectory model behaves differently: F1 adds two alerts over F0.5 without finding another positive. F2 remains our main recall-first reporting policy. The table shows why a later moderator-workflow study must choose its operating point deliberately.</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Sources: thesis_docs/CHAPTER_IV_RESULTS_AND_DISCUSSION.md, Section 4.2.1 and Table 4.1a; thesis_docs/CHAPTER_V_SUMMARY_CONCLUSIONS_AND_RECOMMENDATIONS.md, Recommendation 7; thesis_docs/CHAPTER_IV_RESULTS_AND_DISCUSSION.md, Section 4.2.1 and Table 4.1a</a:t>
            </a:r>
            <a:endParaRPr>
              <a:latin typeface="Calibri"/>
              <a:ea typeface="Calibri"/>
              <a:cs typeface="Calibri"/>
              <a:sym typeface="Calibri"/>
            </a:endParaRPr>
          </a:p>
        </p:txBody>
      </p:sp>
      <p:sp>
        <p:nvSpPr>
          <p:cNvPr id="220" name="Google Shape;220;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chemeClr val="dk1"/>
                </a:solidFill>
                <a:latin typeface="Calibri"/>
                <a:ea typeface="Calibri"/>
                <a:cs typeface="Calibri"/>
                <a:sym typeface="Calibri"/>
              </a:rPr>
              <a:t>We can now answer the objectives directly. The static methods exposed measurable coverage and false-alert limits. We delivered the contextual and sequence-based module with a working review interface. Under F2, the trajectory model reduced weighted scoring's six misses to three, and the embedding model found all 44 positives with a larger alert workload. The matched-input paired result supports the benefit of sequence modeling. Together, these results advance the general objective of strengthening conversation-level review while making the cutoff trade-off explicit.</a:t>
            </a:r>
            <a:endParaRPr/>
          </a:p>
          <a:p>
            <a:pPr marL="0" lvl="0" indent="0" algn="l" rtl="0">
              <a:spcBef>
                <a:spcPts val="0"/>
              </a:spcBef>
              <a:spcAft>
                <a:spcPts val="0"/>
              </a:spcAft>
              <a:buNone/>
            </a:pPr>
            <a:endParaRPr b="0" i="0">
              <a:solidFill>
                <a:schemeClr val="dk1"/>
              </a:solidFill>
              <a:latin typeface="Calibri"/>
              <a:ea typeface="Calibri"/>
              <a:cs typeface="Calibri"/>
              <a:sym typeface="Calibri"/>
            </a:endParaRPr>
          </a:p>
          <a:p>
            <a:pPr marL="0" lvl="0" indent="0" algn="l" rtl="0">
              <a:spcBef>
                <a:spcPts val="0"/>
              </a:spcBef>
              <a:spcAft>
                <a:spcPts val="0"/>
              </a:spcAft>
              <a:buNone/>
            </a:pPr>
            <a:r>
              <a:rPr lang="en-US" b="0" i="0">
                <a:solidFill>
                  <a:schemeClr val="dk1"/>
                </a:solidFill>
                <a:latin typeface="Calibri"/>
                <a:ea typeface="Calibri"/>
                <a:cs typeface="Calibri"/>
                <a:sym typeface="Calibri"/>
              </a:rPr>
              <a:t>Sources: thesis_docs/CHAPTER_V_SUMMARY_CONCLUSIONS_AND_RECOMMENDATIONS.md, Sections 5.1-5.2</a:t>
            </a:r>
            <a:endParaRPr>
              <a:latin typeface="Calibri"/>
              <a:ea typeface="Calibri"/>
              <a:cs typeface="Calibri"/>
              <a:sym typeface="Calibri"/>
            </a:endParaRPr>
          </a:p>
        </p:txBody>
      </p:sp>
      <p:sp>
        <p:nvSpPr>
          <p:cNvPr id="227" name="Google Shape;227;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chemeClr val="dk1"/>
                </a:solidFill>
                <a:latin typeface="Calibri"/>
                <a:ea typeface="Calibri"/>
                <a:cs typeface="Calibri"/>
                <a:sym typeface="Calibri"/>
              </a:rPr>
              <a:t>We can now answer the objectives directly. The static methods exposed measurable coverage and false-alert limits. We delivered the contextual and sequence-based module with a working review interface. Under F2, the trajectory model reduced weighted scoring's six misses to three, and the embedding model found all 44 positives with a larger alert workload. The matched-input paired result supports the benefit of sequence modeling. Together, these results advance the general objective of strengthening conversation-level review while making the cutoff trade-off explicit.</a:t>
            </a:r>
            <a:endParaRPr/>
          </a:p>
          <a:p>
            <a:pPr marL="0" lvl="0" indent="0" algn="l" rtl="0">
              <a:spcBef>
                <a:spcPts val="0"/>
              </a:spcBef>
              <a:spcAft>
                <a:spcPts val="0"/>
              </a:spcAft>
              <a:buNone/>
            </a:pPr>
            <a:endParaRPr b="0" i="0">
              <a:solidFill>
                <a:schemeClr val="dk1"/>
              </a:solidFill>
              <a:latin typeface="Calibri"/>
              <a:ea typeface="Calibri"/>
              <a:cs typeface="Calibri"/>
              <a:sym typeface="Calibri"/>
            </a:endParaRPr>
          </a:p>
          <a:p>
            <a:pPr marL="0" lvl="0" indent="0" algn="l" rtl="0">
              <a:spcBef>
                <a:spcPts val="0"/>
              </a:spcBef>
              <a:spcAft>
                <a:spcPts val="0"/>
              </a:spcAft>
              <a:buNone/>
            </a:pPr>
            <a:r>
              <a:rPr lang="en-US" b="0" i="0">
                <a:solidFill>
                  <a:schemeClr val="dk1"/>
                </a:solidFill>
                <a:latin typeface="Calibri"/>
                <a:ea typeface="Calibri"/>
                <a:cs typeface="Calibri"/>
                <a:sym typeface="Calibri"/>
              </a:rPr>
              <a:t>Sources: thesis_docs/CHAPTER_V_SUMMARY_CONCLUSIONS_AND_RECOMMENDATIONS.md, Sections 5.1-5.2</a:t>
            </a:r>
            <a:endParaRPr>
              <a:latin typeface="Calibri"/>
              <a:ea typeface="Calibri"/>
              <a:cs typeface="Calibri"/>
              <a:sym typeface="Calibri"/>
            </a:endParaRPr>
          </a:p>
        </p:txBody>
      </p:sp>
      <p:sp>
        <p:nvSpPr>
          <p:cNvPr id="233" name="Google Shape;233;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atin typeface="Calibri"/>
                <a:ea typeface="Calibri"/>
                <a:cs typeface="Calibri"/>
                <a:sym typeface="Calibri"/>
              </a:rPr>
              <a:t>We would first test the fixed models and cutoffs on contemporary chats and measure how moderators handle the resulting queue. The embedding model's F1 and F2 settings are the clearest workflow comparison: one additional positive at F2 came with 27 additional alerts in this test. The three trajectory-model misses were short conversations, so fixed-prefix testing also deserves attention. Production work still needs longer chats and concurrent-load measurement; onset detection requires independent expert annotations.</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Sources: thesis_docs/CHAPTER_V_SUMMARY_CONCLUSIONS_AND_RECOMMENDATIONS.md, Section 5.3, especially Recommendation 7; thesis_docs/PANEL_COMMENTS_MATRIX.md; thesis_docs/CHAPTER_IV_RESULTS_AND_DISCUSSION.md, Section 4.6</a:t>
            </a:r>
            <a:endParaRPr>
              <a:latin typeface="Calibri"/>
              <a:ea typeface="Calibri"/>
              <a:cs typeface="Calibri"/>
              <a:sym typeface="Calibri"/>
            </a:endParaRPr>
          </a:p>
        </p:txBody>
      </p:sp>
      <p:sp>
        <p:nvSpPr>
          <p:cNvPr id="239" name="Google Shape;239;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978148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8200" y="1825625"/>
            <a:ext cx="9781489"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17"/>
          <p:cNvSpPr/>
          <p:nvPr/>
        </p:nvSpPr>
        <p:spPr>
          <a:xfrm>
            <a:off x="0" y="0"/>
            <a:ext cx="157655"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42" name="Google Shape;42;p17"/>
          <p:cNvSpPr/>
          <p:nvPr/>
        </p:nvSpPr>
        <p:spPr>
          <a:xfrm>
            <a:off x="11056153" y="153965"/>
            <a:ext cx="842573" cy="882695"/>
          </a:xfrm>
          <a:prstGeom prst="rect">
            <a:avLst/>
          </a:prstGeom>
          <a:noFill/>
          <a:ln>
            <a:noFill/>
          </a:ln>
        </p:spPr>
      </p:sp>
      <p:pic>
        <p:nvPicPr>
          <p:cNvPr id="43" name="Google Shape;43;p17"/>
          <p:cNvPicPr preferRelativeResize="0"/>
          <p:nvPr/>
        </p:nvPicPr>
        <p:blipFill rotWithShape="1">
          <a:blip r:embed="rId2">
            <a:alphaModFix/>
          </a:blip>
          <a:srcRect/>
          <a:stretch/>
        </p:blipFill>
        <p:spPr>
          <a:xfrm>
            <a:off x="10984081" y="1246733"/>
            <a:ext cx="1009241" cy="3651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alpha val="54118"/>
          </a:schemeClr>
        </a:solidFill>
        <a:effectLst/>
      </p:bgPr>
    </p:bg>
    <p:spTree>
      <p:nvGrpSpPr>
        <p:cNvPr id="1" name="Shape 44"/>
        <p:cNvGrpSpPr/>
        <p:nvPr/>
      </p:nvGrpSpPr>
      <p:grpSpPr>
        <a:xfrm>
          <a:off x="0" y="0"/>
          <a:ext cx="0" cy="0"/>
          <a:chOff x="0" y="0"/>
          <a:chExt cx="0" cy="0"/>
        </a:xfrm>
      </p:grpSpPr>
      <p:pic>
        <p:nvPicPr>
          <p:cNvPr id="45" name="Google Shape;45;p18"/>
          <p:cNvPicPr preferRelativeResize="0"/>
          <p:nvPr/>
        </p:nvPicPr>
        <p:blipFill rotWithShape="1">
          <a:blip r:embed="rId2">
            <a:alphaModFix/>
          </a:blip>
          <a:srcRect/>
          <a:stretch/>
        </p:blipFill>
        <p:spPr>
          <a:xfrm>
            <a:off x="0" y="0"/>
            <a:ext cx="12191999" cy="6858000"/>
          </a:xfrm>
          <a:prstGeom prst="rect">
            <a:avLst/>
          </a:prstGeom>
          <a:noFill/>
          <a:ln>
            <a:noFill/>
          </a:ln>
        </p:spPr>
      </p:pic>
      <p:sp>
        <p:nvSpPr>
          <p:cNvPr id="46" name="Google Shape;46;p18"/>
          <p:cNvSpPr txBox="1">
            <a:spLocks noGrp="1"/>
          </p:cNvSpPr>
          <p:nvPr>
            <p:ph type="ctrTitle"/>
          </p:nvPr>
        </p:nvSpPr>
        <p:spPr>
          <a:xfrm>
            <a:off x="6096000" y="1122363"/>
            <a:ext cx="5077521"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alibri"/>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subTitle" idx="1"/>
          </p:nvPr>
        </p:nvSpPr>
        <p:spPr>
          <a:xfrm>
            <a:off x="6096000" y="3602038"/>
            <a:ext cx="5077521"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D8D8D8"/>
              </a:buClr>
              <a:buSzPts val="2400"/>
              <a:buNone/>
              <a:defRPr sz="2400">
                <a:solidFill>
                  <a:srgbClr val="D8D8D8"/>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8" name="Google Shape;4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18"/>
          <p:cNvSpPr/>
          <p:nvPr/>
        </p:nvSpPr>
        <p:spPr>
          <a:xfrm>
            <a:off x="4160312" y="337011"/>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51" name="Google Shape;51;p18"/>
          <p:cNvSpPr/>
          <p:nvPr/>
        </p:nvSpPr>
        <p:spPr>
          <a:xfrm>
            <a:off x="4160312" y="337011"/>
            <a:ext cx="647700" cy="1295400"/>
          </a:xfrm>
          <a:prstGeom prst="rect">
            <a:avLst/>
          </a:prstGeom>
          <a:noFill/>
          <a:ln>
            <a:noFill/>
          </a:ln>
        </p:spPr>
      </p:sp>
      <p:sp>
        <p:nvSpPr>
          <p:cNvPr id="52" name="Google Shape;52;p18"/>
          <p:cNvSpPr/>
          <p:nvPr/>
        </p:nvSpPr>
        <p:spPr>
          <a:xfrm>
            <a:off x="993092" y="261292"/>
            <a:ext cx="2018121" cy="1078777"/>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
        <p:cNvGrpSpPr/>
        <p:nvPr/>
      </p:nvGrpSpPr>
      <p:grpSpPr>
        <a:xfrm>
          <a:off x="0" y="0"/>
          <a:ext cx="0" cy="0"/>
          <a:chOff x="0" y="0"/>
          <a:chExt cx="0" cy="0"/>
        </a:xfrm>
      </p:grpSpPr>
      <p:sp>
        <p:nvSpPr>
          <p:cNvPr id="54" name="Google Shape;54;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19"/>
          <p:cNvSpPr/>
          <p:nvPr/>
        </p:nvSpPr>
        <p:spPr>
          <a:xfrm>
            <a:off x="98087" y="78344"/>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1" name="Google Shape;61;p19"/>
          <p:cNvSpPr/>
          <p:nvPr/>
        </p:nvSpPr>
        <p:spPr>
          <a:xfrm>
            <a:off x="98087" y="78344"/>
            <a:ext cx="647700" cy="1295400"/>
          </a:xfrm>
          <a:prstGeom prst="rect">
            <a:avLst/>
          </a:prstGeom>
          <a:noFill/>
          <a:ln>
            <a:noFill/>
          </a:ln>
        </p:spPr>
      </p:sp>
      <p:sp>
        <p:nvSpPr>
          <p:cNvPr id="62" name="Google Shape;62;p19"/>
          <p:cNvSpPr/>
          <p:nvPr/>
        </p:nvSpPr>
        <p:spPr>
          <a:xfrm>
            <a:off x="10673253" y="261293"/>
            <a:ext cx="1292556" cy="69093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8" name="Google Shape;68;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p20"/>
          <p:cNvSpPr/>
          <p:nvPr/>
        </p:nvSpPr>
        <p:spPr>
          <a:xfrm>
            <a:off x="98087" y="78344"/>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73" name="Google Shape;73;p20"/>
          <p:cNvSpPr/>
          <p:nvPr/>
        </p:nvSpPr>
        <p:spPr>
          <a:xfrm>
            <a:off x="98087" y="78344"/>
            <a:ext cx="647700" cy="1295400"/>
          </a:xfrm>
          <a:prstGeom prst="rect">
            <a:avLst/>
          </a:prstGeom>
          <a:noFill/>
          <a:ln>
            <a:noFill/>
          </a:ln>
        </p:spPr>
      </p:sp>
      <p:sp>
        <p:nvSpPr>
          <p:cNvPr id="74" name="Google Shape;74;p20"/>
          <p:cNvSpPr/>
          <p:nvPr/>
        </p:nvSpPr>
        <p:spPr>
          <a:xfrm>
            <a:off x="10673253" y="261293"/>
            <a:ext cx="1292556" cy="69093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21"/>
          <p:cNvSpPr/>
          <p:nvPr/>
        </p:nvSpPr>
        <p:spPr>
          <a:xfrm>
            <a:off x="0" y="6721474"/>
            <a:ext cx="12191999" cy="150019"/>
          </a:xfrm>
          <a:prstGeom prst="rect">
            <a:avLst/>
          </a:prstGeom>
          <a:solidFill>
            <a:srgbClr val="1F386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77" name="Google Shape;77;p21"/>
          <p:cNvSpPr txBox="1">
            <a:spLocks noGrp="1"/>
          </p:cNvSpPr>
          <p:nvPr>
            <p:ph type="title"/>
          </p:nvPr>
        </p:nvSpPr>
        <p:spPr>
          <a:xfrm>
            <a:off x="838200" y="365125"/>
            <a:ext cx="91440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Google Shape;81;p21"/>
          <p:cNvSpPr/>
          <p:nvPr/>
        </p:nvSpPr>
        <p:spPr>
          <a:xfrm>
            <a:off x="98087" y="78344"/>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82" name="Google Shape;82;p21"/>
          <p:cNvSpPr/>
          <p:nvPr/>
        </p:nvSpPr>
        <p:spPr>
          <a:xfrm>
            <a:off x="98087" y="78344"/>
            <a:ext cx="647700" cy="1295400"/>
          </a:xfrm>
          <a:prstGeom prst="rect">
            <a:avLst/>
          </a:prstGeom>
          <a:noFill/>
          <a:ln>
            <a:noFill/>
          </a:ln>
        </p:spPr>
      </p:sp>
      <p:sp>
        <p:nvSpPr>
          <p:cNvPr id="83" name="Google Shape;83;p21"/>
          <p:cNvSpPr/>
          <p:nvPr/>
        </p:nvSpPr>
        <p:spPr>
          <a:xfrm>
            <a:off x="10673253" y="261293"/>
            <a:ext cx="1292556" cy="69093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84"/>
        <p:cNvGrpSpPr/>
        <p:nvPr/>
      </p:nvGrpSpPr>
      <p:grpSpPr>
        <a:xfrm>
          <a:off x="0" y="0"/>
          <a:ext cx="0" cy="0"/>
          <a:chOff x="0" y="0"/>
          <a:chExt cx="0" cy="0"/>
        </a:xfrm>
      </p:grpSpPr>
      <p:sp>
        <p:nvSpPr>
          <p:cNvPr id="85" name="Google Shape;85;p22"/>
          <p:cNvSpPr txBox="1">
            <a:spLocks noGrp="1"/>
          </p:cNvSpPr>
          <p:nvPr>
            <p:ph type="title"/>
          </p:nvPr>
        </p:nvSpPr>
        <p:spPr>
          <a:xfrm>
            <a:off x="838200" y="365125"/>
            <a:ext cx="91440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9" name="Google Shape;89;p22"/>
          <p:cNvSpPr/>
          <p:nvPr/>
        </p:nvSpPr>
        <p:spPr>
          <a:xfrm>
            <a:off x="12021015" y="0"/>
            <a:ext cx="170984" cy="6858000"/>
          </a:xfrm>
          <a:prstGeom prst="rect">
            <a:avLst/>
          </a:prstGeom>
          <a:solidFill>
            <a:srgbClr val="1F386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90" name="Google Shape;90;p22"/>
          <p:cNvSpPr/>
          <p:nvPr/>
        </p:nvSpPr>
        <p:spPr>
          <a:xfrm>
            <a:off x="98087" y="78344"/>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91" name="Google Shape;91;p22"/>
          <p:cNvSpPr/>
          <p:nvPr/>
        </p:nvSpPr>
        <p:spPr>
          <a:xfrm>
            <a:off x="98087" y="78344"/>
            <a:ext cx="647700" cy="1295400"/>
          </a:xfrm>
          <a:prstGeom prst="rect">
            <a:avLst/>
          </a:prstGeom>
          <a:noFill/>
          <a:ln>
            <a:noFill/>
          </a:ln>
        </p:spPr>
      </p:sp>
      <p:sp>
        <p:nvSpPr>
          <p:cNvPr id="92" name="Google Shape;92;p22"/>
          <p:cNvSpPr/>
          <p:nvPr/>
        </p:nvSpPr>
        <p:spPr>
          <a:xfrm>
            <a:off x="10673253" y="261293"/>
            <a:ext cx="1292556" cy="69093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1"/>
        <p:cNvGrpSpPr/>
        <p:nvPr/>
      </p:nvGrpSpPr>
      <p:grpSpPr>
        <a:xfrm>
          <a:off x="0" y="0"/>
          <a:ext cx="0" cy="0"/>
          <a:chOff x="0" y="0"/>
          <a:chExt cx="0" cy="0"/>
        </a:xfrm>
      </p:grpSpPr>
      <p:sp>
        <p:nvSpPr>
          <p:cNvPr id="102" name="Google Shape;10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24"/>
          <p:cNvSpPr txBox="1">
            <a:spLocks noGrp="1"/>
          </p:cNvSpPr>
          <p:nvPr>
            <p:ph type="body" idx="1"/>
          </p:nvPr>
        </p:nvSpPr>
        <p:spPr>
          <a:xfrm>
            <a:off x="5183188" y="1244600"/>
            <a:ext cx="6172200" cy="46164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3200"/>
              <a:buNone/>
              <a:defRPr sz="3200"/>
            </a:lvl1pPr>
            <a:lvl2pPr marL="914400" lvl="1" indent="-228600" algn="l">
              <a:lnSpc>
                <a:spcPct val="90000"/>
              </a:lnSpc>
              <a:spcBef>
                <a:spcPts val="500"/>
              </a:spcBef>
              <a:spcAft>
                <a:spcPts val="0"/>
              </a:spcAft>
              <a:buClr>
                <a:schemeClr val="dk1"/>
              </a:buClr>
              <a:buSzPts val="2800"/>
              <a:buNone/>
              <a:defRPr sz="2800"/>
            </a:lvl2pPr>
            <a:lvl3pPr marL="1371600" lvl="2" indent="-228600" algn="l">
              <a:lnSpc>
                <a:spcPct val="90000"/>
              </a:lnSpc>
              <a:spcBef>
                <a:spcPts val="500"/>
              </a:spcBef>
              <a:spcAft>
                <a:spcPts val="0"/>
              </a:spcAft>
              <a:buClr>
                <a:schemeClr val="dk1"/>
              </a:buClr>
              <a:buSzPts val="2400"/>
              <a:buNone/>
              <a:defRPr sz="2400"/>
            </a:lvl3pPr>
            <a:lvl4pPr marL="1828800" lvl="3" indent="-228600" algn="l">
              <a:lnSpc>
                <a:spcPct val="90000"/>
              </a:lnSpc>
              <a:spcBef>
                <a:spcPts val="500"/>
              </a:spcBef>
              <a:spcAft>
                <a:spcPts val="0"/>
              </a:spcAft>
              <a:buClr>
                <a:schemeClr val="dk1"/>
              </a:buClr>
              <a:buSzPts val="2000"/>
              <a:buNone/>
              <a:defRPr sz="2000"/>
            </a:lvl4pPr>
            <a:lvl5pPr marL="2286000" lvl="4" indent="-228600" algn="l">
              <a:lnSpc>
                <a:spcPct val="90000"/>
              </a:lnSpc>
              <a:spcBef>
                <a:spcPts val="500"/>
              </a:spcBef>
              <a:spcAft>
                <a:spcPts val="0"/>
              </a:spcAft>
              <a:buClr>
                <a:schemeClr val="dk1"/>
              </a:buClr>
              <a:buSzPts val="2000"/>
              <a:buNone/>
              <a:defRPr sz="2000"/>
            </a:lvl5pPr>
            <a:lvl6pPr marL="2743200" lvl="5" indent="-228600" algn="l">
              <a:lnSpc>
                <a:spcPct val="90000"/>
              </a:lnSpc>
              <a:spcBef>
                <a:spcPts val="500"/>
              </a:spcBef>
              <a:spcAft>
                <a:spcPts val="0"/>
              </a:spcAft>
              <a:buClr>
                <a:schemeClr val="dk1"/>
              </a:buClr>
              <a:buSzPts val="2000"/>
              <a:buNone/>
              <a:defRPr sz="2000"/>
            </a:lvl6pPr>
            <a:lvl7pPr marL="3200400" lvl="6" indent="-228600" algn="l">
              <a:lnSpc>
                <a:spcPct val="90000"/>
              </a:lnSpc>
              <a:spcBef>
                <a:spcPts val="500"/>
              </a:spcBef>
              <a:spcAft>
                <a:spcPts val="0"/>
              </a:spcAft>
              <a:buClr>
                <a:schemeClr val="dk1"/>
              </a:buClr>
              <a:buSzPts val="2000"/>
              <a:buNone/>
              <a:defRPr sz="2000"/>
            </a:lvl7pPr>
            <a:lvl8pPr marL="3657600" lvl="7" indent="-228600" algn="l">
              <a:lnSpc>
                <a:spcPct val="90000"/>
              </a:lnSpc>
              <a:spcBef>
                <a:spcPts val="500"/>
              </a:spcBef>
              <a:spcAft>
                <a:spcPts val="0"/>
              </a:spcAft>
              <a:buClr>
                <a:schemeClr val="dk1"/>
              </a:buClr>
              <a:buSzPts val="2000"/>
              <a:buNone/>
              <a:defRPr sz="2000"/>
            </a:lvl8pPr>
            <a:lvl9pPr marL="4114800" lvl="8" indent="-228600" algn="l">
              <a:lnSpc>
                <a:spcPct val="90000"/>
              </a:lnSpc>
              <a:spcBef>
                <a:spcPts val="500"/>
              </a:spcBef>
              <a:spcAft>
                <a:spcPts val="0"/>
              </a:spcAft>
              <a:buClr>
                <a:schemeClr val="dk1"/>
              </a:buClr>
              <a:buSzPts val="2000"/>
              <a:buNone/>
              <a:defRPr sz="2000"/>
            </a:lvl9pPr>
          </a:lstStyle>
          <a:p>
            <a:endParaRPr/>
          </a:p>
        </p:txBody>
      </p:sp>
      <p:sp>
        <p:nvSpPr>
          <p:cNvPr id="104" name="Google Shape;104;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5" name="Google Shape;10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08" name="Google Shape;108;p24"/>
          <p:cNvSpPr/>
          <p:nvPr/>
        </p:nvSpPr>
        <p:spPr>
          <a:xfrm>
            <a:off x="0" y="0"/>
            <a:ext cx="157655"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09" name="Google Shape;109;p24"/>
          <p:cNvSpPr/>
          <p:nvPr/>
        </p:nvSpPr>
        <p:spPr>
          <a:xfrm>
            <a:off x="98087" y="-9437"/>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10" name="Google Shape;110;p24"/>
          <p:cNvSpPr/>
          <p:nvPr/>
        </p:nvSpPr>
        <p:spPr>
          <a:xfrm>
            <a:off x="98087" y="-9437"/>
            <a:ext cx="647700" cy="1295400"/>
          </a:xfrm>
          <a:prstGeom prst="rect">
            <a:avLst/>
          </a:prstGeom>
          <a:noFill/>
          <a:ln>
            <a:noFill/>
          </a:ln>
        </p:spPr>
      </p:sp>
      <p:sp>
        <p:nvSpPr>
          <p:cNvPr id="111" name="Google Shape;111;p24"/>
          <p:cNvSpPr/>
          <p:nvPr/>
        </p:nvSpPr>
        <p:spPr>
          <a:xfrm>
            <a:off x="10673253" y="261293"/>
            <a:ext cx="1292556" cy="69093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5"/>
          <p:cNvSpPr>
            <a:spLocks noGrp="1"/>
          </p:cNvSpPr>
          <p:nvPr>
            <p:ph type="pic" idx="2"/>
          </p:nvPr>
        </p:nvSpPr>
        <p:spPr>
          <a:xfrm>
            <a:off x="5183188" y="1219200"/>
            <a:ext cx="6172200" cy="4641850"/>
          </a:xfrm>
          <a:prstGeom prst="rect">
            <a:avLst/>
          </a:prstGeom>
          <a:noFill/>
          <a:ln>
            <a:noFill/>
          </a:ln>
        </p:spPr>
      </p:sp>
      <p:sp>
        <p:nvSpPr>
          <p:cNvPr id="115" name="Google Shape;115;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19" name="Google Shape;119;p25"/>
          <p:cNvSpPr/>
          <p:nvPr/>
        </p:nvSpPr>
        <p:spPr>
          <a:xfrm>
            <a:off x="0" y="0"/>
            <a:ext cx="157655"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20" name="Google Shape;120;p25"/>
          <p:cNvSpPr/>
          <p:nvPr/>
        </p:nvSpPr>
        <p:spPr>
          <a:xfrm>
            <a:off x="98087" y="-9437"/>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21" name="Google Shape;121;p25"/>
          <p:cNvSpPr/>
          <p:nvPr/>
        </p:nvSpPr>
        <p:spPr>
          <a:xfrm>
            <a:off x="98087" y="-9437"/>
            <a:ext cx="647700" cy="1295400"/>
          </a:xfrm>
          <a:prstGeom prst="rect">
            <a:avLst/>
          </a:prstGeom>
          <a:noFill/>
          <a:ln>
            <a:noFill/>
          </a:ln>
        </p:spPr>
      </p:sp>
      <p:sp>
        <p:nvSpPr>
          <p:cNvPr id="122" name="Google Shape;122;p25"/>
          <p:cNvSpPr/>
          <p:nvPr/>
        </p:nvSpPr>
        <p:spPr>
          <a:xfrm>
            <a:off x="10673253" y="261293"/>
            <a:ext cx="1292556" cy="69093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3"/>
        <p:cNvGrpSpPr/>
        <p:nvPr/>
      </p:nvGrpSpPr>
      <p:grpSpPr>
        <a:xfrm>
          <a:off x="0" y="0"/>
          <a:ext cx="0" cy="0"/>
          <a:chOff x="0" y="0"/>
          <a:chExt cx="0" cy="0"/>
        </a:xfrm>
      </p:grpSpPr>
      <p:sp>
        <p:nvSpPr>
          <p:cNvPr id="124" name="Google Shape;12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29" name="Google Shape;129;p26"/>
          <p:cNvSpPr/>
          <p:nvPr/>
        </p:nvSpPr>
        <p:spPr>
          <a:xfrm>
            <a:off x="0" y="0"/>
            <a:ext cx="157655"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30" name="Google Shape;130;p26"/>
          <p:cNvSpPr/>
          <p:nvPr/>
        </p:nvSpPr>
        <p:spPr>
          <a:xfrm>
            <a:off x="98087" y="-9437"/>
            <a:ext cx="647700" cy="128538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31" name="Google Shape;131;p26"/>
          <p:cNvSpPr/>
          <p:nvPr/>
        </p:nvSpPr>
        <p:spPr>
          <a:xfrm>
            <a:off x="98087" y="-9437"/>
            <a:ext cx="647700" cy="12954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2"/>
        <p:cNvGrpSpPr/>
        <p:nvPr/>
      </p:nvGrpSpPr>
      <p:grpSpPr>
        <a:xfrm>
          <a:off x="0" y="0"/>
          <a:ext cx="0" cy="0"/>
          <a:chOff x="0" y="0"/>
          <a:chExt cx="0" cy="0"/>
        </a:xfrm>
      </p:grpSpPr>
      <p:sp>
        <p:nvSpPr>
          <p:cNvPr id="133" name="Google Shape;133;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lvl="1" indent="0" algn="r">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lvl="2" indent="0" algn="r">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lvl="3" indent="0" algn="r">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lvl="4" indent="0" algn="r">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lvl="5" indent="0" algn="r">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lvl="6" indent="0" algn="r">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lvl="7" indent="0" algn="r">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lvl="8" indent="0" algn="r">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1" name="Picture 11"/>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141889" y="5257800"/>
            <a:ext cx="3730228" cy="1598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092" y="261292"/>
            <a:ext cx="2018121" cy="1078777"/>
          </a:xfrm>
          <a:prstGeom prst="rect">
            <a:avLst/>
          </a:prstGeom>
        </p:spPr>
      </p:pic>
      <p:pic>
        <p:nvPicPr>
          <p:cNvPr id="28" name="Graphic 1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5311" y="3976038"/>
            <a:ext cx="1680181" cy="1760189"/>
          </a:xfrm>
          <a:prstGeom prst="rect">
            <a:avLst/>
          </a:prstGeom>
        </p:spPr>
      </p:pic>
      <p:pic>
        <p:nvPicPr>
          <p:cNvPr id="29" name="Picture 18"/>
          <p:cNvPicPr>
            <a:picLocks noChangeAspect="1"/>
          </p:cNvPicPr>
          <p:nvPr/>
        </p:nvPicPr>
        <p:blipFill>
          <a:blip r:embed="rId5"/>
          <a:stretch>
            <a:fillRect/>
          </a:stretch>
        </p:blipFill>
        <p:spPr>
          <a:xfrm>
            <a:off x="916741" y="5793265"/>
            <a:ext cx="2193834" cy="793686"/>
          </a:xfrm>
          <a:prstGeom prst="rect">
            <a:avLst/>
          </a:prstGeom>
        </p:spPr>
      </p:pic>
    </p:spTree>
    <p:extLst>
      <p:ext uri="{BB962C8B-B14F-4D97-AF65-F5344CB8AC3E}">
        <p14:creationId xmlns:p14="http://schemas.microsoft.com/office/powerpoint/2010/main" val="215713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17" name="Picture 15"/>
          <p:cNvPicPr>
            <a:picLocks noChangeAspect="1"/>
          </p:cNvPicPr>
          <p:nvPr/>
        </p:nvPicPr>
        <p:blipFill>
          <a:blip r:embed="rId2"/>
          <a:stretch>
            <a:fillRect/>
          </a:stretch>
        </p:blipFill>
        <p:spPr>
          <a:xfrm>
            <a:off x="9836" y="0"/>
            <a:ext cx="12172328" cy="6858000"/>
          </a:xfrm>
          <a:prstGeom prst="rect">
            <a:avLst/>
          </a:prstGeom>
        </p:spPr>
      </p:pic>
      <p:sp>
        <p:nvSpPr>
          <p:cNvPr id="2" name="Title 1">
            <a:extLst>
              <a:ext uri="{FF2B5EF4-FFF2-40B4-BE49-F238E27FC236}">
                <a16:creationId xmlns:a16="http://schemas.microsoft.com/office/drawing/2014/main" id="{6308B091-CA0E-212E-D29C-ACABD2F8DDFB}"/>
              </a:ext>
            </a:extLst>
          </p:cNvPr>
          <p:cNvSpPr>
            <a:spLocks noGrp="1"/>
          </p:cNvSpPr>
          <p:nvPr>
            <p:ph type="title"/>
          </p:nvPr>
        </p:nvSpPr>
        <p:spPr>
          <a:xfrm>
            <a:off x="831850" y="3657550"/>
            <a:ext cx="10062122" cy="1284059"/>
          </a:xfrm>
        </p:spPr>
        <p:txBody>
          <a:bodyPr anchor="b"/>
          <a:lstStyle>
            <a:lvl1pPr>
              <a:buNone/>
              <a:defRPr sz="60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371A8C11-013C-7F67-5D2A-FB3AE080AD0D}"/>
              </a:ext>
            </a:extLst>
          </p:cNvPr>
          <p:cNvSpPr>
            <a:spLocks noGrp="1"/>
          </p:cNvSpPr>
          <p:nvPr>
            <p:ph type="body" idx="1"/>
          </p:nvPr>
        </p:nvSpPr>
        <p:spPr>
          <a:xfrm>
            <a:off x="831850" y="4968598"/>
            <a:ext cx="10062122" cy="843282"/>
          </a:xfrm>
        </p:spPr>
        <p:txBody>
          <a:bodyPr/>
          <a:lstStyle>
            <a:lvl1pPr marL="0" indent="0">
              <a:buNone/>
              <a:defRPr sz="24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40B097E-EB72-FBAD-1C85-21B5359E6DB1}"/>
              </a:ext>
            </a:extLst>
          </p:cNvPr>
          <p:cNvSpPr>
            <a:spLocks noGrp="1"/>
          </p:cNvSpPr>
          <p:nvPr>
            <p:ph type="dt" idx="10"/>
          </p:nvPr>
        </p:nvSpPr>
        <p:spPr/>
        <p:txBody>
          <a:bodyPr/>
          <a:lstStyle/>
          <a:p>
            <a:fld id="{5750368A-0602-41DA-8C72-F3668C4CC159}" type="datetimeFigureOut">
              <a:t>10/16/2026</a:t>
            </a:fld>
            <a:endParaRPr/>
          </a:p>
        </p:txBody>
      </p:sp>
      <p:sp>
        <p:nvSpPr>
          <p:cNvPr id="5" name="Footer Placeholder 4">
            <a:extLst>
              <a:ext uri="{FF2B5EF4-FFF2-40B4-BE49-F238E27FC236}">
                <a16:creationId xmlns:a16="http://schemas.microsoft.com/office/drawing/2014/main" id="{92E519E1-451E-47E7-BC93-7F69CEEB6A0B}"/>
              </a:ext>
            </a:extLst>
          </p:cNvPr>
          <p:cNvSpPr>
            <a:spLocks noGrp="1"/>
          </p:cNvSpPr>
          <p:nvPr>
            <p:ph type="ftr" idx="11"/>
          </p:nvPr>
        </p:nvSpPr>
        <p:spPr/>
        <p:txBody>
          <a:bodyPr/>
          <a:lstStyle/>
          <a:p>
            <a:endParaRPr/>
          </a:p>
        </p:txBody>
      </p:sp>
      <p:sp>
        <p:nvSpPr>
          <p:cNvPr id="13" name="Date Placeholder 3">
            <a:extLst>
              <a:ext uri="{FF2B5EF4-FFF2-40B4-BE49-F238E27FC236}">
                <a16:creationId xmlns:a16="http://schemas.microsoft.com/office/drawing/2014/main" id="{E6B67043-CB4F-0116-BB76-C70A70583552}"/>
              </a:ext>
            </a:extLst>
          </p:cNvPr>
          <p:cNvSpPr>
            <a:spLocks noGrp="1"/>
          </p:cNvSpPr>
          <p:nvPr/>
        </p:nvSpPr>
        <p:spPr>
          <a:xfrm>
            <a:off x="838200" y="6357212"/>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750368A-0602-41DA-8C72-F3668C4CC159}" type="datetimeFigureOut">
              <a:t>10/16/2026</a:t>
            </a:fld>
            <a:endParaRPr/>
          </a:p>
        </p:txBody>
      </p:sp>
      <p:sp>
        <p:nvSpPr>
          <p:cNvPr id="11" name="Rectangle 10">
            <a:extLst>
              <a:ext uri="{FF2B5EF4-FFF2-40B4-BE49-F238E27FC236}">
                <a16:creationId xmlns:a16="http://schemas.microsoft.com/office/drawing/2014/main" id="{D1544972-4926-2F64-D0DC-83BF6176CC0D}"/>
              </a:ext>
            </a:extLst>
          </p:cNvPr>
          <p:cNvSpPr>
            <a:spLocks noGrp="1"/>
          </p:cNvSpPr>
          <p:nvPr/>
        </p:nvSpPr>
        <p:spPr>
          <a:xfrm>
            <a:off x="11407448" y="5473373"/>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7448" y="5473373"/>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73253" y="261293"/>
            <a:ext cx="1292556" cy="690930"/>
          </a:xfrm>
          <a:prstGeom prst="rect">
            <a:avLst/>
          </a:prstGeom>
        </p:spPr>
      </p:pic>
    </p:spTree>
    <p:extLst>
      <p:ext uri="{BB962C8B-B14F-4D97-AF65-F5344CB8AC3E}">
        <p14:creationId xmlns:p14="http://schemas.microsoft.com/office/powerpoint/2010/main" val="1739752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marR="0" lvl="1"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marR="0" lvl="2"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marR="0" lvl="3"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marR="0" lvl="4"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marR="0" lvl="5"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marR="0" lvl="6"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marR="0" lvl="7"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marR="0" lvl="8"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628D34-8338-454B-E97A-2B8FE3681CB4}"/>
              </a:ext>
            </a:extLst>
          </p:cNvPr>
          <p:cNvSpPr>
            <a:spLocks noGrp="1"/>
          </p:cNvSpPr>
          <p:nvPr>
            <p:ph type="subTitle" idx="1"/>
          </p:nvPr>
        </p:nvSpPr>
        <p:spPr>
          <a:xfrm>
            <a:off x="6096000" y="3429000"/>
            <a:ext cx="5077521" cy="2667000"/>
          </a:xfrm>
        </p:spPr>
        <p:txBody>
          <a:bodyPr>
            <a:normAutofit/>
          </a:bodyPr>
          <a:lstStyle/>
          <a:p>
            <a:r>
              <a:rPr lang="en-US" sz="2500"/>
              <a:t>Detecting Grooming-Related Interactions in Chat Conversations Using DistilBERT and LSTM-Based Behavioral Sequence Modeling</a:t>
            </a:r>
            <a:endParaRPr sz="2500"/>
          </a:p>
        </p:txBody>
      </p:sp>
      <p:sp>
        <p:nvSpPr>
          <p:cNvPr id="5" name="Title 4">
            <a:extLst>
              <a:ext uri="{FF2B5EF4-FFF2-40B4-BE49-F238E27FC236}">
                <a16:creationId xmlns:a16="http://schemas.microsoft.com/office/drawing/2014/main" id="{F6ED2DF7-F311-FDB6-B94A-056A1A4D8792}"/>
              </a:ext>
            </a:extLst>
          </p:cNvPr>
          <p:cNvSpPr>
            <a:spLocks noGrp="1"/>
          </p:cNvSpPr>
          <p:nvPr>
            <p:ph type="ctrTitle"/>
          </p:nvPr>
        </p:nvSpPr>
        <p:spPr>
          <a:xfrm>
            <a:off x="6096000" y="1651000"/>
            <a:ext cx="5077521" cy="1270000"/>
          </a:xfrm>
        </p:spPr>
        <p:txBody>
          <a:bodyPr>
            <a:normAutofit/>
          </a:bodyPr>
          <a:lstStyle/>
          <a:p>
            <a:r>
              <a:rPr lang="en-PH" sz="5000">
                <a:solidFill>
                  <a:srgbClr val="FFFFFF"/>
                </a:solidFill>
              </a:rPr>
              <a:t>GroomShield</a:t>
            </a:r>
          </a:p>
        </p:txBody>
      </p:sp>
    </p:spTree>
    <p:extLst>
      <p:ext uri="{BB962C8B-B14F-4D97-AF65-F5344CB8AC3E}">
        <p14:creationId xmlns:p14="http://schemas.microsoft.com/office/powerpoint/2010/main" val="687419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p:cNvPicPr>
          <p:nvPr/>
        </p:nvPicPr>
        <p:blipFill>
          <a:blip r:embed="rId3"/>
          <a:stretch>
            <a:fillRect/>
          </a:stretch>
        </p:blipFill>
        <p:spPr>
          <a:xfrm>
            <a:off x="0" y="5568"/>
            <a:ext cx="12192000" cy="6846864"/>
          </a:xfrm>
          <a:prstGeom prst="rect">
            <a:avLst/>
          </a:prstGeom>
        </p:spPr>
      </p:pic>
      <p:pic>
        <p:nvPicPr>
          <p:cNvPr id="7" name="Picture 6"/>
          <p:cNvPicPr>
            <a:picLocks noChangeAspect="1"/>
          </p:cNvPicPr>
          <p:nvPr/>
        </p:nvPicPr>
        <p:blipFill>
          <a:blip r:embed="rId4"/>
          <a:stretch>
            <a:fillRect/>
          </a:stretch>
        </p:blipFill>
        <p:spPr>
          <a:xfrm>
            <a:off x="10719917" y="6099734"/>
            <a:ext cx="1286054" cy="514422"/>
          </a:xfrm>
          <a:prstGeom prst="rect">
            <a:avLst/>
          </a:prstGeom>
        </p:spPr>
      </p:pic>
    </p:spTree>
    <p:extLst>
      <p:ext uri="{BB962C8B-B14F-4D97-AF65-F5344CB8AC3E}">
        <p14:creationId xmlns:p14="http://schemas.microsoft.com/office/powerpoint/2010/main" val="170495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
          <p:cNvSpPr/>
          <p:nvPr/>
        </p:nvSpPr>
        <p:spPr>
          <a:xfrm>
            <a:off x="1627322" y="686487"/>
            <a:ext cx="9726480" cy="100255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endParaRPr sz="4400">
              <a:solidFill>
                <a:srgbClr val="2F5496"/>
              </a:solidFill>
              <a:latin typeface="Calibri"/>
              <a:ea typeface="Calibri"/>
              <a:cs typeface="Calibri"/>
              <a:sym typeface="Calibri"/>
            </a:endParaRPr>
          </a:p>
        </p:txBody>
      </p:sp>
      <p:sp>
        <p:nvSpPr>
          <p:cNvPr id="167" name="Google Shape;167;p4"/>
          <p:cNvSpPr/>
          <p:nvPr/>
        </p:nvSpPr>
        <p:spPr>
          <a:xfrm>
            <a:off x="161544" y="0"/>
            <a:ext cx="10710672" cy="741680"/>
          </a:xfrm>
          <a:prstGeom prst="rect">
            <a:avLst/>
          </a:prstGeom>
          <a:solidFill>
            <a:schemeClr val="lt1"/>
          </a:solidFill>
          <a:ln w="12700" cap="flat" cmpd="sng">
            <a:solidFill>
              <a:schemeClr val="lt1"/>
            </a:solidFill>
            <a:prstDash val="solid"/>
            <a:round/>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68" name="Google Shape;168;p4"/>
          <p:cNvSpPr/>
          <p:nvPr/>
        </p:nvSpPr>
        <p:spPr>
          <a:xfrm>
            <a:off x="4167302" y="97154"/>
            <a:ext cx="8882329" cy="593408"/>
          </a:xfrm>
          <a:prstGeom prst="rect">
            <a:avLst/>
          </a:prstGeom>
          <a:noFill/>
          <a:ln>
            <a:noFill/>
          </a:ln>
        </p:spPr>
        <p:txBody>
          <a:bodyPr spcFirstLastPara="1" wrap="square" lIns="91425" tIns="45700" rIns="91425" bIns="45700" anchor="ctr" anchorCtr="0">
            <a:normAutofit/>
          </a:bodyPr>
          <a:lstStyle/>
          <a:p>
            <a:pPr marL="0" marR="0" lvl="0" indent="0" algn="l" rtl="0">
              <a:lnSpc>
                <a:spcPct val="80000"/>
              </a:lnSpc>
              <a:spcBef>
                <a:spcPts val="0"/>
              </a:spcBef>
              <a:spcAft>
                <a:spcPts val="0"/>
              </a:spcAft>
              <a:buClr>
                <a:schemeClr val="dk1"/>
              </a:buClr>
              <a:buSzPts val="3959"/>
              <a:buFont typeface="Calibri"/>
              <a:buNone/>
            </a:pPr>
            <a:r>
              <a:rPr lang="en-US" sz="3960">
                <a:solidFill>
                  <a:schemeClr val="dk1"/>
                </a:solidFill>
                <a:latin typeface="Calibri"/>
                <a:ea typeface="Calibri"/>
                <a:cs typeface="Calibri"/>
                <a:sym typeface="Calibri"/>
              </a:rPr>
              <a:t>Project Context</a:t>
            </a:r>
            <a:endParaRPr/>
          </a:p>
        </p:txBody>
      </p:sp>
      <p:pic>
        <p:nvPicPr>
          <p:cNvPr id="169" name="Google Shape;169;p4" descr="A screenshot of a computer&#10;&#10;AI-generated content may be incorrect."/>
          <p:cNvPicPr preferRelativeResize="0"/>
          <p:nvPr/>
        </p:nvPicPr>
        <p:blipFill rotWithShape="1">
          <a:blip r:embed="rId3">
            <a:alphaModFix/>
          </a:blip>
          <a:srcRect/>
          <a:stretch/>
        </p:blipFill>
        <p:spPr>
          <a:xfrm>
            <a:off x="438412" y="694150"/>
            <a:ext cx="10563617" cy="5292247"/>
          </a:xfrm>
          <a:prstGeom prst="rect">
            <a:avLst/>
          </a:prstGeom>
          <a:noFill/>
          <a:ln>
            <a:noFill/>
          </a:ln>
        </p:spPr>
      </p:pic>
      <p:sp>
        <p:nvSpPr>
          <p:cNvPr id="170" name="Google Shape;170;p4"/>
          <p:cNvSpPr txBox="1"/>
          <p:nvPr/>
        </p:nvSpPr>
        <p:spPr>
          <a:xfrm>
            <a:off x="814191" y="5688904"/>
            <a:ext cx="1056361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Core Question:</a:t>
            </a:r>
            <a:r>
              <a:rPr lang="en-US" sz="2400">
                <a:solidFill>
                  <a:schemeClr val="dk1"/>
                </a:solidFill>
                <a:latin typeface="Calibri"/>
                <a:ea typeface="Calibri"/>
                <a:cs typeface="Calibri"/>
                <a:sym typeface="Calibri"/>
              </a:rPr>
              <a:t> How effective are existing chat moderation systems, and how can ML and NLP analyze behavior across an entire conversation?</a:t>
            </a:r>
            <a:endParaRPr sz="2400">
              <a:solidFill>
                <a:schemeClr val="dk1"/>
              </a:solidFill>
              <a:latin typeface="Calibri"/>
              <a:ea typeface="Calibri"/>
              <a:cs typeface="Calibri"/>
              <a:sym typeface="Calibri"/>
            </a:endParaRPr>
          </a:p>
        </p:txBody>
      </p:sp>
      <p:grpSp>
        <p:nvGrpSpPr>
          <p:cNvPr id="2" name="Group 2">
            <a:extLst>
              <a:ext uri="{FF2B5EF4-FFF2-40B4-BE49-F238E27FC236}">
                <a16:creationId xmlns:a16="http://schemas.microsoft.com/office/drawing/2014/main" id="{12ACCD49-8EE2-ABD5-E468-15A4606A3ABC}"/>
              </a:ext>
            </a:extLst>
          </p:cNvPr>
          <p:cNvGrpSpPr/>
          <p:nvPr/>
        </p:nvGrpSpPr>
        <p:grpSpPr>
          <a:xfrm>
            <a:off x="11072828" y="97154"/>
            <a:ext cx="934625" cy="1002553"/>
            <a:chOff x="0" y="0"/>
            <a:chExt cx="1952727" cy="2094649"/>
          </a:xfrm>
        </p:grpSpPr>
        <p:sp>
          <p:nvSpPr>
            <p:cNvPr id="3" name="Freeform 3" descr="A blue and gold logo  AI-generated content may be incorrect.">
              <a:extLst>
                <a:ext uri="{FF2B5EF4-FFF2-40B4-BE49-F238E27FC236}">
                  <a16:creationId xmlns:a16="http://schemas.microsoft.com/office/drawing/2014/main" id="{23A96310-6BF6-B445-1E1C-67144B7AF9D7}"/>
                </a:ext>
              </a:extLst>
            </p:cNvPr>
            <p:cNvSpPr/>
            <p:nvPr/>
          </p:nvSpPr>
          <p:spPr>
            <a:xfrm>
              <a:off x="0" y="0"/>
              <a:ext cx="1952752" cy="2094611"/>
            </a:xfrm>
            <a:custGeom>
              <a:avLst/>
              <a:gdLst/>
              <a:ahLst/>
              <a:cxnLst/>
              <a:rect l="l" t="t" r="r" b="b"/>
              <a:pathLst>
                <a:path w="1952752" h="2094611">
                  <a:moveTo>
                    <a:pt x="0" y="0"/>
                  </a:moveTo>
                  <a:lnTo>
                    <a:pt x="1952752" y="0"/>
                  </a:lnTo>
                  <a:lnTo>
                    <a:pt x="1952752" y="2094611"/>
                  </a:lnTo>
                  <a:lnTo>
                    <a:pt x="0" y="2094611"/>
                  </a:lnTo>
                  <a:lnTo>
                    <a:pt x="0" y="0"/>
                  </a:lnTo>
                  <a:close/>
                </a:path>
              </a:pathLst>
            </a:custGeom>
            <a:blipFill>
              <a:blip r:embed="rId4"/>
              <a:stretch>
                <a:fillRect t="-6" r="1" b="-8"/>
              </a:stretch>
            </a:blipFill>
          </p:spPr>
          <p:txBody>
            <a:bodyPr/>
            <a:lstStyle/>
            <a:p>
              <a:endParaRPr lang="en-PH"/>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1627322" y="686487"/>
            <a:ext cx="9726480" cy="100255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endParaRPr sz="4400">
              <a:solidFill>
                <a:srgbClr val="2F5496"/>
              </a:solidFill>
              <a:latin typeface="Calibri"/>
              <a:ea typeface="Calibri"/>
              <a:cs typeface="Calibri"/>
              <a:sym typeface="Calibri"/>
            </a:endParaRPr>
          </a:p>
        </p:txBody>
      </p:sp>
      <p:sp>
        <p:nvSpPr>
          <p:cNvPr id="177" name="Google Shape;177;p5"/>
          <p:cNvSpPr/>
          <p:nvPr/>
        </p:nvSpPr>
        <p:spPr>
          <a:xfrm>
            <a:off x="161544" y="0"/>
            <a:ext cx="10710672" cy="741680"/>
          </a:xfrm>
          <a:prstGeom prst="rect">
            <a:avLst/>
          </a:prstGeom>
          <a:solidFill>
            <a:schemeClr val="lt1"/>
          </a:solidFill>
          <a:ln w="12700" cap="flat" cmpd="sng">
            <a:solidFill>
              <a:schemeClr val="lt1"/>
            </a:solidFill>
            <a:prstDash val="solid"/>
            <a:round/>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78" name="Google Shape;178;p5"/>
          <p:cNvSpPr/>
          <p:nvPr/>
        </p:nvSpPr>
        <p:spPr>
          <a:xfrm>
            <a:off x="3148127" y="87629"/>
            <a:ext cx="8882329" cy="593408"/>
          </a:xfrm>
          <a:prstGeom prst="rect">
            <a:avLst/>
          </a:prstGeom>
          <a:noFill/>
          <a:ln>
            <a:noFill/>
          </a:ln>
        </p:spPr>
        <p:txBody>
          <a:bodyPr spcFirstLastPara="1" wrap="square" lIns="91425" tIns="45700" rIns="91425" bIns="45700" anchor="ctr" anchorCtr="0">
            <a:normAutofit/>
          </a:bodyPr>
          <a:lstStyle/>
          <a:p>
            <a:pPr marL="0" marR="0" lvl="0" indent="0" algn="l" rtl="0">
              <a:lnSpc>
                <a:spcPct val="80000"/>
              </a:lnSpc>
              <a:spcBef>
                <a:spcPts val="0"/>
              </a:spcBef>
              <a:spcAft>
                <a:spcPts val="0"/>
              </a:spcAft>
              <a:buClr>
                <a:schemeClr val="dk1"/>
              </a:buClr>
              <a:buSzPts val="3959"/>
              <a:buFont typeface="Calibri"/>
              <a:buNone/>
            </a:pPr>
            <a:r>
              <a:rPr lang="en-US" sz="3960">
                <a:solidFill>
                  <a:schemeClr val="dk1"/>
                </a:solidFill>
                <a:latin typeface="Calibri"/>
                <a:ea typeface="Calibri"/>
                <a:cs typeface="Calibri"/>
                <a:sym typeface="Calibri"/>
              </a:rPr>
              <a:t>The Moderation Blind Spot</a:t>
            </a:r>
            <a:endParaRPr/>
          </a:p>
        </p:txBody>
      </p:sp>
      <p:pic>
        <p:nvPicPr>
          <p:cNvPr id="179" name="Google Shape;179;p5"/>
          <p:cNvPicPr preferRelativeResize="0"/>
          <p:nvPr/>
        </p:nvPicPr>
        <p:blipFill rotWithShape="1">
          <a:blip r:embed="rId3">
            <a:alphaModFix/>
          </a:blip>
          <a:srcRect/>
          <a:stretch/>
        </p:blipFill>
        <p:spPr>
          <a:xfrm>
            <a:off x="438412" y="464507"/>
            <a:ext cx="10156520" cy="5083479"/>
          </a:xfrm>
          <a:prstGeom prst="rect">
            <a:avLst/>
          </a:prstGeom>
          <a:noFill/>
          <a:ln>
            <a:noFill/>
          </a:ln>
        </p:spPr>
      </p:pic>
      <p:sp>
        <p:nvSpPr>
          <p:cNvPr id="180" name="Google Shape;180;p5"/>
          <p:cNvSpPr txBox="1"/>
          <p:nvPr/>
        </p:nvSpPr>
        <p:spPr>
          <a:xfrm>
            <a:off x="574109" y="5333999"/>
            <a:ext cx="10198273"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The Benchmark:</a:t>
            </a:r>
            <a:r>
              <a:rPr lang="en-US" sz="2400">
                <a:solidFill>
                  <a:schemeClr val="dk1"/>
                </a:solidFill>
                <a:latin typeface="Calibri"/>
                <a:ea typeface="Calibri"/>
                <a:cs typeface="Calibri"/>
                <a:sym typeface="Calibri"/>
              </a:rPr>
              <a:t> This study provides a controlled, direct comparison between a Trajectory-Feature LSTM and traditional keyword/static-score aggregation using the PAN-2012 evaluation corpus. </a:t>
            </a:r>
            <a:endParaRPr sz="2400">
              <a:solidFill>
                <a:schemeClr val="dk1"/>
              </a:solidFill>
              <a:latin typeface="Calibri"/>
              <a:ea typeface="Calibri"/>
              <a:cs typeface="Calibri"/>
              <a:sym typeface="Calibri"/>
            </a:endParaRPr>
          </a:p>
        </p:txBody>
      </p:sp>
      <p:grpSp>
        <p:nvGrpSpPr>
          <p:cNvPr id="2" name="Group 2">
            <a:extLst>
              <a:ext uri="{FF2B5EF4-FFF2-40B4-BE49-F238E27FC236}">
                <a16:creationId xmlns:a16="http://schemas.microsoft.com/office/drawing/2014/main" id="{A110E6BF-44C9-2821-CE7D-610908FE6FD3}"/>
              </a:ext>
            </a:extLst>
          </p:cNvPr>
          <p:cNvGrpSpPr/>
          <p:nvPr/>
        </p:nvGrpSpPr>
        <p:grpSpPr>
          <a:xfrm>
            <a:off x="11072828" y="97154"/>
            <a:ext cx="934625" cy="1002553"/>
            <a:chOff x="0" y="0"/>
            <a:chExt cx="1952727" cy="2094649"/>
          </a:xfrm>
        </p:grpSpPr>
        <p:sp>
          <p:nvSpPr>
            <p:cNvPr id="3" name="Freeform 3" descr="A blue and gold logo  AI-generated content may be incorrect.">
              <a:extLst>
                <a:ext uri="{FF2B5EF4-FFF2-40B4-BE49-F238E27FC236}">
                  <a16:creationId xmlns:a16="http://schemas.microsoft.com/office/drawing/2014/main" id="{071F95ED-A30B-D4B1-9B1E-A2513BEAA253}"/>
                </a:ext>
              </a:extLst>
            </p:cNvPr>
            <p:cNvSpPr/>
            <p:nvPr/>
          </p:nvSpPr>
          <p:spPr>
            <a:xfrm>
              <a:off x="0" y="0"/>
              <a:ext cx="1952752" cy="2094611"/>
            </a:xfrm>
            <a:custGeom>
              <a:avLst/>
              <a:gdLst/>
              <a:ahLst/>
              <a:cxnLst/>
              <a:rect l="l" t="t" r="r" b="b"/>
              <a:pathLst>
                <a:path w="1952752" h="2094611">
                  <a:moveTo>
                    <a:pt x="0" y="0"/>
                  </a:moveTo>
                  <a:lnTo>
                    <a:pt x="1952752" y="0"/>
                  </a:lnTo>
                  <a:lnTo>
                    <a:pt x="1952752" y="2094611"/>
                  </a:lnTo>
                  <a:lnTo>
                    <a:pt x="0" y="2094611"/>
                  </a:lnTo>
                  <a:lnTo>
                    <a:pt x="0" y="0"/>
                  </a:lnTo>
                  <a:close/>
                </a:path>
              </a:pathLst>
            </a:custGeom>
            <a:blipFill>
              <a:blip r:embed="rId4"/>
              <a:stretch>
                <a:fillRect t="-6" r="1" b="-8"/>
              </a:stretch>
            </a:blipFill>
          </p:spPr>
          <p:txBody>
            <a:bodyPr/>
            <a:lstStyle/>
            <a:p>
              <a:endParaRPr lang="en-PH"/>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450596" y="192024"/>
            <a:ext cx="9969500" cy="9779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2F5496"/>
              </a:buClr>
              <a:buSzPts val="3400"/>
              <a:buFont typeface="Calibri"/>
              <a:buNone/>
            </a:pPr>
            <a:r>
              <a:rPr lang="en-US" sz="3400">
                <a:solidFill>
                  <a:srgbClr val="2F5496"/>
                </a:solidFill>
                <a:latin typeface="Calibri"/>
                <a:ea typeface="Calibri"/>
                <a:cs typeface="Calibri"/>
                <a:sym typeface="Calibri"/>
              </a:rPr>
              <a:t>Alignment Table</a:t>
            </a:r>
            <a:endParaRPr/>
          </a:p>
        </p:txBody>
      </p:sp>
      <p:graphicFrame>
        <p:nvGraphicFramePr>
          <p:cNvPr id="187" name="Google Shape;187;p6"/>
          <p:cNvGraphicFramePr/>
          <p:nvPr/>
        </p:nvGraphicFramePr>
        <p:xfrm>
          <a:off x="356616" y="941833"/>
          <a:ext cx="10354925" cy="5553030"/>
        </p:xfrm>
        <a:graphic>
          <a:graphicData uri="http://schemas.openxmlformats.org/drawingml/2006/table">
            <a:tbl>
              <a:tblPr firstRow="1" bandRow="1">
                <a:noFill/>
                <a:tableStyleId>{735668C0-25C9-4073-9232-C6F090029EB0}</a:tableStyleId>
              </a:tblPr>
              <a:tblGrid>
                <a:gridCol w="1916150">
                  <a:extLst>
                    <a:ext uri="{9D8B030D-6E8A-4147-A177-3AD203B41FA5}">
                      <a16:colId xmlns:a16="http://schemas.microsoft.com/office/drawing/2014/main" val="20000"/>
                    </a:ext>
                  </a:extLst>
                </a:gridCol>
                <a:gridCol w="2041950">
                  <a:extLst>
                    <a:ext uri="{9D8B030D-6E8A-4147-A177-3AD203B41FA5}">
                      <a16:colId xmlns:a16="http://schemas.microsoft.com/office/drawing/2014/main" val="20001"/>
                    </a:ext>
                  </a:extLst>
                </a:gridCol>
                <a:gridCol w="2138725">
                  <a:extLst>
                    <a:ext uri="{9D8B030D-6E8A-4147-A177-3AD203B41FA5}">
                      <a16:colId xmlns:a16="http://schemas.microsoft.com/office/drawing/2014/main" val="20002"/>
                    </a:ext>
                  </a:extLst>
                </a:gridCol>
                <a:gridCol w="2440175">
                  <a:extLst>
                    <a:ext uri="{9D8B030D-6E8A-4147-A177-3AD203B41FA5}">
                      <a16:colId xmlns:a16="http://schemas.microsoft.com/office/drawing/2014/main" val="20003"/>
                    </a:ext>
                  </a:extLst>
                </a:gridCol>
                <a:gridCol w="1817925">
                  <a:extLst>
                    <a:ext uri="{9D8B030D-6E8A-4147-A177-3AD203B41FA5}">
                      <a16:colId xmlns:a16="http://schemas.microsoft.com/office/drawing/2014/main" val="20004"/>
                    </a:ext>
                  </a:extLst>
                </a:gridCol>
              </a:tblGrid>
              <a:tr h="798150">
                <a:tc>
                  <a:txBody>
                    <a:bodyPr/>
                    <a:lstStyle/>
                    <a:p>
                      <a:pPr marL="0" marR="0" lvl="0" indent="0" algn="l" rtl="0">
                        <a:spcBef>
                          <a:spcPts val="0"/>
                        </a:spcBef>
                        <a:spcAft>
                          <a:spcPts val="0"/>
                        </a:spcAft>
                        <a:buClr>
                          <a:srgbClr val="191F28"/>
                        </a:buClr>
                        <a:buSzPts val="1600"/>
                        <a:buFont typeface="Calibri"/>
                        <a:buNone/>
                      </a:pPr>
                      <a:r>
                        <a:rPr lang="en-US" sz="1600" b="1" u="none" strike="noStrike" cap="none">
                          <a:solidFill>
                            <a:srgbClr val="191F28"/>
                          </a:solidFill>
                        </a:rPr>
                        <a:t>Problem</a:t>
                      </a:r>
                      <a:endParaRPr sz="1600" b="1">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1">
                          <a:solidFill>
                            <a:srgbClr val="191F28"/>
                          </a:solidFill>
                        </a:rPr>
                        <a:t>Question / Objective</a:t>
                      </a:r>
                      <a:endParaRPr sz="1600" b="1">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1">
                          <a:solidFill>
                            <a:srgbClr val="191F28"/>
                          </a:solidFill>
                        </a:rPr>
                        <a:t>Method</a:t>
                      </a:r>
                      <a:endParaRPr sz="1600" b="1">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1">
                          <a:solidFill>
                            <a:srgbClr val="191F28"/>
                          </a:solidFill>
                        </a:rPr>
                        <a:t>Results evidence</a:t>
                      </a:r>
                      <a:endParaRPr sz="1600" b="1">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1">
                          <a:solidFill>
                            <a:srgbClr val="191F28"/>
                          </a:solidFill>
                          <a:latin typeface="Calibri"/>
                          <a:ea typeface="Calibri"/>
                          <a:cs typeface="Calibri"/>
                          <a:sym typeface="Calibri"/>
                        </a:rPr>
                        <a:t>Status</a:t>
                      </a:r>
                      <a:endParaRPr/>
                    </a:p>
                  </a:txBody>
                  <a:tcPr marL="101600" marR="101600" marT="76200" marB="76200" anchor="ctr"/>
                </a:tc>
                <a:extLst>
                  <a:ext uri="{0D108BD9-81ED-4DB2-BD59-A6C34878D82A}">
                    <a16:rowId xmlns:a16="http://schemas.microsoft.com/office/drawing/2014/main" val="10000"/>
                  </a:ext>
                </a:extLst>
              </a:tr>
              <a:tr h="929775">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How well do existing systems detect relevant conversations?</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RQ1 / Objective 1: Evaluate existing moderation.</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Test the keyword rule on the same held-out conversations.</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Keyword rule: 61.36% recall and 17 missed cases.</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Achieved</a:t>
                      </a:r>
                      <a:endParaRPr/>
                    </a:p>
                  </a:txBody>
                  <a:tcPr marL="101600" marR="101600" marT="76200" marB="76200" anchor="ctr"/>
                </a:tc>
                <a:extLst>
                  <a:ext uri="{0D108BD9-81ED-4DB2-BD59-A6C34878D82A}">
                    <a16:rowId xmlns:a16="http://schemas.microsoft.com/office/drawing/2014/main" val="10001"/>
                  </a:ext>
                </a:extLst>
              </a:tr>
              <a:tr h="929775">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Static methods can miss meaning that develops across turns.</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RQ2 / Objective 1: Examine the limits of static methods.</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Compare keyword and score aggregation with the trajectory LSTM.</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rPr>
                        <a:t>LSTM gains over maximum Layer 1: +0.3630 PR-AUC and +0.1958 F2.</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Achieved</a:t>
                      </a:r>
                      <a:endParaRPr/>
                    </a:p>
                  </a:txBody>
                  <a:tcPr marL="101600" marR="101600" marT="76200" marB="76200" anchor="ctr"/>
                </a:tc>
                <a:extLst>
                  <a:ext uri="{0D108BD9-81ED-4DB2-BD59-A6C34878D82A}">
                    <a16:rowId xmlns:a16="http://schemas.microsoft.com/office/drawing/2014/main" val="10002"/>
                  </a:ext>
                </a:extLst>
              </a:tr>
              <a:tr h="929775">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Chat analysis needs both context and behavioral development.</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RQ3 / Objective 2: Develop the AI moderation module.</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Combine DistilBERT, seven trajectory features, and an LSTM.</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Completed two-layer module and sequential review interface.</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Achieved</a:t>
                      </a:r>
                      <a:endParaRPr/>
                    </a:p>
                  </a:txBody>
                  <a:tcPr marL="101600" marR="101600" marT="76200" marB="76200" anchor="ctr"/>
                </a:tc>
                <a:extLst>
                  <a:ext uri="{0D108BD9-81ED-4DB2-BD59-A6C34878D82A}">
                    <a16:rowId xmlns:a16="http://schemas.microsoft.com/office/drawing/2014/main" val="10003"/>
                  </a:ext>
                </a:extLst>
              </a:tr>
              <a:tr h="1130800">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The module must improve detection and reduce missed cases.</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RQ4 / Objective 3: Measure recall and false-negative reduction.</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Use F2 and compare results with other methods.</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Trajectory-Feature LSTM: Used F2. 93.18% recall and three misses; 50% fewer misses than weighted scoring.</a:t>
                      </a:r>
                      <a:endParaRPr sz="1600" b="0">
                        <a:solidFill>
                          <a:srgbClr val="191F28"/>
                        </a:solidFill>
                        <a:latin typeface="Calibri"/>
                        <a:ea typeface="Calibri"/>
                        <a:cs typeface="Calibri"/>
                        <a:sym typeface="Calibri"/>
                      </a:endParaRPr>
                    </a:p>
                  </a:txBody>
                  <a:tcPr marL="101600" marR="101600" marT="76200" marB="76200" anchor="ctr"/>
                </a:tc>
                <a:tc>
                  <a:txBody>
                    <a:bodyPr/>
                    <a:lstStyle/>
                    <a:p>
                      <a:pPr marL="0" marR="0" lvl="0" indent="0" algn="l" rtl="0">
                        <a:spcBef>
                          <a:spcPts val="0"/>
                        </a:spcBef>
                        <a:spcAft>
                          <a:spcPts val="0"/>
                        </a:spcAft>
                        <a:buClr>
                          <a:srgbClr val="191F28"/>
                        </a:buClr>
                        <a:buSzPts val="1600"/>
                        <a:buFont typeface="Calibri"/>
                        <a:buNone/>
                      </a:pPr>
                      <a:r>
                        <a:rPr lang="en-US" sz="1600" b="0">
                          <a:solidFill>
                            <a:srgbClr val="191F28"/>
                          </a:solidFill>
                          <a:latin typeface="Calibri"/>
                          <a:ea typeface="Calibri"/>
                          <a:cs typeface="Calibri"/>
                          <a:sym typeface="Calibri"/>
                        </a:rPr>
                        <a:t>Achieved</a:t>
                      </a:r>
                      <a:endParaRPr/>
                    </a:p>
                  </a:txBody>
                  <a:tcPr marL="101600" marR="101600" marT="76200" marB="76200" anchor="ctr"/>
                </a:tc>
                <a:extLst>
                  <a:ext uri="{0D108BD9-81ED-4DB2-BD59-A6C34878D82A}">
                    <a16:rowId xmlns:a16="http://schemas.microsoft.com/office/drawing/2014/main" val="10004"/>
                  </a:ext>
                </a:extLst>
              </a:tr>
            </a:tbl>
          </a:graphicData>
        </a:graphic>
      </p:graphicFrame>
      <p:grpSp>
        <p:nvGrpSpPr>
          <p:cNvPr id="2" name="Group 2">
            <a:extLst>
              <a:ext uri="{FF2B5EF4-FFF2-40B4-BE49-F238E27FC236}">
                <a16:creationId xmlns:a16="http://schemas.microsoft.com/office/drawing/2014/main" id="{568124E0-0A35-D375-912D-87F3EFE3C040}"/>
              </a:ext>
            </a:extLst>
          </p:cNvPr>
          <p:cNvGrpSpPr/>
          <p:nvPr/>
        </p:nvGrpSpPr>
        <p:grpSpPr>
          <a:xfrm>
            <a:off x="11072828" y="97154"/>
            <a:ext cx="934625" cy="1002553"/>
            <a:chOff x="0" y="0"/>
            <a:chExt cx="1952727" cy="2094649"/>
          </a:xfrm>
        </p:grpSpPr>
        <p:sp>
          <p:nvSpPr>
            <p:cNvPr id="3" name="Freeform 3" descr="A blue and gold logo  AI-generated content may be incorrect.">
              <a:extLst>
                <a:ext uri="{FF2B5EF4-FFF2-40B4-BE49-F238E27FC236}">
                  <a16:creationId xmlns:a16="http://schemas.microsoft.com/office/drawing/2014/main" id="{E86B7986-D113-FD47-D370-6CF5FA08A3DF}"/>
                </a:ext>
              </a:extLst>
            </p:cNvPr>
            <p:cNvSpPr/>
            <p:nvPr/>
          </p:nvSpPr>
          <p:spPr>
            <a:xfrm>
              <a:off x="0" y="0"/>
              <a:ext cx="1952752" cy="2094611"/>
            </a:xfrm>
            <a:custGeom>
              <a:avLst/>
              <a:gdLst/>
              <a:ahLst/>
              <a:cxnLst/>
              <a:rect l="l" t="t" r="r" b="b"/>
              <a:pathLst>
                <a:path w="1952752" h="2094611">
                  <a:moveTo>
                    <a:pt x="0" y="0"/>
                  </a:moveTo>
                  <a:lnTo>
                    <a:pt x="1952752" y="0"/>
                  </a:lnTo>
                  <a:lnTo>
                    <a:pt x="1952752" y="2094611"/>
                  </a:lnTo>
                  <a:lnTo>
                    <a:pt x="0" y="2094611"/>
                  </a:lnTo>
                  <a:lnTo>
                    <a:pt x="0" y="0"/>
                  </a:lnTo>
                  <a:close/>
                </a:path>
              </a:pathLst>
            </a:custGeom>
            <a:blipFill>
              <a:blip r:embed="rId3"/>
              <a:stretch>
                <a:fillRect t="-6" r="1" b="-8"/>
              </a:stretch>
            </a:blipFill>
          </p:spPr>
          <p:txBody>
            <a:bodyPr/>
            <a:lstStyle/>
            <a:p>
              <a:endParaRPr lang="en-PH"/>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6913-EAEA-8B97-D32E-31E06E13A28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AI Model Architecture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AE47215D-E5CE-47B1-FCFE-617B4EAA2608}"/>
              </a:ext>
            </a:extLst>
          </p:cNvPr>
          <p:cNvSpPr>
            <a:spLocks noGrp="1"/>
          </p:cNvSpPr>
          <p:nvPr>
            <p:ph idx="1"/>
          </p:nvPr>
        </p:nvSpPr>
        <p:spPr/>
        <p:txBody>
          <a:bodyPr/>
          <a:lstStyle/>
          <a:p>
            <a:endParaRPr lang="en-PH"/>
          </a:p>
        </p:txBody>
      </p:sp>
      <p:sp>
        <p:nvSpPr>
          <p:cNvPr id="5" name="Current turn input">
            <a:extLst>
              <a:ext uri="{FF2B5EF4-FFF2-40B4-BE49-F238E27FC236}">
                <a16:creationId xmlns:a16="http://schemas.microsoft.com/office/drawing/2014/main" id="{E6895191-94C9-2F5B-0946-D1B793400C72}"/>
              </a:ext>
            </a:extLst>
          </p:cNvPr>
          <p:cNvSpPr/>
          <p:nvPr/>
        </p:nvSpPr>
        <p:spPr>
          <a:xfrm>
            <a:off x="609600" y="2552700"/>
            <a:ext cx="2032000" cy="13208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200">
                <a:solidFill>
                  <a:srgbClr val="191F28"/>
                </a:solidFill>
                <a:latin typeface="Calibri" panose="020F0502020204030204" pitchFamily="34" charset="0"/>
              </a:rPr>
              <a:t>Current turn</a:t>
            </a:r>
          </a:p>
          <a:p>
            <a:pPr algn="ctr"/>
            <a:r>
              <a:rPr lang="en-US" sz="2200">
                <a:solidFill>
                  <a:srgbClr val="191F28"/>
                </a:solidFill>
                <a:latin typeface="Calibri" panose="020F0502020204030204" pitchFamily="34" charset="0"/>
              </a:rPr>
              <a:t>+ up to two</a:t>
            </a:r>
          </a:p>
          <a:p>
            <a:pPr algn="ctr"/>
            <a:r>
              <a:rPr lang="en-US" sz="2200">
                <a:solidFill>
                  <a:srgbClr val="191F28"/>
                </a:solidFill>
                <a:latin typeface="Calibri" panose="020F0502020204030204" pitchFamily="34" charset="0"/>
              </a:rPr>
              <a:t>previous turns</a:t>
            </a:r>
            <a:endParaRPr lang="en-PH" sz="2200">
              <a:solidFill>
                <a:srgbClr val="191F28"/>
              </a:solidFill>
              <a:latin typeface="Calibri" panose="020F0502020204030204" pitchFamily="34" charset="0"/>
            </a:endParaRPr>
          </a:p>
        </p:txBody>
      </p:sp>
      <p:sp>
        <p:nvSpPr>
          <p:cNvPr id="6" name="Context classifier">
            <a:extLst>
              <a:ext uri="{FF2B5EF4-FFF2-40B4-BE49-F238E27FC236}">
                <a16:creationId xmlns:a16="http://schemas.microsoft.com/office/drawing/2014/main" id="{B1D94D3D-F46A-F928-3E33-ACE425F7AE27}"/>
              </a:ext>
            </a:extLst>
          </p:cNvPr>
          <p:cNvSpPr/>
          <p:nvPr/>
        </p:nvSpPr>
        <p:spPr>
          <a:xfrm>
            <a:off x="3111500" y="19431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1: DistilBERT</a:t>
            </a:r>
          </a:p>
          <a:p>
            <a:pPr algn="ctr"/>
            <a:r>
              <a:rPr lang="en-US" sz="2100">
                <a:solidFill>
                  <a:srgbClr val="191F28"/>
                </a:solidFill>
                <a:latin typeface="Calibri" panose="020F0502020204030204" pitchFamily="34" charset="0"/>
              </a:rPr>
              <a:t>Author-derived</a:t>
            </a:r>
          </a:p>
          <a:p>
            <a:pPr algn="ctr"/>
            <a:r>
              <a:rPr lang="en-US" sz="2100">
                <a:solidFill>
                  <a:srgbClr val="191F28"/>
                </a:solidFill>
                <a:latin typeface="Calibri" panose="020F0502020204030204" pitchFamily="34" charset="0"/>
              </a:rPr>
              <a:t>proxy score</a:t>
            </a:r>
            <a:endParaRPr lang="en-PH" sz="2100">
              <a:solidFill>
                <a:srgbClr val="191F28"/>
              </a:solidFill>
              <a:latin typeface="Calibri" panose="020F0502020204030204" pitchFamily="34" charset="0"/>
            </a:endParaRPr>
          </a:p>
        </p:txBody>
      </p:sp>
      <p:sp>
        <p:nvSpPr>
          <p:cNvPr id="8" name="Base encoder">
            <a:extLst>
              <a:ext uri="{FF2B5EF4-FFF2-40B4-BE49-F238E27FC236}">
                <a16:creationId xmlns:a16="http://schemas.microsoft.com/office/drawing/2014/main" id="{61BE1F36-041B-4B5F-7A71-5C5767617604}"/>
              </a:ext>
            </a:extLst>
          </p:cNvPr>
          <p:cNvSpPr/>
          <p:nvPr/>
        </p:nvSpPr>
        <p:spPr>
          <a:xfrm>
            <a:off x="3111500" y="42799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900">
                <a:solidFill>
                  <a:srgbClr val="191F28"/>
                </a:solidFill>
                <a:latin typeface="Calibri" panose="020F0502020204030204" pitchFamily="34" charset="0"/>
              </a:rPr>
              <a:t>Fixed base encoder</a:t>
            </a:r>
          </a:p>
          <a:p>
            <a:pPr algn="ctr"/>
            <a:r>
              <a:rPr lang="en-US" sz="1900">
                <a:solidFill>
                  <a:srgbClr val="191F28"/>
                </a:solidFill>
                <a:latin typeface="Calibri" panose="020F0502020204030204" pitchFamily="34" charset="0"/>
              </a:rPr>
              <a:t>Current-turn embedding</a:t>
            </a:r>
          </a:p>
          <a:p>
            <a:pPr algn="ctr"/>
            <a:r>
              <a:rPr lang="en-US" sz="1900">
                <a:solidFill>
                  <a:srgbClr val="191F28"/>
                </a:solidFill>
                <a:latin typeface="Calibri" panose="020F0502020204030204" pitchFamily="34" charset="0"/>
              </a:rPr>
              <a:t>+ training reference</a:t>
            </a:r>
            <a:endParaRPr lang="en-PH" sz="1900">
              <a:solidFill>
                <a:srgbClr val="191F28"/>
              </a:solidFill>
              <a:latin typeface="Calibri" panose="020F0502020204030204" pitchFamily="34" charset="0"/>
            </a:endParaRPr>
          </a:p>
        </p:txBody>
      </p:sp>
      <p:sp>
        <p:nvSpPr>
          <p:cNvPr id="9" name="Trajectory features">
            <a:extLst>
              <a:ext uri="{FF2B5EF4-FFF2-40B4-BE49-F238E27FC236}">
                <a16:creationId xmlns:a16="http://schemas.microsoft.com/office/drawing/2014/main" id="{3DD60086-D214-9E72-8168-A28885D575F6}"/>
              </a:ext>
            </a:extLst>
          </p:cNvPr>
          <p:cNvSpPr/>
          <p:nvPr/>
        </p:nvSpPr>
        <p:spPr>
          <a:xfrm>
            <a:off x="6350000" y="1943100"/>
            <a:ext cx="2781300" cy="35687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000">
                <a:solidFill>
                  <a:srgbClr val="191F28"/>
                </a:solidFill>
                <a:latin typeface="Calibri" panose="020F0502020204030204" pitchFamily="34" charset="0"/>
              </a:rPr>
              <a:t>Layer 2 inputs</a:t>
            </a:r>
          </a:p>
          <a:p>
            <a:pPr algn="ctr"/>
            <a:endParaRPr lang="en-US" sz="2000">
              <a:solidFill>
                <a:srgbClr val="191F28"/>
              </a:solidFill>
              <a:latin typeface="Calibri" panose="020F0502020204030204" pitchFamily="34" charset="0"/>
            </a:endParaRPr>
          </a:p>
          <a:p>
            <a:pPr algn="ctr"/>
            <a:r>
              <a:rPr lang="en-US" sz="2000">
                <a:solidFill>
                  <a:srgbClr val="191F28"/>
                </a:solidFill>
                <a:latin typeface="Calibri" panose="020F0502020204030204" pitchFamily="34" charset="0"/>
              </a:rPr>
              <a:t>Seven behavioral</a:t>
            </a:r>
          </a:p>
          <a:p>
            <a:pPr algn="ctr"/>
            <a:r>
              <a:rPr lang="en-US" sz="2000">
                <a:solidFill>
                  <a:srgbClr val="191F28"/>
                </a:solidFill>
                <a:latin typeface="Calibri" panose="020F0502020204030204" pitchFamily="34" charset="0"/>
              </a:rPr>
              <a:t>features</a:t>
            </a:r>
          </a:p>
          <a:p>
            <a:pPr algn="ctr"/>
            <a:endParaRPr lang="en-US" sz="2000">
              <a:solidFill>
                <a:srgbClr val="191F28"/>
              </a:solidFill>
              <a:latin typeface="Calibri" panose="020F0502020204030204" pitchFamily="34" charset="0"/>
            </a:endParaRPr>
          </a:p>
          <a:p>
            <a:pPr algn="ctr"/>
            <a:r>
              <a:rPr lang="en-US" sz="2000">
                <a:solidFill>
                  <a:srgbClr val="191F28"/>
                </a:solidFill>
                <a:latin typeface="Calibri" panose="020F0502020204030204" pitchFamily="34" charset="0"/>
              </a:rPr>
              <a:t>Embedding variant:</a:t>
            </a:r>
          </a:p>
          <a:p>
            <a:pPr algn="ctr"/>
            <a:r>
              <a:rPr lang="en-US" sz="2000">
                <a:solidFill>
                  <a:srgbClr val="191F28"/>
                </a:solidFill>
                <a:latin typeface="Calibri" panose="020F0502020204030204" pitchFamily="34" charset="0"/>
              </a:rPr>
              <a:t>+ 768 text values</a:t>
            </a:r>
            <a:endParaRPr lang="en-PH" sz="2000">
              <a:solidFill>
                <a:srgbClr val="191F28"/>
              </a:solidFill>
              <a:latin typeface="Calibri" panose="020F0502020204030204" pitchFamily="34" charset="0"/>
            </a:endParaRPr>
          </a:p>
        </p:txBody>
      </p:sp>
      <p:sp>
        <p:nvSpPr>
          <p:cNvPr id="10" name="Sequence model">
            <a:extLst>
              <a:ext uri="{FF2B5EF4-FFF2-40B4-BE49-F238E27FC236}">
                <a16:creationId xmlns:a16="http://schemas.microsoft.com/office/drawing/2014/main" id="{3A5AF613-2F19-8CB6-A0F8-1E0AB1DECBFA}"/>
              </a:ext>
            </a:extLst>
          </p:cNvPr>
          <p:cNvSpPr/>
          <p:nvPr/>
        </p:nvSpPr>
        <p:spPr>
          <a:xfrm>
            <a:off x="9588500" y="1943100"/>
            <a:ext cx="2070100" cy="13335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2: LSTM</a:t>
            </a:r>
          </a:p>
          <a:p>
            <a:pPr algn="ctr"/>
            <a:r>
              <a:rPr lang="en-US" sz="2100">
                <a:solidFill>
                  <a:srgbClr val="191F28"/>
                </a:solidFill>
                <a:latin typeface="Calibri" panose="020F0502020204030204" pitchFamily="34" charset="0"/>
              </a:rPr>
              <a:t>7 or 775 inputs</a:t>
            </a:r>
          </a:p>
          <a:p>
            <a:pPr algn="ctr"/>
            <a:r>
              <a:rPr lang="en-US" sz="2100">
                <a:solidFill>
                  <a:srgbClr val="191F28"/>
                </a:solidFill>
                <a:latin typeface="Calibri" panose="020F0502020204030204" pitchFamily="34" charset="0"/>
              </a:rPr>
              <a:t>Ordered sequence</a:t>
            </a:r>
            <a:endParaRPr lang="en-PH" sz="2100">
              <a:solidFill>
                <a:srgbClr val="191F28"/>
              </a:solidFill>
              <a:latin typeface="Calibri" panose="020F0502020204030204" pitchFamily="34" charset="0"/>
            </a:endParaRPr>
          </a:p>
        </p:txBody>
      </p:sp>
      <p:sp>
        <p:nvSpPr>
          <p:cNvPr id="11" name="Review decision">
            <a:extLst>
              <a:ext uri="{FF2B5EF4-FFF2-40B4-BE49-F238E27FC236}">
                <a16:creationId xmlns:a16="http://schemas.microsoft.com/office/drawing/2014/main" id="{7413A3D3-841E-984E-A4A2-1DE4FE91C837}"/>
              </a:ext>
            </a:extLst>
          </p:cNvPr>
          <p:cNvSpPr/>
          <p:nvPr/>
        </p:nvSpPr>
        <p:spPr>
          <a:xfrm>
            <a:off x="9588500" y="4279900"/>
            <a:ext cx="2070100" cy="12319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800">
                <a:solidFill>
                  <a:srgbClr val="191F28"/>
                </a:solidFill>
                <a:latin typeface="Calibri" panose="020F0502020204030204" pitchFamily="34" charset="0"/>
              </a:rPr>
              <a:t>Conversation score</a:t>
            </a:r>
          </a:p>
          <a:p>
            <a:pPr algn="ctr"/>
            <a:r>
              <a:rPr lang="en-US" sz="1800">
                <a:solidFill>
                  <a:srgbClr val="191F28"/>
                </a:solidFill>
                <a:latin typeface="Calibri" panose="020F0502020204030204" pitchFamily="34" charset="0"/>
              </a:rPr>
              <a:t>F2-selected cutoff</a:t>
            </a:r>
          </a:p>
          <a:p>
            <a:pPr algn="ctr"/>
            <a:r>
              <a:rPr lang="en-US" sz="1800">
                <a:solidFill>
                  <a:srgbClr val="191F28"/>
                </a:solidFill>
                <a:latin typeface="Calibri" panose="020F0502020204030204" pitchFamily="34" charset="0"/>
              </a:rPr>
              <a:t>Human review</a:t>
            </a:r>
            <a:endParaRPr lang="en-PH" sz="2000">
              <a:solidFill>
                <a:srgbClr val="191F28"/>
              </a:solidFill>
              <a:latin typeface="Calibri" panose="020F0502020204030204" pitchFamily="34" charset="0"/>
            </a:endParaRPr>
          </a:p>
        </p:txBody>
      </p:sp>
      <p:cxnSp>
        <p:nvCxnSpPr>
          <p:cNvPr id="12" name="Straight Connector 11">
            <a:extLst>
              <a:ext uri="{FF2B5EF4-FFF2-40B4-BE49-F238E27FC236}">
                <a16:creationId xmlns:a16="http://schemas.microsoft.com/office/drawing/2014/main" id="{2EAA3094-7942-EA33-2570-2EB75C687840}"/>
              </a:ext>
            </a:extLst>
          </p:cNvPr>
          <p:cNvCxnSpPr/>
          <p:nvPr/>
        </p:nvCxnSpPr>
        <p:spPr>
          <a:xfrm>
            <a:off x="2641600" y="28448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5489064-505C-13B2-96F1-5EDB044C3D54}"/>
              </a:ext>
            </a:extLst>
          </p:cNvPr>
          <p:cNvCxnSpPr/>
          <p:nvPr/>
        </p:nvCxnSpPr>
        <p:spPr>
          <a:xfrm flipV="1">
            <a:off x="2882900" y="2552700"/>
            <a:ext cx="0" cy="2921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F3CA9F5-FB78-DA19-424A-82EC903F4FD4}"/>
              </a:ext>
            </a:extLst>
          </p:cNvPr>
          <p:cNvCxnSpPr/>
          <p:nvPr/>
        </p:nvCxnSpPr>
        <p:spPr>
          <a:xfrm>
            <a:off x="2882900" y="25527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33E58E-F8FF-8BE9-7353-223A7419862C}"/>
              </a:ext>
            </a:extLst>
          </p:cNvPr>
          <p:cNvCxnSpPr/>
          <p:nvPr/>
        </p:nvCxnSpPr>
        <p:spPr>
          <a:xfrm>
            <a:off x="2641600" y="35306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A13E255-0385-DF91-BC35-7E014906115D}"/>
              </a:ext>
            </a:extLst>
          </p:cNvPr>
          <p:cNvCxnSpPr/>
          <p:nvPr/>
        </p:nvCxnSpPr>
        <p:spPr>
          <a:xfrm>
            <a:off x="2882900" y="3530600"/>
            <a:ext cx="0" cy="13589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C7AA78B-BD31-2EE1-CB06-98438A006AC9}"/>
              </a:ext>
            </a:extLst>
          </p:cNvPr>
          <p:cNvCxnSpPr/>
          <p:nvPr/>
        </p:nvCxnSpPr>
        <p:spPr>
          <a:xfrm>
            <a:off x="2882900" y="48895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E2C3102-0168-249B-BD5F-A675CA2D54F1}"/>
              </a:ext>
            </a:extLst>
          </p:cNvPr>
          <p:cNvCxnSpPr/>
          <p:nvPr/>
        </p:nvCxnSpPr>
        <p:spPr>
          <a:xfrm>
            <a:off x="5867400" y="25527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C9E530-0149-E4D0-3980-60D516A6612F}"/>
              </a:ext>
            </a:extLst>
          </p:cNvPr>
          <p:cNvCxnSpPr/>
          <p:nvPr/>
        </p:nvCxnSpPr>
        <p:spPr>
          <a:xfrm>
            <a:off x="5867400" y="48895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2FC4FD5-A87E-B20E-E14A-DD30449C7DC3}"/>
              </a:ext>
            </a:extLst>
          </p:cNvPr>
          <p:cNvCxnSpPr/>
          <p:nvPr/>
        </p:nvCxnSpPr>
        <p:spPr>
          <a:xfrm>
            <a:off x="9131300" y="2552700"/>
            <a:ext cx="4572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9AB3E0-5991-5352-E474-387DEA8287BC}"/>
              </a:ext>
            </a:extLst>
          </p:cNvPr>
          <p:cNvCxnSpPr/>
          <p:nvPr/>
        </p:nvCxnSpPr>
        <p:spPr>
          <a:xfrm>
            <a:off x="10617200" y="3276600"/>
            <a:ext cx="0" cy="10033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sp>
        <p:nvSpPr>
          <p:cNvPr id="22" name="Architecture summary">
            <a:extLst>
              <a:ext uri="{FF2B5EF4-FFF2-40B4-BE49-F238E27FC236}">
                <a16:creationId xmlns:a16="http://schemas.microsoft.com/office/drawing/2014/main" id="{19E48753-796B-3305-A838-5BD816C00558}"/>
              </a:ext>
            </a:extLst>
          </p:cNvPr>
          <p:cNvSpPr txBox="1"/>
          <p:nvPr/>
        </p:nvSpPr>
        <p:spPr>
          <a:xfrm>
            <a:off x="812800" y="5854700"/>
            <a:ext cx="10541000" cy="533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Two input variants; each new turn updates the conversation score.</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252218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8"/>
          <p:cNvSpPr/>
          <p:nvPr/>
        </p:nvSpPr>
        <p:spPr>
          <a:xfrm>
            <a:off x="825500" y="685800"/>
            <a:ext cx="9969500" cy="9779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2F5496"/>
              </a:buClr>
              <a:buSzPts val="3400"/>
              <a:buFont typeface="Calibri"/>
              <a:buNone/>
            </a:pPr>
            <a:r>
              <a:rPr lang="en-US" sz="3400">
                <a:solidFill>
                  <a:srgbClr val="2F5496"/>
                </a:solidFill>
                <a:latin typeface="Calibri"/>
                <a:ea typeface="Calibri"/>
                <a:cs typeface="Calibri"/>
                <a:sym typeface="Calibri"/>
              </a:rPr>
              <a:t>Results</a:t>
            </a:r>
            <a:endParaRPr sz="3400">
              <a:solidFill>
                <a:srgbClr val="2F5496"/>
              </a:solidFill>
              <a:latin typeface="Calibri"/>
              <a:ea typeface="Calibri"/>
              <a:cs typeface="Calibri"/>
              <a:sym typeface="Calibri"/>
            </a:endParaRPr>
          </a:p>
        </p:txBody>
      </p:sp>
      <p:graphicFrame>
        <p:nvGraphicFramePr>
          <p:cNvPr id="215" name="Google Shape;215;p8"/>
          <p:cNvGraphicFramePr/>
          <p:nvPr/>
        </p:nvGraphicFramePr>
        <p:xfrm>
          <a:off x="660399" y="1651000"/>
          <a:ext cx="10871200" cy="3708450"/>
        </p:xfrm>
        <a:graphic>
          <a:graphicData uri="http://schemas.openxmlformats.org/drawingml/2006/table">
            <a:tbl>
              <a:tblPr firstRow="1" bandRow="1">
                <a:noFill/>
                <a:tableStyleId>{3601A4B7-A01C-410E-90D5-4CEAE505782E}</a:tableStyleId>
              </a:tblPr>
              <a:tblGrid>
                <a:gridCol w="2997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397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618075">
                <a:tc>
                  <a:txBody>
                    <a:bodyPr/>
                    <a:lstStyle/>
                    <a:p>
                      <a:pPr marL="0" marR="0" lvl="0" indent="0" algn="l" rtl="0">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Method</a:t>
                      </a:r>
                      <a:endParaRPr/>
                    </a:p>
                  </a:txBody>
                  <a:tcPr marL="50800" marR="50800" marT="38100" marB="38100" anchor="ctr">
                    <a:solidFill>
                      <a:srgbClr val="E1E7E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PR-AUC</a:t>
                      </a:r>
                      <a:endParaRPr/>
                    </a:p>
                  </a:txBody>
                  <a:tcPr marL="50800" marR="50800" marT="38100" marB="38100" anchor="ctr">
                    <a:solidFill>
                      <a:srgbClr val="E1E7E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F2</a:t>
                      </a:r>
                      <a:endParaRPr/>
                    </a:p>
                  </a:txBody>
                  <a:tcPr marL="50800" marR="50800" marT="38100" marB="38100" anchor="ctr">
                    <a:solidFill>
                      <a:srgbClr val="E1E7E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Precision</a:t>
                      </a:r>
                      <a:endParaRPr/>
                    </a:p>
                  </a:txBody>
                  <a:tcPr marL="50800" marR="50800" marT="38100" marB="38100" anchor="ctr">
                    <a:solidFill>
                      <a:srgbClr val="E1E7E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Recall</a:t>
                      </a:r>
                      <a:endParaRPr/>
                    </a:p>
                  </a:txBody>
                  <a:tcPr marL="50800" marR="50800" marT="38100" marB="38100" anchor="ctr">
                    <a:solidFill>
                      <a:srgbClr val="E1E7E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FP</a:t>
                      </a:r>
                      <a:endParaRPr/>
                    </a:p>
                  </a:txBody>
                  <a:tcPr marL="50800" marR="50800" marT="38100" marB="38100" anchor="ctr">
                    <a:solidFill>
                      <a:srgbClr val="E1E7E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FN</a:t>
                      </a:r>
                      <a:endParaRPr/>
                    </a:p>
                  </a:txBody>
                  <a:tcPr marL="50800" marR="50800" marT="38100" marB="38100" anchor="ctr">
                    <a:solidFill>
                      <a:srgbClr val="E1E7EF"/>
                    </a:solidFill>
                  </a:tcPr>
                </a:tc>
                <a:extLst>
                  <a:ext uri="{0D108BD9-81ED-4DB2-BD59-A6C34878D82A}">
                    <a16:rowId xmlns:a16="http://schemas.microsoft.com/office/drawing/2014/main" val="10000"/>
                  </a:ext>
                </a:extLst>
              </a:tr>
              <a:tr h="618075">
                <a:tc>
                  <a:txBody>
                    <a:bodyPr/>
                    <a:lstStyle/>
                    <a:p>
                      <a:pPr marL="0" marR="0" lvl="0" indent="0" algn="l"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Keyword rule</a:t>
                      </a:r>
                      <a:endParaRPr/>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44.51%</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63.08%</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71.05%</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61.36%</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11</a:t>
                      </a:r>
                      <a:endParaRPr/>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17</a:t>
                      </a:r>
                      <a:endParaRPr/>
                    </a:p>
                  </a:txBody>
                  <a:tcPr marL="50800" marR="50800" marT="38100" marB="38100" anchor="ctr">
                    <a:solidFill>
                      <a:srgbClr val="FFFFFF"/>
                    </a:solidFill>
                  </a:tcPr>
                </a:tc>
                <a:extLst>
                  <a:ext uri="{0D108BD9-81ED-4DB2-BD59-A6C34878D82A}">
                    <a16:rowId xmlns:a16="http://schemas.microsoft.com/office/drawing/2014/main" val="10001"/>
                  </a:ext>
                </a:extLst>
              </a:tr>
              <a:tr h="618075">
                <a:tc>
                  <a:txBody>
                    <a:bodyPr/>
                    <a:lstStyle/>
                    <a:p>
                      <a:pPr marL="0" marR="0" lvl="0" indent="0" algn="l"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Maximum Layer 1</a:t>
                      </a:r>
                      <a:endParaRPr/>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55.23%</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66.55%</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33.33%</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88.64%</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78</a:t>
                      </a:r>
                      <a:endParaRPr/>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5</a:t>
                      </a:r>
                      <a:endParaRPr/>
                    </a:p>
                  </a:txBody>
                  <a:tcPr marL="50800" marR="50800" marT="38100" marB="38100" anchor="ctr">
                    <a:solidFill>
                      <a:srgbClr val="FFFFFF"/>
                    </a:solidFill>
                  </a:tcPr>
                </a:tc>
                <a:extLst>
                  <a:ext uri="{0D108BD9-81ED-4DB2-BD59-A6C34878D82A}">
                    <a16:rowId xmlns:a16="http://schemas.microsoft.com/office/drawing/2014/main" val="10002"/>
                  </a:ext>
                </a:extLst>
              </a:tr>
              <a:tr h="618075">
                <a:tc>
                  <a:txBody>
                    <a:bodyPr/>
                    <a:lstStyle/>
                    <a:p>
                      <a:pPr marL="0" marR="0" lvl="0" indent="0" algn="l"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Weighted scorer</a:t>
                      </a:r>
                      <a:endParaRPr/>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80.50%</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79.83%</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61.29%</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0" i="0" u="none" strike="noStrike">
                          <a:solidFill>
                            <a:srgbClr val="000000"/>
                          </a:solidFill>
                          <a:latin typeface="Calibri"/>
                          <a:ea typeface="Calibri"/>
                          <a:cs typeface="Calibri"/>
                          <a:sym typeface="Calibri"/>
                        </a:rPr>
                        <a:t>86.36%</a:t>
                      </a:r>
                      <a:endParaRPr/>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24</a:t>
                      </a:r>
                      <a:endParaRPr/>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6</a:t>
                      </a:r>
                      <a:endParaRPr/>
                    </a:p>
                  </a:txBody>
                  <a:tcPr marL="50800" marR="50800" marT="38100" marB="38100" anchor="ctr">
                    <a:solidFill>
                      <a:srgbClr val="FFFFFF"/>
                    </a:solidFill>
                  </a:tcPr>
                </a:tc>
                <a:extLst>
                  <a:ext uri="{0D108BD9-81ED-4DB2-BD59-A6C34878D82A}">
                    <a16:rowId xmlns:a16="http://schemas.microsoft.com/office/drawing/2014/main" val="10003"/>
                  </a:ext>
                </a:extLst>
              </a:tr>
              <a:tr h="618075">
                <a:tc>
                  <a:txBody>
                    <a:bodyPr/>
                    <a:lstStyle/>
                    <a:p>
                      <a:pPr marL="0" marR="0" lvl="0" indent="0" algn="l" rtl="0">
                        <a:spcBef>
                          <a:spcPts val="0"/>
                        </a:spcBef>
                        <a:spcAft>
                          <a:spcPts val="0"/>
                        </a:spcAft>
                        <a:buClr>
                          <a:srgbClr val="000000"/>
                        </a:buClr>
                        <a:buSzPts val="1600"/>
                        <a:buFont typeface="Calibri"/>
                        <a:buNone/>
                      </a:pPr>
                      <a:r>
                        <a:rPr lang="en-US" sz="1600" b="1">
                          <a:solidFill>
                            <a:srgbClr val="000000"/>
                          </a:solidFill>
                        </a:rPr>
                        <a:t>Trajectory-Feature LSTM</a:t>
                      </a:r>
                      <a:endParaRPr b="1"/>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91.53%</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86.13%</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66.13%</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93.18%</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rPr>
                        <a:t>21</a:t>
                      </a:r>
                      <a:endParaRPr b="1"/>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rPr>
                        <a:t>3</a:t>
                      </a:r>
                      <a:endParaRPr b="1"/>
                    </a:p>
                  </a:txBody>
                  <a:tcPr marL="50800" marR="50800" marT="38100" marB="38100" anchor="ctr">
                    <a:solidFill>
                      <a:srgbClr val="FFFFFF"/>
                    </a:solidFill>
                  </a:tcPr>
                </a:tc>
                <a:extLst>
                  <a:ext uri="{0D108BD9-81ED-4DB2-BD59-A6C34878D82A}">
                    <a16:rowId xmlns:a16="http://schemas.microsoft.com/office/drawing/2014/main" val="10004"/>
                  </a:ext>
                </a:extLst>
              </a:tr>
              <a:tr h="618075">
                <a:tc>
                  <a:txBody>
                    <a:bodyPr/>
                    <a:lstStyle/>
                    <a:p>
                      <a:pPr marL="0" marR="0" lvl="0" indent="0" algn="l" rtl="0">
                        <a:spcBef>
                          <a:spcPts val="0"/>
                        </a:spcBef>
                        <a:spcAft>
                          <a:spcPts val="0"/>
                        </a:spcAft>
                        <a:buClr>
                          <a:srgbClr val="000000"/>
                        </a:buClr>
                        <a:buSzPts val="1600"/>
                        <a:buFont typeface="Calibri"/>
                        <a:buNone/>
                      </a:pPr>
                      <a:r>
                        <a:rPr lang="en-US" sz="1600" b="1">
                          <a:solidFill>
                            <a:srgbClr val="000000"/>
                          </a:solidFill>
                        </a:rPr>
                        <a:t>Embedding-and-Feature LSTM</a:t>
                      </a:r>
                      <a:endParaRPr b="1"/>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94.83%</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84.29%</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51.76%</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i="0" u="none" strike="noStrike">
                          <a:solidFill>
                            <a:srgbClr val="000000"/>
                          </a:solidFill>
                        </a:rPr>
                        <a:t>100.00%</a:t>
                      </a:r>
                      <a:endParaRPr b="1"/>
                    </a:p>
                  </a:txBody>
                  <a:tcPr marL="9525" marR="9525" marT="9525" marB="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rPr>
                        <a:t>41</a:t>
                      </a:r>
                      <a:endParaRPr b="1"/>
                    </a:p>
                  </a:txBody>
                  <a:tcPr marL="50800" marR="50800" marT="38100" marB="38100" anchor="ctr">
                    <a:solidFill>
                      <a:srgbClr val="FFFFFF"/>
                    </a:solidFill>
                  </a:tcPr>
                </a:tc>
                <a:tc>
                  <a:txBody>
                    <a:bodyPr/>
                    <a:lstStyle/>
                    <a:p>
                      <a:pPr marL="0" marR="0" lvl="0" indent="0" algn="ctr" rtl="0">
                        <a:spcBef>
                          <a:spcPts val="0"/>
                        </a:spcBef>
                        <a:spcAft>
                          <a:spcPts val="0"/>
                        </a:spcAft>
                        <a:buClr>
                          <a:srgbClr val="000000"/>
                        </a:buClr>
                        <a:buSzPts val="1600"/>
                        <a:buFont typeface="Calibri"/>
                        <a:buNone/>
                      </a:pPr>
                      <a:r>
                        <a:rPr lang="en-US" sz="1600" b="1">
                          <a:solidFill>
                            <a:srgbClr val="000000"/>
                          </a:solidFill>
                        </a:rPr>
                        <a:t>0</a:t>
                      </a:r>
                      <a:endParaRPr b="1"/>
                    </a:p>
                  </a:txBody>
                  <a:tcPr marL="50800" marR="50800"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216" name="Google Shape;216;p8"/>
          <p:cNvSpPr txBox="1"/>
          <p:nvPr/>
        </p:nvSpPr>
        <p:spPr>
          <a:xfrm>
            <a:off x="660400" y="5588000"/>
            <a:ext cx="10871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00">
                <a:solidFill>
                  <a:srgbClr val="404040"/>
                </a:solidFill>
                <a:latin typeface="Calibri"/>
                <a:ea typeface="Calibri"/>
                <a:cs typeface="Calibri"/>
                <a:sym typeface="Calibri"/>
              </a:rPr>
              <a:t>N = 1,862; 44 positive. Validation-selected F2 cutoffs on saved test scores.</a:t>
            </a:r>
            <a:endParaRPr sz="1700">
              <a:solidFill>
                <a:srgbClr val="404040"/>
              </a:solidFill>
              <a:latin typeface="Calibri"/>
              <a:ea typeface="Calibri"/>
              <a:cs typeface="Calibri"/>
              <a:sym typeface="Calibri"/>
            </a:endParaRPr>
          </a:p>
        </p:txBody>
      </p:sp>
      <p:grpSp>
        <p:nvGrpSpPr>
          <p:cNvPr id="2" name="Group 2">
            <a:extLst>
              <a:ext uri="{FF2B5EF4-FFF2-40B4-BE49-F238E27FC236}">
                <a16:creationId xmlns:a16="http://schemas.microsoft.com/office/drawing/2014/main" id="{8525B984-79F7-79B6-84FC-B69CBFDCEDDE}"/>
              </a:ext>
            </a:extLst>
          </p:cNvPr>
          <p:cNvGrpSpPr/>
          <p:nvPr/>
        </p:nvGrpSpPr>
        <p:grpSpPr>
          <a:xfrm>
            <a:off x="11072828" y="97154"/>
            <a:ext cx="934625" cy="1002553"/>
            <a:chOff x="0" y="0"/>
            <a:chExt cx="1952727" cy="2094649"/>
          </a:xfrm>
        </p:grpSpPr>
        <p:sp>
          <p:nvSpPr>
            <p:cNvPr id="3" name="Freeform 3" descr="A blue and gold logo  AI-generated content may be incorrect.">
              <a:extLst>
                <a:ext uri="{FF2B5EF4-FFF2-40B4-BE49-F238E27FC236}">
                  <a16:creationId xmlns:a16="http://schemas.microsoft.com/office/drawing/2014/main" id="{A4FAEF23-A808-12E9-800C-18ECAB6DFBDD}"/>
                </a:ext>
              </a:extLst>
            </p:cNvPr>
            <p:cNvSpPr/>
            <p:nvPr/>
          </p:nvSpPr>
          <p:spPr>
            <a:xfrm>
              <a:off x="0" y="0"/>
              <a:ext cx="1952752" cy="2094611"/>
            </a:xfrm>
            <a:custGeom>
              <a:avLst/>
              <a:gdLst/>
              <a:ahLst/>
              <a:cxnLst/>
              <a:rect l="l" t="t" r="r" b="b"/>
              <a:pathLst>
                <a:path w="1952752" h="2094611">
                  <a:moveTo>
                    <a:pt x="0" y="0"/>
                  </a:moveTo>
                  <a:lnTo>
                    <a:pt x="1952752" y="0"/>
                  </a:lnTo>
                  <a:lnTo>
                    <a:pt x="1952752" y="2094611"/>
                  </a:lnTo>
                  <a:lnTo>
                    <a:pt x="0" y="2094611"/>
                  </a:lnTo>
                  <a:lnTo>
                    <a:pt x="0" y="0"/>
                  </a:lnTo>
                  <a:close/>
                </a:path>
              </a:pathLst>
            </a:custGeom>
            <a:blipFill>
              <a:blip r:embed="rId3"/>
              <a:stretch>
                <a:fillRect t="-6" r="1" b="-8"/>
              </a:stretch>
            </a:blipFill>
          </p:spPr>
          <p:txBody>
            <a:bodyPr/>
            <a:lstStyle/>
            <a:p>
              <a:endParaRPr lang="en-PH"/>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Missed Positives and False Alerts</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Error interpretation">
            <a:extLst>
              <a:ext uri="{FF2B5EF4-FFF2-40B4-BE49-F238E27FC236}">
                <a16:creationId xmlns:a16="http://schemas.microsoft.com/office/drawing/2014/main" id="{9C633023-A631-14C6-B7AC-316CD801B7AB}"/>
              </a:ext>
            </a:extLst>
          </p:cNvPr>
          <p:cNvSpPr txBox="1"/>
          <p:nvPr/>
        </p:nvSpPr>
        <p:spPr>
          <a:xfrm>
            <a:off x="825500" y="5791200"/>
            <a:ext cx="10414000" cy="787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7-feature LSTM: 3 misses and 21 false alerts. 775-input LSTM: 0 misses and 41 false alerts.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140593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9"/>
          <p:cNvSpPr/>
          <p:nvPr/>
        </p:nvSpPr>
        <p:spPr>
          <a:xfrm>
            <a:off x="825500" y="685800"/>
            <a:ext cx="9969500" cy="9779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2F5496"/>
              </a:buClr>
              <a:buSzPts val="3400"/>
              <a:buFont typeface="Calibri"/>
              <a:buNone/>
            </a:pPr>
            <a:r>
              <a:rPr lang="en-US" sz="3400">
                <a:solidFill>
                  <a:srgbClr val="2F5496"/>
                </a:solidFill>
                <a:latin typeface="Calibri"/>
                <a:ea typeface="Calibri"/>
                <a:cs typeface="Calibri"/>
                <a:sym typeface="Calibri"/>
              </a:rPr>
              <a:t>Cutoff Choice: Coverage and Alerts</a:t>
            </a:r>
            <a:endParaRPr sz="3400">
              <a:solidFill>
                <a:srgbClr val="2F5496"/>
              </a:solidFill>
              <a:latin typeface="Calibri"/>
              <a:ea typeface="Calibri"/>
              <a:cs typeface="Calibri"/>
              <a:sym typeface="Calibri"/>
            </a:endParaRPr>
          </a:p>
        </p:txBody>
      </p:sp>
      <p:graphicFrame>
        <p:nvGraphicFramePr>
          <p:cNvPr id="223" name="Google Shape;223;p9"/>
          <p:cNvGraphicFramePr/>
          <p:nvPr/>
        </p:nvGraphicFramePr>
        <p:xfrm>
          <a:off x="685800" y="2146300"/>
          <a:ext cx="10795000" cy="3669190"/>
        </p:xfrm>
        <a:graphic>
          <a:graphicData uri="http://schemas.openxmlformats.org/drawingml/2006/table">
            <a:tbl>
              <a:tblPr firstRow="1" bandRow="1">
                <a:noFill/>
                <a:tableStyleId>{3601A4B7-A01C-410E-90D5-4CEAE505782E}</a:tableStyleId>
              </a:tblPr>
              <a:tblGrid>
                <a:gridCol w="3111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3970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gridCol w="1714500">
                  <a:extLst>
                    <a:ext uri="{9D8B030D-6E8A-4147-A177-3AD203B41FA5}">
                      <a16:colId xmlns:a16="http://schemas.microsoft.com/office/drawing/2014/main" val="20006"/>
                    </a:ext>
                  </a:extLst>
                </a:gridCol>
              </a:tblGrid>
              <a:tr h="511625">
                <a:tc>
                  <a:txBody>
                    <a:bodyPr/>
                    <a:lstStyle/>
                    <a:p>
                      <a:pPr marL="0" marR="0" lvl="0" indent="0" algn="l"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Model</a:t>
                      </a:r>
                      <a:endParaRPr/>
                    </a:p>
                  </a:txBody>
                  <a:tcPr marL="50800" marR="50800" marT="25400" marB="25400" anchor="ctr">
                    <a:solidFill>
                      <a:srgbClr val="336699"/>
                    </a:solidFill>
                  </a:tcPr>
                </a:tc>
                <a:tc>
                  <a:txBody>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Policy</a:t>
                      </a:r>
                      <a:endParaRPr/>
                    </a:p>
                  </a:txBody>
                  <a:tcPr marL="50800" marR="50800" marT="25400" marB="25400" anchor="ctr">
                    <a:solidFill>
                      <a:srgbClr val="336699"/>
                    </a:solidFill>
                  </a:tcPr>
                </a:tc>
                <a:tc>
                  <a:txBody>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Found</a:t>
                      </a:r>
                      <a:endParaRPr/>
                    </a:p>
                  </a:txBody>
                  <a:tcPr marL="50800" marR="50800" marT="25400" marB="25400" anchor="ctr">
                    <a:solidFill>
                      <a:srgbClr val="336699"/>
                    </a:solidFill>
                  </a:tcPr>
                </a:tc>
                <a:tc>
                  <a:txBody>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Missed</a:t>
                      </a:r>
                      <a:endParaRPr/>
                    </a:p>
                  </a:txBody>
                  <a:tcPr marL="50800" marR="50800" marT="25400" marB="25400" anchor="ctr">
                    <a:solidFill>
                      <a:srgbClr val="336699"/>
                    </a:solidFill>
                  </a:tcPr>
                </a:tc>
                <a:tc>
                  <a:txBody>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False positives</a:t>
                      </a:r>
                      <a:endParaRPr/>
                    </a:p>
                  </a:txBody>
                  <a:tcPr marL="50800" marR="50800" marT="25400" marB="25400" anchor="ctr">
                    <a:solidFill>
                      <a:srgbClr val="336699"/>
                    </a:solidFill>
                  </a:tcPr>
                </a:tc>
                <a:tc>
                  <a:txBody>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Precision</a:t>
                      </a:r>
                      <a:endParaRPr/>
                    </a:p>
                  </a:txBody>
                  <a:tcPr marL="50800" marR="50800" marT="25400" marB="25400" anchor="ctr">
                    <a:solidFill>
                      <a:srgbClr val="336699"/>
                    </a:solidFill>
                  </a:tcPr>
                </a:tc>
                <a:tc>
                  <a:txBody>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Recall</a:t>
                      </a:r>
                      <a:endParaRPr/>
                    </a:p>
                  </a:txBody>
                  <a:tcPr marL="50800" marR="50800" marT="25400" marB="25400" anchor="ctr">
                    <a:solidFill>
                      <a:srgbClr val="336699"/>
                    </a:solidFill>
                  </a:tcPr>
                </a:tc>
                <a:extLst>
                  <a:ext uri="{0D108BD9-81ED-4DB2-BD59-A6C34878D82A}">
                    <a16:rowId xmlns:a16="http://schemas.microsoft.com/office/drawing/2014/main" val="10000"/>
                  </a:ext>
                </a:extLst>
              </a:tr>
              <a:tr h="511625">
                <a:tc rowSpan="3">
                  <a:txBody>
                    <a:bodyPr/>
                    <a:lstStyle/>
                    <a:p>
                      <a:pPr marL="0" marR="0" lvl="0" indent="0" algn="l"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Embedding-and-Feature LSTM</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F0.5</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3</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6</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87.2%</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93.2%</a:t>
                      </a:r>
                      <a:endParaRPr/>
                    </a:p>
                  </a:txBody>
                  <a:tcPr marL="50800" marR="50800" marT="25400" marB="25400" anchor="ctr">
                    <a:solidFill>
                      <a:srgbClr val="FFFFFF"/>
                    </a:solidFill>
                  </a:tcPr>
                </a:tc>
                <a:extLst>
                  <a:ext uri="{0D108BD9-81ED-4DB2-BD59-A6C34878D82A}">
                    <a16:rowId xmlns:a16="http://schemas.microsoft.com/office/drawing/2014/main" val="10001"/>
                  </a:ext>
                </a:extLst>
              </a:tr>
              <a:tr h="511625">
                <a:tc vMerge="1">
                  <a:txBody>
                    <a:bodyPr/>
                    <a:lstStyle/>
                    <a:p>
                      <a:endParaRPr lang="en-US"/>
                    </a:p>
                  </a:txBody>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F1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43</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14</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75.4%</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97.7%</a:t>
                      </a:r>
                      <a:endParaRPr/>
                    </a:p>
                  </a:txBody>
                  <a:tcPr marL="50800" marR="50800" marT="25400" marB="25400" anchor="ctr">
                    <a:solidFill>
                      <a:srgbClr val="FFFFFF"/>
                    </a:solidFill>
                  </a:tcPr>
                </a:tc>
                <a:extLst>
                  <a:ext uri="{0D108BD9-81ED-4DB2-BD59-A6C34878D82A}">
                    <a16:rowId xmlns:a16="http://schemas.microsoft.com/office/drawing/2014/main" val="10002"/>
                  </a:ext>
                </a:extLst>
              </a:tr>
              <a:tr h="511625">
                <a:tc vMerge="1">
                  <a:txBody>
                    <a:bodyPr/>
                    <a:lstStyle/>
                    <a:p>
                      <a:endParaRPr lang="en-US"/>
                    </a:p>
                  </a:txBody>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F2</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44</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0</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51.8%</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100.0%</a:t>
                      </a:r>
                      <a:endParaRPr/>
                    </a:p>
                  </a:txBody>
                  <a:tcPr marL="50800" marR="50800" marT="25400" marB="25400" anchor="ctr">
                    <a:solidFill>
                      <a:srgbClr val="FFFFFF"/>
                    </a:solidFill>
                  </a:tcPr>
                </a:tc>
                <a:extLst>
                  <a:ext uri="{0D108BD9-81ED-4DB2-BD59-A6C34878D82A}">
                    <a16:rowId xmlns:a16="http://schemas.microsoft.com/office/drawing/2014/main" val="10003"/>
                  </a:ext>
                </a:extLst>
              </a:tr>
              <a:tr h="511625">
                <a:tc rowSpan="3">
                  <a:txBody>
                    <a:bodyPr/>
                    <a:lstStyle/>
                    <a:p>
                      <a:pPr marL="0" marR="0" lvl="0" indent="0" algn="l"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Trajectory-Feature LSTM</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F0.5</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40</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7</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85.1%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90.9%</a:t>
                      </a:r>
                      <a:endParaRPr/>
                    </a:p>
                  </a:txBody>
                  <a:tcPr marL="50800" marR="50800" marT="25400" marB="25400" anchor="ctr">
                    <a:solidFill>
                      <a:srgbClr val="FFFFFF"/>
                    </a:solidFill>
                  </a:tcPr>
                </a:tc>
                <a:extLst>
                  <a:ext uri="{0D108BD9-81ED-4DB2-BD59-A6C34878D82A}">
                    <a16:rowId xmlns:a16="http://schemas.microsoft.com/office/drawing/2014/main" val="10004"/>
                  </a:ext>
                </a:extLst>
              </a:tr>
              <a:tr h="511625">
                <a:tc vMerge="1">
                  <a:txBody>
                    <a:bodyPr/>
                    <a:lstStyle/>
                    <a:p>
                      <a:endParaRPr lang="en-US"/>
                    </a:p>
                  </a:txBody>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F1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40</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9</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81.6%</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90.9%</a:t>
                      </a:r>
                      <a:endParaRPr/>
                    </a:p>
                  </a:txBody>
                  <a:tcPr marL="50800" marR="50800" marT="25400" marB="25400" anchor="ctr">
                    <a:solidFill>
                      <a:srgbClr val="FFFFFF"/>
                    </a:solidFill>
                  </a:tcPr>
                </a:tc>
                <a:extLst>
                  <a:ext uri="{0D108BD9-81ED-4DB2-BD59-A6C34878D82A}">
                    <a16:rowId xmlns:a16="http://schemas.microsoft.com/office/drawing/2014/main" val="10005"/>
                  </a:ext>
                </a:extLst>
              </a:tr>
              <a:tr h="511625">
                <a:tc vMerge="1">
                  <a:txBody>
                    <a:bodyPr/>
                    <a:lstStyle/>
                    <a:p>
                      <a:endParaRPr lang="en-US"/>
                    </a:p>
                  </a:txBody>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F2</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41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3</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21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66.1%</a:t>
                      </a:r>
                      <a:endParaRPr/>
                    </a:p>
                  </a:txBody>
                  <a:tcPr marL="50800" marR="50800" marT="25400" marB="25400" anchor="ctr">
                    <a:solidFill>
                      <a:srgbClr val="FFFFFF"/>
                    </a:solidFill>
                  </a:tcPr>
                </a:tc>
                <a:tc>
                  <a:txBody>
                    <a:bodyPr/>
                    <a:lstStyle/>
                    <a:p>
                      <a:pPr marL="0" marR="0" lvl="0" indent="0" algn="ctr" rtl="0">
                        <a:spcBef>
                          <a:spcPts val="0"/>
                        </a:spcBef>
                        <a:spcAft>
                          <a:spcPts val="0"/>
                        </a:spcAft>
                        <a:buClr>
                          <a:srgbClr val="333333"/>
                        </a:buClr>
                        <a:buSzPts val="1800"/>
                        <a:buFont typeface="Calibri"/>
                        <a:buNone/>
                      </a:pPr>
                      <a:r>
                        <a:rPr lang="en-US" sz="1800" b="0">
                          <a:solidFill>
                            <a:srgbClr val="333333"/>
                          </a:solidFill>
                          <a:latin typeface="Calibri"/>
                          <a:ea typeface="Calibri"/>
                          <a:cs typeface="Calibri"/>
                          <a:sym typeface="Calibri"/>
                        </a:rPr>
                        <a:t>93.2%</a:t>
                      </a:r>
                      <a:endParaRPr/>
                    </a:p>
                  </a:txBody>
                  <a:tcPr marL="50800" marR="50800" marT="25400" marB="25400" anchor="ctr">
                    <a:solidFill>
                      <a:srgbClr val="FFFFFF"/>
                    </a:solidFill>
                  </a:tcPr>
                </a:tc>
                <a:extLst>
                  <a:ext uri="{0D108BD9-81ED-4DB2-BD59-A6C34878D82A}">
                    <a16:rowId xmlns:a16="http://schemas.microsoft.com/office/drawing/2014/main" val="10006"/>
                  </a:ext>
                </a:extLst>
              </a:tr>
            </a:tbl>
          </a:graphicData>
        </a:graphic>
      </p:graphicFrame>
      <p:grpSp>
        <p:nvGrpSpPr>
          <p:cNvPr id="2" name="Group 2">
            <a:extLst>
              <a:ext uri="{FF2B5EF4-FFF2-40B4-BE49-F238E27FC236}">
                <a16:creationId xmlns:a16="http://schemas.microsoft.com/office/drawing/2014/main" id="{A1C6D667-F104-3D68-D51B-2B83E4040107}"/>
              </a:ext>
            </a:extLst>
          </p:cNvPr>
          <p:cNvGrpSpPr/>
          <p:nvPr/>
        </p:nvGrpSpPr>
        <p:grpSpPr>
          <a:xfrm>
            <a:off x="11072828" y="97154"/>
            <a:ext cx="934625" cy="1002553"/>
            <a:chOff x="0" y="0"/>
            <a:chExt cx="1952727" cy="2094649"/>
          </a:xfrm>
        </p:grpSpPr>
        <p:sp>
          <p:nvSpPr>
            <p:cNvPr id="3" name="Freeform 3" descr="A blue and gold logo  AI-generated content may be incorrect.">
              <a:extLst>
                <a:ext uri="{FF2B5EF4-FFF2-40B4-BE49-F238E27FC236}">
                  <a16:creationId xmlns:a16="http://schemas.microsoft.com/office/drawing/2014/main" id="{468031F9-FF63-E471-E4C7-6A3B0039DCA8}"/>
                </a:ext>
              </a:extLst>
            </p:cNvPr>
            <p:cNvSpPr/>
            <p:nvPr/>
          </p:nvSpPr>
          <p:spPr>
            <a:xfrm>
              <a:off x="0" y="0"/>
              <a:ext cx="1952752" cy="2094611"/>
            </a:xfrm>
            <a:custGeom>
              <a:avLst/>
              <a:gdLst/>
              <a:ahLst/>
              <a:cxnLst/>
              <a:rect l="l" t="t" r="r" b="b"/>
              <a:pathLst>
                <a:path w="1952752" h="2094611">
                  <a:moveTo>
                    <a:pt x="0" y="0"/>
                  </a:moveTo>
                  <a:lnTo>
                    <a:pt x="1952752" y="0"/>
                  </a:lnTo>
                  <a:lnTo>
                    <a:pt x="1952752" y="2094611"/>
                  </a:lnTo>
                  <a:lnTo>
                    <a:pt x="0" y="2094611"/>
                  </a:lnTo>
                  <a:lnTo>
                    <a:pt x="0" y="0"/>
                  </a:lnTo>
                  <a:close/>
                </a:path>
              </a:pathLst>
            </a:custGeom>
            <a:blipFill>
              <a:blip r:embed="rId3"/>
              <a:stretch>
                <a:fillRect t="-6" r="1" b="-8"/>
              </a:stretch>
            </a:blipFill>
          </p:spPr>
          <p:txBody>
            <a:bodyPr/>
            <a:lstStyle/>
            <a:p>
              <a:endParaRPr lang="en-PH"/>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1"/>
          <p:cNvSpPr txBox="1"/>
          <p:nvPr/>
        </p:nvSpPr>
        <p:spPr>
          <a:xfrm>
            <a:off x="653144" y="747486"/>
            <a:ext cx="10350500" cy="43688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None/>
            </a:pPr>
            <a:r>
              <a:rPr lang="en-US" sz="4400" b="1">
                <a:solidFill>
                  <a:schemeClr val="accent1"/>
                </a:solidFill>
                <a:latin typeface="Calibri"/>
                <a:ea typeface="Calibri"/>
                <a:cs typeface="Calibri"/>
                <a:sym typeface="Calibri"/>
              </a:rPr>
              <a:t>Conclusion</a:t>
            </a:r>
            <a:endParaRPr/>
          </a:p>
          <a:p>
            <a:pPr marL="0" marR="0" lvl="0" indent="0" algn="l" rtl="0">
              <a:spcBef>
                <a:spcPts val="0"/>
              </a:spcBef>
              <a:spcAft>
                <a:spcPts val="0"/>
              </a:spcAft>
              <a:buNone/>
            </a:pPr>
            <a:endParaRPr sz="3600" b="1">
              <a:solidFill>
                <a:schemeClr val="accent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GroomShield’s sequence models detected more positive conversations than the keyword, Layer 1, and weighted-scoring baselines.</a:t>
            </a:r>
            <a:endParaRPr/>
          </a:p>
          <a:p>
            <a:pPr marL="0" marR="0" lvl="0" indent="0" algn="l" rtl="0">
              <a:spcBef>
                <a:spcPts val="0"/>
              </a:spcBef>
              <a:spcAft>
                <a:spcPts val="0"/>
              </a:spcAft>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The Embedding-and-Feature LSTM detected </a:t>
            </a:r>
            <a:r>
              <a:rPr lang="en-US" sz="2800" b="1">
                <a:solidFill>
                  <a:schemeClr val="dk1"/>
                </a:solidFill>
                <a:latin typeface="Calibri"/>
                <a:ea typeface="Calibri"/>
                <a:cs typeface="Calibri"/>
                <a:sym typeface="Calibri"/>
              </a:rPr>
              <a:t>all 44</a:t>
            </a:r>
            <a:r>
              <a:rPr lang="en-US" sz="2800">
                <a:solidFill>
                  <a:schemeClr val="dk1"/>
                </a:solidFill>
                <a:latin typeface="Calibri"/>
                <a:ea typeface="Calibri"/>
                <a:cs typeface="Calibri"/>
                <a:sym typeface="Calibri"/>
              </a:rPr>
              <a:t> test positives, with a higher false-alert count.</a:t>
            </a:r>
            <a:endParaRPr/>
          </a:p>
          <a:p>
            <a:pPr marL="457200" marR="0" lvl="0" indent="-279400" algn="l" rtl="0">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grpSp>
        <p:nvGrpSpPr>
          <p:cNvPr id="2" name="Group 2">
            <a:extLst>
              <a:ext uri="{FF2B5EF4-FFF2-40B4-BE49-F238E27FC236}">
                <a16:creationId xmlns:a16="http://schemas.microsoft.com/office/drawing/2014/main" id="{58FCC951-DA2B-00C1-A390-22F85BE9280A}"/>
              </a:ext>
            </a:extLst>
          </p:cNvPr>
          <p:cNvGrpSpPr/>
          <p:nvPr/>
        </p:nvGrpSpPr>
        <p:grpSpPr>
          <a:xfrm>
            <a:off x="11072828" y="97154"/>
            <a:ext cx="934625" cy="1002553"/>
            <a:chOff x="0" y="0"/>
            <a:chExt cx="1952727" cy="2094649"/>
          </a:xfrm>
        </p:grpSpPr>
        <p:sp>
          <p:nvSpPr>
            <p:cNvPr id="3" name="Freeform 3" descr="A blue and gold logo  AI-generated content may be incorrect.">
              <a:extLst>
                <a:ext uri="{FF2B5EF4-FFF2-40B4-BE49-F238E27FC236}">
                  <a16:creationId xmlns:a16="http://schemas.microsoft.com/office/drawing/2014/main" id="{B1444FF3-A689-8D79-1DFC-E27E1ACDF5FD}"/>
                </a:ext>
              </a:extLst>
            </p:cNvPr>
            <p:cNvSpPr/>
            <p:nvPr/>
          </p:nvSpPr>
          <p:spPr>
            <a:xfrm>
              <a:off x="0" y="0"/>
              <a:ext cx="1952752" cy="2094611"/>
            </a:xfrm>
            <a:custGeom>
              <a:avLst/>
              <a:gdLst/>
              <a:ahLst/>
              <a:cxnLst/>
              <a:rect l="l" t="t" r="r" b="b"/>
              <a:pathLst>
                <a:path w="1952752" h="2094611">
                  <a:moveTo>
                    <a:pt x="0" y="0"/>
                  </a:moveTo>
                  <a:lnTo>
                    <a:pt x="1952752" y="0"/>
                  </a:lnTo>
                  <a:lnTo>
                    <a:pt x="1952752" y="2094611"/>
                  </a:lnTo>
                  <a:lnTo>
                    <a:pt x="0" y="2094611"/>
                  </a:lnTo>
                  <a:lnTo>
                    <a:pt x="0" y="0"/>
                  </a:lnTo>
                  <a:close/>
                </a:path>
              </a:pathLst>
            </a:custGeom>
            <a:blipFill>
              <a:blip r:embed="rId3"/>
              <a:stretch>
                <a:fillRect t="-6" r="1" b="-8"/>
              </a:stretch>
            </a:blipFill>
          </p:spPr>
          <p:txBody>
            <a:bodyPr/>
            <a:lstStyle/>
            <a:p>
              <a:endParaRPr lang="en-PH"/>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2"/>
          <p:cNvSpPr txBox="1"/>
          <p:nvPr/>
        </p:nvSpPr>
        <p:spPr>
          <a:xfrm>
            <a:off x="653144" y="747486"/>
            <a:ext cx="10350500" cy="43688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None/>
            </a:pPr>
            <a:r>
              <a:rPr lang="en-US" sz="4400" b="1">
                <a:solidFill>
                  <a:schemeClr val="accent1"/>
                </a:solidFill>
                <a:latin typeface="Calibri"/>
                <a:ea typeface="Calibri"/>
                <a:cs typeface="Calibri"/>
                <a:sym typeface="Calibri"/>
              </a:rPr>
              <a:t>Recommendations</a:t>
            </a:r>
            <a:endParaRPr/>
          </a:p>
          <a:p>
            <a:pPr marL="0" marR="0" lvl="0" indent="0" algn="l" rtl="0">
              <a:spcBef>
                <a:spcPts val="0"/>
              </a:spcBef>
              <a:spcAft>
                <a:spcPts val="0"/>
              </a:spcAft>
              <a:buNone/>
            </a:pPr>
            <a:endParaRPr sz="2800" b="1">
              <a:solidFill>
                <a:schemeClr val="accent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Test the fixed models on contemporary chats and measure the workload they create for moderators.</a:t>
            </a:r>
            <a:endParaRPr/>
          </a:p>
          <a:p>
            <a:pPr marL="457200" marR="0" lvl="0" indent="-3302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Compare the F1 and F2 cutoffs in that workflow to choose the right balance of coverage and alerts.</a:t>
            </a:r>
            <a:endParaRPr/>
          </a:p>
          <a:p>
            <a:pPr marL="457200" marR="0" lvl="0" indent="-3302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Evaluate early detection using independently annotated grooming-onset data.</a:t>
            </a:r>
            <a:endParaRPr/>
          </a:p>
          <a:p>
            <a:pPr marL="457200" marR="0" lvl="0" indent="-279400" algn="l" rtl="0">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grpSp>
        <p:nvGrpSpPr>
          <p:cNvPr id="2" name="Group 2">
            <a:extLst>
              <a:ext uri="{FF2B5EF4-FFF2-40B4-BE49-F238E27FC236}">
                <a16:creationId xmlns:a16="http://schemas.microsoft.com/office/drawing/2014/main" id="{0DA894FD-2029-24AE-8177-E1869A57BD9D}"/>
              </a:ext>
            </a:extLst>
          </p:cNvPr>
          <p:cNvGrpSpPr/>
          <p:nvPr/>
        </p:nvGrpSpPr>
        <p:grpSpPr>
          <a:xfrm>
            <a:off x="11072828" y="97154"/>
            <a:ext cx="934625" cy="1002553"/>
            <a:chOff x="0" y="0"/>
            <a:chExt cx="1952727" cy="2094649"/>
          </a:xfrm>
        </p:grpSpPr>
        <p:sp>
          <p:nvSpPr>
            <p:cNvPr id="3" name="Freeform 3" descr="A blue and gold logo  AI-generated content may be incorrect.">
              <a:extLst>
                <a:ext uri="{FF2B5EF4-FFF2-40B4-BE49-F238E27FC236}">
                  <a16:creationId xmlns:a16="http://schemas.microsoft.com/office/drawing/2014/main" id="{907CCFEC-FFF5-49F5-E704-6A0A0D9D9414}"/>
                </a:ext>
              </a:extLst>
            </p:cNvPr>
            <p:cNvSpPr/>
            <p:nvPr/>
          </p:nvSpPr>
          <p:spPr>
            <a:xfrm>
              <a:off x="0" y="0"/>
              <a:ext cx="1952752" cy="2094611"/>
            </a:xfrm>
            <a:custGeom>
              <a:avLst/>
              <a:gdLst/>
              <a:ahLst/>
              <a:cxnLst/>
              <a:rect l="l" t="t" r="r" b="b"/>
              <a:pathLst>
                <a:path w="1952752" h="2094611">
                  <a:moveTo>
                    <a:pt x="0" y="0"/>
                  </a:moveTo>
                  <a:lnTo>
                    <a:pt x="1952752" y="0"/>
                  </a:lnTo>
                  <a:lnTo>
                    <a:pt x="1952752" y="2094611"/>
                  </a:lnTo>
                  <a:lnTo>
                    <a:pt x="0" y="2094611"/>
                  </a:lnTo>
                  <a:lnTo>
                    <a:pt x="0" y="0"/>
                  </a:lnTo>
                  <a:close/>
                </a:path>
              </a:pathLst>
            </a:custGeom>
            <a:blipFill>
              <a:blip r:embed="rId3"/>
              <a:stretch>
                <a:fillRect t="-6" r="1" b="-8"/>
              </a:stretch>
            </a:blipFill>
          </p:spPr>
          <p:txBody>
            <a:bodyPr/>
            <a:lstStyle/>
            <a:p>
              <a:endParaRPr lang="en-PH"/>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3"/>
          <p:cNvSpPr/>
          <p:nvPr/>
        </p:nvSpPr>
        <p:spPr>
          <a:xfrm>
            <a:off x="825500" y="685800"/>
            <a:ext cx="9969500" cy="9779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400"/>
              <a:buFont typeface="Calibri"/>
              <a:buNone/>
            </a:pPr>
            <a:endParaRPr sz="3400" b="1">
              <a:solidFill>
                <a:srgbClr val="2F5496"/>
              </a:solidFill>
              <a:latin typeface="Calibri"/>
              <a:ea typeface="Calibri"/>
              <a:cs typeface="Calibri"/>
              <a:sym typeface="Calibri"/>
            </a:endParaRPr>
          </a:p>
        </p:txBody>
      </p:sp>
      <p:sp>
        <p:nvSpPr>
          <p:cNvPr id="242" name="Google Shape;242;p13"/>
          <p:cNvSpPr txBox="1"/>
          <p:nvPr/>
        </p:nvSpPr>
        <p:spPr>
          <a:xfrm>
            <a:off x="920750" y="2148840"/>
            <a:ext cx="10350500" cy="43688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None/>
            </a:pPr>
            <a:r>
              <a:rPr lang="en-US" sz="16600" b="1">
                <a:solidFill>
                  <a:srgbClr val="191F28"/>
                </a:solidFill>
                <a:latin typeface="Calibri"/>
                <a:ea typeface="Calibri"/>
                <a:cs typeface="Calibri"/>
                <a:sym typeface="Calibri"/>
              </a:rPr>
              <a:t>LIVE DEMO</a:t>
            </a:r>
            <a:endParaRPr sz="16600" b="1">
              <a:solidFill>
                <a:srgbClr val="191F2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1868</Words>
  <Application>Microsoft Office PowerPoint</Application>
  <PresentationFormat>Widescreen</PresentationFormat>
  <Paragraphs>185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GroomShield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Walnut Exporter</dc:creator>
  <cp:lastModifiedBy>John Michael Maala</cp:lastModifiedBy>
  <cp:revision>2</cp:revision>
  <dcterms:created xsi:type="dcterms:W3CDTF">2026-08-12T16:37:22Z</dcterms:created>
  <dcterms:modified xsi:type="dcterms:W3CDTF">2026-10-16T07:13:42Z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0x01010017507951152B4F4D92DD443C0B5EB7FA</vt:lpwstr>
  </property>
  <property fmtid="{D5CDD505-2E9C-101B-9397-08002B2CF9AE}" pid="3" name="MediaServiceImageTags">
    <vt:lpwstr/>
  </property>
</Properties>
</file>