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62cd868c24794" /><Relationship Type="http://schemas.openxmlformats.org/officeDocument/2006/relationships/extended-properties" Target="/docProps/app.xml" Id="R037c6c9c7a39476f" /><Relationship Type="http://schemas.openxmlformats.org/officeDocument/2006/relationships/officeDocument" Target="/ppt/presentation.xml" Id="R9710cb6257e9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69e9ef1cb4d89"/>
  </p:sldMasterIdLst>
  <p:notesMasterIdLst>
    <p:notesMasterId xmlns:r="http://schemas.openxmlformats.org/officeDocument/2006/relationships" r:id="Rd98e7b6743334827"/>
  </p:notesMasterIdLst>
  <p:sldIdLst>
    <p:sldId xmlns:r="http://schemas.openxmlformats.org/officeDocument/2006/relationships" id="256" r:id="Reb3be49880df4e02"/>
    <p:sldId xmlns:r="http://schemas.openxmlformats.org/officeDocument/2006/relationships" id="257" r:id="Re355132a0c9e456a"/>
    <p:sldId xmlns:r="http://schemas.openxmlformats.org/officeDocument/2006/relationships" id="258" r:id="R7ae352cf47ab468c"/>
    <p:sldId xmlns:r="http://schemas.openxmlformats.org/officeDocument/2006/relationships" id="259" r:id="Rd17f738f328f493c"/>
    <p:sldId xmlns:r="http://schemas.openxmlformats.org/officeDocument/2006/relationships" id="260" r:id="R610f43f24721472a"/>
    <p:sldId xmlns:r="http://schemas.openxmlformats.org/officeDocument/2006/relationships" id="261" r:id="R19385f38a1574325"/>
    <p:sldId xmlns:r="http://schemas.openxmlformats.org/officeDocument/2006/relationships" id="262" r:id="Raa185065f4054602"/>
    <p:sldId xmlns:r="http://schemas.openxmlformats.org/officeDocument/2006/relationships" id="263" r:id="R8b32d825cefd4e98"/>
    <p:sldId xmlns:r="http://schemas.openxmlformats.org/officeDocument/2006/relationships" id="264" r:id="R0433859221a04455"/>
    <p:sldId xmlns:r="http://schemas.openxmlformats.org/officeDocument/2006/relationships" id="265" r:id="R36dd6ed17da54d3d"/>
    <p:sldId xmlns:r="http://schemas.openxmlformats.org/officeDocument/2006/relationships" id="266" r:id="R81ac55a9be3848f1"/>
    <p:sldId xmlns:r="http://schemas.openxmlformats.org/officeDocument/2006/relationships" id="267" r:id="R0d2b2fabe9014aa9"/>
    <p:sldId xmlns:r="http://schemas.openxmlformats.org/officeDocument/2006/relationships" id="268" r:id="R82f5987d9bc34971"/>
    <p:sldId xmlns:r="http://schemas.openxmlformats.org/officeDocument/2006/relationships" id="269" r:id="R93f594d60c7443db"/>
    <p:sldId xmlns:r="http://schemas.openxmlformats.org/officeDocument/2006/relationships" id="270" r:id="Rb200ef14a6ff4d75"/>
    <p:sldId xmlns:r="http://schemas.openxmlformats.org/officeDocument/2006/relationships" id="271" r:id="Rb0cae88dea254185"/>
    <p:sldId xmlns:r="http://schemas.openxmlformats.org/officeDocument/2006/relationships" id="272" r:id="R80d7e103a9974c3a"/>
    <p:sldId xmlns:r="http://schemas.openxmlformats.org/officeDocument/2006/relationships" id="273" r:id="Rd639534d0cdd4465"/>
    <p:sldId xmlns:r="http://schemas.openxmlformats.org/officeDocument/2006/relationships" id="274" r:id="R3ba4e1e4aa1146b7"/>
    <p:sldId xmlns:r="http://schemas.openxmlformats.org/officeDocument/2006/relationships" id="275" r:id="R79b43d06802e4219"/>
    <p:sldId xmlns:r="http://schemas.openxmlformats.org/officeDocument/2006/relationships" id="276" r:id="R1ba25f79d1ea4725"/>
    <p:sldId xmlns:r="http://schemas.openxmlformats.org/officeDocument/2006/relationships" id="277" r:id="Ref9c94a51a09484a"/>
    <p:sldId xmlns:r="http://schemas.openxmlformats.org/officeDocument/2006/relationships" id="278" r:id="Rc1acb90fdab74ca6"/>
    <p:sldId xmlns:r="http://schemas.openxmlformats.org/officeDocument/2006/relationships" id="279" r:id="R312fa086cfe448fb"/>
    <p:sldId xmlns:r="http://schemas.openxmlformats.org/officeDocument/2006/relationships" id="280" r:id="R10623f4d479f41b2"/>
    <p:sldId xmlns:r="http://schemas.openxmlformats.org/officeDocument/2006/relationships" id="281" r:id="R6a1d510d21454ea5"/>
    <p:sldId xmlns:r="http://schemas.openxmlformats.org/officeDocument/2006/relationships" id="282" r:id="R284a791f320e42c1"/>
    <p:sldId xmlns:r="http://schemas.openxmlformats.org/officeDocument/2006/relationships" id="283" r:id="Rcb85d2a8a72a4801"/>
    <p:sldId xmlns:r="http://schemas.openxmlformats.org/officeDocument/2006/relationships" id="284" r:id="R839614fe14c94c1b"/>
    <p:sldId xmlns:r="http://schemas.openxmlformats.org/officeDocument/2006/relationships" id="285" r:id="R79f6fe993955450b"/>
    <p:sldId xmlns:r="http://schemas.openxmlformats.org/officeDocument/2006/relationships" id="286" r:id="Rd65cdaa3b06f4591"/>
    <p:sldId xmlns:r="http://schemas.openxmlformats.org/officeDocument/2006/relationships" id="287" r:id="R4550ffb133c64180"/>
    <p:sldId xmlns:r="http://schemas.openxmlformats.org/officeDocument/2006/relationships" id="288" r:id="R2426fe1358834c7a"/>
    <p:sldId xmlns:r="http://schemas.openxmlformats.org/officeDocument/2006/relationships" id="289" r:id="Rc4f26d9085934e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caa5f119a49f7" /><Relationship Type="http://schemas.openxmlformats.org/officeDocument/2006/relationships/slideMaster" Target="/ppt/slideMasters/slideMaster1.xml" Id="Rcc369e9ef1cb4d89" /><Relationship Type="http://schemas.openxmlformats.org/officeDocument/2006/relationships/notesMaster" Target="/ppt/notesMasters/notesMaster1.xml" Id="Rd98e7b6743334827" /><Relationship Type="http://schemas.openxmlformats.org/officeDocument/2006/relationships/presProps" Target="/ppt/presProps.xml" Id="R542f64ce4459415b" /><Relationship Type="http://schemas.openxmlformats.org/officeDocument/2006/relationships/viewProps" Target="/ppt/viewProps.xml" Id="R6af94f641917479f" /><Relationship Type="http://schemas.openxmlformats.org/officeDocument/2006/relationships/tableStyles" Target="/ppt/tableStyles.xml" Id="R42df18ba10fb41ba" /><Relationship Type="http://schemas.openxmlformats.org/officeDocument/2006/relationships/slide" Target="/ppt/slides/slide1.xml" Id="Reb3be49880df4e02" /><Relationship Type="http://schemas.openxmlformats.org/officeDocument/2006/relationships/slide" Target="/ppt/slides/slide2.xml" Id="Re355132a0c9e456a" /><Relationship Type="http://schemas.openxmlformats.org/officeDocument/2006/relationships/slide" Target="/ppt/slides/slide3.xml" Id="R7ae352cf47ab468c" /><Relationship Type="http://schemas.openxmlformats.org/officeDocument/2006/relationships/slide" Target="/ppt/slides/slide4.xml" Id="Rd17f738f328f493c" /><Relationship Type="http://schemas.openxmlformats.org/officeDocument/2006/relationships/slide" Target="/ppt/slides/slide5.xml" Id="R610f43f24721472a" /><Relationship Type="http://schemas.openxmlformats.org/officeDocument/2006/relationships/slide" Target="/ppt/slides/slide6.xml" Id="R19385f38a1574325" /><Relationship Type="http://schemas.openxmlformats.org/officeDocument/2006/relationships/slide" Target="/ppt/slides/slide7.xml" Id="Raa185065f4054602" /><Relationship Type="http://schemas.openxmlformats.org/officeDocument/2006/relationships/slide" Target="/ppt/slides/slide8.xml" Id="R8b32d825cefd4e98" /><Relationship Type="http://schemas.openxmlformats.org/officeDocument/2006/relationships/slide" Target="/ppt/slides/slide9.xml" Id="R0433859221a04455" /><Relationship Type="http://schemas.openxmlformats.org/officeDocument/2006/relationships/slide" Target="/ppt/slides/slide10.xml" Id="R36dd6ed17da54d3d" /><Relationship Type="http://schemas.openxmlformats.org/officeDocument/2006/relationships/slide" Target="/ppt/slides/slide11.xml" Id="R81ac55a9be3848f1" /><Relationship Type="http://schemas.openxmlformats.org/officeDocument/2006/relationships/slide" Target="/ppt/slides/slide12.xml" Id="R0d2b2fabe9014aa9" /><Relationship Type="http://schemas.openxmlformats.org/officeDocument/2006/relationships/slide" Target="/ppt/slides/slide13.xml" Id="R82f5987d9bc34971" /><Relationship Type="http://schemas.openxmlformats.org/officeDocument/2006/relationships/slide" Target="/ppt/slides/slide14.xml" Id="R93f594d60c7443db" /><Relationship Type="http://schemas.openxmlformats.org/officeDocument/2006/relationships/slide" Target="/ppt/slides/slide15.xml" Id="Rb200ef14a6ff4d75" /><Relationship Type="http://schemas.openxmlformats.org/officeDocument/2006/relationships/slide" Target="/ppt/slides/slide16.xml" Id="Rb0cae88dea254185" /><Relationship Type="http://schemas.openxmlformats.org/officeDocument/2006/relationships/slide" Target="/ppt/slides/slide17.xml" Id="R80d7e103a9974c3a" /><Relationship Type="http://schemas.openxmlformats.org/officeDocument/2006/relationships/slide" Target="/ppt/slides/slide18.xml" Id="Rd639534d0cdd4465" /><Relationship Type="http://schemas.openxmlformats.org/officeDocument/2006/relationships/slide" Target="/ppt/slides/slide19.xml" Id="R3ba4e1e4aa1146b7" /><Relationship Type="http://schemas.openxmlformats.org/officeDocument/2006/relationships/slide" Target="/ppt/slides/slide20.xml" Id="R79b43d06802e4219" /><Relationship Type="http://schemas.openxmlformats.org/officeDocument/2006/relationships/slide" Target="/ppt/slides/slide21.xml" Id="R1ba25f79d1ea4725" /><Relationship Type="http://schemas.openxmlformats.org/officeDocument/2006/relationships/slide" Target="/ppt/slides/slide22.xml" Id="Ref9c94a51a09484a" /><Relationship Type="http://schemas.openxmlformats.org/officeDocument/2006/relationships/slide" Target="/ppt/slides/slide23.xml" Id="Rc1acb90fdab74ca6" /><Relationship Type="http://schemas.openxmlformats.org/officeDocument/2006/relationships/slide" Target="/ppt/slides/slide24.xml" Id="R312fa086cfe448fb" /><Relationship Type="http://schemas.openxmlformats.org/officeDocument/2006/relationships/slide" Target="/ppt/slides/slide25.xml" Id="R10623f4d479f41b2" /><Relationship Type="http://schemas.openxmlformats.org/officeDocument/2006/relationships/slide" Target="/ppt/slides/slide26.xml" Id="R6a1d510d21454ea5" /><Relationship Type="http://schemas.openxmlformats.org/officeDocument/2006/relationships/slide" Target="/ppt/slides/slide27.xml" Id="R284a791f320e42c1" /><Relationship Type="http://schemas.openxmlformats.org/officeDocument/2006/relationships/slide" Target="/ppt/slides/slide28.xml" Id="Rcb85d2a8a72a4801" /><Relationship Type="http://schemas.openxmlformats.org/officeDocument/2006/relationships/slide" Target="/ppt/slides/slide29.xml" Id="R839614fe14c94c1b" /><Relationship Type="http://schemas.openxmlformats.org/officeDocument/2006/relationships/slide" Target="/ppt/slides/slide30.xml" Id="R79f6fe993955450b" /><Relationship Type="http://schemas.openxmlformats.org/officeDocument/2006/relationships/slide" Target="/ppt/slides/slide31.xml" Id="Rd65cdaa3b06f4591" /><Relationship Type="http://schemas.openxmlformats.org/officeDocument/2006/relationships/slide" Target="/ppt/slides/slide32.xml" Id="R4550ffb133c64180" /><Relationship Type="http://schemas.openxmlformats.org/officeDocument/2006/relationships/slide" Target="/ppt/slides/slide33.xml" Id="R2426fe1358834c7a" /><Relationship Type="http://schemas.openxmlformats.org/officeDocument/2006/relationships/slide" Target="/ppt/slides/slide34.xml" Id="Rc4f26d9085934e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0b027cac4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79501d2b34a56" /><Relationship Type="http://schemas.openxmlformats.org/officeDocument/2006/relationships/notesMaster" Target="/ppt/notesMasters/notesMaster1.xml" Id="Rf4990c0a2f2c4f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583048ce24705" /><Relationship Type="http://schemas.openxmlformats.org/officeDocument/2006/relationships/notesMaster" Target="/ppt/notesMasters/notesMaster1.xml" Id="R4d120888be65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38e883edc4250" /><Relationship Type="http://schemas.openxmlformats.org/officeDocument/2006/relationships/notesMaster" Target="/ppt/notesMasters/notesMaster1.xml" Id="Re64af236f6d0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a54262c854c2b" /><Relationship Type="http://schemas.openxmlformats.org/officeDocument/2006/relationships/notesMaster" Target="/ppt/notesMasters/notesMaster1.xml" Id="Rcf9c0143119649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1ce27a5504b1b" /><Relationship Type="http://schemas.openxmlformats.org/officeDocument/2006/relationships/notesMaster" Target="/ppt/notesMasters/notesMaster1.xml" Id="Rb05be65213104d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523dcbc0194c8a" /><Relationship Type="http://schemas.openxmlformats.org/officeDocument/2006/relationships/notesMaster" Target="/ppt/notesMasters/notesMaster1.xml" Id="R3dd09d0921bf4e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caa39e8ca4f71" /><Relationship Type="http://schemas.openxmlformats.org/officeDocument/2006/relationships/notesMaster" Target="/ppt/notesMasters/notesMaster1.xml" Id="R6f7d09eef79c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b4601347b54b43" /><Relationship Type="http://schemas.openxmlformats.org/officeDocument/2006/relationships/notesMaster" Target="/ppt/notesMasters/notesMaster1.xml" Id="R2b463ae5dcd1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eaf0fab95641bb" /><Relationship Type="http://schemas.openxmlformats.org/officeDocument/2006/relationships/notesMaster" Target="/ppt/notesMasters/notesMaster1.xml" Id="R0deadd2d1d6a4d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56926bfd947e4" /><Relationship Type="http://schemas.openxmlformats.org/officeDocument/2006/relationships/notesMaster" Target="/ppt/notesMasters/notesMaster1.xml" Id="Rfa8562e0f34f47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81d35bfb944e02" /><Relationship Type="http://schemas.openxmlformats.org/officeDocument/2006/relationships/notesMaster" Target="/ppt/notesMasters/notesMaster1.xml" Id="Raf110e4b273844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fa24de77d94833" /><Relationship Type="http://schemas.openxmlformats.org/officeDocument/2006/relationships/notesMaster" Target="/ppt/notesMasters/notesMaster1.xml" Id="R471d5a67987a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72d2d0ad2d45c1" /><Relationship Type="http://schemas.openxmlformats.org/officeDocument/2006/relationships/notesMaster" Target="/ppt/notesMasters/notesMaster1.xml" Id="R4eff5d50cccc4c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76096042f47ed" /><Relationship Type="http://schemas.openxmlformats.org/officeDocument/2006/relationships/notesMaster" Target="/ppt/notesMasters/notesMaster1.xml" Id="Rb2abbb9bdac848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ae32b93a624b72" /><Relationship Type="http://schemas.openxmlformats.org/officeDocument/2006/relationships/notesMaster" Target="/ppt/notesMasters/notesMaster1.xml" Id="R9eeab1ffc30145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907003ca6040e3" /><Relationship Type="http://schemas.openxmlformats.org/officeDocument/2006/relationships/notesMaster" Target="/ppt/notesMasters/notesMaster1.xml" Id="R92d1a1d4c7aa4f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cacd64455743de" /><Relationship Type="http://schemas.openxmlformats.org/officeDocument/2006/relationships/notesMaster" Target="/ppt/notesMasters/notesMaster1.xml" Id="R29d59a721fc74c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98eb7dc90a466b" /><Relationship Type="http://schemas.openxmlformats.org/officeDocument/2006/relationships/notesMaster" Target="/ppt/notesMasters/notesMaster1.xml" Id="R3a5fa37d051f44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a92f609237404d" /><Relationship Type="http://schemas.openxmlformats.org/officeDocument/2006/relationships/notesMaster" Target="/ppt/notesMasters/notesMaster1.xml" Id="Rcb76a211b56641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4900d05bec4cd8" /><Relationship Type="http://schemas.openxmlformats.org/officeDocument/2006/relationships/notesMaster" Target="/ppt/notesMasters/notesMaster1.xml" Id="R819ce3f8a6584e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4aba513cb84a78" /><Relationship Type="http://schemas.openxmlformats.org/officeDocument/2006/relationships/notesMaster" Target="/ppt/notesMasters/notesMaster1.xml" Id="R5daf181efdcd4e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5bd62fb46b4e6b" /><Relationship Type="http://schemas.openxmlformats.org/officeDocument/2006/relationships/notesMaster" Target="/ppt/notesMasters/notesMaster1.xml" Id="Raf889baf112f41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57bcf21f6f4df3" /><Relationship Type="http://schemas.openxmlformats.org/officeDocument/2006/relationships/notesMaster" Target="/ppt/notesMasters/notesMaster1.xml" Id="R8df2a6bb7f0642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bb5b4dd2c147ac" /><Relationship Type="http://schemas.openxmlformats.org/officeDocument/2006/relationships/notesMaster" Target="/ppt/notesMasters/notesMaster1.xml" Id="Raca46223274b417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385c466fb3414d" /><Relationship Type="http://schemas.openxmlformats.org/officeDocument/2006/relationships/notesMaster" Target="/ppt/notesMasters/notesMaster1.xml" Id="R1299793e44f64b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f34599b9ab4d63" /><Relationship Type="http://schemas.openxmlformats.org/officeDocument/2006/relationships/notesMaster" Target="/ppt/notesMasters/notesMaster1.xml" Id="R9f17f4ed2aa145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e2d3d464b54c34" /><Relationship Type="http://schemas.openxmlformats.org/officeDocument/2006/relationships/notesMaster" Target="/ppt/notesMasters/notesMaster1.xml" Id="Ra5491c60cf0043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9fdbd1c197496d" /><Relationship Type="http://schemas.openxmlformats.org/officeDocument/2006/relationships/notesMaster" Target="/ppt/notesMasters/notesMaster1.xml" Id="R06756876c41849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8e1bf6fd0e743f5" /><Relationship Type="http://schemas.openxmlformats.org/officeDocument/2006/relationships/notesMaster" Target="/ppt/notesMasters/notesMaster1.xml" Id="Rc7f1d193939243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089f531546343de" /><Relationship Type="http://schemas.openxmlformats.org/officeDocument/2006/relationships/notesMaster" Target="/ppt/notesMasters/notesMaster1.xml" Id="R12b60ac185a847e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ec25ef2a9e483f" /><Relationship Type="http://schemas.openxmlformats.org/officeDocument/2006/relationships/notesMaster" Target="/ppt/notesMasters/notesMaster1.xml" Id="Rd882d40f0c694e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659c27f4f9146f1" /><Relationship Type="http://schemas.openxmlformats.org/officeDocument/2006/relationships/notesMaster" Target="/ppt/notesMasters/notesMaster1.xml" Id="Rf0f7f0ed65f0460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779444805154c40" /><Relationship Type="http://schemas.openxmlformats.org/officeDocument/2006/relationships/notesMaster" Target="/ppt/notesMasters/notesMaster1.xml" Id="R1c8c10ce14c343f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49692445734280" /><Relationship Type="http://schemas.openxmlformats.org/officeDocument/2006/relationships/notesMaster" Target="/ppt/notesMasters/notesMaster1.xml" Id="R414e50d51ec9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implemented module name, then state the descriptive research subtitle. Frame all current outputs as development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 deck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now distinguishes an offline sequence-analysis prototype from a deployed moderation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Online game chats are great for communities, but predators use them to groom minors. Current systems just filter bad words, which predators easily bypass using coded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thesis_docs/CURRENT_STATE_ZERO_AMBIGUITY.md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thesis_docs/CURRENT_STATE_ZERO_AMBIGUITY.md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thesis_docs/CURRENT_STATE_ZERO_AMBIGUITY.md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thesis_docs/CURRENT_STATE_ZERO_AMBIGUITY.md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thesis_docs/CURRENT_STATE_ZERO_AMBIGUITY.md</a:t>
            </a:r>
            <a:endParaRPr/>
          </a:p>
          <a:p xmlns:a="http://schemas.openxmlformats.org/drawingml/2006/main">
            <a:r>
              <a:t>- thesis_docs/Finals_Revised_Paper_WASD.md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corrected scope plainly. The conversation endpoint is proposed under deadline pressure and still requires adviser approval.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thesis_docs/CURRENT_STATE_ZERO_AMBIGUITY.md</a:t>
            </a:r>
            <a:endParaRPr/>
          </a:p>
          <a:p xmlns:a="http://schemas.openxmlformats.org/drawingml/2006/main">
            <a:r>
              <a:t>- thesis_docs/Finals_Revised_Paper_WASD.md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Describe the audited implementation and the corrected protocol. Do not present the historical LSTM table as a fair baseline victory.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thesis_docs/CURRENT_STATE_ZERO_AMBIGUITY.md</a:t>
            </a:r>
          </a:p>
          <a:p xmlns:a="http://schemas.openxmlformats.org/drawingml/2006/main">
            <a:r>
              <a:rPr b="1"/>
              <a:t>- thesis_docs/AUTHOR_DISJOINT_EXPERIMENT.md</a:t>
            </a:r>
          </a:p>
          <a:p xmlns:a="http://schemas.openxmlformats.org/drawingml/2006/main">
            <a:r>
              <a:rPr b="1"/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Describe the audited implementation and the corrected protocol. Do not present the historical LSTM table as a fair baseline victory.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thesis_docs/CURRENT_STATE_ZERO_AMBIGUITY.md</a:t>
            </a:r>
          </a:p>
          <a:p xmlns:a="http://schemas.openxmlformats.org/drawingml/2006/main">
            <a:r>
              <a:rPr b="1"/>
              <a:t>- thesis_docs/AUTHOR_DISJOINT_EXPERIMENT.md</a:t>
            </a:r>
          </a:p>
          <a:p xmlns:a="http://schemas.openxmlformats.org/drawingml/2006/main">
            <a:r>
              <a:rPr b="1"/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Describe the audited implementation and the corrected protocol. Do not present the historical LSTM table as a fair baseline victory.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thesis_docs/AUTHOR_DISJOINT_EXPERIMENT.md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grooming-detector/data_sources/layer1_dataset_manifest.json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Describe the audited implementation and the corrected protocol. Do not present the historical LSTM table as a fair baseline victory.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thesis_docs/AUTHOR_DISJOINT_EXPERIMENT.md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Describe the audited implementation and the corrected protocol. Do not present the historical LSTM table as a fair baseline victory.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thesis_docs/AUTHOR_DISJOINT_EXPERIMENT.md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Describe the audited implementation and the corrected protocol. Do not present the historical LSTM table as a fair baseline victory.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thesis_docs/AUTHOR_DISJOINT_EXPERIMENT.md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four slides account for all ten panel comments and distinguish completed evidence from pending methodology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thesis_docs/archive/planning/comments_matrix_2.md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Status means supported by the current repository as of 12 August 2026; it does not imply completion of the corrected final experiment.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thesis_docs/archive/planning/comments_matrix_2.md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thesis_docs/Finals_Revised_Paper_WASD.md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Status means supported by the current repository as of 12 August 2026; it does not imply completion of the corrected final experiment.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thesis_docs/archive/planning/comments_matrix_2.md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thesis_docs/Finals_Revised_Paper_WASD.md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Status means supported by the current repository as of 12 August 2026; it does not imply completion of the corrected final experiment.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thesis_docs/archive/planning/comments_matrix_2.md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thesis_docs/Finals_Revised_Paper_WASD.md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Status means supported by the current repository as of 12 August 2026; it does not imply completion of the corrected final experiment.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thesis_docs/archive/planning/comments_matrix_2.md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thesis_docs/Finals_Revised_Paper_WASD.md</a:t>
            </a:r>
            <a:endParaRPr/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thesis_docs/CURRENT_STATE_ZERO_AMBIGUITY.md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the AI systems used without attributing research judgment or authorship to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records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generation produced annotation candidates only. The generated labels are not accepted ground truth and the files remain excluded pending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grooming-detector/data_sources/layer1_dataset_manifest.json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controls describe responsible research practice. They do not substitute for institutional ethics, privacy, licensing, or expert-review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thesis_docs/Finals_Revised_Paper_WASD.md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concrete scope decision needed to unlock the corrected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thesis_docs/THESIS_RECOVERY_NEXT_STEPS.md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fbbbf158a48dc" /><Relationship Type="http://schemas.openxmlformats.org/officeDocument/2006/relationships/image" Target="/ppt/media/image.png" Id="Rc962bde034b6406b" /><Relationship Type="http://schemas.openxmlformats.org/officeDocument/2006/relationships/image" Target="/ppt/media/image.svg" Id="R3857658fe15247fd" /><Relationship Type="http://schemas.openxmlformats.org/officeDocument/2006/relationships/image" Target="/ppt/media/image2.png" Id="R4c6e0aaa4a9e4770" /><Relationship Type="http://schemas.openxmlformats.org/officeDocument/2006/relationships/image" Target="/ppt/media/image2.svg" Id="R2589f880a7a347b3" /><Relationship Type="http://schemas.openxmlformats.org/officeDocument/2006/relationships/image" Target="/ppt/media/image3.png" Id="R3b85479cfafb4b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bad6a70c5452d" /><Relationship Type="http://schemas.openxmlformats.org/officeDocument/2006/relationships/image" Target="/ppt/media/image.png" Id="R46873ccaeba64c02" /><Relationship Type="http://schemas.openxmlformats.org/officeDocument/2006/relationships/image" Target="/ppt/media/image4.png" Id="R0942b7e5635e4db8" /><Relationship Type="http://schemas.openxmlformats.org/officeDocument/2006/relationships/image" Target="/ppt/media/image3.svg" Id="R4d32b9cffcd64bb1" /><Relationship Type="http://schemas.openxmlformats.org/officeDocument/2006/relationships/image" Target="/ppt/media/image.svg" Id="R115cd57191e241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6de3b4c0c4421" /><Relationship Type="http://schemas.openxmlformats.org/officeDocument/2006/relationships/image" Target="/ppt/media/image2.png" Id="R77ab1efba0fb4884" /><Relationship Type="http://schemas.openxmlformats.org/officeDocument/2006/relationships/image" Target="/ppt/media/image2.svg" Id="R8945430480a340f0" /><Relationship Type="http://schemas.openxmlformats.org/officeDocument/2006/relationships/image" Target="/ppt/media/image3.png" Id="Re40377ffaa5b4a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938d4160a4c76" /><Relationship Type="http://schemas.openxmlformats.org/officeDocument/2006/relationships/image" Target="/ppt/media/image5.png" Id="R87abcb8fa31b4d2b" /><Relationship Type="http://schemas.openxmlformats.org/officeDocument/2006/relationships/image" Target="/ppt/media/image4.png" Id="R123d0a1cc9584226" /><Relationship Type="http://schemas.openxmlformats.org/officeDocument/2006/relationships/image" Target="/ppt/media/image3.svg" Id="R8cb27ed8c6d544ac" /><Relationship Type="http://schemas.openxmlformats.org/officeDocument/2006/relationships/image" Target="/ppt/media/image.png" Id="R5a4f54dbd5e848c4" /><Relationship Type="http://schemas.openxmlformats.org/officeDocument/2006/relationships/image" Target="/ppt/media/image.svg" Id="R096e2792518344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cb4a4b6b744c3" /><Relationship Type="http://schemas.openxmlformats.org/officeDocument/2006/relationships/image" Target="/ppt/media/image4.png" Id="R1bfe0c9f37f34175" /><Relationship Type="http://schemas.openxmlformats.org/officeDocument/2006/relationships/image" Target="/ppt/media/image3.svg" Id="Re55697fea36045b9" /><Relationship Type="http://schemas.openxmlformats.org/officeDocument/2006/relationships/image" Target="/ppt/media/image.png" Id="R479427d9820647ac" /><Relationship Type="http://schemas.openxmlformats.org/officeDocument/2006/relationships/image" Target="/ppt/media/image.svg" Id="R81c69dd11af249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260e8494547c8" /><Relationship Type="http://schemas.openxmlformats.org/officeDocument/2006/relationships/image" Target="/ppt/media/image4.png" Id="Rcb552948612242ea" /><Relationship Type="http://schemas.openxmlformats.org/officeDocument/2006/relationships/image" Target="/ppt/media/image3.svg" Id="Re85d0470e7d1462f" /><Relationship Type="http://schemas.openxmlformats.org/officeDocument/2006/relationships/image" Target="/ppt/media/image.png" Id="R4b2f1e8a8861430d" /><Relationship Type="http://schemas.openxmlformats.org/officeDocument/2006/relationships/image" Target="/ppt/media/image.svg" Id="R638b95068f2542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05d511b9a4235" /><Relationship Type="http://schemas.openxmlformats.org/officeDocument/2006/relationships/image" Target="/ppt/media/image4.png" Id="R6e970a24c5a740eb" /><Relationship Type="http://schemas.openxmlformats.org/officeDocument/2006/relationships/image" Target="/ppt/media/image3.svg" Id="R022a61cd69fe4b95" /><Relationship Type="http://schemas.openxmlformats.org/officeDocument/2006/relationships/image" Target="/ppt/media/image.png" Id="R13c4c37ac9104e6b" /><Relationship Type="http://schemas.openxmlformats.org/officeDocument/2006/relationships/image" Target="/ppt/media/image.svg" Id="R4b166ea1bb7e4a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e8d76908e4779" /><Relationship Type="http://schemas.openxmlformats.org/officeDocument/2006/relationships/image" Target="/ppt/media/image4.png" Id="R11897e4d0bb246eb" /><Relationship Type="http://schemas.openxmlformats.org/officeDocument/2006/relationships/image" Target="/ppt/media/image3.svg" Id="R29112aaffc624281" /><Relationship Type="http://schemas.openxmlformats.org/officeDocument/2006/relationships/image" Target="/ppt/media/image.png" Id="Rffbcacb1999f4e3f" /><Relationship Type="http://schemas.openxmlformats.org/officeDocument/2006/relationships/image" Target="/ppt/media/image.svg" Id="Rfddbd4b01d4844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cc60339b441d0" /><Relationship Type="http://schemas.openxmlformats.org/officeDocument/2006/relationships/image" Target="/ppt/media/image4.png" Id="R22dc67b2c637472d" /><Relationship Type="http://schemas.openxmlformats.org/officeDocument/2006/relationships/image" Target="/ppt/media/image3.svg" Id="R68c5fed4bd9d48c0" /><Relationship Type="http://schemas.openxmlformats.org/officeDocument/2006/relationships/image" Target="/ppt/media/image.png" Id="R61d2fcdc47a44a44" /><Relationship Type="http://schemas.openxmlformats.org/officeDocument/2006/relationships/image" Target="/ppt/media/image.svg" Id="R4f329be7e1fc48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4d6cf54b4cc0" /><Relationship Type="http://schemas.openxmlformats.org/officeDocument/2006/relationships/image" Target="/ppt/media/image4.png" Id="R3fd1fbaa4b314109" /><Relationship Type="http://schemas.openxmlformats.org/officeDocument/2006/relationships/image" Target="/ppt/media/image3.svg" Id="Rd8029646142c420c" /><Relationship Type="http://schemas.openxmlformats.org/officeDocument/2006/relationships/image" Target="/ppt/media/image.png" Id="Rca1795d54d2a4043" /><Relationship Type="http://schemas.openxmlformats.org/officeDocument/2006/relationships/image" Target="/ppt/media/image.svg" Id="R78f0ffcb7c1b49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05cf25d75457f" /><Relationship Type="http://schemas.openxmlformats.org/officeDocument/2006/relationships/image" Target="/ppt/media/image4.png" Id="Re9d40c8115a34787" /><Relationship Type="http://schemas.openxmlformats.org/officeDocument/2006/relationships/image" Target="/ppt/media/image3.svg" Id="Re70044154f46453e" /><Relationship Type="http://schemas.openxmlformats.org/officeDocument/2006/relationships/image" Target="/ppt/media/image.png" Id="Rad834c62a913477d" /><Relationship Type="http://schemas.openxmlformats.org/officeDocument/2006/relationships/image" Target="/ppt/media/image.svg" Id="R468406b7f3fb4f8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a8307a0ba49ce" /><Relationship Type="http://schemas.openxmlformats.org/officeDocument/2006/relationships/image" Target="/ppt/media/image4.png" Id="R781047bec922431c" /><Relationship Type="http://schemas.openxmlformats.org/officeDocument/2006/relationships/image" Target="/ppt/media/image3.svg" Id="R62dcd185887e4d5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12912b4cf41e3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bg1">
            <a:alpha val="54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2bde034b640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85120E-655A-8FD8-CB7D-DD765B3129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096000" y="1122363"/>
            <a:ext cx="5077521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16988A7-3F4B-21EA-264D-4EF35F0366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0" y="3602038"/>
            <a:ext cx="5077521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72C160-A834-98A5-D95A-1D3DD1BCF8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B87298-36A1-C307-CA25-6CA619804E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2D2EBE-72FC-45F2-E7E4-6F66B911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89" y="5257800"/>
            <a:ext cx="3730228" cy="1598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7" name="Graphic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2bde034b6406b">
            <a:extLst>
              <a:ext uri="{96DAC541-7B7A-43D3-8B79-37D633B846F1}">
                <asvg:svgBlip xmlns:asvg="http://schemas.microsoft.com/office/drawing/2016/SVG/main" r:embed="R3857658fe15247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092" y="261292"/>
            <a:ext cx="2018121" cy="1078777"/>
          </a:xfrm>
          <a:prstGeom xmlns:a="http://schemas.openxmlformats.org/drawingml/2006/main" prst="rect">
            <a:avLst/>
          </a:prstGeom>
        </p:spPr>
      </p:pic>
      <p:pic>
        <p:nvPicPr>
          <p:cNvPr id="28" name="Graphic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0aaa4a9e4770">
            <a:extLst>
              <a:ext uri="{96DAC541-7B7A-43D3-8B79-37D633B846F1}">
                <asvg:svgBlip xmlns:asvg="http://schemas.microsoft.com/office/drawing/2016/SVG/main" r:embed="R2589f880a7a347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311" y="3976038"/>
            <a:ext cx="1680181" cy="1760189"/>
          </a:xfrm>
          <a:prstGeom xmlns:a="http://schemas.openxmlformats.org/drawingml/2006/main" prst="rect">
            <a:avLst/>
          </a:prstGeom>
        </p:spPr>
      </p:pic>
      <p:pic>
        <p:nvPicPr>
          <p:cNvPr id="2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5479cfafb4b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741" y="5793265"/>
            <a:ext cx="2193834" cy="79368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title" preserve="1">
  <p:cSld name="1_Title Slide">
    <p:bg>
      <p:bgPr>
        <a:solidFill xmlns:a="http://schemas.openxmlformats.org/drawingml/2006/main">
          <a:schemeClr val="bg1">
            <a:alpha val="54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73ccaeba6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85120E-655A-8FD8-CB7D-DD765B3129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096000" y="1122363"/>
            <a:ext cx="5077521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16988A7-3F4B-21EA-264D-4EF35F0366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0" y="3602038"/>
            <a:ext cx="5077521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72C160-A834-98A5-D95A-1D3DD1BCF8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B87298-36A1-C307-CA25-6CA619804E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2D2EBE-72FC-45F2-E7E4-6F66B911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0312" y="337011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6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2b7e5635e4db8">
            <a:extLst>
              <a:ext uri="{96DAC541-7B7A-43D3-8B79-37D633B846F1}">
                <asvg:svgBlip xmlns:asvg="http://schemas.microsoft.com/office/drawing/2016/SVG/main" r:embed="R4d32b9cffcd64b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60312" y="337011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7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73ccaeba64c02">
            <a:extLst>
              <a:ext uri="{96DAC541-7B7A-43D3-8B79-37D633B846F1}">
                <asvg:svgBlip xmlns:asvg="http://schemas.microsoft.com/office/drawing/2016/SVG/main" r:embed="R115cd57191e241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092" y="261292"/>
            <a:ext cx="2018121" cy="107877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109B8A-7AB0-01A2-A126-A218F7CD2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978148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AF2D31-8C3D-DD6A-FF19-980A288304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9781489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098455-C645-8AEB-AC43-0325DA4FAF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065D6F-F540-C08F-2265-B5D2D5CCF5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9F2013-7326-AAFC-EDFD-0E440ADDE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FA413D-DBF3-6C5E-11D0-8AD41C06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76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b1efba0fb4884">
            <a:extLst>
              <a:ext uri="{96DAC541-7B7A-43D3-8B79-37D633B846F1}">
                <asvg:svgBlip xmlns:asvg="http://schemas.microsoft.com/office/drawing/2016/SVG/main" r:embed="R8945430480a340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6153" y="153965"/>
            <a:ext cx="842573" cy="88269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377ffaa5b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84081" y="1246733"/>
            <a:ext cx="1009241" cy="3651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bcb8fa31b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6" y="0"/>
            <a:ext cx="12172328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08B091-CA0E-212E-D29C-ACABD2F8D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657550"/>
            <a:ext cx="10062122" cy="128405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1A8C11-013C-7F67-5D2A-FB3AE080A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968598"/>
            <a:ext cx="10062122" cy="84328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0B097E-EB72-FBAD-1C85-21B5359E6D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E519E1-451E-47E7-BC93-7F69CEEB6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B67043-CB4F-0116-BB76-C70A7058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721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544972-4926-2F64-D0DC-83BF6176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7448" y="5473373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d0a1cc9584226">
            <a:extLst>
              <a:ext uri="{96DAC541-7B7A-43D3-8B79-37D633B846F1}">
                <asvg:svgBlip xmlns:asvg="http://schemas.microsoft.com/office/drawing/2016/SVG/main" r:embed="R8cb27ed8c6d544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407448" y="5473373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5" name="Graphic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f54dbd5e848c4">
            <a:extLst>
              <a:ext uri="{96DAC541-7B7A-43D3-8B79-37D633B846F1}">
                <asvg:svgBlip xmlns:asvg="http://schemas.microsoft.com/office/drawing/2016/SVG/main" r:embed="R096e2792518344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7B5681-F3A2-40A5-A9EA-7166B07C9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B8B488-E7D3-935C-277F-C21ECB6D87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95AA6DE-DDA8-FF2B-FD76-96F4B00724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C2EDAA-B6F0-BAE3-0023-770789039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C10A058-AA1A-CDC2-FF66-8D3A35F6DB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489E0F8-44E2-4A76-2B57-8359A388C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D025B53-CC35-C249-1081-E752796B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78344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e0c9f37f34175">
            <a:extLst>
              <a:ext uri="{96DAC541-7B7A-43D3-8B79-37D633B846F1}">
                <asvg:svgBlip xmlns:asvg="http://schemas.microsoft.com/office/drawing/2016/SVG/main" r:embed="Re55697fea36045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78344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1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427d9820647ac">
            <a:extLst>
              <a:ext uri="{96DAC541-7B7A-43D3-8B79-37D633B846F1}">
                <asvg:svgBlip xmlns:asvg="http://schemas.microsoft.com/office/drawing/2016/SVG/main" r:embed="R81c69dd11af249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3779F0-5F10-E13F-AB63-76AC9A23E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8DFCF9-73B2-EF35-7501-7BE217954C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B7AC54-B991-35A0-F037-68B94E34451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8D6D34-BBA3-122B-A6D7-45A5E90F8C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AFA6EFC-F0B8-F706-C203-A56328A24E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FCEBC52-F71A-B504-62EF-9D7E439E71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7BD498-27EC-05AD-4788-497CF407CA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AD9F0F-FA93-6068-7489-31750FAC1E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B6D730-5CCC-3A0F-07C5-E177B23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78344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52948612242ea">
            <a:extLst>
              <a:ext uri="{96DAC541-7B7A-43D3-8B79-37D633B846F1}">
                <asvg:svgBlip xmlns:asvg="http://schemas.microsoft.com/office/drawing/2016/SVG/main" r:embed="Re85d0470e7d146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78344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5" name="Graphic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f1e8a8861430d">
            <a:extLst>
              <a:ext uri="{96DAC541-7B7A-43D3-8B79-37D633B846F1}">
                <asvg:svgBlip xmlns:asvg="http://schemas.microsoft.com/office/drawing/2016/SVG/main" r:embed="R638b95068f2542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69776FB-D0A1-D9FE-95EC-7FC4548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1474"/>
            <a:ext cx="12191999" cy="1500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F2FE27-8077-08F7-450C-470C035521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91440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C5E2896-F43F-2CDC-4FAE-F1178C67D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563C219-D37D-2418-305D-047051B022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E6278F9-514F-8E85-6413-B3DB744CE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6BE3AD5-276B-966C-24E2-2E7C8C7B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78344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Graphic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0a24c5a740eb">
            <a:extLst>
              <a:ext uri="{96DAC541-7B7A-43D3-8B79-37D633B846F1}">
                <asvg:svgBlip xmlns:asvg="http://schemas.microsoft.com/office/drawing/2016/SVG/main" r:embed="R022a61cd69fe4b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78344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19" name="Graphic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4c37ac9104e6b">
            <a:extLst>
              <a:ext uri="{96DAC541-7B7A-43D3-8B79-37D633B846F1}">
                <asvg:svgBlip xmlns:asvg="http://schemas.microsoft.com/office/drawing/2016/SVG/main" r:embed="R4b166ea1bb7e4a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F2FE27-8077-08F7-450C-470C035521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91440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C5E2896-F43F-2CDC-4FAE-F1178C67D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563C219-D37D-2418-305D-047051B022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E6278F9-514F-8E85-6413-B3DB744CE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1C6594-2F3D-BF1F-E328-BEF2388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015" y="0"/>
            <a:ext cx="17098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F2C923C-188F-78A4-9EBF-A50E775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78344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Graphic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97e4d0bb246eb">
            <a:extLst>
              <a:ext uri="{96DAC541-7B7A-43D3-8B79-37D633B846F1}">
                <asvg:svgBlip xmlns:asvg="http://schemas.microsoft.com/office/drawing/2016/SVG/main" r:embed="R29112aaffc6242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78344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19" name="Graphic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cacb1999f4e3f">
            <a:extLst>
              <a:ext uri="{96DAC541-7B7A-43D3-8B79-37D633B846F1}">
                <asvg:svgBlip xmlns:asvg="http://schemas.microsoft.com/office/drawing/2016/SVG/main" r:embed="Rfddbd4b01d4844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78FCBA4-BC60-BBA3-1928-200ADA4CB4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BF75781-DD6B-802C-A2A1-0C35279A16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782606-1EA0-41A1-3BF0-BF1A775C4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C13CDF-943F-636D-D5DB-2FDBB19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76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0C19DF9-E21D-1085-1DFC-9FE4B99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-9437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6" name="Graphic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c67b2c637472d">
            <a:extLst>
              <a:ext uri="{96DAC541-7B7A-43D3-8B79-37D633B846F1}">
                <asvg:svgBlip xmlns:asvg="http://schemas.microsoft.com/office/drawing/2016/SVG/main" r:embed="R68c5fed4bd9d48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-9437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17" name="Graphic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fcdc47a44a44">
            <a:extLst>
              <a:ext uri="{96DAC541-7B7A-43D3-8B79-37D633B846F1}">
                <asvg:svgBlip xmlns:asvg="http://schemas.microsoft.com/office/drawing/2016/SVG/main" r:embed="R4f329be7e1fc484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5ECBE-34FA-41CD-B39E-E682DB66C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407737-3DE7-D4A3-E002-F26143FB5E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1244600"/>
            <a:ext cx="6172200" cy="46164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DDE05A-F981-052B-D9CA-2307E6582F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B4FF3B-390C-C8D3-3713-88461DB20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8635E4-8B8B-231A-102E-E0EF2EE422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EB191B-A130-1FB5-D1C7-27E0B608AD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DD950B-956C-0CC5-90DF-600294A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76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E872611-7B62-0858-2F35-215FC7B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-9437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5" name="Graphic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1fbaa4b314109">
            <a:extLst>
              <a:ext uri="{96DAC541-7B7A-43D3-8B79-37D633B846F1}">
                <asvg:svgBlip xmlns:asvg="http://schemas.microsoft.com/office/drawing/2016/SVG/main" r:embed="Rd8029646142c42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-9437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6" name="Graphic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795d54d2a4043">
            <a:extLst>
              <a:ext uri="{96DAC541-7B7A-43D3-8B79-37D633B846F1}">
                <asvg:svgBlip xmlns:asvg="http://schemas.microsoft.com/office/drawing/2016/SVG/main" r:embed="R78f0ffcb7c1b49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973E5F-CFA9-31D3-ED26-1E57AC1EF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349FB75-59BA-B6B1-9EFA-B9D58E548B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1219200"/>
            <a:ext cx="6172200" cy="4641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15C4119-4703-ABFE-3D93-76F1F254DF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208027-E9E1-AFE8-C2CF-267B0B717A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FFCF05-D3BC-4D51-B7E1-EDFADA0E8F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D992EE-B08D-5105-202E-3F06215E82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BB9E47-266A-449B-0690-EA113F89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76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1E680E-9AE0-1F51-2218-98C4A67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-9437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Graphic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40c8115a34787">
            <a:extLst>
              <a:ext uri="{96DAC541-7B7A-43D3-8B79-37D633B846F1}">
                <asvg:svgBlip xmlns:asvg="http://schemas.microsoft.com/office/drawing/2016/SVG/main" r:embed="Re70044154f4645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-9437"/>
            <a:ext cx="647700" cy="1295400"/>
          </a:xfrm>
          <a:prstGeom xmlns:a="http://schemas.openxmlformats.org/drawingml/2006/main" prst="rect">
            <a:avLst/>
          </a:prstGeom>
        </p:spPr>
      </p:pic>
      <p:pic>
        <p:nvPicPr>
          <p:cNvPr id="23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34c62a913477d">
            <a:extLst>
              <a:ext uri="{96DAC541-7B7A-43D3-8B79-37D633B846F1}">
                <asvg:svgBlip xmlns:asvg="http://schemas.microsoft.com/office/drawing/2016/SVG/main" r:embed="R468406b7f3fb4f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73253" y="261293"/>
            <a:ext cx="1292556" cy="6909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5BFC79-23A1-4C75-E226-24FAA8769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9E1CF8-7906-6964-F94B-A82C18B6D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F018C3-1F7A-68D9-F106-B3E9DF573B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5C044C-642A-B1F3-B761-AC4E930E04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F30CAD-B8A9-C9D6-2C4B-86E1BC516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67F39E-E68E-53C9-D0D5-DBD6316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765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1B0B79-95A6-CFCE-EFDD-FECD5A3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87" y="-9437"/>
            <a:ext cx="647700" cy="12853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47bec922431c">
            <a:extLst>
              <a:ext uri="{96DAC541-7B7A-43D3-8B79-37D633B846F1}">
                <asvg:svgBlip xmlns:asvg="http://schemas.microsoft.com/office/drawing/2016/SVG/main" r:embed="R62dcd185887e4d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8087" y="-9437"/>
            <a:ext cx="647700" cy="12954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A63DC65-B013-FE6E-EC24-75CE5E582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F5FF98-96D5-B94A-633D-AA80D7617E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4A29F5-20EF-68ED-9A31-EF9B85F25C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EE87FD-C808-4643-2317-3CDB3CBCB4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F01170-CC99-1C80-2814-8C172DEF9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cf8a1326c4588" /><Relationship Type="http://schemas.openxmlformats.org/officeDocument/2006/relationships/slideLayout" Target="/ppt/slideLayouts/slideLayout1.xml" Id="Rd6d7310fabc744d8" /><Relationship Type="http://schemas.openxmlformats.org/officeDocument/2006/relationships/slideLayout" Target="/ppt/slideLayouts/slideLayout2.xml" Id="R2708540f231647f9" /><Relationship Type="http://schemas.openxmlformats.org/officeDocument/2006/relationships/slideLayout" Target="/ppt/slideLayouts/slideLayout3.xml" Id="R9175eda5b1d74564" /><Relationship Type="http://schemas.openxmlformats.org/officeDocument/2006/relationships/slideLayout" Target="/ppt/slideLayouts/slideLayout4.xml" Id="R83b3b995e0bb4ac2" /><Relationship Type="http://schemas.openxmlformats.org/officeDocument/2006/relationships/slideLayout" Target="/ppt/slideLayouts/slideLayout5.xml" Id="R9c8367a0607e4002" /><Relationship Type="http://schemas.openxmlformats.org/officeDocument/2006/relationships/slideLayout" Target="/ppt/slideLayouts/slideLayout6.xml" Id="R62334938ecfd432f" /><Relationship Type="http://schemas.openxmlformats.org/officeDocument/2006/relationships/slideLayout" Target="/ppt/slideLayouts/slideLayout7.xml" Id="R503efff05fef4bd4" /><Relationship Type="http://schemas.openxmlformats.org/officeDocument/2006/relationships/slideLayout" Target="/ppt/slideLayouts/slideLayout8.xml" Id="Re1bdbcda6e40492e" /><Relationship Type="http://schemas.openxmlformats.org/officeDocument/2006/relationships/slideLayout" Target="/ppt/slideLayouts/slideLayout9.xml" Id="R0e139eb6e8274bf3" /><Relationship Type="http://schemas.openxmlformats.org/officeDocument/2006/relationships/slideLayout" Target="/ppt/slideLayouts/slideLayout10.xml" Id="R6e0d79f08a0446ff" /><Relationship Type="http://schemas.openxmlformats.org/officeDocument/2006/relationships/slideLayout" Target="/ppt/slideLayouts/slideLayout11.xml" Id="R657f48cf37dc4be9" /><Relationship Type="http://schemas.openxmlformats.org/officeDocument/2006/relationships/slideLayout" Target="/ppt/slideLayouts/slideLayout12.xml" Id="R2eef352e823c4fc6" /><Relationship Type="http://schemas.openxmlformats.org/officeDocument/2006/relationships/slideLayout" Target="/ppt/slideLayouts/slideLayout13.xml" Id="R19f128b57b3c467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B61B42E-1446-2B7F-B0AB-68026A695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E6454A-9B58-1467-10AE-5BAA88523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688D33-D71B-794B-B556-D3F17CC2B08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5750368A-0602-41DA-8C72-F3668C4CC159}" type="datetimeFigureOut">
              <a:t>7/23/2026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2302E3-550F-6EB1-3682-88ECDCAB2B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0F3CC4-BECA-E918-14B4-1688C26034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DEA345B2-507C-43D7-80BF-79F59DDCF0A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7310fabc744d8"/>
    <p:sldLayoutId xmlns:r="http://schemas.openxmlformats.org/officeDocument/2006/relationships" id="2147483650" r:id="R2708540f231647f9"/>
    <p:sldLayoutId xmlns:r="http://schemas.openxmlformats.org/officeDocument/2006/relationships" id="2147483651" r:id="R9175eda5b1d74564"/>
    <p:sldLayoutId xmlns:r="http://schemas.openxmlformats.org/officeDocument/2006/relationships" id="2147483652" r:id="R83b3b995e0bb4ac2"/>
    <p:sldLayoutId xmlns:r="http://schemas.openxmlformats.org/officeDocument/2006/relationships" id="2147483653" r:id="R9c8367a0607e4002"/>
    <p:sldLayoutId xmlns:r="http://schemas.openxmlformats.org/officeDocument/2006/relationships" id="2147483654" r:id="R62334938ecfd432f"/>
    <p:sldLayoutId xmlns:r="http://schemas.openxmlformats.org/officeDocument/2006/relationships" id="2147483655" r:id="R503efff05fef4bd4"/>
    <p:sldLayoutId xmlns:r="http://schemas.openxmlformats.org/officeDocument/2006/relationships" id="2147483656" r:id="Re1bdbcda6e40492e"/>
    <p:sldLayoutId xmlns:r="http://schemas.openxmlformats.org/officeDocument/2006/relationships" id="2147483657" r:id="R0e139eb6e8274bf3"/>
    <p:sldLayoutId xmlns:r="http://schemas.openxmlformats.org/officeDocument/2006/relationships" id="2147483658" r:id="R6e0d79f08a0446ff"/>
    <p:sldLayoutId xmlns:r="http://schemas.openxmlformats.org/officeDocument/2006/relationships" id="2147483659" r:id="R657f48cf37dc4be9"/>
    <p:sldLayoutId xmlns:r="http://schemas.openxmlformats.org/officeDocument/2006/relationships" id="2147483660" r:id="R2eef352e823c4fc6"/>
    <p:sldLayoutId xmlns:r="http://schemas.openxmlformats.org/officeDocument/2006/relationships" id="2147483661" r:id="R19f128b57b3c467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j-lt"/>
          <a:ea typeface="+mj-lt"/>
          <a:cs typeface="+mj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j-lt"/>
          <a:ea typeface="+mj-lt"/>
          <a:cs typeface="+mj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j-lt"/>
          <a:ea typeface="+mj-lt"/>
          <a:cs typeface="+mj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j-lt"/>
          <a:ea typeface="+mj-lt"/>
          <a:cs typeface="+mj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4154c71744cae" /><Relationship Type="http://schemas.openxmlformats.org/officeDocument/2006/relationships/notesSlide" Target="/ppt/notesSlides/notesSlide1.xml" Id="R9b066bb2d03643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a741769e4224e4e" /><Relationship Type="http://schemas.openxmlformats.org/officeDocument/2006/relationships/image" Target="/ppt/media/image6.png" Id="Rdf7fe917955343b8" /><Relationship Type="http://schemas.openxmlformats.org/officeDocument/2006/relationships/image" Target="/ppt/media/image7.png" Id="Rd3ddbc4329444800" /><Relationship Type="http://schemas.openxmlformats.org/officeDocument/2006/relationships/notesSlide" Target="/ppt/notesSlides/notesSlide2.xml" Id="Red1cb02a996d4e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46de727dc6c4b1e" /><Relationship Type="http://schemas.openxmlformats.org/officeDocument/2006/relationships/notesSlide" Target="/ppt/notesSlides/notesSlide3.xml" Id="R5190dc8647c1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317a9cd1874a8c" /><Relationship Type="http://schemas.openxmlformats.org/officeDocument/2006/relationships/notesSlide" Target="/ppt/notesSlides/notesSlide4.xml" Id="R3c0148af3772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2db3cc6b9c4cbf" /><Relationship Type="http://schemas.openxmlformats.org/officeDocument/2006/relationships/notesSlide" Target="/ppt/notesSlides/notesSlide5.xml" Id="R7c8a292d3bfb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93b9c9c11c4dbd" /><Relationship Type="http://schemas.openxmlformats.org/officeDocument/2006/relationships/notesSlide" Target="/ppt/notesSlides/notesSlide6.xml" Id="R943f81d43b9a47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e38fb243594307" /><Relationship Type="http://schemas.openxmlformats.org/officeDocument/2006/relationships/notesSlide" Target="/ppt/notesSlides/notesSlide7.xml" Id="Rb501ba250e4d42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e55fadab4d4efc" /><Relationship Type="http://schemas.openxmlformats.org/officeDocument/2006/relationships/notesSlide" Target="/ppt/notesSlides/notesSlide8.xml" Id="Rd47088475f64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0e7595d6c5498a" /><Relationship Type="http://schemas.openxmlformats.org/officeDocument/2006/relationships/notesSlide" Target="/ppt/notesSlides/notesSlide9.xml" Id="Rd61e9249395d4c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c5ce2533b94d57" /><Relationship Type="http://schemas.openxmlformats.org/officeDocument/2006/relationships/notesSlide" Target="/ppt/notesSlides/notesSlide10.xml" Id="R953bdbf9aa75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de890dfa6624936" /><Relationship Type="http://schemas.openxmlformats.org/officeDocument/2006/relationships/notesSlide" Target="/ppt/notesSlides/notesSlide11.xml" Id="R4b2dfef6380e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d79970ae364305" /><Relationship Type="http://schemas.openxmlformats.org/officeDocument/2006/relationships/notesSlide" Target="/ppt/notesSlides/notesSlide12.xml" Id="R7cc8444a177144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c30322e2394319" /><Relationship Type="http://schemas.openxmlformats.org/officeDocument/2006/relationships/notesSlide" Target="/ppt/notesSlides/notesSlide13.xml" Id="R3887e801abb844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c895661452f423c" /><Relationship Type="http://schemas.openxmlformats.org/officeDocument/2006/relationships/notesSlide" Target="/ppt/notesSlides/notesSlide14.xml" Id="Ra5ba7eab0ad640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eff4f4a48c44ae" /><Relationship Type="http://schemas.openxmlformats.org/officeDocument/2006/relationships/notesSlide" Target="/ppt/notesSlides/notesSlide15.xml" Id="Rfe15913529ce4b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4511d1b5864504" /><Relationship Type="http://schemas.openxmlformats.org/officeDocument/2006/relationships/notesSlide" Target="/ppt/notesSlides/notesSlide16.xml" Id="Rf38cb86896bf4d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65dc8e90ef4dc9" /><Relationship Type="http://schemas.openxmlformats.org/officeDocument/2006/relationships/notesSlide" Target="/ppt/notesSlides/notesSlide17.xml" Id="Rf335b8e4b57a4e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0bb830c8cd453b" /><Relationship Type="http://schemas.openxmlformats.org/officeDocument/2006/relationships/notesSlide" Target="/ppt/notesSlides/notesSlide18.xml" Id="R48ec6338f50f4c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b4e4730292e4db7" /><Relationship Type="http://schemas.openxmlformats.org/officeDocument/2006/relationships/notesSlide" Target="/ppt/notesSlides/notesSlide19.xml" Id="R8e6f31e6e9d44c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40e9fd51124fc1" /><Relationship Type="http://schemas.openxmlformats.org/officeDocument/2006/relationships/notesSlide" Target="/ppt/notesSlides/notesSlide20.xml" Id="R7afb50721ac243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39e801f2864c46" /><Relationship Type="http://schemas.openxmlformats.org/officeDocument/2006/relationships/notesSlide" Target="/ppt/notesSlides/notesSlide21.xml" Id="R96af710fd0ec4a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dde6290c034460" /><Relationship Type="http://schemas.openxmlformats.org/officeDocument/2006/relationships/notesSlide" Target="/ppt/notesSlides/notesSlide22.xml" Id="Rcd216e33438448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22b9af25ef48c3" /><Relationship Type="http://schemas.openxmlformats.org/officeDocument/2006/relationships/notesSlide" Target="/ppt/notesSlides/notesSlide23.xml" Id="Re20f011b60d347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d3a8ce360f44607" /><Relationship Type="http://schemas.openxmlformats.org/officeDocument/2006/relationships/notesSlide" Target="/ppt/notesSlides/notesSlide24.xml" Id="R1aaa3cb3c88742e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845d9ff3ee4c64" /><Relationship Type="http://schemas.openxmlformats.org/officeDocument/2006/relationships/notesSlide" Target="/ppt/notesSlides/notesSlide25.xml" Id="Ra68e4db1c26b43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59f6f304974114" /><Relationship Type="http://schemas.openxmlformats.org/officeDocument/2006/relationships/notesSlide" Target="/ppt/notesSlides/notesSlide26.xml" Id="Re4c603edab4e4c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d1073c5ed64b00" /><Relationship Type="http://schemas.openxmlformats.org/officeDocument/2006/relationships/notesSlide" Target="/ppt/notesSlides/notesSlide27.xml" Id="R1db0bc57909941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2866f49ba74ac2" /><Relationship Type="http://schemas.openxmlformats.org/officeDocument/2006/relationships/notesSlide" Target="/ppt/notesSlides/notesSlide28.xml" Id="Ref231b32d9354fe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a717a47adcd4ccb" /><Relationship Type="http://schemas.openxmlformats.org/officeDocument/2006/relationships/notesSlide" Target="/ppt/notesSlides/notesSlide29.xml" Id="Rf49a466db434427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987a1dbddd4f27" /><Relationship Type="http://schemas.openxmlformats.org/officeDocument/2006/relationships/notesSlide" Target="/ppt/notesSlides/notesSlide30.xml" Id="R4c90c55d0d5540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951e3bb20402d" /><Relationship Type="http://schemas.openxmlformats.org/officeDocument/2006/relationships/notesSlide" Target="/ppt/notesSlides/notesSlide31.xml" Id="R15ce1a09010d47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87e9a43ab124be7" /><Relationship Type="http://schemas.openxmlformats.org/officeDocument/2006/relationships/image" Target="/ppt/media/image8.png" Id="Re608f73ae71b4fa2" /><Relationship Type="http://schemas.openxmlformats.org/officeDocument/2006/relationships/image" Target="/ppt/media/image9.png" Id="Rfca3c81ef0a745f1" /><Relationship Type="http://schemas.openxmlformats.org/officeDocument/2006/relationships/notesSlide" Target="/ppt/notesSlides/notesSlide32.xml" Id="R5a1ed29eb31043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c1a92b78a8d4aeb" /><Relationship Type="http://schemas.openxmlformats.org/officeDocument/2006/relationships/notesSlide" Target="/ppt/notesSlides/notesSlide33.xml" Id="R1c5ba0c6e4cb47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d3d11b2c384243" /><Relationship Type="http://schemas.openxmlformats.org/officeDocument/2006/relationships/notesSlide" Target="/ppt/notesSlides/notesSlide34.xml" Id="R3a8f9fb484db41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CDAB2F-A7AF-BCC5-168B-81E525269E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096000" y="2722563"/>
            <a:ext cx="5077521" cy="2387600"/>
          </a:xfrm>
        </p:spPr>
        <p:txBody>
          <a:bodyPr xmlns:a="http://schemas.openxmlformats.org/drawingml/2006/main">
            <a:normAutofit fontScale="91014"/>
          </a:bodyPr>
          <a:lstStyle xmlns:a="http://schemas.openxmlformats.org/drawingml/2006/main"/>
          <a:p xmlns:a="http://schemas.openxmlformats.org/drawingml/2006/main">
            <a:pPr>
              <a:lnSpc>
                <a:spcPts val="5000"/>
              </a:lnSpc>
              <a:buNone/>
            </a:pPr>
            <a:r>
              <a:rPr sz="6600"/>
              <a:t>CONVERSATION</a:t>
            </a:r>
            <a:endParaRPr sz="6600"/>
          </a:p>
          <a:p xmlns:a="http://schemas.openxmlformats.org/drawingml/2006/main">
            <a:pPr>
              <a:lnSpc>
                <a:spcPts val="5000"/>
              </a:lnSpc>
              <a:buNone/>
            </a:pPr>
            <a:r>
              <a:rPr sz="6600"/>
              <a:t>TRAJECTORY</a:t>
            </a:r>
            <a:endParaRPr sz="6600"/>
          </a:p>
          <a:p xmlns:a="http://schemas.openxmlformats.org/drawingml/2006/main">
            <a:pPr>
              <a:lnSpc>
                <a:spcPts val="5000"/>
              </a:lnSpc>
              <a:buNone/>
            </a:pPr>
            <a:r>
              <a:rPr sz="6600"/>
              <a:t>LAB</a:t>
            </a:r>
            <a:endParaRPr sz="6600"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C628D34-8338-454B-E97A-2B8FE3681C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0" y="5202238"/>
            <a:ext cx="5077521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AI-Based Detection of Grooming-Related Interactions in Chat Conversations Using Contextual and Behavioral Analysis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6874192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fe9179553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568"/>
            <a:ext cx="12192000" cy="6846864"/>
          </a:xfrm>
          <a:prstGeom xmlns:a="http://schemas.openxmlformats.org/drawingml/2006/main" prst="rect">
            <a:avLst/>
          </a:prstGeom>
        </p:spPr>
      </p:pic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bc4329444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9917" y="6099734"/>
            <a:ext cx="1286054" cy="514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548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9FE59-E69B-FA61-1F9F-69D2B6BE4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Introduction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1CC8EF-A543-7340-D864-3EE048E23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Conversation Trajectory Lab</a:t>
            </a:r>
            <a:endParaRPr/>
          </a:p>
          <a:p xmlns:a="http://schemas.openxmlformats.org/drawingml/2006/main">
            <a:r>
              <a:t>Offline contextual and behavioral sequence prototype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54735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A44C2198-1C42-A790-4121-5218735B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166323FE-9773-D041-E0C5-1689233D65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9781489" cy="4351338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Real-time chat systems in games and digital platforms carry risks of grooming-related interactions. </a:t>
            </a:r>
          </a:p>
          <a:p xmlns:a="http://schemas.openxmlformats.org/drawingml/2006/main">
            <a:r>
              <a:t>Traditional moderation relies on keyword filters and user reporting. </a:t>
            </a:r>
          </a:p>
          <a:p xmlns:a="http://schemas.openxmlformats.org/drawingml/2006/main">
            <a:r>
              <a:t>These systems fail to detect context, intent, and behavioral progression, often missing obfuscated language. </a:t>
            </a:r>
          </a:p>
          <a:p xmlns:a="http://schemas.openxmlformats.org/drawingml/2006/main">
            <a:r>
              <a:t>AI-driven systems using Machine Learning (ML) and Natural Language Processing (NLP) can track behavioral patterns over time. 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F26A3C-9B81-B8D3-EEA5-D7DD35D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" y="0"/>
            <a:ext cx="10710672" cy="7416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itle 5">
            <a:extLst xmlns:a="http://schemas.openxmlformats.org/drawingml/2006/main">
              <a:ext uri="{FF2B5EF4-FFF2-40B4-BE49-F238E27FC236}">
                <a16:creationId xmlns:a16="http://schemas.microsoft.com/office/drawing/2014/main" id="{562366F7-771B-E12D-0784-5DF53665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127" y="87629"/>
            <a:ext cx="8882329" cy="593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0000" lnSpcReduction="1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Background of the Study</a:t>
            </a:r>
            <a:endParaRPr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874612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E36837-15F7-9AC5-506D-EB98ECC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56607249-F0BC-669C-5E67-1CF711555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label constraint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11F6840A-CC91-616E-AB80-9489D4871F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75" b="0"/>
              <a:t>Grooming evidence may span multiple turns.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75" b="0"/>
              <a:t>PAN12 training truth identifies predator authors and conversations - not grooming messages.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75" b="0"/>
              <a:t>The project's is_suspicious field is correction metadata, so the message-level experiment must be rebuilt.</a:t>
            </a:r>
          </a:p>
        </p:txBody>
      </p:sp>
    </p:spTree>
    <p:extLst>
      <p:ext uri="{BB962C8B-B14F-4D97-AF65-F5344CB8AC3E}">
        <p14:creationId xmlns:p14="http://schemas.microsoft.com/office/powerpoint/2010/main" val="26724494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FF420E-DB4F-AAC4-E6C3-9E670B8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C9DDDB5F-C27B-89D7-A479-237B03C65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Corrected research questions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C6973DE6-43FD-6A2F-BD6D-2870C787B5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Can a sequence model identify PAN12 conversations containing a listed predator under connected-author separation?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Does a seven-feature LSTM outperform matched weighted, raw Layer 1, and keyword baselines?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At which turn does each method first cross its validation-selected threshold?</a:t>
            </a:r>
          </a:p>
        </p:txBody>
      </p:sp>
    </p:spTree>
    <p:extLst>
      <p:ext uri="{BB962C8B-B14F-4D97-AF65-F5344CB8AC3E}">
        <p14:creationId xmlns:p14="http://schemas.microsoft.com/office/powerpoint/2010/main" val="57805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E9F28-BE19-01F7-925B-315A4EB7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C4A70A5-31D0-0EB6-C3E3-4DD4DF3A7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685800"/>
            <a:ext cx="9906000" cy="7810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750"/>
              <a:t>Study objectives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862A178E-C1B3-DC86-F272-7BC7DA7322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017369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00" b="0"/>
              <a:t>Audit label provenance and prevent author leakage.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00" b="0"/>
              <a:t>Rebuild context-matched Layer 1 inputs and train the LSTM on the valid conversation target only.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100" b="0"/>
              <a:t>Compare matched baselines on one locked connected-author holdout.</a:t>
            </a:r>
          </a:p>
        </p:txBody>
      </p:sp>
    </p:spTree>
    <p:extLst>
      <p:ext uri="{BB962C8B-B14F-4D97-AF65-F5344CB8AC3E}">
        <p14:creationId xmlns:p14="http://schemas.microsoft.com/office/powerpoint/2010/main" val="1880484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A5E93-C842-C508-5F66-693F2C47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ACF81403-46D4-251C-8B54-D9D0884FE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1.4 Scope and Limitations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E850D05B-5DDE-91E6-D1C2-16CA5550A0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Research prototype: offline, platform-independent sequence analysis.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Primary corpus: PAN12; conversation endpoint awaits adviser approval.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Synthetic data: excluded pending two independent reviews and adjudication.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Final evidence: matched baselines on one locked holdout.</a:t>
            </a:r>
          </a:p>
        </p:txBody>
      </p:sp>
    </p:spTree>
    <p:extLst>
      <p:ext uri="{BB962C8B-B14F-4D97-AF65-F5344CB8AC3E}">
        <p14:creationId xmlns:p14="http://schemas.microsoft.com/office/powerpoint/2010/main" val="35128682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D49445-6B2E-B038-2128-77567FA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1E4259B3-B52B-7E0B-B4CF-D0381B9CA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685800"/>
            <a:ext cx="9906000" cy="7810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750"/>
              <a:t>1.4 Scope and Limitations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2022CCDC-E1F7-4223-6BE8-FB27B350BE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09750"/>
            <a:ext cx="10420350" cy="4381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English PAN12 only; no Filipino/Taglish validation or local calibration.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No live users, platform integration, latency, throughput, or scalability test.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Historical Layer 1 labels/context and comparator setup require correction.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Scores are not safety decisions or deployment-ready classifications.</a:t>
            </a:r>
          </a:p>
        </p:txBody>
      </p:sp>
    </p:spTree>
    <p:extLst>
      <p:ext uri="{BB962C8B-B14F-4D97-AF65-F5344CB8AC3E}">
        <p14:creationId xmlns:p14="http://schemas.microsoft.com/office/powerpoint/2010/main" val="24613100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D25D0-52EA-24D7-C74D-83A7B28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E0B2484B-570A-778F-AECF-77901B2E7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1.5 Significance of the Study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EFBFA35A-4305-BE3F-97F4-B3E6C550E9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Academic: auditable test of sequence modeling over matched inputs.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Philippine relevance: motivation for future child-safety research - not current localization evidence.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Practical potential: moderator triage only after domain validation.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SDGs: supports Goals 9 and 16 as a research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3669525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C04548-D28E-C567-67D9-A7F73A398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of Related Literature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3A8EAC-3CA8-6793-6398-0B05C4D71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6816114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D346D-8683-5037-C23F-47F648DF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2F2DE485-AA9A-FFDB-70D4-9CBE12696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Review of Related Literature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33D99DDF-C87D-BE06-E16D-DC3C46537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909151" cy="481184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Transformers represent each turn; sequence models preserve cross-turn dependencies.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LSTMs may model progression, but any advantage must be tested against matched inputs and validation-tuned baselines.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The current historical run is diagnostic only; no final superiority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21857111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7A1058-A08A-BE33-9A5D-9850898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0B5A3935-754C-80F1-772A-436DCEE7A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Review of Related Literature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0A1BB844-FBB1-BD47-1E3E-3185B77F2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909151" cy="481184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Theory: OGDM describes a non-linear entrapment network, not fixed stages.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PAN12 supplies predator-author and derived conversation truth.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PAN training diff identifies modified text - not grooming messages.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Modern-language synthetic chats remain excluded pending independent review.</a:t>
            </a:r>
          </a:p>
        </p:txBody>
      </p:sp>
    </p:spTree>
    <p:extLst>
      <p:ext uri="{BB962C8B-B14F-4D97-AF65-F5344CB8AC3E}">
        <p14:creationId xmlns:p14="http://schemas.microsoft.com/office/powerpoint/2010/main" val="21637014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2CAD7C-1915-C02D-55A4-9E64523BC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4850A2-3852-8302-39D5-B2A6F6E7D2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27807462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C96913-EAEA-8B97-D32E-31E06E13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B14E7707-AECF-EAD7-693D-162031B67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Design &amp; Architecture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EBF3AD4A-AEF9-C2DC-D178-5F1FAFB632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417629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Layer 1: base DistilBERT embedding plus preserved classifier proxy.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Layer 2: LSTM processes ordered conversation prefixes.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Current status: working mechanism demo; upstream labels and context are under correction.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Proposed endpoint: conversation contains a PAN-listed predator.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Role: human-review research support - not autonomous moderation.</a:t>
            </a:r>
          </a:p>
        </p:txBody>
      </p:sp>
    </p:spTree>
    <p:extLst>
      <p:ext uri="{BB962C8B-B14F-4D97-AF65-F5344CB8AC3E}">
        <p14:creationId xmlns:p14="http://schemas.microsoft.com/office/powerpoint/2010/main" val="42522183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588E86-068B-D8BF-990F-DD00E04F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1AB61292-70F8-24C5-6B67-BD36AD9C3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Datasets &amp; Data Engineering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5E709072-0147-F7DF-E372-8343EA2398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417629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PAN12 inventory: 378,023 rows / 27,353 conversations.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Eligible dyadic analysis: 18,568 assigned conversations.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Seven features: current, peak, spikes, drop, delta, topic drift, turn imbalance.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Split: connected-author components; training-only centroid/cache.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Privacy: typed masking in the local demo; manual review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24834554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2AC6D1-29B6-538B-7D25-7C5544C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8D178B6-053D-0439-C71B-54E337A8B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Development &amp; Baseline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F2C7DB05-330E-CFEE-9864-80C9E88E5E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417629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Layer 1: historical diff-label proxy; context-matched retraining required.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Layer 2: LSTM sequence score during offline replay.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Baselines: static keyword, raw Layer 1, seven-feature weighted scorer.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Fair test: seven-feature LSTM versus weighted; 775-input LSTM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649870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1FFB7C-5425-F0E1-52E3-30955A4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318C9C0B-6374-7D1A-4F70-2FD243AFB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Validation &amp; Ethics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D8EE5D27-CD57-594D-6577-4F7D22ECD5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417629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875" b="0"/>
              <a:t>Unit/target: conversation contains a PAN-listed predator - approval pending.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875" b="0"/>
              <a:t>Split: connected-author components; training-only preprocessing.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875" b="0"/>
              <a:t>Selection: each learned method tuned independently on validation.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875" b="0"/>
              <a:t>Final test: one locked holdout with identical endpoint and reporting.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875" b="0"/>
              <a:t>Metrics: precision, recall, FNR, F1, F0.5, AUC, counts, first-crossing turn.</a:t>
            </a:r>
          </a:p>
        </p:txBody>
      </p:sp>
    </p:spTree>
    <p:extLst>
      <p:ext uri="{BB962C8B-B14F-4D97-AF65-F5344CB8AC3E}">
        <p14:creationId xmlns:p14="http://schemas.microsoft.com/office/powerpoint/2010/main" val="1984140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20C014-A5FB-697C-FD43-5C83E2EDF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Comments Matrix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AFFF55-7B74-69F4-9D7B-0BC8CB569A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panel comments: applied, implemented, or deferred with evidence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098006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4DCEE2-687D-86E2-A4AC-7703E81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9D1BFD8D-44B5-3792-EC47-974B2556A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Comment Matrix · 1–5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B91042CF-BDB0-7449-206F-A9449A7E02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417629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1  IMPLEMENTED - </a:t>
            </a:r>
            <a:r>
              <a:rPr sz="1875" b="0"/>
              <a:t>Direct identifiers masked before scoring; no-store and residual-risk caveat.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2  APPLIED - </a:t>
            </a:r>
            <a:r>
              <a:rPr sz="1875" b="0"/>
              <a:t>PH relevance stated; no Filipino/Taglish validation claim.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3  APPLIED - </a:t>
            </a:r>
            <a:r>
              <a:rPr sz="1875" b="0"/>
              <a:t>Fixed dataset counts, sources, labels, and eligibility.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4  APPLIED - </a:t>
            </a:r>
            <a:r>
              <a:rPr sz="1875" b="0"/>
              <a:t>Author truth, PAN diff metadata, and synthetic proxies separated.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5  APPLIED - </a:t>
            </a:r>
            <a:r>
              <a:rPr sz="1875" b="0"/>
              <a:t>Conversation Trajectory Lab leads the module title.</a:t>
            </a:r>
          </a:p>
        </p:txBody>
      </p:sp>
    </p:spTree>
    <p:extLst>
      <p:ext uri="{BB962C8B-B14F-4D97-AF65-F5344CB8AC3E}">
        <p14:creationId xmlns:p14="http://schemas.microsoft.com/office/powerpoint/2010/main" val="232533753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69D8BC-1F83-AEE8-FB1E-A56E1DC9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498FA5B-5D86-8E83-9DA7-B40A332689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Comment Matrix · 6–10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4AF7ADB4-23B2-B209-ECFF-B3E0843A19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787743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6  PARTIAL - </a:t>
            </a:r>
            <a:r>
              <a:rPr sz="1875" b="0"/>
              <a:t>Matched evaluation protocol written; final run pending.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7  APPLIED - </a:t>
            </a:r>
            <a:r>
              <a:rPr sz="1875" b="0"/>
              <a:t>Exact seven formulas/ranges; imbalance counts turns.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8  APPLIED - </a:t>
            </a:r>
            <a:r>
              <a:rPr sz="1875" b="0"/>
              <a:t>Current Python and library versions recorded.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9  APPLIED - </a:t>
            </a:r>
            <a:r>
              <a:rPr sz="1875" b="0"/>
              <a:t>Offline replay; no live deployment claim.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75" b="1"/>
              <a:t>10  PARTIAL - </a:t>
            </a:r>
            <a:r>
              <a:rPr sz="1875" b="0"/>
              <a:t>Label contradiction disclosed; corrected retraining pending.</a:t>
            </a:r>
          </a:p>
        </p:txBody>
      </p:sp>
    </p:spTree>
    <p:extLst>
      <p:ext uri="{BB962C8B-B14F-4D97-AF65-F5344CB8AC3E}">
        <p14:creationId xmlns:p14="http://schemas.microsoft.com/office/powerpoint/2010/main" val="16575400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9598A0-9FA3-ADAE-2623-D2D0849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6423041-7765-4AC8-4FA6-4F16EF41A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Methodology integrity correction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9041BE92-E854-95BC-140D-667CB9E565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787743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00" b="1"/>
              <a:t>OFFICIAL PAN AUTHOR LIST -&gt; </a:t>
            </a:r>
            <a:r>
              <a:rPr sz="1800" b="0"/>
              <a:t>derives the proposed conversation endpoint.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00" b="1"/>
              <a:t>PAN TRAINING DIFF -&gt; </a:t>
            </a:r>
            <a:r>
              <a:rPr sz="1800" b="0"/>
              <a:t>correction metadata; excluded from supervision.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00" b="1"/>
              <a:t>SYNTHETIC LABELS -&gt; </a:t>
            </a:r>
            <a:r>
              <a:rPr sz="1800" b="0"/>
              <a:t>role/scenario proxies; excluded pending two reviews.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00" b="1"/>
              <a:t>PAN PROBLEM 2 -&gt; </a:t>
            </a:r>
            <a:r>
              <a:rPr sz="1800" b="0"/>
              <a:t>external evaluation only; matching text is absent.</a:t>
            </a:r>
          </a:p>
          <a:p xmlns:a="http://schemas.openxmlformats.org/drawingml/2006/main">
            <a:pPr marL="24" indent="-16">
              <a:spcAft>
                <a:spcPts val="7"/>
              </a:spcAft>
              <a:buChar char="•"/>
            </a:pPr>
            <a:r>
              <a:rPr sz="1800" b="1"/>
              <a:t>NO FINAL SUPERIORITY CLAIM - </a:t>
            </a:r>
            <a:r>
              <a:rPr sz="1800" b="0"/>
              <a:t>retraining, matched baselines, and one locked test remain required.</a:t>
            </a:r>
          </a:p>
        </p:txBody>
      </p:sp>
    </p:spTree>
    <p:extLst>
      <p:ext uri="{BB962C8B-B14F-4D97-AF65-F5344CB8AC3E}">
        <p14:creationId xmlns:p14="http://schemas.microsoft.com/office/powerpoint/2010/main" val="294464474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5D35F6-715A-F097-9D74-51FCC60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5521B0EC-7A29-C893-0E5A-83099F8AB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now / required next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6CFC9BB0-3A49-1A92-9D3D-8ECF57197D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4"/>
            <a:ext cx="10787743" cy="48129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5"/>
              </a:spcAft>
            </a:pPr>
            <a:r>
              <a:rPr sz="1950" b="1"/>
              <a:t>COMPLETE NOW</a:t>
            </a:r>
          </a:p>
          <a:p xmlns:a="http://schemas.openxmlformats.org/drawingml/2006/main">
            <a:pPr marL="24" indent="-16">
              <a:spcAft>
                <a:spcPts val="5"/>
              </a:spcAft>
              <a:buChar char="•"/>
            </a:pPr>
            <a:r>
              <a:rPr sz="1800"/>
              <a:t>Paper scope, labels, tables, formulas, versions, and offline framing corrected.</a:t>
            </a:r>
          </a:p>
          <a:p xmlns:a="http://schemas.openxmlformats.org/drawingml/2006/main">
            <a:pPr marL="24" indent="-16">
              <a:spcAft>
                <a:spcPts val="12"/>
              </a:spcAft>
              <a:buChar char="•"/>
            </a:pPr>
            <a:r>
              <a:rPr sz="1800"/>
              <a:t>Direct-identifier masking, no-store responses, and opaque local IDs implemented.</a:t>
            </a:r>
          </a:p>
          <a:p xmlns:a="http://schemas.openxmlformats.org/drawingml/2006/main">
            <a:pPr>
              <a:spcAft>
                <a:spcPts val="5"/>
              </a:spcAft>
            </a:pPr>
            <a:r>
              <a:rPr sz="1950" b="1"/>
              <a:t>REQUIRED NEXT</a:t>
            </a:r>
          </a:p>
          <a:p xmlns:a="http://schemas.openxmlformats.org/drawingml/2006/main">
            <a:pPr marL="24" indent="-16">
              <a:spcAft>
                <a:spcPts val="5"/>
              </a:spcAft>
              <a:buChar char="•"/>
            </a:pPr>
            <a:r>
              <a:rPr sz="1800"/>
              <a:t>Adviser approval of the conversation endpoint.</a:t>
            </a:r>
          </a:p>
          <a:p xmlns:a="http://schemas.openxmlformats.org/drawingml/2006/main">
            <a:pPr marL="24" indent="-16">
              <a:spcAft>
                <a:spcPts val="5"/>
              </a:spcAft>
              <a:buChar char="•"/>
            </a:pPr>
            <a:r>
              <a:rPr sz="1800"/>
              <a:t>Rebuild Layer 1, score cache, and training-only centroid.</a:t>
            </a:r>
          </a:p>
          <a:p xmlns:a="http://schemas.openxmlformats.org/drawingml/2006/main">
            <a:pPr marL="24" indent="-16">
              <a:spcAft>
                <a:spcPts val="5"/>
              </a:spcAft>
              <a:buChar char="•"/>
            </a:pPr>
            <a:r>
              <a:rPr sz="1800"/>
              <a:t>Remove invalid turn loss; tune all methods on validation.</a:t>
            </a:r>
          </a:p>
          <a:p xmlns:a="http://schemas.openxmlformats.org/drawingml/2006/main">
            <a:pPr marL="24" indent="-16">
              <a:buChar char="•"/>
            </a:pPr>
            <a:r>
              <a:rPr sz="1800"/>
              <a:t>Freeze and run one final holdout.</a:t>
            </a:r>
          </a:p>
        </p:txBody>
      </p:sp>
    </p:spTree>
    <p:extLst>
      <p:ext uri="{BB962C8B-B14F-4D97-AF65-F5344CB8AC3E}">
        <p14:creationId xmlns:p14="http://schemas.microsoft.com/office/powerpoint/2010/main" val="415456324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893F31-E264-21B8-6FC3-A3637B8D6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Tool Usage Plan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6E4341-5665-B7BC-E630-673275FE7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is used to </a:t>
            </a:r>
            <a:r>
              <a:rPr b="1"/>
              <a:t>assist</a:t>
            </a:r>
            <a:r>
              <a:t>, not replace, the research process.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065222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1798A5-1CA9-AA6B-3D2F-BA38F4B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4980A873-EA93-10B8-1881-FEB633AC5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Tools Used: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828F0545-FA5A-470E-0FCA-99C4D64252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ChatGPT / Codex</a:t>
            </a:r>
          </a:p>
          <a:p xmlns:a="http://schemas.openxmlformats.org/drawingml/2006/main">
            <a:r>
              <a:t>Google Gemini</a:t>
            </a:r>
          </a:p>
        </p:txBody>
      </p:sp>
    </p:spTree>
    <p:extLst>
      <p:ext uri="{BB962C8B-B14F-4D97-AF65-F5344CB8AC3E}">
        <p14:creationId xmlns:p14="http://schemas.microsoft.com/office/powerpoint/2010/main" val="412730825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A5C629-3656-86A4-C467-4DEB50A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85D46F63-B3AC-CF53-F8AC-D5F369209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685800"/>
            <a:ext cx="9906000" cy="7810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750"/>
              <a:t>AI Support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1F516172-740F-ACA9-8CEE-71C9B6FC87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Grammar and writing refinement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Literature search and source checking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Methodology and label-provenance audit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Programming and test assistance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Synthetic candidate generation (excluded pending review)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1950" b="0"/>
              <a:t>Proofreading and presentation revision</a:t>
            </a:r>
          </a:p>
        </p:txBody>
      </p:sp>
    </p:spTree>
    <p:extLst>
      <p:ext uri="{BB962C8B-B14F-4D97-AF65-F5344CB8AC3E}">
        <p14:creationId xmlns:p14="http://schemas.microsoft.com/office/powerpoint/2010/main" val="81924527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ADE285-C330-F604-A20B-AD94F908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FF6982F-5DCB-9354-59A1-771CC3C6F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 AI Use</a:t>
            </a:r>
            <a:endParaRPr/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C94547B8-A413-BC6E-85E2-0CCA740C6A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Human Validation</a:t>
            </a:r>
          </a:p>
          <a:p xmlns:a="http://schemas.openxmlformats.org/drawingml/2006/main">
            <a:r>
              <a:t>Verify AI outputs using credible academic sources </a:t>
            </a:r>
          </a:p>
          <a:p xmlns:a="http://schemas.openxmlformats.org/drawingml/2006/main">
            <a:r>
              <a:t>Researchers remain responsible for all submitted work </a:t>
            </a:r>
          </a:p>
          <a:p xmlns:a="http://schemas.openxmlformats.org/drawingml/2006/main">
            <a:r>
              <a:t>No fabricated citations or results </a:t>
            </a:r>
          </a:p>
          <a:p xmlns:a="http://schemas.openxmlformats.org/drawingml/2006/main">
            <a:r>
              <a:t>No confidential or sensitive data uploaded to AI platforms </a:t>
            </a:r>
          </a:p>
          <a:p xmlns:a="http://schemas.openxmlformats.org/drawingml/2006/main">
            <a:r>
              <a:t>AI usage will be disclosed in the final paper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46243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A796D2-3170-EC83-D278-F361952F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10F1361B-7088-2FDF-2FED-048903761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3450" y="685800"/>
            <a:ext cx="9906000" cy="7810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750"/>
              <a:t>Risk Mitigation</a:t>
            </a:r>
            <a:endParaRPr/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F9DA66C0-EF4A-D7D6-F727-E1FDFDF428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Verify potentially hallucinated information.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Validate citations against original sources.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Remove sensitive data before AI use.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Conduct manual review to reduce bias.</a:t>
            </a:r>
          </a:p>
          <a:p xmlns:a="http://schemas.openxmlformats.org/drawingml/2006/main">
            <a:pPr marL="24" indent="-16">
              <a:spcAft>
                <a:spcPts val="8"/>
              </a:spcAft>
              <a:buChar char="•"/>
            </a:pPr>
            <a:r>
              <a:rPr sz="2025" b="0"/>
              <a:t>Maintain independent analysis to avoid overreliance on AI.</a:t>
            </a:r>
          </a:p>
        </p:txBody>
      </p:sp>
    </p:spTree>
    <p:extLst>
      <p:ext uri="{BB962C8B-B14F-4D97-AF65-F5344CB8AC3E}">
        <p14:creationId xmlns:p14="http://schemas.microsoft.com/office/powerpoint/2010/main" val="40034934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0E62D6-6609-3BEA-6165-A7F5095A1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required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3B6A9D-5621-CA75-6BD4-0A403BD9EB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5186854"/>
            <a:ext cx="10062122" cy="625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1" u="none" cap="none">
                <a:ln>
                  <a:noFill/>
                </a:ln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Approve the PAN12 conversation endpoint; retain message-level grooming as a separately annotated extension.</a:t>
            </a:r>
            <a:endParaRPr sz="2400" b="0" i="1" u="none" kern="1200" cap="none" spc="0" baseline="0">
              <a:ln>
                <a:noFill/>
              </a:ln>
              <a:solidFill>
                <a:srgbClr val="FFFFFF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AE7566C8-41F1-4BB5-AE3E-9D4B12E7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37" y="5174411"/>
            <a:ext cx="756184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5310800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C844B5-70AB-4288-3250-7B9D2AE0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9C1D6124-563A-7F70-DF21-E8FEA2257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5255" y="2850418"/>
            <a:ext cx="9781489" cy="13255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0" b="1"/>
              <a:t>RESOURCE SLIDES</a:t>
            </a:r>
            <a:br/>
            <a:r>
              <a:rPr sz="8000" b="1"/>
              <a:t>vvv</a:t>
            </a:r>
            <a:endParaRPr sz="8000" b="1"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2EB74F-12A3-192F-04F0-FA096E2E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42521"/>
            <a:ext cx="12192001" cy="773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3FB5B4-11EE-FCD9-7BF8-04B000C6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4523293"/>
            <a:ext cx="12192001" cy="773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50676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0F6EC9-01F9-3331-09AA-19C64635D5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096000" y="2722563"/>
            <a:ext cx="5077521" cy="2387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5000"/>
              </a:lnSpc>
              <a:buNone/>
            </a:pPr>
            <a:r>
              <a:rPr sz="6600"/>
              <a:t>PACIFIC COLLEGE</a:t>
            </a:r>
            <a:endParaRPr sz="6600"/>
          </a:p>
        </p:txBody>
      </p:sp>
    </p:spTree>
    <p:extLst>
      <p:ext uri="{BB962C8B-B14F-4D97-AF65-F5344CB8AC3E}">
        <p14:creationId xmlns:p14="http://schemas.microsoft.com/office/powerpoint/2010/main" val="402190516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CBB60773-11B5-CF24-34E2-87D3F196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" y="605343"/>
            <a:ext cx="10062122" cy="1284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b="1"/>
              <a:t>Sustainable Development Goals </a:t>
            </a:r>
            <a:endParaRPr b="1"/>
          </a:p>
        </p:txBody>
      </p:sp>
      <p:pic>
        <p:nvPicPr>
          <p:cNvPr id="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8f73ae71b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626" y="2706805"/>
            <a:ext cx="3559791" cy="3548418"/>
          </a:xfrm>
          <a:prstGeom xmlns:a="http://schemas.openxmlformats.org/drawingml/2006/main" prst="rect">
            <a:avLst/>
          </a:prstGeom>
        </p:spPr>
      </p:pic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3c81ef0a7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3687" y="2706805"/>
            <a:ext cx="3616657" cy="35484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181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3339807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534F65-AA79-3DA3-8DD3-52D817F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2" y="686487"/>
            <a:ext cx="9726480" cy="1002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2917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2026-08-12T16:06:39.9400000Z</dcterms:created>
  <dcterms:modified xsi:type="dcterms:W3CDTF">2026-08-12T16:06:39.9400000Z</dcterms:modified>
</coreProperties>
</file>