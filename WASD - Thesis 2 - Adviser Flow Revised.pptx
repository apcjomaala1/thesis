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305" r:id="rId4"/>
    <p:sldId id="290" r:id="rId5"/>
    <p:sldId id="291" r:id="rId6"/>
    <p:sldId id="270" r:id="rId7"/>
    <p:sldId id="264" r:id="rId8"/>
    <p:sldId id="275" r:id="rId9"/>
    <p:sldId id="272" r:id="rId10"/>
    <p:sldId id="294" r:id="rId11"/>
    <p:sldId id="276" r:id="rId12"/>
    <p:sldId id="297" r:id="rId13"/>
    <p:sldId id="277" r:id="rId14"/>
    <p:sldId id="304" r:id="rId15"/>
    <p:sldId id="300" r:id="rId16"/>
    <p:sldId id="278" r:id="rId17"/>
    <p:sldId id="299" r:id="rId18"/>
    <p:sldId id="298" r:id="rId19"/>
    <p:sldId id="303" r:id="rId20"/>
    <p:sldId id="285" r:id="rId21"/>
    <p:sldId id="286" r:id="rId22"/>
    <p:sldId id="287" r:id="rId23"/>
    <p:sldId id="288" r:id="rId24"/>
    <p:sldId id="28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383" autoAdjust="0"/>
  </p:normalViewPr>
  <p:slideViewPr>
    <p:cSldViewPr snapToGrid="0">
      <p:cViewPr varScale="1">
        <p:scale>
          <a:sx n="64" d="100"/>
          <a:sy n="64" d="100"/>
        </p:scale>
        <p:origin x="13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Missed positives (FN)</c:v>
          </c:tx>
          <c:spPr>
            <a:solidFill>
              <a:srgbClr val="D59A16"/>
            </a:solidFill>
            <a:ln>
              <a:noFill/>
            </a:ln>
          </c:spPr>
          <c:invertIfNegative val="1"/>
          <c:dLbls>
            <c:numFmt formatCode="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Keyword</c:v>
                </c:pt>
                <c:pt idx="1">
                  <c:v>Maximum L1</c:v>
                </c:pt>
                <c:pt idx="2">
                  <c:v>Weighted</c:v>
                </c:pt>
                <c:pt idx="3">
                  <c:v>7-feature LSTM</c:v>
                </c:pt>
                <c:pt idx="4">
                  <c:v>775-input LSTM</c:v>
                </c:pt>
              </c:strCache>
            </c:strRef>
          </c:cat>
          <c:val>
            <c:numRef>
              <c:f>'Sheet1'!$B$2:$B$6</c:f>
              <c:numCache>
                <c:formatCode>General</c:formatCode>
                <c:ptCount val="5"/>
                <c:pt idx="0">
                  <c:v>17</c:v>
                </c:pt>
                <c:pt idx="1">
                  <c:v>5</c:v>
                </c:pt>
                <c:pt idx="2">
                  <c:v>6</c:v>
                </c:pt>
                <c:pt idx="3">
                  <c:v>3</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627-43F6-BFA4-4D52BE2C6397}"/>
            </c:ext>
          </c:extLst>
        </c:ser>
        <c:ser>
          <c:idx val="1"/>
          <c:order val="1"/>
          <c:tx>
            <c:v>False alerts (FP)</c:v>
          </c:tx>
          <c:spPr>
            <a:solidFill>
              <a:srgbClr val="36588C"/>
            </a:solidFill>
            <a:ln>
              <a:noFill/>
            </a:ln>
          </c:spPr>
          <c:invertIfNegative val="1"/>
          <c:dLbls>
            <c:numFmt formatCode="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Keyword</c:v>
                </c:pt>
                <c:pt idx="1">
                  <c:v>Maximum L1</c:v>
                </c:pt>
                <c:pt idx="2">
                  <c:v>Weighted</c:v>
                </c:pt>
                <c:pt idx="3">
                  <c:v>7-feature LSTM</c:v>
                </c:pt>
                <c:pt idx="4">
                  <c:v>775-input LSTM</c:v>
                </c:pt>
              </c:strCache>
            </c:strRef>
          </c:cat>
          <c:val>
            <c:numRef>
              <c:f>'Sheet1'!$C$2:$C$6</c:f>
              <c:numCache>
                <c:formatCode>General</c:formatCode>
                <c:ptCount val="5"/>
                <c:pt idx="0">
                  <c:v>11</c:v>
                </c:pt>
                <c:pt idx="1">
                  <c:v>78</c:v>
                </c:pt>
                <c:pt idx="2">
                  <c:v>24</c:v>
                </c:pt>
                <c:pt idx="3">
                  <c:v>21</c:v>
                </c:pt>
                <c:pt idx="4">
                  <c:v>41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2627-43F6-BFA4-4D52BE2C6397}"/>
            </c:ext>
          </c:extLst>
        </c:ser>
        <c:dLbls>
          <c:dLblPos val="outEnd"/>
          <c:showLegendKey val="0"/>
          <c:showVal val="1"/>
          <c:showCatName val="0"/>
          <c:showSerName val="0"/>
          <c:showPercent val="0"/>
          <c:showBubbleSize val="0"/>
        </c:dLbls>
        <c:gapWidth val="90"/>
        <c:axId val="10"/>
        <c:axId val="20"/>
      </c:barChart>
      <c:catAx>
        <c:axId val="10"/>
        <c:scaling>
          <c:orientation val="minMax"/>
        </c:scaling>
        <c:delete val="0"/>
        <c:axPos val="b"/>
        <c:numFmt formatCode="General" sourceLinked="0"/>
        <c:majorTickMark val="none"/>
        <c:minorTickMark val="none"/>
        <c:tickLblPos val="nextTo"/>
        <c:txPr>
          <a:bodyPr/>
          <a:lstStyle/>
          <a:p>
            <a:pPr>
              <a:defRPr sz="1600">
                <a:latin typeface="Calibri"/>
              </a:defRPr>
            </a:pPr>
            <a:endParaRPr lang="en-US"/>
          </a:p>
        </c:txPr>
        <c:crossAx val="20"/>
        <c:crosses val="autoZero"/>
        <c:auto val="1"/>
        <c:lblAlgn val="ctr"/>
        <c:lblOffset val="100"/>
        <c:noMultiLvlLbl val="1"/>
      </c:catAx>
      <c:valAx>
        <c:axId val="20"/>
        <c:scaling>
          <c:orientation val="minMax"/>
          <c:max val="90"/>
          <c:min val="0"/>
        </c:scaling>
        <c:delete val="0"/>
        <c:axPos val="l"/>
        <c:majorGridlines>
          <c:spPr>
            <a:ln w="6350">
              <a:solidFill>
                <a:srgbClr val="E5E8ED"/>
              </a:solidFill>
            </a:ln>
          </c:spPr>
        </c:majorGridlines>
        <c:numFmt formatCode="0" sourceLinked="0"/>
        <c:majorTickMark val="none"/>
        <c:minorTickMark val="none"/>
        <c:tickLblPos val="nextTo"/>
        <c:txPr>
          <a:bodyPr/>
          <a:lstStyle/>
          <a:p>
            <a:pPr>
              <a:defRPr sz="1600">
                <a:latin typeface="Calibri"/>
              </a:defRPr>
            </a:pPr>
            <a:endParaRPr lang="en-US"/>
          </a:p>
        </c:txPr>
        <c:crossAx val="10"/>
        <c:crosses val="autoZero"/>
        <c:crossBetween val="between"/>
        <c:majorUnit val="15"/>
      </c:valAx>
    </c:plotArea>
    <c:legend>
      <c:legendPos val="b"/>
      <c:overlay val="0"/>
      <c:txPr>
        <a:bodyPr/>
        <a:lstStyle/>
        <a:p>
          <a:pPr>
            <a:defRPr sz="1700">
              <a:latin typeface="Calibri"/>
            </a:defRPr>
          </a:pPr>
          <a:endParaRPr lang="en-US"/>
        </a:p>
      </c:txPr>
    </c:legend>
    <c:plotVisOnly val="1"/>
    <c:dispBlanksAs val="gap"/>
    <c:showDLblsOverMax val="1"/>
  </c:chart>
  <c:spPr>
    <a:solidFill>
      <a:srgbClr val="FFFFFF"/>
    </a:solidFill>
    <a:ln>
      <a:noFill/>
    </a:ln>
  </c:spPr>
  <c:txPr>
    <a:bodyPr/>
    <a:lstStyle/>
    <a:p>
      <a:pPr>
        <a:defRPr sz="16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Conversation length in turns</c:v>
          </c:tx>
          <c:spPr>
            <a:solidFill>
              <a:srgbClr val="D59A16"/>
            </a:solidFill>
            <a:ln>
              <a:noFill/>
            </a:ln>
          </c:spPr>
          <c:invertIfNegative val="1"/>
          <c:dLbls>
            <c:numFmt formatCode="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Missed case 1</c:v>
                </c:pt>
                <c:pt idx="1">
                  <c:v>Missed case 2</c:v>
                </c:pt>
                <c:pt idx="2">
                  <c:v>Missed case 3</c:v>
                </c:pt>
              </c:strCache>
            </c:strRef>
          </c:cat>
          <c:val>
            <c:numRef>
              <c:f>'Sheet1'!$B$2:$B$4</c:f>
              <c:numCache>
                <c:formatCode>General</c:formatCode>
                <c:ptCount val="3"/>
                <c:pt idx="0">
                  <c:v>2</c:v>
                </c:pt>
                <c:pt idx="1">
                  <c:v>11</c:v>
                </c:pt>
                <c:pt idx="2">
                  <c:v>26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18A-4E32-8547-033A8D737AD2}"/>
            </c:ext>
          </c:extLst>
        </c:ser>
        <c:dLbls>
          <c:dLblPos val="outEnd"/>
          <c:showLegendKey val="0"/>
          <c:showVal val="1"/>
          <c:showCatName val="0"/>
          <c:showSerName val="0"/>
          <c:showPercent val="0"/>
          <c:showBubbleSize val="0"/>
        </c:dLbls>
        <c:gapWidth val="90"/>
        <c:axId val="10"/>
        <c:axId val="20"/>
      </c:barChart>
      <c:catAx>
        <c:axId val="10"/>
        <c:scaling>
          <c:orientation val="minMax"/>
        </c:scaling>
        <c:delete val="0"/>
        <c:axPos val="b"/>
        <c:numFmt formatCode="General" sourceLinked="0"/>
        <c:majorTickMark val="none"/>
        <c:minorTickMark val="none"/>
        <c:tickLblPos val="nextTo"/>
        <c:txPr>
          <a:bodyPr/>
          <a:lstStyle/>
          <a:p>
            <a:pPr>
              <a:defRPr sz="1600">
                <a:latin typeface="Calibri"/>
              </a:defRPr>
            </a:pPr>
            <a:endParaRPr lang="en-US"/>
          </a:p>
        </c:txPr>
        <c:crossAx val="20"/>
        <c:crosses val="autoZero"/>
        <c:auto val="1"/>
        <c:lblAlgn val="ctr"/>
        <c:lblOffset val="100"/>
        <c:noMultiLvlLbl val="1"/>
      </c:catAx>
      <c:valAx>
        <c:axId val="20"/>
        <c:scaling>
          <c:orientation val="minMax"/>
          <c:max val="40"/>
          <c:min val="0"/>
        </c:scaling>
        <c:delete val="0"/>
        <c:axPos val="l"/>
        <c:majorGridlines>
          <c:spPr>
            <a:ln w="6350">
              <a:solidFill>
                <a:srgbClr val="E5E8ED"/>
              </a:solidFill>
            </a:ln>
          </c:spPr>
        </c:majorGridlines>
        <c:numFmt formatCode="0" sourceLinked="0"/>
        <c:majorTickMark val="none"/>
        <c:minorTickMark val="none"/>
        <c:tickLblPos val="nextTo"/>
        <c:txPr>
          <a:bodyPr/>
          <a:lstStyle/>
          <a:p>
            <a:pPr>
              <a:defRPr sz="1600">
                <a:latin typeface="Calibri"/>
              </a:defRPr>
            </a:pPr>
            <a:endParaRPr lang="en-US"/>
          </a:p>
        </c:txPr>
        <c:crossAx val="10"/>
        <c:crosses val="autoZero"/>
        <c:crossBetween val="between"/>
        <c:majorUnit val="10"/>
      </c:valAx>
    </c:plotArea>
    <c:plotVisOnly val="1"/>
    <c:dispBlanksAs val="gap"/>
    <c:showDLblsOverMax val="1"/>
  </c:chart>
  <c:spPr>
    <a:solidFill>
      <a:srgbClr val="FFFFFF"/>
    </a:solidFill>
    <a:ln>
      <a:noFill/>
    </a:ln>
  </c:spPr>
  <c:txPr>
    <a:bodyPr/>
    <a:lstStyle/>
    <a:p>
      <a:pPr>
        <a:defRPr sz="16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Good day. GroomShield asks whether a moderation system can identify concerning chat conversations by following how the exchange develops. We combine contextual language analysis with an LSTM that learns from the ordered conversation. I will first show how the study aligns with our objectives, then explain the method and the results.
Sources: thesis_docs/Finals_Revised_Paper_WASD.md, title and Sections 1.2-1.3.</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work was completed by Andrei Torres, Don Idos, Justin Arroco, and Michael Maala under the guidance of Manuel Calimlim Jr. Our focus was to build a working moderation module and test whether it finds more positive conversations than simpler comparison methods.
Sources: original presentation team slide.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project supports SDG 9 by developing AI-assisted digital-safety infrastructure. It supports SDG 16 by improving how concerning online interactions can be identified for human review. Within the research agenda, it connects AI, analytics, and intelligent systems with cybersecurity and digital trust: the technology is a contextual language model followed by behavioral sequence modeling, and the application is safer chat moderation.
Sources: thesis_docs/Finals_Revised_Paper_WASD.md, Section 1.5.5; Pseudoers THESIS2 Midterms Presentation.pdf, page 6, for the SoCIT agenda category names; https://apc.edu.ph/about-apc/ai_manifesto/ for APC's applied AI and cybersecurity context.</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Our first objective asks how far simpler moderation approaches go. We tested a keyword rule and a maximum contextual-score method on the same held-out conversations as the LSTMs. The keyword rule found 27 of 44 positive conversations and missed 17. The alignment table connects that measured limitation to the research question and its evidence. We did not run a field trial of an operational user-report system.
Sources: Alignment Table.docx, rows 1-2; thesis_docs/CHAPTER_IV_RESULTS_AND_DISCUSSION.md, Tables 4.1-4.2.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next objective is the module itself: contextual DistilBERT, trajectory features, and an LSTM that follows those features through the chat. The third objective asks whether that design reduces missed positive conversations. Under the F2 reporting policy, the seven-feature LSTM missed three, compared with six for the weighted scorer; the embedding-and-feature LSTM missed none, with a higher alert count. The next slides explain how these comparisons were produced.
Sources: Alignment Table.docx, rows 3-4; thesis_docs/CHAPTER_IV_RESULTS_AND_DISCUSSION.md, Tables 4.1-4.2.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Each new turn enters with nearby conversational context. Layer 1 produces an author-derived proxy score, and the fixed encoder supplies a text embedding. Seven trajectory features summarize the developing conversation. One LSTM uses the seven features; the other receives those features plus the embedding. Each produces a conversation score for a validation-selected cutoff and human review. The turn-level score is an input to the system, not a verified label that grooming began at that message.
Sources: thesis_docs/Finals_Revised_Paper_WASD.md, Sections 3.3.2-3.4.2; thesis_docs/assets/AI_Model_Architecture_Diagram.svg.</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We selected PAN-2012 because its ordered chats and speaker identifiers support the sequence design. The evaluated positive endpoint is a conversation containing an author on the official predator list. That makes the final results conversation-level decisions. The study does not treat individual turns as independently annotated grooming events.
Sources: thesis_docs/Finals_Revised_Paper_WASD.md, Sections 1.4 and 3.3.1; thesis_docs/CHAPTER_IV_RESULTS_AND_DISCUSSION.md, Section 4.1.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We divided conversations into training, validation, and final test by connected author groups. People who appear together through any chain of conversations stay in one partition, so the model does not encounter the same author in both development and test. The final test has 1,862 conversations, including 44 positives. All operating cutoffs came from validation; none were tuned on the test set.
Sources: thesis_docs/Finals_Revised_Paper_WASD.md, Sections 3.3.3 and 3.5.2; thesis_docs/CHAPTER_IV_RESULTS_AND_DISCUSSION.md, Sections 4.1-4.2.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key controlled comparison gives the weighted scorer and Trajectory-Feature LSTM the same seven inputs. The weighted method combines their values without learning the turn order; the LSTM learns how they change across the sequence. The Embedding-and-Feature LSTM also receives text embeddings, so it is an additional model variant rather than the matched-input test of sequence aggregation. Both variants use the same upstream contextual classifier.
Sources: thesis_docs/Finals_Revised_Paper_WASD.md, Section 3.4.3; thesis_docs/CHAPTER_IV_RESULTS_AND_DISCUSSION.md, Sections 4.2-4.5.</a:t>
            </a:r>
            <a:endParaRPr b="0" i="0">
              <a:solidFill>
                <a:schemeClr val="tx1"/>
              </a:solidFill>
              <a:latin typeface="Calibri" panose="020F0502020204030204" pitchFamily="34" charset="0"/>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cutoff determines how readily the system flags a conversation. F0.5 favors precision, F1 balances precision and recall, and F2 gives more weight to recall. Because our objective emphasizes reducing missed positives, F2 is the main reporting policy, while we retain the false-alert counts. The original evaluation used F0.5; later we compared validation-selected F1 and F2 cutoffs on the saved test scores. The model weights and test set did not change.
Sources: thesis_docs/Finals_Revised_Paper_WASD.md, Sections 3.5.1-3.5.3; thesis_docs/CHAPTER_IV_RESULTS_AND_DISCUSSION.md, Section 4.2.1.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These are the main held-out results under F2. The Trajectory-Feature LSTM found 41 of 44 positives and missed three, with 21 false alerts. The Embedding-and-Feature LSTM found all 44, with 41 false alerts. The weighted scorer found 38 and missed six. Both LSTMs improve positive-conversation coverage, while the two variants show different alert workloads. PR-AUC describes ranking across cutoffs; F2 describes the selected operating point.
Sources: thesis_docs/CHAPTER_IV_RESULTS_AND_DISCUSSION.md, Tables 4.1-4.2.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This graph turns the result into conversation counts. The trajectory model reduces the weighted scorer's six misses to three while also lowering false alerts from 24 to 21. The embedding model reaches zero misses on these 44 positives, with 41 false alerts. That is the coverage-versus-review-workload decision behind our threshold comparison. These are whole conversations, not individual messages.
Sources: thesis_docs/CHAPTER_IV_RESULTS_AND_DISCUSSION.md, Table 4.1 and Section 4.7.</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This is the clearest test of the LSTM contribution. We compared the seven-feature LSTM with the weighted scorer using the same inputs and resampled whole author-connected groups. The LSTM gained 0.1103 PR-AUC and 0.0630 F2; both paired 95 percent intervals stayed above zero. That supports learned sequence aggregation over this static scoring baseline. We do not claim the separate recall-difference interval excludes zero.
Sources: thesis_docs/CHAPTER_IV_RESULTS_AND_DISCUSSION.md, Table 4.2 and Section 4.5.</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same trained LSTMs are shown at three validation-selected cutoffs. For the embedding model, F1 finds 43 of 44 positives with 14 false alerts. F2 finds all 44 but raises alerts to 41. In this test, catching the last positive adds 27 alerts. F2 remains our recall-oriented reporting policy, while this comparison gives a moderator team a concrete alternative to evaluate in an independent workflow study.
Sources: thesis_docs/CHAPTER_IV_RESULTS_AND_DISCUSSION.md, Section 4.2.1 and Table 4.1a; thesis_docs/CHAPTER_V_SUMMARY_CONCLUSIONS_AND_RECOMMENDATIONS.md, Recommendation 7.</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We also measured the full local scoring path after each new turn. In 160 sequential requests per model on a Windows 11 laptop with an Intel i5-11400H CPU, the trajectory model's median was 267 milliseconds and the embedding model's was 246. Their 95th-percentile times were about 709 and 718 milliseconds. These figures show usable local response times for the tested chat prefixes; concurrent users and longer histories still need a separate load test.
Sources: thesis_docs/CHAPTER_IV_RESULTS_AND_DISCUSSION.md, Table 4.4; thesis_docs/.benchmark_evidence/latency_2026-09-27.json.</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study answers the approved objectives in order. The keyword and static comparisons quantify what the conventional methods miss. We built the two-layer contextual and sequence module. Under F2, the seven-feature LSTM cut weighted scoring's six missed positives to three, while the embedding model found all 44 at a greater alert cost. The matched-input paired analysis supports the value of learning the sequence. Together, these results strengthen conversation-level human review.
Sources: thesis_docs/CHAPTER_V_SUMMARY_CONCLUSIONS_AND_RECOMMENDATIONS.md, Sections 5.1-5.2.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next step is to test the frozen models and cutoffs on contemporary external chats and observe moderator workload. The embedding model's F1 and F2 settings make that review trade-off especially clear. We should also benchmark longer histories and concurrent traffic. If future work aims to identify grooming onset, it first needs independent expert annotations. GroomShield has already demonstrated stronger held-out conversation coverage; these studies will determine how best to use that capability in practice. Thank you. We welcome your questions.
Sources: thesis_docs/CHAPTER_V_SUMMARY_CONCLUSIONS_AND_RECOMMENDATIONS.md, Section 5.3; thesis_docs/PANEL_COMMENTS_MATRIX.md; thesis_docs/CHAPTER_IV_RESULTS_AND_DISCUSSION.md, Section 4.6.</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remaining trajectory-model misses help identify what to study next. Those positive conversations had only 2, 11, and 26 turns. Each is shorter than the 36-turn lower quartile of the positives that model detected. This suggests short-history performance deserves targeted testing. It does not identify the exact reason for each miss, and we did not have independently annotated grooming-onset times. The next study should assess fixed conversation prefixes before making an early-detection claim.</a:t>
            </a:r>
          </a:p>
          <a:p>
            <a:endParaRPr lang="en-US">
              <a:latin typeface="Calibri" panose="020F0502020204030204" pitchFamily="34" charset="0"/>
            </a:endParaRPr>
          </a:p>
          <a:p>
            <a:r>
              <a:rPr lang="en-US">
                <a:latin typeface="Calibri" panose="020F0502020204030204" pitchFamily="34" charset="0"/>
              </a:rPr>
              <a:t>Sources: thesis_docs/CHAPTER_IV_RESULTS_AND_DISCUSSION.md, Section 4.6</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If asked about the baselines under other cutoffs, this backup table contains the complete counts. Maximum Layer 1 rises from 23 to 39 detected positives as we move from F0.5 to F2, while false alerts rise from 18 to 78. Weighted scoring makes identical F0.5 and F1 decisions, then finds two more positives under F2 with 11 more false alerts. The keyword rule is binary, so its decisions do not change across the three policies. Every row uses the same 1,862 test conversations.</a:t>
            </a:r>
          </a:p>
          <a:p>
            <a:endParaRPr lang="en-US">
              <a:latin typeface="Calibri" panose="020F0502020204030204" pitchFamily="34" charset="0"/>
            </a:endParaRPr>
          </a:p>
          <a:p>
            <a:r>
              <a:rPr lang="en-US">
                <a:latin typeface="Calibri" panose="020F0502020204030204" pitchFamily="34" charset="0"/>
              </a:rPr>
              <a:t>Sources: thesis_docs/CHAPTER_IV_RESULTS_AND_DISCUSSION.md, Table 4.1a; thesis_docs/.threshold_analysis/test_threshold_policy_comparison.json</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alpha val="54000"/>
          </a:schemeClr>
        </a:solidFill>
        <a:effectLst/>
      </p:bgPr>
    </p:bg>
    <p:spTree>
      <p:nvGrpSpPr>
        <p:cNvPr id="1" name=""/>
        <p:cNvGrpSpPr/>
        <p:nvPr/>
      </p:nvGrpSpPr>
      <p:grpSpPr>
        <a:xfrm>
          <a:off x="0" y="0"/>
          <a:ext cx="0" cy="0"/>
          <a:chOff x="0" y="0"/>
          <a:chExt cx="0" cy="0"/>
        </a:xfrm>
      </p:grpSpPr>
      <p:pic>
        <p:nvPicPr>
          <p:cNvPr id="21" name="Picture 11"/>
          <p:cNvPicPr>
            <a:picLocks noChangeAspect="1"/>
          </p:cNvPicPr>
          <p:nvPr/>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8085120E-655A-8FD8-CB7D-DD765B31293A}"/>
              </a:ext>
            </a:extLst>
          </p:cNvPr>
          <p:cNvSpPr>
            <a:spLocks noGrp="1"/>
          </p:cNvSpPr>
          <p:nvPr>
            <p:ph type="ctrTitle"/>
          </p:nvPr>
        </p:nvSpPr>
        <p:spPr>
          <a:xfrm>
            <a:off x="6096000" y="1122363"/>
            <a:ext cx="5077521" cy="2387600"/>
          </a:xfrm>
        </p:spPr>
        <p:txBody>
          <a:bodyPr anchor="b"/>
          <a:lstStyle>
            <a:lvl1pPr algn="l">
              <a:buNone/>
              <a:defRPr sz="6000">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916988A7-3F4B-21EA-264D-4EF35F036658}"/>
              </a:ext>
            </a:extLst>
          </p:cNvPr>
          <p:cNvSpPr>
            <a:spLocks noGrp="1"/>
          </p:cNvSpPr>
          <p:nvPr>
            <p:ph type="subTitle" idx="1"/>
          </p:nvPr>
        </p:nvSpPr>
        <p:spPr>
          <a:xfrm>
            <a:off x="6096000" y="3602038"/>
            <a:ext cx="5077521" cy="1655762"/>
          </a:xfrm>
        </p:spPr>
        <p:txBody>
          <a:bodyPr/>
          <a:lstStyle>
            <a:lvl1pPr marL="0" indent="0" algn="l">
              <a:buNone/>
              <a:defRPr sz="240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5" name="Footer Placeholder 4">
            <a:extLst>
              <a:ext uri="{FF2B5EF4-FFF2-40B4-BE49-F238E27FC236}">
                <a16:creationId xmlns:a16="http://schemas.microsoft.com/office/drawing/2014/main" id="{7372C160-A834-98A5-D95A-1D3DD1BCF84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B87298-36A1-C307-CA25-6CA619804EC5}"/>
              </a:ext>
            </a:extLst>
          </p:cNvPr>
          <p:cNvSpPr>
            <a:spLocks noGrp="1"/>
          </p:cNvSpPr>
          <p:nvPr>
            <p:ph type="sldNum" idx="12"/>
          </p:nvPr>
        </p:nvSpPr>
        <p:spPr/>
        <p:txBody>
          <a:bodyPr/>
          <a:lstStyle/>
          <a:p>
            <a:fld id="{DEA345B2-507C-43D7-80BF-79F59DDCF0A3}" type="slidenum">
              <a:t>‹#›</a:t>
            </a:fld>
            <a:endParaRPr/>
          </a:p>
        </p:txBody>
      </p:sp>
      <p:sp>
        <p:nvSpPr>
          <p:cNvPr id="16" name="Rectangle 15">
            <a:extLst>
              <a:ext uri="{FF2B5EF4-FFF2-40B4-BE49-F238E27FC236}">
                <a16:creationId xmlns:a16="http://schemas.microsoft.com/office/drawing/2014/main" id="{F52D2EBE-72FC-45F2-E7E4-6F66B911B5D4}"/>
              </a:ext>
            </a:extLst>
          </p:cNvPr>
          <p:cNvSpPr>
            <a:spLocks noGrp="1"/>
          </p:cNvSpPr>
          <p:nvPr/>
        </p:nvSpPr>
        <p:spPr>
          <a:xfrm>
            <a:off x="141889" y="5257800"/>
            <a:ext cx="3730228" cy="15984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Graphic 1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092" y="261292"/>
            <a:ext cx="2018121" cy="1078777"/>
          </a:xfrm>
          <a:prstGeom prst="rect">
            <a:avLst/>
          </a:prstGeom>
        </p:spPr>
      </p:pic>
      <p:pic>
        <p:nvPicPr>
          <p:cNvPr id="28" name="Graphic 17"/>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5311" y="3976038"/>
            <a:ext cx="1680181" cy="1760189"/>
          </a:xfrm>
          <a:prstGeom prst="rect">
            <a:avLst/>
          </a:prstGeom>
        </p:spPr>
      </p:pic>
      <p:pic>
        <p:nvPicPr>
          <p:cNvPr id="29" name="Picture 18"/>
          <p:cNvPicPr>
            <a:picLocks noChangeAspect="1"/>
          </p:cNvPicPr>
          <p:nvPr/>
        </p:nvPicPr>
        <p:blipFill>
          <a:blip r:embed="rId5"/>
          <a:stretch>
            <a:fillRect/>
          </a:stretch>
        </p:blipFill>
        <p:spPr>
          <a:xfrm>
            <a:off x="916741" y="5793265"/>
            <a:ext cx="2193834" cy="79368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bg1">
            <a:alpha val="54000"/>
          </a:schemeClr>
        </a:solidFill>
        <a:effectLst/>
      </p:bgPr>
    </p:bg>
    <p:spTree>
      <p:nvGrpSpPr>
        <p:cNvPr id="1" name=""/>
        <p:cNvGrpSpPr/>
        <p:nvPr/>
      </p:nvGrpSpPr>
      <p:grpSpPr>
        <a:xfrm>
          <a:off x="0" y="0"/>
          <a:ext cx="0" cy="0"/>
          <a:chOff x="0" y="0"/>
          <a:chExt cx="0" cy="0"/>
        </a:xfrm>
      </p:grpSpPr>
      <p:pic>
        <p:nvPicPr>
          <p:cNvPr id="20" name="Picture 14"/>
          <p:cNvPicPr>
            <a:picLocks noChangeAspect="1"/>
          </p:cNvPicPr>
          <p:nvPr/>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8085120E-655A-8FD8-CB7D-DD765B31293A}"/>
              </a:ext>
            </a:extLst>
          </p:cNvPr>
          <p:cNvSpPr>
            <a:spLocks noGrp="1"/>
          </p:cNvSpPr>
          <p:nvPr>
            <p:ph type="ctrTitle"/>
          </p:nvPr>
        </p:nvSpPr>
        <p:spPr>
          <a:xfrm>
            <a:off x="6096000" y="1122363"/>
            <a:ext cx="5077521" cy="2387600"/>
          </a:xfrm>
        </p:spPr>
        <p:txBody>
          <a:bodyPr anchor="b"/>
          <a:lstStyle>
            <a:lvl1pPr algn="l">
              <a:buNone/>
              <a:defRPr sz="6000">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916988A7-3F4B-21EA-264D-4EF35F036658}"/>
              </a:ext>
            </a:extLst>
          </p:cNvPr>
          <p:cNvSpPr>
            <a:spLocks noGrp="1"/>
          </p:cNvSpPr>
          <p:nvPr>
            <p:ph type="subTitle" idx="1"/>
          </p:nvPr>
        </p:nvSpPr>
        <p:spPr>
          <a:xfrm>
            <a:off x="6096000" y="3602038"/>
            <a:ext cx="5077521" cy="1655762"/>
          </a:xfrm>
        </p:spPr>
        <p:txBody>
          <a:bodyPr/>
          <a:lstStyle>
            <a:lvl1pPr marL="0" indent="0" algn="l">
              <a:buNone/>
              <a:defRPr sz="240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5" name="Footer Placeholder 4">
            <a:extLst>
              <a:ext uri="{FF2B5EF4-FFF2-40B4-BE49-F238E27FC236}">
                <a16:creationId xmlns:a16="http://schemas.microsoft.com/office/drawing/2014/main" id="{7372C160-A834-98A5-D95A-1D3DD1BCF84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B87298-36A1-C307-CA25-6CA619804EC5}"/>
              </a:ext>
            </a:extLst>
          </p:cNvPr>
          <p:cNvSpPr>
            <a:spLocks noGrp="1"/>
          </p:cNvSpPr>
          <p:nvPr>
            <p:ph type="sldNum" idx="12"/>
          </p:nvPr>
        </p:nvSpPr>
        <p:spPr/>
        <p:txBody>
          <a:bodyPr/>
          <a:lstStyle/>
          <a:p>
            <a:fld id="{DEA345B2-507C-43D7-80BF-79F59DDCF0A3}" type="slidenum">
              <a:t>‹#›</a:t>
            </a:fld>
            <a:endParaRPr/>
          </a:p>
        </p:txBody>
      </p:sp>
      <p:sp>
        <p:nvSpPr>
          <p:cNvPr id="16" name="Rectangle 15">
            <a:extLst>
              <a:ext uri="{FF2B5EF4-FFF2-40B4-BE49-F238E27FC236}">
                <a16:creationId xmlns:a16="http://schemas.microsoft.com/office/drawing/2014/main" id="{F52D2EBE-72FC-45F2-E7E4-6F66B911B5D4}"/>
              </a:ext>
            </a:extLst>
          </p:cNvPr>
          <p:cNvSpPr>
            <a:spLocks noGrp="1"/>
          </p:cNvSpPr>
          <p:nvPr/>
        </p:nvSpPr>
        <p:spPr>
          <a:xfrm>
            <a:off x="4160312" y="337011"/>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6" name="Graphic 8"/>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60312" y="337011"/>
            <a:ext cx="647700" cy="1295400"/>
          </a:xfrm>
          <a:prstGeom prst="rect">
            <a:avLst/>
          </a:prstGeom>
        </p:spPr>
      </p:pic>
      <p:pic>
        <p:nvPicPr>
          <p:cNvPr id="27" name="Graphic 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092" y="261292"/>
            <a:ext cx="2018121" cy="107877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09B8A-7AB0-01A2-A126-A218F7CD2D94}"/>
              </a:ext>
            </a:extLst>
          </p:cNvPr>
          <p:cNvSpPr>
            <a:spLocks noGrp="1"/>
          </p:cNvSpPr>
          <p:nvPr>
            <p:ph type="title"/>
          </p:nvPr>
        </p:nvSpPr>
        <p:spPr>
          <a:xfrm>
            <a:off x="838200" y="365125"/>
            <a:ext cx="9781489" cy="1325563"/>
          </a:xfrm>
        </p:spPr>
        <p:txBody>
          <a:bodyPr/>
          <a:lstStyle/>
          <a:p>
            <a:r>
              <a:t>Click to edit Master title style</a:t>
            </a:r>
          </a:p>
        </p:txBody>
      </p:sp>
      <p:sp>
        <p:nvSpPr>
          <p:cNvPr id="3" name="Content Placeholder 2">
            <a:extLst>
              <a:ext uri="{FF2B5EF4-FFF2-40B4-BE49-F238E27FC236}">
                <a16:creationId xmlns:a16="http://schemas.microsoft.com/office/drawing/2014/main" id="{E2AF2D31-8C3D-DD6A-FF19-980A28830403}"/>
              </a:ext>
            </a:extLst>
          </p:cNvPr>
          <p:cNvSpPr>
            <a:spLocks noGrp="1"/>
          </p:cNvSpPr>
          <p:nvPr>
            <p:ph idx="1"/>
          </p:nvPr>
        </p:nvSpPr>
        <p:spPr>
          <a:xfrm>
            <a:off x="838200" y="1825625"/>
            <a:ext cx="978148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E098455-C645-8AEB-AC43-0325DA4FAF77}"/>
              </a:ext>
            </a:extLst>
          </p:cNvPr>
          <p:cNvSpPr>
            <a:spLocks noGrp="1"/>
          </p:cNvSpPr>
          <p:nvPr>
            <p:ph type="dt" idx="10"/>
          </p:nvPr>
        </p:nvSpPr>
        <p:spPr/>
        <p:txBody>
          <a:bodyPr/>
          <a:lstStyle/>
          <a:p>
            <a:fld id="{5750368A-0602-41DA-8C72-F3668C4CC159}" type="datetimeFigureOut">
              <a:t>10/1/2026</a:t>
            </a:fld>
            <a:endParaRPr/>
          </a:p>
        </p:txBody>
      </p:sp>
      <p:sp>
        <p:nvSpPr>
          <p:cNvPr id="5" name="Footer Placeholder 4">
            <a:extLst>
              <a:ext uri="{FF2B5EF4-FFF2-40B4-BE49-F238E27FC236}">
                <a16:creationId xmlns:a16="http://schemas.microsoft.com/office/drawing/2014/main" id="{E7065D6F-F540-C08F-2265-B5D2D5CCF52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49F2013-7326-AAFC-EDFD-0E440ADDE41A}"/>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C6FA413D-DBF3-6C5E-11D0-8AD41C06F2E3}"/>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7" name="Graphic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56153" y="153965"/>
            <a:ext cx="842573" cy="882695"/>
          </a:xfrm>
          <a:prstGeom prst="rect">
            <a:avLst/>
          </a:prstGeom>
        </p:spPr>
      </p:pic>
      <p:pic>
        <p:nvPicPr>
          <p:cNvPr id="18" name="Picture 11"/>
          <p:cNvPicPr>
            <a:picLocks noChangeAspect="1"/>
          </p:cNvPicPr>
          <p:nvPr/>
        </p:nvPicPr>
        <p:blipFill>
          <a:blip r:embed="rId3"/>
          <a:stretch>
            <a:fillRect/>
          </a:stretch>
        </p:blipFill>
        <p:spPr>
          <a:xfrm>
            <a:off x="10984081" y="1246733"/>
            <a:ext cx="1009241" cy="3651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7" name="Picture 15"/>
          <p:cNvPicPr>
            <a:picLocks noChangeAspect="1"/>
          </p:cNvPicPr>
          <p:nvPr/>
        </p:nvPicPr>
        <p:blipFill>
          <a:blip r:embed="rId2"/>
          <a:stretch>
            <a:fillRect/>
          </a:stretch>
        </p:blipFill>
        <p:spPr>
          <a:xfrm>
            <a:off x="9836" y="0"/>
            <a:ext cx="12172328" cy="6858000"/>
          </a:xfrm>
          <a:prstGeom prst="rect">
            <a:avLst/>
          </a:prstGeom>
        </p:spPr>
      </p:pic>
      <p:sp>
        <p:nvSpPr>
          <p:cNvPr id="2" name="Title 1">
            <a:extLst>
              <a:ext uri="{FF2B5EF4-FFF2-40B4-BE49-F238E27FC236}">
                <a16:creationId xmlns:a16="http://schemas.microsoft.com/office/drawing/2014/main" id="{6308B091-CA0E-212E-D29C-ACABD2F8DDFB}"/>
              </a:ext>
            </a:extLst>
          </p:cNvPr>
          <p:cNvSpPr>
            <a:spLocks noGrp="1"/>
          </p:cNvSpPr>
          <p:nvPr>
            <p:ph type="title"/>
          </p:nvPr>
        </p:nvSpPr>
        <p:spPr>
          <a:xfrm>
            <a:off x="831850" y="3657550"/>
            <a:ext cx="10062122" cy="1284059"/>
          </a:xfrm>
        </p:spPr>
        <p:txBody>
          <a:bodyPr anchor="b"/>
          <a:lstStyle>
            <a:lvl1pPr>
              <a:buNone/>
              <a:defRPr sz="6000">
                <a:solidFill>
                  <a:schemeClr val="bg1"/>
                </a:solidFill>
              </a:defRPr>
            </a:lvl1pPr>
          </a:lstStyle>
          <a:p>
            <a:r>
              <a:t>Click to edit Master title style</a:t>
            </a:r>
          </a:p>
        </p:txBody>
      </p:sp>
      <p:sp>
        <p:nvSpPr>
          <p:cNvPr id="3" name="Text Placeholder 2">
            <a:extLst>
              <a:ext uri="{FF2B5EF4-FFF2-40B4-BE49-F238E27FC236}">
                <a16:creationId xmlns:a16="http://schemas.microsoft.com/office/drawing/2014/main" id="{371A8C11-013C-7F67-5D2A-FB3AE080AD0D}"/>
              </a:ext>
            </a:extLst>
          </p:cNvPr>
          <p:cNvSpPr>
            <a:spLocks noGrp="1"/>
          </p:cNvSpPr>
          <p:nvPr>
            <p:ph type="body" idx="1"/>
          </p:nvPr>
        </p:nvSpPr>
        <p:spPr>
          <a:xfrm>
            <a:off x="831850" y="4968598"/>
            <a:ext cx="10062122" cy="843282"/>
          </a:xfrm>
        </p:spPr>
        <p:txBody>
          <a:bodyPr/>
          <a:lstStyle>
            <a:lvl1pPr marL="0" indent="0">
              <a:buNone/>
              <a:defRPr sz="2400">
                <a:solidFill>
                  <a:schemeClr val="bg1">
                    <a:lumMod val="8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D40B097E-EB72-FBAD-1C85-21B5359E6DB1}"/>
              </a:ext>
            </a:extLst>
          </p:cNvPr>
          <p:cNvSpPr>
            <a:spLocks noGrp="1"/>
          </p:cNvSpPr>
          <p:nvPr>
            <p:ph type="dt" idx="10"/>
          </p:nvPr>
        </p:nvSpPr>
        <p:spPr/>
        <p:txBody>
          <a:bodyPr/>
          <a:lstStyle/>
          <a:p>
            <a:fld id="{5750368A-0602-41DA-8C72-F3668C4CC159}" type="datetimeFigureOut">
              <a:t>10/1/2026</a:t>
            </a:fld>
            <a:endParaRPr/>
          </a:p>
        </p:txBody>
      </p:sp>
      <p:sp>
        <p:nvSpPr>
          <p:cNvPr id="5" name="Footer Placeholder 4">
            <a:extLst>
              <a:ext uri="{FF2B5EF4-FFF2-40B4-BE49-F238E27FC236}">
                <a16:creationId xmlns:a16="http://schemas.microsoft.com/office/drawing/2014/main" id="{92E519E1-451E-47E7-BC93-7F69CEEB6A0B}"/>
              </a:ext>
            </a:extLst>
          </p:cNvPr>
          <p:cNvSpPr>
            <a:spLocks noGrp="1"/>
          </p:cNvSpPr>
          <p:nvPr>
            <p:ph type="ftr" idx="11"/>
          </p:nvPr>
        </p:nvSpPr>
        <p:spPr/>
        <p:txBody>
          <a:bodyPr/>
          <a:lstStyle/>
          <a:p>
            <a:endParaRPr/>
          </a:p>
        </p:txBody>
      </p:sp>
      <p:sp>
        <p:nvSpPr>
          <p:cNvPr id="13" name="Date Placeholder 3">
            <a:extLst>
              <a:ext uri="{FF2B5EF4-FFF2-40B4-BE49-F238E27FC236}">
                <a16:creationId xmlns:a16="http://schemas.microsoft.com/office/drawing/2014/main" id="{E6B67043-CB4F-0116-BB76-C70A70583552}"/>
              </a:ext>
            </a:extLst>
          </p:cNvPr>
          <p:cNvSpPr>
            <a:spLocks noGrp="1"/>
          </p:cNvSpPr>
          <p:nvPr/>
        </p:nvSpPr>
        <p:spPr>
          <a:xfrm>
            <a:off x="838200" y="6357212"/>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750368A-0602-41DA-8C72-F3668C4CC159}" type="datetimeFigureOut">
              <a:t>10/1/2026</a:t>
            </a:fld>
            <a:endParaRPr/>
          </a:p>
        </p:txBody>
      </p:sp>
      <p:sp>
        <p:nvSpPr>
          <p:cNvPr id="11" name="Rectangle 10">
            <a:extLst>
              <a:ext uri="{FF2B5EF4-FFF2-40B4-BE49-F238E27FC236}">
                <a16:creationId xmlns:a16="http://schemas.microsoft.com/office/drawing/2014/main" id="{D1544972-4926-2F64-D0DC-83BF6176CC0D}"/>
              </a:ext>
            </a:extLst>
          </p:cNvPr>
          <p:cNvSpPr>
            <a:spLocks noGrp="1"/>
          </p:cNvSpPr>
          <p:nvPr/>
        </p:nvSpPr>
        <p:spPr>
          <a:xfrm>
            <a:off x="11407448" y="5473373"/>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4" name="Graphic 1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07448" y="5473373"/>
            <a:ext cx="647700" cy="1295400"/>
          </a:xfrm>
          <a:prstGeom prst="rect">
            <a:avLst/>
          </a:prstGeom>
        </p:spPr>
      </p:pic>
      <p:pic>
        <p:nvPicPr>
          <p:cNvPr id="25" name="Graphic 1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73253" y="261293"/>
            <a:ext cx="1292556" cy="69093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B5681-F3A2-40A5-A9EA-7166B07C9EA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EB8B488-E7D3-935C-277F-C21ECB6D87A0}"/>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795AA6DE-DDA8-FF2B-FD76-96F4B00724E9}"/>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26C2EDAA-B6F0-BAE3-0023-77078903916A}"/>
              </a:ext>
            </a:extLst>
          </p:cNvPr>
          <p:cNvSpPr>
            <a:spLocks noGrp="1"/>
          </p:cNvSpPr>
          <p:nvPr>
            <p:ph type="dt" idx="10"/>
          </p:nvPr>
        </p:nvSpPr>
        <p:spPr/>
        <p:txBody>
          <a:bodyPr/>
          <a:lstStyle/>
          <a:p>
            <a:fld id="{5750368A-0602-41DA-8C72-F3668C4CC159}" type="datetimeFigureOut">
              <a:t>10/1/2026</a:t>
            </a:fld>
            <a:endParaRPr/>
          </a:p>
        </p:txBody>
      </p:sp>
      <p:sp>
        <p:nvSpPr>
          <p:cNvPr id="6" name="Footer Placeholder 5">
            <a:extLst>
              <a:ext uri="{FF2B5EF4-FFF2-40B4-BE49-F238E27FC236}">
                <a16:creationId xmlns:a16="http://schemas.microsoft.com/office/drawing/2014/main" id="{DC10A058-AA1A-CDC2-FF66-8D3A35F6DB4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489E0F8-44E2-4A76-2B57-8359A388CD9C}"/>
              </a:ext>
            </a:extLst>
          </p:cNvPr>
          <p:cNvSpPr>
            <a:spLocks noGrp="1"/>
          </p:cNvSpPr>
          <p:nvPr>
            <p:ph type="sldNum" idx="12"/>
          </p:nvPr>
        </p:nvSpPr>
        <p:spPr/>
        <p:txBody>
          <a:bodyPr/>
          <a:lstStyle/>
          <a:p>
            <a:fld id="{DEA345B2-507C-43D7-80BF-79F59DDCF0A3}" type="slidenum">
              <a:t>‹#›</a:t>
            </a:fld>
            <a:endParaRPr/>
          </a:p>
        </p:txBody>
      </p:sp>
      <p:sp>
        <p:nvSpPr>
          <p:cNvPr id="10" name="Rectangle 9">
            <a:extLst>
              <a:ext uri="{FF2B5EF4-FFF2-40B4-BE49-F238E27FC236}">
                <a16:creationId xmlns:a16="http://schemas.microsoft.com/office/drawing/2014/main" id="{4D025B53-CC35-C249-1081-E752796BE041}"/>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0" name="Graphic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21" name="Graphic 1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779F0-5F10-E13F-AB63-76AC9A23EA8A}"/>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A58DFCF9-73B2-EF35-7501-7BE217954C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66B7AC54-B991-35A0-F037-68B94E344518}"/>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C28D6D34-BBA3-122B-A6D7-45A5E90F8C64}"/>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CAFA6EFC-F0B8-F706-C203-A56328A24E13}"/>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DFCEBC52-F71A-B504-62EF-9D7E439E71B0}"/>
              </a:ext>
            </a:extLst>
          </p:cNvPr>
          <p:cNvSpPr>
            <a:spLocks noGrp="1"/>
          </p:cNvSpPr>
          <p:nvPr>
            <p:ph type="dt" idx="10"/>
          </p:nvPr>
        </p:nvSpPr>
        <p:spPr/>
        <p:txBody>
          <a:bodyPr/>
          <a:lstStyle/>
          <a:p>
            <a:fld id="{5750368A-0602-41DA-8C72-F3668C4CC159}" type="datetimeFigureOut">
              <a:t>10/1/2026</a:t>
            </a:fld>
            <a:endParaRPr/>
          </a:p>
        </p:txBody>
      </p:sp>
      <p:sp>
        <p:nvSpPr>
          <p:cNvPr id="8" name="Footer Placeholder 7">
            <a:extLst>
              <a:ext uri="{FF2B5EF4-FFF2-40B4-BE49-F238E27FC236}">
                <a16:creationId xmlns:a16="http://schemas.microsoft.com/office/drawing/2014/main" id="{147BD498-27EC-05AD-4788-497CF407CAB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06AD9F0F-FA93-6068-7489-31750FAC1EAC}"/>
              </a:ext>
            </a:extLst>
          </p:cNvPr>
          <p:cNvSpPr>
            <a:spLocks noGrp="1"/>
          </p:cNvSpPr>
          <p:nvPr>
            <p:ph type="sldNum" idx="12"/>
          </p:nvPr>
        </p:nvSpPr>
        <p:spPr/>
        <p:txBody>
          <a:bodyPr/>
          <a:lstStyle/>
          <a:p>
            <a:fld id="{DEA345B2-507C-43D7-80BF-79F59DDCF0A3}" type="slidenum">
              <a:t>‹#›</a:t>
            </a:fld>
            <a:endParaRPr/>
          </a:p>
        </p:txBody>
      </p:sp>
      <p:sp>
        <p:nvSpPr>
          <p:cNvPr id="12" name="Rectangle 11">
            <a:extLst>
              <a:ext uri="{FF2B5EF4-FFF2-40B4-BE49-F238E27FC236}">
                <a16:creationId xmlns:a16="http://schemas.microsoft.com/office/drawing/2014/main" id="{56B6D730-5CCC-3A0F-07C5-E177B23EB431}"/>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4" name="Graphic 1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25" name="Graphic 1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69776FB-D0A1-D9FE-95EC-7FC45484C5D7}"/>
              </a:ext>
            </a:extLst>
          </p:cNvPr>
          <p:cNvSpPr>
            <a:spLocks noGrp="1"/>
          </p:cNvSpPr>
          <p:nvPr/>
        </p:nvSpPr>
        <p:spPr>
          <a:xfrm>
            <a:off x="0" y="6721474"/>
            <a:ext cx="12191999" cy="1500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71F2FE27-8077-08F7-450C-470C035521CE}"/>
              </a:ext>
            </a:extLst>
          </p:cNvPr>
          <p:cNvSpPr>
            <a:spLocks noGrp="1"/>
          </p:cNvSpPr>
          <p:nvPr>
            <p:ph type="title"/>
          </p:nvPr>
        </p:nvSpPr>
        <p:spPr>
          <a:xfrm>
            <a:off x="838200" y="365125"/>
            <a:ext cx="9144000" cy="1325563"/>
          </a:xfrm>
        </p:spPr>
        <p:txBody>
          <a:bodyPr/>
          <a:lstStyle/>
          <a:p>
            <a:r>
              <a:t>Click to edit Master title style</a:t>
            </a:r>
          </a:p>
        </p:txBody>
      </p:sp>
      <p:sp>
        <p:nvSpPr>
          <p:cNvPr id="3" name="Date Placeholder 2">
            <a:extLst>
              <a:ext uri="{FF2B5EF4-FFF2-40B4-BE49-F238E27FC236}">
                <a16:creationId xmlns:a16="http://schemas.microsoft.com/office/drawing/2014/main" id="{9C5E2896-F43F-2CDC-4FAE-F1178C67D403}"/>
              </a:ext>
            </a:extLst>
          </p:cNvPr>
          <p:cNvSpPr>
            <a:spLocks noGrp="1"/>
          </p:cNvSpPr>
          <p:nvPr>
            <p:ph type="dt" idx="10"/>
          </p:nvPr>
        </p:nvSpPr>
        <p:spPr/>
        <p:txBody>
          <a:bodyPr/>
          <a:lstStyle/>
          <a:p>
            <a:fld id="{5750368A-0602-41DA-8C72-F3668C4CC159}" type="datetimeFigureOut">
              <a:t>10/1/2026</a:t>
            </a:fld>
            <a:endParaRPr/>
          </a:p>
        </p:txBody>
      </p:sp>
      <p:sp>
        <p:nvSpPr>
          <p:cNvPr id="4" name="Footer Placeholder 3">
            <a:extLst>
              <a:ext uri="{FF2B5EF4-FFF2-40B4-BE49-F238E27FC236}">
                <a16:creationId xmlns:a16="http://schemas.microsoft.com/office/drawing/2014/main" id="{F563C219-D37D-2418-305D-047051B022B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E6278F9-514F-8E85-6413-B3DB744CE38B}"/>
              </a:ext>
            </a:extLst>
          </p:cNvPr>
          <p:cNvSpPr>
            <a:spLocks noGrp="1"/>
          </p:cNvSpPr>
          <p:nvPr>
            <p:ph type="sldNum" idx="12"/>
          </p:nvPr>
        </p:nvSpPr>
        <p:spPr/>
        <p:txBody>
          <a:bodyPr/>
          <a:lstStyle/>
          <a:p>
            <a:fld id="{DEA345B2-507C-43D7-80BF-79F59DDCF0A3}" type="slidenum">
              <a:t>‹#›</a:t>
            </a:fld>
            <a:endParaRPr/>
          </a:p>
        </p:txBody>
      </p:sp>
      <p:sp>
        <p:nvSpPr>
          <p:cNvPr id="9" name="Rectangle 8">
            <a:extLst>
              <a:ext uri="{FF2B5EF4-FFF2-40B4-BE49-F238E27FC236}">
                <a16:creationId xmlns:a16="http://schemas.microsoft.com/office/drawing/2014/main" id="{36BE3AD5-276B-966C-24E2-2E7C8C7B4B3B}"/>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Graphic 9"/>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19" name="Graphic 1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2FE27-8077-08F7-450C-470C035521CE}"/>
              </a:ext>
            </a:extLst>
          </p:cNvPr>
          <p:cNvSpPr>
            <a:spLocks noGrp="1"/>
          </p:cNvSpPr>
          <p:nvPr>
            <p:ph type="title"/>
          </p:nvPr>
        </p:nvSpPr>
        <p:spPr>
          <a:xfrm>
            <a:off x="838200" y="365125"/>
            <a:ext cx="9144000" cy="1325563"/>
          </a:xfrm>
        </p:spPr>
        <p:txBody>
          <a:bodyPr/>
          <a:lstStyle/>
          <a:p>
            <a:r>
              <a:t>Click to edit Master title style</a:t>
            </a:r>
          </a:p>
        </p:txBody>
      </p:sp>
      <p:sp>
        <p:nvSpPr>
          <p:cNvPr id="3" name="Date Placeholder 2">
            <a:extLst>
              <a:ext uri="{FF2B5EF4-FFF2-40B4-BE49-F238E27FC236}">
                <a16:creationId xmlns:a16="http://schemas.microsoft.com/office/drawing/2014/main" id="{9C5E2896-F43F-2CDC-4FAE-F1178C67D403}"/>
              </a:ext>
            </a:extLst>
          </p:cNvPr>
          <p:cNvSpPr>
            <a:spLocks noGrp="1"/>
          </p:cNvSpPr>
          <p:nvPr>
            <p:ph type="dt" idx="10"/>
          </p:nvPr>
        </p:nvSpPr>
        <p:spPr/>
        <p:txBody>
          <a:bodyPr/>
          <a:lstStyle/>
          <a:p>
            <a:fld id="{5750368A-0602-41DA-8C72-F3668C4CC159}" type="datetimeFigureOut">
              <a:t>10/1/2026</a:t>
            </a:fld>
            <a:endParaRPr/>
          </a:p>
        </p:txBody>
      </p:sp>
      <p:sp>
        <p:nvSpPr>
          <p:cNvPr id="4" name="Footer Placeholder 3">
            <a:extLst>
              <a:ext uri="{FF2B5EF4-FFF2-40B4-BE49-F238E27FC236}">
                <a16:creationId xmlns:a16="http://schemas.microsoft.com/office/drawing/2014/main" id="{F563C219-D37D-2418-305D-047051B022B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E6278F9-514F-8E85-6413-B3DB744CE38B}"/>
              </a:ext>
            </a:extLst>
          </p:cNvPr>
          <p:cNvSpPr>
            <a:spLocks noGrp="1"/>
          </p:cNvSpPr>
          <p:nvPr>
            <p:ph type="sldNum" idx="12"/>
          </p:nvPr>
        </p:nvSpPr>
        <p:spPr/>
        <p:txBody>
          <a:bodyPr/>
          <a:lstStyle/>
          <a:p>
            <a:fld id="{DEA345B2-507C-43D7-80BF-79F59DDCF0A3}" type="slidenum">
              <a:t>‹#›</a:t>
            </a:fld>
            <a:endParaRPr/>
          </a:p>
        </p:txBody>
      </p:sp>
      <p:sp>
        <p:nvSpPr>
          <p:cNvPr id="7" name="Rectangle 6">
            <a:extLst>
              <a:ext uri="{FF2B5EF4-FFF2-40B4-BE49-F238E27FC236}">
                <a16:creationId xmlns:a16="http://schemas.microsoft.com/office/drawing/2014/main" id="{D11C6594-2F3D-BF1F-E328-BEF238877366}"/>
              </a:ext>
            </a:extLst>
          </p:cNvPr>
          <p:cNvSpPr>
            <a:spLocks noGrp="1"/>
          </p:cNvSpPr>
          <p:nvPr/>
        </p:nvSpPr>
        <p:spPr>
          <a:xfrm>
            <a:off x="12021015" y="0"/>
            <a:ext cx="170984"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6F2C923C-188F-78A4-9EBF-A50E775EE8BF}"/>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Graphic 9"/>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19" name="Graphic 7"/>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8FCBA4-BC60-BBA3-1928-200ADA4CB434}"/>
              </a:ext>
            </a:extLst>
          </p:cNvPr>
          <p:cNvSpPr>
            <a:spLocks noGrp="1"/>
          </p:cNvSpPr>
          <p:nvPr>
            <p:ph type="dt" idx="10"/>
          </p:nvPr>
        </p:nvSpPr>
        <p:spPr/>
        <p:txBody>
          <a:bodyPr/>
          <a:lstStyle/>
          <a:p>
            <a:fld id="{5750368A-0602-41DA-8C72-F3668C4CC159}" type="datetimeFigureOut">
              <a:t>10/1/2026</a:t>
            </a:fld>
            <a:endParaRPr/>
          </a:p>
        </p:txBody>
      </p:sp>
      <p:sp>
        <p:nvSpPr>
          <p:cNvPr id="3" name="Footer Placeholder 2">
            <a:extLst>
              <a:ext uri="{FF2B5EF4-FFF2-40B4-BE49-F238E27FC236}">
                <a16:creationId xmlns:a16="http://schemas.microsoft.com/office/drawing/2014/main" id="{FBF75781-DD6B-802C-A2A1-0C35279A16A1}"/>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01782606-1EA0-41A1-3BF0-BF1A775C445A}"/>
              </a:ext>
            </a:extLst>
          </p:cNvPr>
          <p:cNvSpPr>
            <a:spLocks noGrp="1"/>
          </p:cNvSpPr>
          <p:nvPr>
            <p:ph type="sldNum" idx="12"/>
          </p:nvPr>
        </p:nvSpPr>
        <p:spPr/>
        <p:txBody>
          <a:bodyPr/>
          <a:lstStyle/>
          <a:p>
            <a:fld id="{DEA345B2-507C-43D7-80BF-79F59DDCF0A3}" type="slidenum">
              <a:t>‹#›</a:t>
            </a:fld>
            <a:endParaRPr/>
          </a:p>
        </p:txBody>
      </p:sp>
      <p:sp>
        <p:nvSpPr>
          <p:cNvPr id="5" name="Rectangle 4">
            <a:extLst>
              <a:ext uri="{FF2B5EF4-FFF2-40B4-BE49-F238E27FC236}">
                <a16:creationId xmlns:a16="http://schemas.microsoft.com/office/drawing/2014/main" id="{CBC13CDF-943F-636D-D5DB-2FDBB1961722}"/>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00C19DF9-E21D-1085-1DFC-9FE4B99E53AD}"/>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6" name="Graphic 8"/>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17" name="Graphic 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5ECBE-34FA-41CD-B39E-E682DB66CCF8}"/>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75407737-3DE7-D4A3-E002-F26143FB5EA5}"/>
              </a:ext>
            </a:extLst>
          </p:cNvPr>
          <p:cNvSpPr>
            <a:spLocks noGrp="1"/>
          </p:cNvSpPr>
          <p:nvPr>
            <p:ph idx="1"/>
          </p:nvPr>
        </p:nvSpPr>
        <p:spPr>
          <a:xfrm>
            <a:off x="5183188" y="1244600"/>
            <a:ext cx="6172200" cy="4616450"/>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27DDE05A-F981-052B-D9CA-2307E6582F2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2B4FF3B-390C-C8D3-3713-88461DB202A3}"/>
              </a:ext>
            </a:extLst>
          </p:cNvPr>
          <p:cNvSpPr>
            <a:spLocks noGrp="1"/>
          </p:cNvSpPr>
          <p:nvPr>
            <p:ph type="dt" idx="10"/>
          </p:nvPr>
        </p:nvSpPr>
        <p:spPr/>
        <p:txBody>
          <a:bodyPr/>
          <a:lstStyle/>
          <a:p>
            <a:fld id="{5750368A-0602-41DA-8C72-F3668C4CC159}" type="datetimeFigureOut">
              <a:t>10/1/2026</a:t>
            </a:fld>
            <a:endParaRPr/>
          </a:p>
        </p:txBody>
      </p:sp>
      <p:sp>
        <p:nvSpPr>
          <p:cNvPr id="6" name="Footer Placeholder 5">
            <a:extLst>
              <a:ext uri="{FF2B5EF4-FFF2-40B4-BE49-F238E27FC236}">
                <a16:creationId xmlns:a16="http://schemas.microsoft.com/office/drawing/2014/main" id="{508635E4-8B8B-231A-102E-E0EF2EE4228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6EB191B-A130-1FB5-D1C7-27E0B608ADBF}"/>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70DD950B-956C-0CC5-90DF-600294A61021}"/>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4E872611-7B62-0858-2F35-215FC7BEDC7C}"/>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5" name="Graphic 14"/>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26" name="Graphic 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73E5F-CFA9-31D3-ED26-1E57AC1EFA03}"/>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F349FB75-59BA-B6B1-9EFA-B9D58E548B8E}"/>
              </a:ext>
            </a:extLst>
          </p:cNvPr>
          <p:cNvSpPr>
            <a:spLocks noGrp="1"/>
          </p:cNvSpPr>
          <p:nvPr>
            <p:ph type="pic" idx="1"/>
          </p:nvPr>
        </p:nvSpPr>
        <p:spPr>
          <a:xfrm>
            <a:off x="5183188" y="1219200"/>
            <a:ext cx="6172200" cy="4641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D15C4119-4703-ABFE-3D93-76F1F254DF5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25208027-E9E1-AFE8-C2CF-267B0B717A63}"/>
              </a:ext>
            </a:extLst>
          </p:cNvPr>
          <p:cNvSpPr>
            <a:spLocks noGrp="1"/>
          </p:cNvSpPr>
          <p:nvPr>
            <p:ph type="dt" idx="10"/>
          </p:nvPr>
        </p:nvSpPr>
        <p:spPr/>
        <p:txBody>
          <a:bodyPr/>
          <a:lstStyle/>
          <a:p>
            <a:fld id="{5750368A-0602-41DA-8C72-F3668C4CC159}" type="datetimeFigureOut">
              <a:t>10/1/2026</a:t>
            </a:fld>
            <a:endParaRPr/>
          </a:p>
        </p:txBody>
      </p:sp>
      <p:sp>
        <p:nvSpPr>
          <p:cNvPr id="6" name="Footer Placeholder 5">
            <a:extLst>
              <a:ext uri="{FF2B5EF4-FFF2-40B4-BE49-F238E27FC236}">
                <a16:creationId xmlns:a16="http://schemas.microsoft.com/office/drawing/2014/main" id="{17FFCF05-D3BC-4D51-B7E1-EDFADA0E8FE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DD992EE-B08D-5105-202E-3F06215E82B9}"/>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66BB9E47-266A-449B-0690-EA113F897327}"/>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641E680E-9AE0-1F51-2218-98C4A676EA4E}"/>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2" name="Graphic 11"/>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23" name="Graphic 1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FC79-23A1-4C75-E226-24FAA8769F66}"/>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CF9E1CF8-7906-6964-F94B-A82C18B6DC4E}"/>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EF018C3-1F7A-68D9-F106-B3E9DF573BD4}"/>
              </a:ext>
            </a:extLst>
          </p:cNvPr>
          <p:cNvSpPr>
            <a:spLocks noGrp="1"/>
          </p:cNvSpPr>
          <p:nvPr>
            <p:ph type="dt" idx="10"/>
          </p:nvPr>
        </p:nvSpPr>
        <p:spPr/>
        <p:txBody>
          <a:bodyPr/>
          <a:lstStyle/>
          <a:p>
            <a:fld id="{5750368A-0602-41DA-8C72-F3668C4CC159}" type="datetimeFigureOut">
              <a:t>10/1/2026</a:t>
            </a:fld>
            <a:endParaRPr/>
          </a:p>
        </p:txBody>
      </p:sp>
      <p:sp>
        <p:nvSpPr>
          <p:cNvPr id="5" name="Footer Placeholder 4">
            <a:extLst>
              <a:ext uri="{FF2B5EF4-FFF2-40B4-BE49-F238E27FC236}">
                <a16:creationId xmlns:a16="http://schemas.microsoft.com/office/drawing/2014/main" id="{D75C044C-642A-B1F3-B761-AC4E930E04C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3F30CAD-B8A9-C9D6-2C4B-86E1BC5168AE}"/>
              </a:ext>
            </a:extLst>
          </p:cNvPr>
          <p:cNvSpPr>
            <a:spLocks noGrp="1"/>
          </p:cNvSpPr>
          <p:nvPr>
            <p:ph type="sldNum" idx="12"/>
          </p:nvPr>
        </p:nvSpPr>
        <p:spPr/>
        <p:txBody>
          <a:bodyPr/>
          <a:lstStyle/>
          <a:p>
            <a:fld id="{DEA345B2-507C-43D7-80BF-79F59DDCF0A3}" type="slidenum">
              <a:t>‹#›</a:t>
            </a:fld>
            <a:endParaRPr/>
          </a:p>
        </p:txBody>
      </p:sp>
      <p:sp>
        <p:nvSpPr>
          <p:cNvPr id="7" name="Rectangle 6">
            <a:extLst>
              <a:ext uri="{FF2B5EF4-FFF2-40B4-BE49-F238E27FC236}">
                <a16:creationId xmlns:a16="http://schemas.microsoft.com/office/drawing/2014/main" id="{F067F39E-E68E-53C9-D0D5-DBD631643F9E}"/>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F1B0B79-95A6-CFCE-EFDD-FECD5A381C32}"/>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1" name="Graphic 1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63DC65-B013-FE6E-EC24-75CE5E5821E6}"/>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23F5FF98-96D5-B94A-633D-AA80D7617E36}"/>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F4A29F5-20EF-68ED-9A31-EF9B85F25C39}"/>
              </a:ext>
            </a:extLst>
          </p:cNvPr>
          <p:cNvSpPr>
            <a:spLocks noGrp="1"/>
          </p:cNvSpPr>
          <p:nvPr>
            <p:ph type="dt" idx="10"/>
          </p:nvPr>
        </p:nvSpPr>
        <p:spPr/>
        <p:txBody>
          <a:bodyPr/>
          <a:lstStyle/>
          <a:p>
            <a:fld id="{5750368A-0602-41DA-8C72-F3668C4CC159}" type="datetimeFigureOut">
              <a:t>10/1/2026</a:t>
            </a:fld>
            <a:endParaRPr/>
          </a:p>
        </p:txBody>
      </p:sp>
      <p:sp>
        <p:nvSpPr>
          <p:cNvPr id="5" name="Footer Placeholder 4">
            <a:extLst>
              <a:ext uri="{FF2B5EF4-FFF2-40B4-BE49-F238E27FC236}">
                <a16:creationId xmlns:a16="http://schemas.microsoft.com/office/drawing/2014/main" id="{04EE87FD-C808-4643-2317-3CDB3CBCB44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CF01170-CC99-1C80-2814-8C172DEF9DA3}"/>
              </a:ext>
            </a:extLst>
          </p:cNvPr>
          <p:cNvSpPr>
            <a:spLocks noGrp="1"/>
          </p:cNvSpPr>
          <p:nvPr>
            <p:ph type="sldNum" idx="12"/>
          </p:nvPr>
        </p:nvSpPr>
        <p:spPr/>
        <p:txBody>
          <a:bodyPr/>
          <a:lstStyle/>
          <a:p>
            <a:fld id="{DEA345B2-507C-43D7-80BF-79F59DDCF0A3}"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61B42E-1446-2B7F-B0AB-68026A695039}"/>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32E6454A-9B58-1467-10AE-5BAA8852317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6688D33-D71B-794B-B556-D3F17CC2B08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latin typeface="+mj-lt"/>
                <a:ea typeface="+mj-lt"/>
                <a:cs typeface="+mj-lt"/>
              </a:defRPr>
            </a:lvl1pPr>
          </a:lstStyle>
          <a:p>
            <a:fld id="{5750368A-0602-41DA-8C72-F3668C4CC159}" type="datetimeFigureOut">
              <a:t>10/1/2026</a:t>
            </a:fld>
            <a:endParaRPr/>
          </a:p>
        </p:txBody>
      </p:sp>
      <p:sp>
        <p:nvSpPr>
          <p:cNvPr id="5" name="Footer Placeholder 4">
            <a:extLst>
              <a:ext uri="{FF2B5EF4-FFF2-40B4-BE49-F238E27FC236}">
                <a16:creationId xmlns:a16="http://schemas.microsoft.com/office/drawing/2014/main" id="{E82302E3-550F-6EB1-3682-88ECDCAB2B66}"/>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latin typeface="+mj-lt"/>
                <a:ea typeface="+mj-lt"/>
                <a:cs typeface="+mj-lt"/>
              </a:defRPr>
            </a:lvl1pPr>
          </a:lstStyle>
          <a:p>
            <a:endParaRPr/>
          </a:p>
        </p:txBody>
      </p:sp>
      <p:sp>
        <p:nvSpPr>
          <p:cNvPr id="6" name="Slide Number Placeholder 5">
            <a:extLst>
              <a:ext uri="{FF2B5EF4-FFF2-40B4-BE49-F238E27FC236}">
                <a16:creationId xmlns:a16="http://schemas.microsoft.com/office/drawing/2014/main" id="{F30F3CC4-BECA-E918-14B4-1688C26034E1}"/>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latin typeface="+mj-lt"/>
                <a:ea typeface="+mj-lt"/>
                <a:cs typeface="+mj-lt"/>
              </a:defRPr>
            </a:lvl1pPr>
          </a:lstStyle>
          <a:p>
            <a:fld id="{DEA345B2-507C-43D7-80BF-79F59DDCF0A3}"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j-lt"/>
          <a:ea typeface="+mj-lt"/>
          <a:cs typeface="+mj-lt"/>
        </a:defRPr>
      </a:lvl1pPr>
      <a:lvl2pPr marL="685800" indent="-228600" algn="l" defTabSz="914400">
        <a:lnSpc>
          <a:spcPct val="90000"/>
        </a:lnSpc>
        <a:spcBef>
          <a:spcPts val="500"/>
        </a:spcBef>
        <a:buFont typeface="Arial"/>
        <a:buChar char="•"/>
        <a:defRPr sz="2400" kern="1200">
          <a:solidFill>
            <a:schemeClr val="tx1"/>
          </a:solidFill>
          <a:latin typeface="+mj-lt"/>
          <a:ea typeface="+mj-lt"/>
          <a:cs typeface="+mj-lt"/>
        </a:defRPr>
      </a:lvl2pPr>
      <a:lvl3pPr marL="1143000" indent="-228600" algn="l" defTabSz="914400">
        <a:lnSpc>
          <a:spcPct val="90000"/>
        </a:lnSpc>
        <a:spcBef>
          <a:spcPts val="500"/>
        </a:spcBef>
        <a:buFont typeface="Arial"/>
        <a:buChar char="•"/>
        <a:defRPr sz="2000" kern="1200">
          <a:solidFill>
            <a:schemeClr val="tx1"/>
          </a:solidFill>
          <a:latin typeface="+mj-lt"/>
          <a:ea typeface="+mj-lt"/>
          <a:cs typeface="+mj-lt"/>
        </a:defRPr>
      </a:lvl3pPr>
      <a:lvl4pPr marL="1600200" indent="-228600" algn="l" defTabSz="914400">
        <a:lnSpc>
          <a:spcPct val="90000"/>
        </a:lnSpc>
        <a:spcBef>
          <a:spcPts val="500"/>
        </a:spcBef>
        <a:buFont typeface="Arial"/>
        <a:buChar char="•"/>
        <a:defRPr sz="1800" kern="1200">
          <a:solidFill>
            <a:schemeClr val="tx1"/>
          </a:solidFill>
          <a:latin typeface="+mj-lt"/>
          <a:ea typeface="+mj-lt"/>
          <a:cs typeface="+mj-lt"/>
        </a:defRPr>
      </a:lvl4pPr>
      <a:lvl5pPr marL="2057400" indent="-228600" algn="l" defTabSz="914400">
        <a:lnSpc>
          <a:spcPct val="90000"/>
        </a:lnSpc>
        <a:spcBef>
          <a:spcPts val="500"/>
        </a:spcBef>
        <a:buFont typeface="Arial"/>
        <a:buChar char="•"/>
        <a:defRPr sz="1800" kern="1200">
          <a:solidFill>
            <a:schemeClr val="tx1"/>
          </a:solidFill>
          <a:latin typeface="+mj-lt"/>
          <a:ea typeface="+mj-lt"/>
          <a:cs typeface="+mj-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C628D34-8338-454B-E97A-2B8FE3681CB4}"/>
              </a:ext>
            </a:extLst>
          </p:cNvPr>
          <p:cNvSpPr>
            <a:spLocks noGrp="1"/>
          </p:cNvSpPr>
          <p:nvPr>
            <p:ph type="subTitle" idx="1"/>
          </p:nvPr>
        </p:nvSpPr>
        <p:spPr>
          <a:xfrm>
            <a:off x="6096000" y="3429000"/>
            <a:ext cx="5077521" cy="2667000"/>
          </a:xfrm>
        </p:spPr>
        <p:txBody>
          <a:bodyPr>
            <a:normAutofit/>
          </a:bodyPr>
          <a:lstStyle/>
          <a:p>
            <a:r>
              <a:rPr lang="en-US" sz="2500"/>
              <a:t>Detecting Grooming-Related Interactions in Chat Conversations Using DistilBERT and LSTM-Based Behavioral Sequence Modeling</a:t>
            </a:r>
            <a:endParaRPr sz="2500"/>
          </a:p>
        </p:txBody>
      </p:sp>
      <p:sp>
        <p:nvSpPr>
          <p:cNvPr id="5" name="Title 4">
            <a:extLst>
              <a:ext uri="{FF2B5EF4-FFF2-40B4-BE49-F238E27FC236}">
                <a16:creationId xmlns:a16="http://schemas.microsoft.com/office/drawing/2014/main" id="{F6ED2DF7-F311-FDB6-B94A-056A1A4D8792}"/>
              </a:ext>
            </a:extLst>
          </p:cNvPr>
          <p:cNvSpPr>
            <a:spLocks noGrp="1"/>
          </p:cNvSpPr>
          <p:nvPr>
            <p:ph type="ctrTitle"/>
          </p:nvPr>
        </p:nvSpPr>
        <p:spPr>
          <a:xfrm>
            <a:off x="6096000" y="1651000"/>
            <a:ext cx="5077521" cy="1270000"/>
          </a:xfrm>
        </p:spPr>
        <p:txBody>
          <a:bodyPr>
            <a:normAutofit/>
          </a:bodyPr>
          <a:lstStyle/>
          <a:p>
            <a:r>
              <a:rPr lang="en-PH" sz="5000">
                <a:solidFill>
                  <a:srgbClr val="FFFFFF"/>
                </a:solidFill>
              </a:rPr>
              <a:t>GroomShield</a:t>
            </a:r>
          </a:p>
        </p:txBody>
      </p:sp>
    </p:spTree>
    <p:extLst>
      <p:ext uri="{BB962C8B-B14F-4D97-AF65-F5344CB8AC3E}">
        <p14:creationId xmlns:p14="http://schemas.microsoft.com/office/powerpoint/2010/main" val="687419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p:cNvPicPr>
            <a:picLocks noChangeAspect="1"/>
          </p:cNvPicPr>
          <p:nvPr/>
        </p:nvPicPr>
        <p:blipFill>
          <a:blip r:embed="rId3"/>
          <a:stretch>
            <a:fillRect/>
          </a:stretch>
        </p:blipFill>
        <p:spPr>
          <a:xfrm>
            <a:off x="0" y="5568"/>
            <a:ext cx="12192000" cy="6846864"/>
          </a:xfrm>
          <a:prstGeom prst="rect">
            <a:avLst/>
          </a:prstGeom>
        </p:spPr>
      </p:pic>
      <p:pic>
        <p:nvPicPr>
          <p:cNvPr id="7" name="Picture 6"/>
          <p:cNvPicPr>
            <a:picLocks noChangeAspect="1"/>
          </p:cNvPicPr>
          <p:nvPr/>
        </p:nvPicPr>
        <p:blipFill>
          <a:blip r:embed="rId4"/>
          <a:stretch>
            <a:fillRect/>
          </a:stretch>
        </p:blipFill>
        <p:spPr>
          <a:xfrm>
            <a:off x="10719917" y="6099734"/>
            <a:ext cx="1286054" cy="514422"/>
          </a:xfrm>
          <a:prstGeom prst="rect">
            <a:avLst/>
          </a:prstGeom>
        </p:spPr>
      </p:pic>
    </p:spTree>
    <p:extLst>
      <p:ext uri="{BB962C8B-B14F-4D97-AF65-F5344CB8AC3E}">
        <p14:creationId xmlns:p14="http://schemas.microsoft.com/office/powerpoint/2010/main" val="1704954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49445-6B2E-B038-2128-77567FA741F6}"/>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SDG and Research Agenda</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D9BCD19F-8F4B-C8F1-BCF6-513AD6198481}"/>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5FB06679-67DF-40F1-E66A-31A43363C7FE}"/>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500">
                <a:solidFill>
                  <a:srgbClr val="191F28"/>
                </a:solidFill>
                <a:latin typeface="Calibri Light" panose="020F0302020204030204" pitchFamily="34" charset="0"/>
              </a:rPr>
              <a:t>SDG 9: Advances AI-assisted digital-safety infrastructure.</a:t>
            </a:r>
          </a:p>
          <a:p>
            <a:pPr>
              <a:spcAft>
                <a:spcPts val="1500"/>
              </a:spcAft>
            </a:pPr>
            <a:r>
              <a:rPr lang="en-US" sz="2500">
                <a:solidFill>
                  <a:srgbClr val="191F28"/>
                </a:solidFill>
                <a:latin typeface="Calibri Light" panose="020F0302020204030204" pitchFamily="34" charset="0"/>
              </a:rPr>
              <a:t>SDG 16: Supports safer interactions through human review.</a:t>
            </a:r>
          </a:p>
          <a:p>
            <a:pPr>
              <a:spcAft>
                <a:spcPts val="1500"/>
              </a:spcAft>
            </a:pPr>
            <a:r>
              <a:rPr lang="en-US" sz="2500">
                <a:solidFill>
                  <a:srgbClr val="191F28"/>
                </a:solidFill>
                <a:latin typeface="Calibri Light" panose="020F0302020204030204" pitchFamily="34" charset="0"/>
              </a:rPr>
              <a:t>AI, Analytics, and Intelligent Systems: Contextual NLP and sequence modeling.</a:t>
            </a:r>
          </a:p>
          <a:p>
            <a:pPr>
              <a:spcAft>
                <a:spcPts val="1500"/>
              </a:spcAft>
            </a:pPr>
            <a:r>
              <a:rPr lang="en-US" sz="2500">
                <a:solidFill>
                  <a:srgbClr val="191F28"/>
                </a:solidFill>
                <a:latin typeface="Calibri Light" panose="020F0302020204030204" pitchFamily="34" charset="0"/>
              </a:rPr>
              <a:t>Cybersecurity and Digital Trust: Better identification of concerning chats.</a:t>
            </a:r>
            <a:endParaRPr lang="en-PH" sz="25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1475086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Research Alignment: Existing Methods</a:t>
            </a:r>
            <a:endParaRPr sz="3400">
              <a:solidFill>
                <a:schemeClr val="accent1">
                  <a:lumMod val="75000"/>
                </a:schemeClr>
              </a:solidFill>
            </a:endParaRPr>
          </a:p>
        </p:txBody>
      </p:sp>
      <p:graphicFrame>
        <p:nvGraphicFramePr>
          <p:cNvPr id="5" name="Evidence table">
            <a:extLst>
              <a:ext uri="{FF2B5EF4-FFF2-40B4-BE49-F238E27FC236}">
                <a16:creationId xmlns:a16="http://schemas.microsoft.com/office/drawing/2014/main" id="{BDAA3C98-483E-4858-C8BE-2F383C6F96F1}"/>
              </a:ext>
            </a:extLst>
          </p:cNvPr>
          <p:cNvGraphicFramePr>
            <a:graphicFrameLocks noGrp="1"/>
          </p:cNvGraphicFramePr>
          <p:nvPr>
            <p:ph idx="1"/>
            <p:extLst>
              <p:ext uri="{D42A27DB-BD31-4B8C-83A1-F6EECF244321}">
                <p14:modId xmlns:p14="http://schemas.microsoft.com/office/powerpoint/2010/main" val="2488525637"/>
              </p:ext>
            </p:extLst>
          </p:nvPr>
        </p:nvGraphicFramePr>
        <p:xfrm>
          <a:off x="685799" y="1930400"/>
          <a:ext cx="10795000" cy="3992033"/>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346889064"/>
                    </a:ext>
                  </a:extLst>
                </a:gridCol>
                <a:gridCol w="2679700">
                  <a:extLst>
                    <a:ext uri="{9D8B030D-6E8A-4147-A177-3AD203B41FA5}">
                      <a16:colId xmlns:a16="http://schemas.microsoft.com/office/drawing/2014/main" val="277590277"/>
                    </a:ext>
                  </a:extLst>
                </a:gridCol>
                <a:gridCol w="2806700">
                  <a:extLst>
                    <a:ext uri="{9D8B030D-6E8A-4147-A177-3AD203B41FA5}">
                      <a16:colId xmlns:a16="http://schemas.microsoft.com/office/drawing/2014/main" val="429554503"/>
                    </a:ext>
                  </a:extLst>
                </a:gridCol>
                <a:gridCol w="2794000">
                  <a:extLst>
                    <a:ext uri="{9D8B030D-6E8A-4147-A177-3AD203B41FA5}">
                      <a16:colId xmlns:a16="http://schemas.microsoft.com/office/drawing/2014/main" val="945222498"/>
                    </a:ext>
                  </a:extLst>
                </a:gridCol>
              </a:tblGrid>
              <a:tr h="1248833">
                <a:tc>
                  <a:txBody>
                    <a:bodyPr/>
                    <a:lstStyle/>
                    <a:p>
                      <a:r>
                        <a:rPr lang="en-PH" sz="2000" b="1">
                          <a:solidFill>
                            <a:srgbClr val="191F28"/>
                          </a:solidFill>
                          <a:latin typeface="Calibri" panose="020F0502020204030204" pitchFamily="34" charset="0"/>
                        </a:rPr>
                        <a:t>Problem</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Question / Objective</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Method</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Results evidence</a:t>
                      </a:r>
                    </a:p>
                  </a:txBody>
                  <a:tcPr marL="101600" marR="101600" marT="76200" marB="76200" anchor="ctr">
                    <a:solidFill>
                      <a:srgbClr val="E0E8F1"/>
                    </a:solidFill>
                  </a:tcPr>
                </a:tc>
                <a:extLst>
                  <a:ext uri="{0D108BD9-81ED-4DB2-BD59-A6C34878D82A}">
                    <a16:rowId xmlns:a16="http://schemas.microsoft.com/office/drawing/2014/main" val="2039143541"/>
                  </a:ext>
                </a:extLst>
              </a:tr>
              <a:tr h="1248833">
                <a:tc>
                  <a:txBody>
                    <a:bodyPr/>
                    <a:lstStyle/>
                    <a:p>
                      <a:r>
                        <a:rPr lang="en-US" sz="2000" b="0">
                          <a:solidFill>
                            <a:srgbClr val="191F28"/>
                          </a:solidFill>
                          <a:latin typeface="Calibri" panose="020F0502020204030204" pitchFamily="34" charset="0"/>
                        </a:rPr>
                        <a:t>How well do existing systems detect relevant conversations?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RQ1 / Objective 1: Evaluate existing moderation.</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Test the keyword rule on the same held-out conversations.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Keyword rule: 61.36% recall and 17 missed cases.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206382432"/>
                  </a:ext>
                </a:extLst>
              </a:tr>
              <a:tr h="1248833">
                <a:tc>
                  <a:txBody>
                    <a:bodyPr/>
                    <a:lstStyle/>
                    <a:p>
                      <a:r>
                        <a:rPr lang="en-US" sz="2000" b="0">
                          <a:solidFill>
                            <a:srgbClr val="191F28"/>
                          </a:solidFill>
                          <a:latin typeface="Calibri" panose="020F0502020204030204" pitchFamily="34" charset="0"/>
                        </a:rPr>
                        <a:t>Static methods can miss meaning that develops across turns.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RQ2 / Objective 1: Examine the limits of static methods.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Compare keyword and score aggregation with the trajectory LSTM.</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LSTM gains over maximum Layer 1: +0.3630 PR-AUC and +0.1958 F2.</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50964375"/>
                  </a:ext>
                </a:extLst>
              </a:tr>
            </a:tbl>
          </a:graphicData>
        </a:graphic>
      </p:graphicFrame>
    </p:spTree>
    <p:extLst>
      <p:ext uri="{BB962C8B-B14F-4D97-AF65-F5344CB8AC3E}">
        <p14:creationId xmlns:p14="http://schemas.microsoft.com/office/powerpoint/2010/main" val="735982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Research Alignment: Module and Improvement</a:t>
            </a:r>
            <a:endParaRPr sz="3400">
              <a:solidFill>
                <a:schemeClr val="accent1">
                  <a:lumMod val="75000"/>
                </a:schemeClr>
              </a:solidFill>
            </a:endParaRPr>
          </a:p>
        </p:txBody>
      </p:sp>
      <p:graphicFrame>
        <p:nvGraphicFramePr>
          <p:cNvPr id="5" name="Evidence table">
            <a:extLst>
              <a:ext uri="{FF2B5EF4-FFF2-40B4-BE49-F238E27FC236}">
                <a16:creationId xmlns:a16="http://schemas.microsoft.com/office/drawing/2014/main" id="{658E6B48-24A1-22A5-6387-F4A04A4A17B4}"/>
              </a:ext>
            </a:extLst>
          </p:cNvPr>
          <p:cNvGraphicFramePr>
            <a:graphicFrameLocks noGrp="1"/>
          </p:cNvGraphicFramePr>
          <p:nvPr>
            <p:ph idx="1"/>
            <p:extLst>
              <p:ext uri="{D42A27DB-BD31-4B8C-83A1-F6EECF244321}">
                <p14:modId xmlns:p14="http://schemas.microsoft.com/office/powerpoint/2010/main" val="1644084966"/>
              </p:ext>
            </p:extLst>
          </p:nvPr>
        </p:nvGraphicFramePr>
        <p:xfrm>
          <a:off x="685799" y="1930400"/>
          <a:ext cx="10795000" cy="4296833"/>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799624030"/>
                    </a:ext>
                  </a:extLst>
                </a:gridCol>
                <a:gridCol w="2679700">
                  <a:extLst>
                    <a:ext uri="{9D8B030D-6E8A-4147-A177-3AD203B41FA5}">
                      <a16:colId xmlns:a16="http://schemas.microsoft.com/office/drawing/2014/main" val="284024264"/>
                    </a:ext>
                  </a:extLst>
                </a:gridCol>
                <a:gridCol w="2806700">
                  <a:extLst>
                    <a:ext uri="{9D8B030D-6E8A-4147-A177-3AD203B41FA5}">
                      <a16:colId xmlns:a16="http://schemas.microsoft.com/office/drawing/2014/main" val="2757323129"/>
                    </a:ext>
                  </a:extLst>
                </a:gridCol>
                <a:gridCol w="2794000">
                  <a:extLst>
                    <a:ext uri="{9D8B030D-6E8A-4147-A177-3AD203B41FA5}">
                      <a16:colId xmlns:a16="http://schemas.microsoft.com/office/drawing/2014/main" val="3525452511"/>
                    </a:ext>
                  </a:extLst>
                </a:gridCol>
              </a:tblGrid>
              <a:tr h="1248833">
                <a:tc>
                  <a:txBody>
                    <a:bodyPr/>
                    <a:lstStyle/>
                    <a:p>
                      <a:r>
                        <a:rPr lang="en-PH" sz="2000" b="1">
                          <a:solidFill>
                            <a:srgbClr val="191F28"/>
                          </a:solidFill>
                          <a:latin typeface="Calibri" panose="020F0502020204030204" pitchFamily="34" charset="0"/>
                        </a:rPr>
                        <a:t>Problem</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Question / Objective</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Method</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Results evidence</a:t>
                      </a:r>
                    </a:p>
                  </a:txBody>
                  <a:tcPr marL="101600" marR="101600" marT="76200" marB="76200" anchor="ctr">
                    <a:solidFill>
                      <a:srgbClr val="E0E8F1"/>
                    </a:solidFill>
                  </a:tcPr>
                </a:tc>
                <a:extLst>
                  <a:ext uri="{0D108BD9-81ED-4DB2-BD59-A6C34878D82A}">
                    <a16:rowId xmlns:a16="http://schemas.microsoft.com/office/drawing/2014/main" val="815225734"/>
                  </a:ext>
                </a:extLst>
              </a:tr>
              <a:tr h="1248833">
                <a:tc>
                  <a:txBody>
                    <a:bodyPr/>
                    <a:lstStyle/>
                    <a:p>
                      <a:r>
                        <a:rPr lang="en-US" sz="2000" b="0">
                          <a:solidFill>
                            <a:srgbClr val="191F28"/>
                          </a:solidFill>
                          <a:latin typeface="Calibri" panose="020F0502020204030204" pitchFamily="34" charset="0"/>
                        </a:rPr>
                        <a:t>Chat analysis needs both context and behavioral development.</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RQ3 / Objective 2: Develop the AI moderation module.</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Combine DistilBERT, seven trajectory features, and an LSTM.</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Completed two-layer module and sequential review interface.</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2194784163"/>
                  </a:ext>
                </a:extLst>
              </a:tr>
              <a:tr h="1248833">
                <a:tc>
                  <a:txBody>
                    <a:bodyPr/>
                    <a:lstStyle/>
                    <a:p>
                      <a:r>
                        <a:rPr lang="en-US" sz="2000" b="0">
                          <a:solidFill>
                            <a:srgbClr val="191F28"/>
                          </a:solidFill>
                          <a:latin typeface="Calibri" panose="020F0502020204030204" pitchFamily="34" charset="0"/>
                        </a:rPr>
                        <a:t>The module must improve detection and reduce missed cases.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RQ4 / Objective 3: Measure recall and false-negative reduction.</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Use a locked test and paired comparisons across author groups.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Trajectory-Feature LSTM: 93.18% recall and three misses; 50% fewer misses than weighted scoring.</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3028070350"/>
                  </a:ext>
                </a:extLst>
              </a:tr>
            </a:tbl>
          </a:graphicData>
        </a:graphic>
      </p:graphicFrame>
    </p:spTree>
    <p:extLst>
      <p:ext uri="{BB962C8B-B14F-4D97-AF65-F5344CB8AC3E}">
        <p14:creationId xmlns:p14="http://schemas.microsoft.com/office/powerpoint/2010/main" val="2776312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6913-EAEA-8B97-D32E-31E06E13A28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AI Model Architecture</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AE47215D-E5CE-47B1-FCFE-617B4EAA2608}"/>
              </a:ext>
            </a:extLst>
          </p:cNvPr>
          <p:cNvSpPr>
            <a:spLocks noGrp="1"/>
          </p:cNvSpPr>
          <p:nvPr>
            <p:ph idx="1"/>
          </p:nvPr>
        </p:nvSpPr>
        <p:spPr/>
        <p:txBody>
          <a:bodyPr/>
          <a:lstStyle/>
          <a:p>
            <a:endParaRPr lang="en-PH"/>
          </a:p>
        </p:txBody>
      </p:sp>
      <p:sp>
        <p:nvSpPr>
          <p:cNvPr id="5" name="Current turn input">
            <a:extLst>
              <a:ext uri="{FF2B5EF4-FFF2-40B4-BE49-F238E27FC236}">
                <a16:creationId xmlns:a16="http://schemas.microsoft.com/office/drawing/2014/main" id="{E6895191-94C9-2F5B-0946-D1B793400C72}"/>
              </a:ext>
            </a:extLst>
          </p:cNvPr>
          <p:cNvSpPr/>
          <p:nvPr/>
        </p:nvSpPr>
        <p:spPr>
          <a:xfrm>
            <a:off x="609600" y="2552700"/>
            <a:ext cx="2032000" cy="13208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200">
                <a:solidFill>
                  <a:srgbClr val="191F28"/>
                </a:solidFill>
                <a:latin typeface="Calibri" panose="020F0502020204030204" pitchFamily="34" charset="0"/>
              </a:rPr>
              <a:t>Current turn</a:t>
            </a:r>
          </a:p>
          <a:p>
            <a:pPr algn="ctr"/>
            <a:r>
              <a:rPr lang="en-US" sz="2200">
                <a:solidFill>
                  <a:srgbClr val="191F28"/>
                </a:solidFill>
                <a:latin typeface="Calibri" panose="020F0502020204030204" pitchFamily="34" charset="0"/>
              </a:rPr>
              <a:t>+ up to two</a:t>
            </a:r>
          </a:p>
          <a:p>
            <a:pPr algn="ctr"/>
            <a:r>
              <a:rPr lang="en-US" sz="2200">
                <a:solidFill>
                  <a:srgbClr val="191F28"/>
                </a:solidFill>
                <a:latin typeface="Calibri" panose="020F0502020204030204" pitchFamily="34" charset="0"/>
              </a:rPr>
              <a:t>previous turns</a:t>
            </a:r>
            <a:endParaRPr lang="en-PH" sz="2200">
              <a:solidFill>
                <a:srgbClr val="191F28"/>
              </a:solidFill>
              <a:latin typeface="Calibri" panose="020F0502020204030204" pitchFamily="34" charset="0"/>
            </a:endParaRPr>
          </a:p>
        </p:txBody>
      </p:sp>
      <p:sp>
        <p:nvSpPr>
          <p:cNvPr id="6" name="Context classifier">
            <a:extLst>
              <a:ext uri="{FF2B5EF4-FFF2-40B4-BE49-F238E27FC236}">
                <a16:creationId xmlns:a16="http://schemas.microsoft.com/office/drawing/2014/main" id="{B1D94D3D-F46A-F928-3E33-ACE425F7AE27}"/>
              </a:ext>
            </a:extLst>
          </p:cNvPr>
          <p:cNvSpPr/>
          <p:nvPr/>
        </p:nvSpPr>
        <p:spPr>
          <a:xfrm>
            <a:off x="3111500" y="1943100"/>
            <a:ext cx="2755900" cy="12319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100">
                <a:solidFill>
                  <a:srgbClr val="191F28"/>
                </a:solidFill>
                <a:latin typeface="Calibri" panose="020F0502020204030204" pitchFamily="34" charset="0"/>
              </a:rPr>
              <a:t>Layer 1: DistilBERT</a:t>
            </a:r>
          </a:p>
          <a:p>
            <a:pPr algn="ctr"/>
            <a:r>
              <a:rPr lang="en-US" sz="2100">
                <a:solidFill>
                  <a:srgbClr val="191F28"/>
                </a:solidFill>
                <a:latin typeface="Calibri" panose="020F0502020204030204" pitchFamily="34" charset="0"/>
              </a:rPr>
              <a:t>Author-derived</a:t>
            </a:r>
          </a:p>
          <a:p>
            <a:pPr algn="ctr"/>
            <a:r>
              <a:rPr lang="en-US" sz="2100">
                <a:solidFill>
                  <a:srgbClr val="191F28"/>
                </a:solidFill>
                <a:latin typeface="Calibri" panose="020F0502020204030204" pitchFamily="34" charset="0"/>
              </a:rPr>
              <a:t>proxy score</a:t>
            </a:r>
            <a:endParaRPr lang="en-PH" sz="2100">
              <a:solidFill>
                <a:srgbClr val="191F28"/>
              </a:solidFill>
              <a:latin typeface="Calibri" panose="020F0502020204030204" pitchFamily="34" charset="0"/>
            </a:endParaRPr>
          </a:p>
        </p:txBody>
      </p:sp>
      <p:sp>
        <p:nvSpPr>
          <p:cNvPr id="8" name="Base encoder">
            <a:extLst>
              <a:ext uri="{FF2B5EF4-FFF2-40B4-BE49-F238E27FC236}">
                <a16:creationId xmlns:a16="http://schemas.microsoft.com/office/drawing/2014/main" id="{61BE1F36-041B-4B5F-7A71-5C5767617604}"/>
              </a:ext>
            </a:extLst>
          </p:cNvPr>
          <p:cNvSpPr/>
          <p:nvPr/>
        </p:nvSpPr>
        <p:spPr>
          <a:xfrm>
            <a:off x="3111500" y="4279900"/>
            <a:ext cx="2755900" cy="12319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1900">
                <a:solidFill>
                  <a:srgbClr val="191F28"/>
                </a:solidFill>
                <a:latin typeface="Calibri" panose="020F0502020204030204" pitchFamily="34" charset="0"/>
              </a:rPr>
              <a:t>Fixed base encoder</a:t>
            </a:r>
          </a:p>
          <a:p>
            <a:pPr algn="ctr"/>
            <a:r>
              <a:rPr lang="en-US" sz="1900">
                <a:solidFill>
                  <a:srgbClr val="191F28"/>
                </a:solidFill>
                <a:latin typeface="Calibri" panose="020F0502020204030204" pitchFamily="34" charset="0"/>
              </a:rPr>
              <a:t>Current-turn embedding</a:t>
            </a:r>
          </a:p>
          <a:p>
            <a:pPr algn="ctr"/>
            <a:r>
              <a:rPr lang="en-US" sz="1900">
                <a:solidFill>
                  <a:srgbClr val="191F28"/>
                </a:solidFill>
                <a:latin typeface="Calibri" panose="020F0502020204030204" pitchFamily="34" charset="0"/>
              </a:rPr>
              <a:t>+ training reference</a:t>
            </a:r>
            <a:endParaRPr lang="en-PH" sz="1900">
              <a:solidFill>
                <a:srgbClr val="191F28"/>
              </a:solidFill>
              <a:latin typeface="Calibri" panose="020F0502020204030204" pitchFamily="34" charset="0"/>
            </a:endParaRPr>
          </a:p>
        </p:txBody>
      </p:sp>
      <p:sp>
        <p:nvSpPr>
          <p:cNvPr id="9" name="Trajectory features">
            <a:extLst>
              <a:ext uri="{FF2B5EF4-FFF2-40B4-BE49-F238E27FC236}">
                <a16:creationId xmlns:a16="http://schemas.microsoft.com/office/drawing/2014/main" id="{3DD60086-D214-9E72-8168-A28885D575F6}"/>
              </a:ext>
            </a:extLst>
          </p:cNvPr>
          <p:cNvSpPr/>
          <p:nvPr/>
        </p:nvSpPr>
        <p:spPr>
          <a:xfrm>
            <a:off x="6350000" y="1943100"/>
            <a:ext cx="2781300" cy="35687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000">
                <a:solidFill>
                  <a:srgbClr val="191F28"/>
                </a:solidFill>
                <a:latin typeface="Calibri" panose="020F0502020204030204" pitchFamily="34" charset="0"/>
              </a:rPr>
              <a:t>Layer 2 inputs</a:t>
            </a:r>
          </a:p>
          <a:p>
            <a:pPr algn="ctr"/>
            <a:endParaRPr lang="en-US" sz="2000">
              <a:solidFill>
                <a:srgbClr val="191F28"/>
              </a:solidFill>
              <a:latin typeface="Calibri" panose="020F0502020204030204" pitchFamily="34" charset="0"/>
            </a:endParaRPr>
          </a:p>
          <a:p>
            <a:pPr algn="ctr"/>
            <a:r>
              <a:rPr lang="en-US" sz="2000">
                <a:solidFill>
                  <a:srgbClr val="191F28"/>
                </a:solidFill>
                <a:latin typeface="Calibri" panose="020F0502020204030204" pitchFamily="34" charset="0"/>
              </a:rPr>
              <a:t>Seven behavioral</a:t>
            </a:r>
          </a:p>
          <a:p>
            <a:pPr algn="ctr"/>
            <a:r>
              <a:rPr lang="en-US" sz="2000">
                <a:solidFill>
                  <a:srgbClr val="191F28"/>
                </a:solidFill>
                <a:latin typeface="Calibri" panose="020F0502020204030204" pitchFamily="34" charset="0"/>
              </a:rPr>
              <a:t>features</a:t>
            </a:r>
          </a:p>
          <a:p>
            <a:pPr algn="ctr"/>
            <a:endParaRPr lang="en-US" sz="2000">
              <a:solidFill>
                <a:srgbClr val="191F28"/>
              </a:solidFill>
              <a:latin typeface="Calibri" panose="020F0502020204030204" pitchFamily="34" charset="0"/>
            </a:endParaRPr>
          </a:p>
          <a:p>
            <a:pPr algn="ctr"/>
            <a:r>
              <a:rPr lang="en-US" sz="2000">
                <a:solidFill>
                  <a:srgbClr val="191F28"/>
                </a:solidFill>
                <a:latin typeface="Calibri" panose="020F0502020204030204" pitchFamily="34" charset="0"/>
              </a:rPr>
              <a:t>Embedding variant:</a:t>
            </a:r>
          </a:p>
          <a:p>
            <a:pPr algn="ctr"/>
            <a:r>
              <a:rPr lang="en-US" sz="2000">
                <a:solidFill>
                  <a:srgbClr val="191F28"/>
                </a:solidFill>
                <a:latin typeface="Calibri" panose="020F0502020204030204" pitchFamily="34" charset="0"/>
              </a:rPr>
              <a:t>+ 768 text values</a:t>
            </a:r>
            <a:endParaRPr lang="en-PH" sz="2000">
              <a:solidFill>
                <a:srgbClr val="191F28"/>
              </a:solidFill>
              <a:latin typeface="Calibri" panose="020F0502020204030204" pitchFamily="34" charset="0"/>
            </a:endParaRPr>
          </a:p>
        </p:txBody>
      </p:sp>
      <p:sp>
        <p:nvSpPr>
          <p:cNvPr id="10" name="Sequence model">
            <a:extLst>
              <a:ext uri="{FF2B5EF4-FFF2-40B4-BE49-F238E27FC236}">
                <a16:creationId xmlns:a16="http://schemas.microsoft.com/office/drawing/2014/main" id="{3A5AF613-2F19-8CB6-A0F8-1E0AB1DECBFA}"/>
              </a:ext>
            </a:extLst>
          </p:cNvPr>
          <p:cNvSpPr/>
          <p:nvPr/>
        </p:nvSpPr>
        <p:spPr>
          <a:xfrm>
            <a:off x="9588500" y="1943100"/>
            <a:ext cx="2070100" cy="1333500"/>
          </a:xfrm>
          <a:prstGeom prst="rect">
            <a:avLst/>
          </a:prstGeom>
          <a:solidFill>
            <a:srgbClr val="ECF6EF"/>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100">
                <a:solidFill>
                  <a:srgbClr val="191F28"/>
                </a:solidFill>
                <a:latin typeface="Calibri" panose="020F0502020204030204" pitchFamily="34" charset="0"/>
              </a:rPr>
              <a:t>Layer 2: LSTM</a:t>
            </a:r>
          </a:p>
          <a:p>
            <a:pPr algn="ctr"/>
            <a:r>
              <a:rPr lang="en-US" sz="2100">
                <a:solidFill>
                  <a:srgbClr val="191F28"/>
                </a:solidFill>
                <a:latin typeface="Calibri" panose="020F0502020204030204" pitchFamily="34" charset="0"/>
              </a:rPr>
              <a:t>7 or 775 inputs</a:t>
            </a:r>
          </a:p>
          <a:p>
            <a:pPr algn="ctr"/>
            <a:r>
              <a:rPr lang="en-US" sz="2100">
                <a:solidFill>
                  <a:srgbClr val="191F28"/>
                </a:solidFill>
                <a:latin typeface="Calibri" panose="020F0502020204030204" pitchFamily="34" charset="0"/>
              </a:rPr>
              <a:t>Ordered sequence</a:t>
            </a:r>
            <a:endParaRPr lang="en-PH" sz="2100">
              <a:solidFill>
                <a:srgbClr val="191F28"/>
              </a:solidFill>
              <a:latin typeface="Calibri" panose="020F0502020204030204" pitchFamily="34" charset="0"/>
            </a:endParaRPr>
          </a:p>
        </p:txBody>
      </p:sp>
      <p:sp>
        <p:nvSpPr>
          <p:cNvPr id="11" name="Review decision">
            <a:extLst>
              <a:ext uri="{FF2B5EF4-FFF2-40B4-BE49-F238E27FC236}">
                <a16:creationId xmlns:a16="http://schemas.microsoft.com/office/drawing/2014/main" id="{7413A3D3-841E-984E-A4A2-1DE4FE91C837}"/>
              </a:ext>
            </a:extLst>
          </p:cNvPr>
          <p:cNvSpPr/>
          <p:nvPr/>
        </p:nvSpPr>
        <p:spPr>
          <a:xfrm>
            <a:off x="9588500" y="4279900"/>
            <a:ext cx="2070100" cy="1231900"/>
          </a:xfrm>
          <a:prstGeom prst="rect">
            <a:avLst/>
          </a:prstGeom>
          <a:solidFill>
            <a:srgbClr val="ECF6EF"/>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1800">
                <a:solidFill>
                  <a:srgbClr val="191F28"/>
                </a:solidFill>
                <a:latin typeface="Calibri" panose="020F0502020204030204" pitchFamily="34" charset="0"/>
              </a:rPr>
              <a:t>Conversation score</a:t>
            </a:r>
          </a:p>
          <a:p>
            <a:pPr algn="ctr"/>
            <a:r>
              <a:rPr lang="en-US" sz="1800">
                <a:solidFill>
                  <a:srgbClr val="191F28"/>
                </a:solidFill>
                <a:latin typeface="Calibri" panose="020F0502020204030204" pitchFamily="34" charset="0"/>
              </a:rPr>
              <a:t>F2-selected cutoff</a:t>
            </a:r>
          </a:p>
          <a:p>
            <a:pPr algn="ctr"/>
            <a:r>
              <a:rPr lang="en-US" sz="1800">
                <a:solidFill>
                  <a:srgbClr val="191F28"/>
                </a:solidFill>
                <a:latin typeface="Calibri" panose="020F0502020204030204" pitchFamily="34" charset="0"/>
              </a:rPr>
              <a:t>Human review</a:t>
            </a:r>
            <a:endParaRPr lang="en-PH" sz="2000">
              <a:solidFill>
                <a:srgbClr val="191F28"/>
              </a:solidFill>
              <a:latin typeface="Calibri" panose="020F0502020204030204" pitchFamily="34" charset="0"/>
            </a:endParaRPr>
          </a:p>
        </p:txBody>
      </p:sp>
      <p:cxnSp>
        <p:nvCxnSpPr>
          <p:cNvPr id="12" name="Straight Connector 11">
            <a:extLst>
              <a:ext uri="{FF2B5EF4-FFF2-40B4-BE49-F238E27FC236}">
                <a16:creationId xmlns:a16="http://schemas.microsoft.com/office/drawing/2014/main" id="{2EAA3094-7942-EA33-2570-2EB75C687840}"/>
              </a:ext>
            </a:extLst>
          </p:cNvPr>
          <p:cNvCxnSpPr/>
          <p:nvPr/>
        </p:nvCxnSpPr>
        <p:spPr>
          <a:xfrm>
            <a:off x="2641600" y="2844800"/>
            <a:ext cx="2413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5489064-505C-13B2-96F1-5EDB044C3D54}"/>
              </a:ext>
            </a:extLst>
          </p:cNvPr>
          <p:cNvCxnSpPr/>
          <p:nvPr/>
        </p:nvCxnSpPr>
        <p:spPr>
          <a:xfrm flipV="1">
            <a:off x="2882900" y="2552700"/>
            <a:ext cx="0" cy="29210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F3CA9F5-FB78-DA19-424A-82EC903F4FD4}"/>
              </a:ext>
            </a:extLst>
          </p:cNvPr>
          <p:cNvCxnSpPr/>
          <p:nvPr/>
        </p:nvCxnSpPr>
        <p:spPr>
          <a:xfrm>
            <a:off x="2882900" y="2552700"/>
            <a:ext cx="228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F33E58E-F8FF-8BE9-7353-223A7419862C}"/>
              </a:ext>
            </a:extLst>
          </p:cNvPr>
          <p:cNvCxnSpPr/>
          <p:nvPr/>
        </p:nvCxnSpPr>
        <p:spPr>
          <a:xfrm>
            <a:off x="2641600" y="3530600"/>
            <a:ext cx="2413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A13E255-0385-DF91-BC35-7E014906115D}"/>
              </a:ext>
            </a:extLst>
          </p:cNvPr>
          <p:cNvCxnSpPr/>
          <p:nvPr/>
        </p:nvCxnSpPr>
        <p:spPr>
          <a:xfrm>
            <a:off x="2882900" y="3530600"/>
            <a:ext cx="0" cy="135890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C7AA78B-BD31-2EE1-CB06-98438A006AC9}"/>
              </a:ext>
            </a:extLst>
          </p:cNvPr>
          <p:cNvCxnSpPr/>
          <p:nvPr/>
        </p:nvCxnSpPr>
        <p:spPr>
          <a:xfrm>
            <a:off x="2882900" y="4889500"/>
            <a:ext cx="228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E2C3102-0168-249B-BD5F-A675CA2D54F1}"/>
              </a:ext>
            </a:extLst>
          </p:cNvPr>
          <p:cNvCxnSpPr/>
          <p:nvPr/>
        </p:nvCxnSpPr>
        <p:spPr>
          <a:xfrm>
            <a:off x="5867400" y="2552700"/>
            <a:ext cx="482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2C9E530-0149-E4D0-3980-60D516A6612F}"/>
              </a:ext>
            </a:extLst>
          </p:cNvPr>
          <p:cNvCxnSpPr/>
          <p:nvPr/>
        </p:nvCxnSpPr>
        <p:spPr>
          <a:xfrm>
            <a:off x="5867400" y="4889500"/>
            <a:ext cx="482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2FC4FD5-A87E-B20E-E14A-DD30449C7DC3}"/>
              </a:ext>
            </a:extLst>
          </p:cNvPr>
          <p:cNvCxnSpPr/>
          <p:nvPr/>
        </p:nvCxnSpPr>
        <p:spPr>
          <a:xfrm>
            <a:off x="9131300" y="2552700"/>
            <a:ext cx="4572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C9AB3E0-5991-5352-E474-387DEA8287BC}"/>
              </a:ext>
            </a:extLst>
          </p:cNvPr>
          <p:cNvCxnSpPr/>
          <p:nvPr/>
        </p:nvCxnSpPr>
        <p:spPr>
          <a:xfrm>
            <a:off x="10617200" y="3276600"/>
            <a:ext cx="0" cy="100330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sp>
        <p:nvSpPr>
          <p:cNvPr id="22" name="Architecture summary">
            <a:extLst>
              <a:ext uri="{FF2B5EF4-FFF2-40B4-BE49-F238E27FC236}">
                <a16:creationId xmlns:a16="http://schemas.microsoft.com/office/drawing/2014/main" id="{19E48753-796B-3305-A838-5BD816C00558}"/>
              </a:ext>
            </a:extLst>
          </p:cNvPr>
          <p:cNvSpPr txBox="1"/>
          <p:nvPr/>
        </p:nvSpPr>
        <p:spPr>
          <a:xfrm>
            <a:off x="812800" y="5854700"/>
            <a:ext cx="10541000" cy="533400"/>
          </a:xfrm>
          <a:prstGeom prst="rect">
            <a:avLst/>
          </a:prstGeom>
          <a:noFill/>
        </p:spPr>
        <p:txBody>
          <a:bodyPr vert="horz" wrap="square" lIns="25400" tIns="25400" rIns="25400" bIns="25400" rtlCol="0">
            <a:noAutofit/>
          </a:bodyPr>
          <a:lstStyle/>
          <a:p>
            <a:r>
              <a:rPr lang="en-US" sz="2200">
                <a:solidFill>
                  <a:srgbClr val="191F28"/>
                </a:solidFill>
                <a:latin typeface="Calibri Light" panose="020F0302020204030204" pitchFamily="34" charset="0"/>
              </a:rPr>
              <a:t>Two input variants; each new turn updates the conversation score.</a:t>
            </a:r>
            <a:endParaRPr lang="en-PH" sz="22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4252218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49445-6B2E-B038-2128-77567FA741F6}"/>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Dataset and Evaluation Scope</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D9BCD19F-8F4B-C8F1-BCF6-513AD6198481}"/>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5FB06679-67DF-40F1-E66A-31A43363C7FE}"/>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We selected PAN-2012 to evaluate the proposed architecture.</a:t>
            </a:r>
          </a:p>
          <a:p>
            <a:pPr>
              <a:spcAft>
                <a:spcPts val="1500"/>
              </a:spcAft>
            </a:pPr>
            <a:r>
              <a:rPr lang="en-US" sz="2600">
                <a:solidFill>
                  <a:srgbClr val="191F28"/>
                </a:solidFill>
                <a:latin typeface="Calibri Light" panose="020F0302020204030204" pitchFamily="34" charset="0"/>
              </a:rPr>
              <a:t>18,567 eligible two-speaker conversations and 218,114 turns.</a:t>
            </a:r>
          </a:p>
          <a:p>
            <a:pPr>
              <a:spcAft>
                <a:spcPts val="1500"/>
              </a:spcAft>
            </a:pPr>
            <a:r>
              <a:rPr lang="en-US" sz="2600">
                <a:solidFill>
                  <a:srgbClr val="191F28"/>
                </a:solidFill>
                <a:latin typeface="Calibri Light" panose="020F0302020204030204" pitchFamily="34" charset="0"/>
              </a:rPr>
              <a:t>The test evaluates conversation decisions on unseen author groups.</a:t>
            </a:r>
          </a:p>
          <a:p>
            <a:pPr>
              <a:spcAft>
                <a:spcPts val="1500"/>
              </a:spcAft>
            </a:pPr>
            <a:r>
              <a:rPr lang="en-US" sz="2600">
                <a:solidFill>
                  <a:srgbClr val="191F28"/>
                </a:solidFill>
                <a:latin typeface="Calibri Light" panose="020F0302020204030204" pitchFamily="34" charset="0"/>
              </a:rPr>
              <a:t>The completed experiment uses offline sequential replay.</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461310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DCEE2-687D-86E2-A4AC-7703E81DFB23}"/>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800">
                <a:solidFill>
                  <a:schemeClr val="accent1">
                    <a:lumMod val="75000"/>
                  </a:schemeClr>
                </a:solidFill>
              </a:rPr>
              <a:t>Frozen Experimental Setup</a:t>
            </a:r>
            <a:endParaRPr sz="3800">
              <a:solidFill>
                <a:schemeClr val="accent1">
                  <a:lumMod val="75000"/>
                </a:schemeClr>
              </a:solidFill>
            </a:endParaRPr>
          </a:p>
        </p:txBody>
      </p:sp>
      <p:sp>
        <p:nvSpPr>
          <p:cNvPr id="7" name="Content Placeholder 6">
            <a:extLst>
              <a:ext uri="{FF2B5EF4-FFF2-40B4-BE49-F238E27FC236}">
                <a16:creationId xmlns:a16="http://schemas.microsoft.com/office/drawing/2014/main" id="{B91042CF-BDB0-7449-206F-A9449A7E0216}"/>
              </a:ext>
            </a:extLst>
          </p:cNvPr>
          <p:cNvSpPr>
            <a:spLocks noGrp="1"/>
          </p:cNvSpPr>
          <p:nvPr>
            <p:ph idx="1"/>
          </p:nvPr>
        </p:nvSpPr>
        <p:spPr>
          <a:xfrm>
            <a:off x="838200" y="1825624"/>
            <a:ext cx="10417629" cy="4812919"/>
          </a:xfrm>
        </p:spPr>
        <p:txBody>
          <a:bodyPr wrap="square">
            <a:noAutofit/>
          </a:bodyPr>
          <a:lstStyle/>
          <a:p>
            <a:pPr marL="34" indent="-20">
              <a:lnSpc>
                <a:spcPct val="100000"/>
              </a:lnSpc>
              <a:spcAft>
                <a:spcPts val="700"/>
              </a:spcAft>
              <a:buChar char="•"/>
            </a:pPr>
            <a:r>
              <a:rPr lang="en-US" sz="2600" b="1">
                <a:latin typeface="Calibri Light" panose="020F0302020204030204" pitchFamily="34" charset="0"/>
              </a:rPr>
              <a:t>Training: 13,031 conversations; 319 positive.</a:t>
            </a:r>
          </a:p>
          <a:p>
            <a:pPr marL="34" indent="-20">
              <a:lnSpc>
                <a:spcPct val="100000"/>
              </a:lnSpc>
              <a:spcAft>
                <a:spcPts val="700"/>
              </a:spcAft>
              <a:buChar char="•"/>
            </a:pPr>
            <a:r>
              <a:rPr lang="en-US" sz="2600" b="1">
                <a:latin typeface="Calibri Light" panose="020F0302020204030204" pitchFamily="34" charset="0"/>
              </a:rPr>
              <a:t>Validation: 1,827 conversations; 49 positive.</a:t>
            </a:r>
          </a:p>
          <a:p>
            <a:pPr marL="34" indent="-20">
              <a:lnSpc>
                <a:spcPct val="100000"/>
              </a:lnSpc>
              <a:spcAft>
                <a:spcPts val="700"/>
              </a:spcAft>
              <a:buChar char="•"/>
            </a:pPr>
            <a:r>
              <a:rPr lang="en-US" sz="2600" b="1">
                <a:latin typeface="Calibri Light" panose="020F0302020204030204" pitchFamily="34" charset="0"/>
              </a:rPr>
              <a:t>Test: 1,862 conversations; 44 positive.</a:t>
            </a:r>
          </a:p>
          <a:p>
            <a:pPr marL="34" indent="-20">
              <a:lnSpc>
                <a:spcPct val="100000"/>
              </a:lnSpc>
              <a:spcAft>
                <a:spcPts val="700"/>
              </a:spcAft>
              <a:buChar char="•"/>
            </a:pPr>
            <a:r>
              <a:rPr lang="en-US" sz="2600" b="1">
                <a:latin typeface="Calibri Light" panose="020F0302020204030204" pitchFamily="34" charset="0"/>
              </a:rPr>
              <a:t>Zero author overlap. All cutoffs selected on validation.</a:t>
            </a:r>
            <a:endParaRPr sz="2600" b="0" dirty="0">
              <a:latin typeface="Calibri Light" panose="020F0302020204030204" pitchFamily="34" charset="0"/>
            </a:endParaRPr>
          </a:p>
        </p:txBody>
      </p:sp>
    </p:spTree>
    <p:extLst>
      <p:ext uri="{BB962C8B-B14F-4D97-AF65-F5344CB8AC3E}">
        <p14:creationId xmlns:p14="http://schemas.microsoft.com/office/powerpoint/2010/main" val="2325337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AC6D1-29B6-538B-7D25-7C5544CC89C0}"/>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4000">
                <a:solidFill>
                  <a:schemeClr val="accent1">
                    <a:lumMod val="75000"/>
                  </a:schemeClr>
                </a:solidFill>
              </a:rPr>
              <a:t>Models Compared Fairly</a:t>
            </a:r>
            <a:endParaRPr sz="4000">
              <a:solidFill>
                <a:schemeClr val="accent1">
                  <a:lumMod val="75000"/>
                </a:schemeClr>
              </a:solidFill>
            </a:endParaRPr>
          </a:p>
        </p:txBody>
      </p:sp>
      <p:sp>
        <p:nvSpPr>
          <p:cNvPr id="7" name="Content Placeholder 6">
            <a:extLst>
              <a:ext uri="{FF2B5EF4-FFF2-40B4-BE49-F238E27FC236}">
                <a16:creationId xmlns:a16="http://schemas.microsoft.com/office/drawing/2014/main" id="{F2C7DB05-330E-CFEE-9864-80C9E88E5EAE}"/>
              </a:ext>
            </a:extLst>
          </p:cNvPr>
          <p:cNvSpPr>
            <a:spLocks noGrp="1"/>
          </p:cNvSpPr>
          <p:nvPr>
            <p:ph idx="1"/>
          </p:nvPr>
        </p:nvSpPr>
        <p:spPr>
          <a:xfrm>
            <a:off x="838200" y="1825624"/>
            <a:ext cx="10417629" cy="4812919"/>
          </a:xfrm>
        </p:spPr>
        <p:txBody>
          <a:bodyPr wrap="square">
            <a:noAutofit/>
          </a:bodyPr>
          <a:lstStyle/>
          <a:p>
            <a:pPr>
              <a:lnSpc>
                <a:spcPct val="100000"/>
              </a:lnSpc>
              <a:spcAft>
                <a:spcPts val="700"/>
              </a:spcAft>
            </a:pPr>
            <a:r>
              <a:rPr lang="en-US" sz="2400" b="1">
                <a:latin typeface="Calibri Light" panose="020F0302020204030204" pitchFamily="34" charset="0"/>
              </a:rPr>
              <a:t>Trajectory-Feature LSTM: seven behavioral features.</a:t>
            </a:r>
          </a:p>
          <a:p>
            <a:pPr>
              <a:lnSpc>
                <a:spcPct val="100000"/>
              </a:lnSpc>
              <a:spcAft>
                <a:spcPts val="700"/>
              </a:spcAft>
            </a:pPr>
            <a:r>
              <a:rPr lang="en-US" sz="2400" b="1">
                <a:latin typeface="Calibri Light" panose="020F0302020204030204" pitchFamily="34" charset="0"/>
              </a:rPr>
              <a:t>Embedding-and-Feature LSTM: those features plus 768 text-embedding values.</a:t>
            </a:r>
          </a:p>
          <a:p>
            <a:pPr>
              <a:lnSpc>
                <a:spcPct val="100000"/>
              </a:lnSpc>
              <a:spcAft>
                <a:spcPts val="700"/>
              </a:spcAft>
            </a:pPr>
            <a:r>
              <a:rPr lang="en-US" sz="2400" b="1">
                <a:latin typeface="Calibri Light" panose="020F0302020204030204" pitchFamily="34" charset="0"/>
              </a:rPr>
              <a:t>Both use contextual DistilBERT upstream.</a:t>
            </a:r>
          </a:p>
          <a:p>
            <a:pPr>
              <a:lnSpc>
                <a:spcPct val="100000"/>
              </a:lnSpc>
              <a:spcAft>
                <a:spcPts val="700"/>
              </a:spcAft>
            </a:pPr>
            <a:r>
              <a:rPr lang="en-US" sz="2400" b="1">
                <a:latin typeface="Calibri Light" panose="020F0302020204030204" pitchFamily="34" charset="0"/>
              </a:rPr>
              <a:t>Weighted scoring uses the same seven features as the trajectory variant.</a:t>
            </a:r>
            <a:endParaRPr sz="2400">
              <a:latin typeface="Calibri Light" panose="020F0302020204030204" pitchFamily="34" charset="0"/>
            </a:endParaRPr>
          </a:p>
        </p:txBody>
      </p:sp>
    </p:spTree>
    <p:extLst>
      <p:ext uri="{BB962C8B-B14F-4D97-AF65-F5344CB8AC3E}">
        <p14:creationId xmlns:p14="http://schemas.microsoft.com/office/powerpoint/2010/main" val="364987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Why We Use F2</a:t>
            </a:r>
            <a:endParaRPr sz="3400">
              <a:solidFill>
                <a:schemeClr val="accent1">
                  <a:lumMod val="75000"/>
                </a:schemeClr>
              </a:solidFill>
            </a:endParaRPr>
          </a:p>
        </p:txBody>
      </p:sp>
      <p:sp>
        <p:nvSpPr>
          <p:cNvPr id="3" name="Panel body">
            <a:extLst>
              <a:ext uri="{FF2B5EF4-FFF2-40B4-BE49-F238E27FC236}">
                <a16:creationId xmlns:a16="http://schemas.microsoft.com/office/drawing/2014/main" id="{B2882D18-A969-99A5-D5BF-EA2B673DD92F}"/>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F0.5: emphasizes precision.</a:t>
            </a:r>
          </a:p>
          <a:p>
            <a:pPr>
              <a:spcAft>
                <a:spcPts val="1500"/>
              </a:spcAft>
            </a:pPr>
            <a:r>
              <a:rPr lang="en-US" sz="2600">
                <a:solidFill>
                  <a:srgbClr val="191F28"/>
                </a:solidFill>
                <a:latin typeface="Calibri Light" panose="020F0302020204030204" pitchFamily="34" charset="0"/>
              </a:rPr>
              <a:t>F1: balances precision and recall.</a:t>
            </a:r>
          </a:p>
          <a:p>
            <a:pPr>
              <a:spcAft>
                <a:spcPts val="1500"/>
              </a:spcAft>
            </a:pPr>
            <a:r>
              <a:rPr lang="en-US" sz="2600">
                <a:solidFill>
                  <a:srgbClr val="191F28"/>
                </a:solidFill>
                <a:latin typeface="Calibri Light" panose="020F0302020204030204" pitchFamily="34" charset="0"/>
              </a:rPr>
              <a:t>F2: emphasizes recall; our main reporting policy.</a:t>
            </a:r>
          </a:p>
          <a:p>
            <a:pPr>
              <a:spcAft>
                <a:spcPts val="1500"/>
              </a:spcAft>
            </a:pPr>
            <a:r>
              <a:rPr lang="en-US" sz="2600">
                <a:solidFill>
                  <a:srgbClr val="191F28"/>
                </a:solidFill>
                <a:latin typeface="Calibri Light" panose="020F0302020204030204" pitchFamily="34" charset="0"/>
              </a:rPr>
              <a:t>Validation selects the cutoff. We still report false alerts.</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503556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9D8BC-1F83-AEE8-FB1E-A56E1DC9E5A3}"/>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Conversation Results: F2 Policy</a:t>
            </a:r>
            <a:endParaRPr sz="3400">
              <a:solidFill>
                <a:schemeClr val="accent1">
                  <a:lumMod val="75000"/>
                </a:schemeClr>
              </a:solidFill>
            </a:endParaRPr>
          </a:p>
        </p:txBody>
      </p:sp>
      <p:graphicFrame>
        <p:nvGraphicFramePr>
          <p:cNvPr id="5" name="Results Table">
            <a:extLst>
              <a:ext uri="{FF2B5EF4-FFF2-40B4-BE49-F238E27FC236}">
                <a16:creationId xmlns:a16="http://schemas.microsoft.com/office/drawing/2014/main" id="{C856E440-A226-86DE-A51C-5161681A5DFD}"/>
              </a:ext>
            </a:extLst>
          </p:cNvPr>
          <p:cNvGraphicFramePr>
            <a:graphicFrameLocks noGrp="1"/>
          </p:cNvGraphicFramePr>
          <p:nvPr>
            <p:ph idx="1"/>
            <p:extLst>
              <p:ext uri="{D42A27DB-BD31-4B8C-83A1-F6EECF244321}">
                <p14:modId xmlns:p14="http://schemas.microsoft.com/office/powerpoint/2010/main" val="2090199089"/>
              </p:ext>
            </p:extLst>
          </p:nvPr>
        </p:nvGraphicFramePr>
        <p:xfrm>
          <a:off x="660399" y="1651000"/>
          <a:ext cx="10871200" cy="3708402"/>
        </p:xfrm>
        <a:graphic>
          <a:graphicData uri="http://schemas.openxmlformats.org/drawingml/2006/table">
            <a:tbl>
              <a:tblPr firstRow="1" bandRow="1">
                <a:tableStyleId>{5C22544A-7EE6-4342-B048-85BDC9FD1C3A}</a:tableStyleId>
              </a:tblPr>
              <a:tblGrid>
                <a:gridCol w="2997200">
                  <a:extLst>
                    <a:ext uri="{9D8B030D-6E8A-4147-A177-3AD203B41FA5}">
                      <a16:colId xmlns:a16="http://schemas.microsoft.com/office/drawing/2014/main" val="2060636180"/>
                    </a:ext>
                  </a:extLst>
                </a:gridCol>
                <a:gridCol w="1524000">
                  <a:extLst>
                    <a:ext uri="{9D8B030D-6E8A-4147-A177-3AD203B41FA5}">
                      <a16:colId xmlns:a16="http://schemas.microsoft.com/office/drawing/2014/main" val="4199649200"/>
                    </a:ext>
                  </a:extLst>
                </a:gridCol>
                <a:gridCol w="1397000">
                  <a:extLst>
                    <a:ext uri="{9D8B030D-6E8A-4147-A177-3AD203B41FA5}">
                      <a16:colId xmlns:a16="http://schemas.microsoft.com/office/drawing/2014/main" val="3668404456"/>
                    </a:ext>
                  </a:extLst>
                </a:gridCol>
                <a:gridCol w="1524000">
                  <a:extLst>
                    <a:ext uri="{9D8B030D-6E8A-4147-A177-3AD203B41FA5}">
                      <a16:colId xmlns:a16="http://schemas.microsoft.com/office/drawing/2014/main" val="1410816486"/>
                    </a:ext>
                  </a:extLst>
                </a:gridCol>
                <a:gridCol w="1397000">
                  <a:extLst>
                    <a:ext uri="{9D8B030D-6E8A-4147-A177-3AD203B41FA5}">
                      <a16:colId xmlns:a16="http://schemas.microsoft.com/office/drawing/2014/main" val="2794559133"/>
                    </a:ext>
                  </a:extLst>
                </a:gridCol>
                <a:gridCol w="1016000">
                  <a:extLst>
                    <a:ext uri="{9D8B030D-6E8A-4147-A177-3AD203B41FA5}">
                      <a16:colId xmlns:a16="http://schemas.microsoft.com/office/drawing/2014/main" val="352518138"/>
                    </a:ext>
                  </a:extLst>
                </a:gridCol>
                <a:gridCol w="1016000">
                  <a:extLst>
                    <a:ext uri="{9D8B030D-6E8A-4147-A177-3AD203B41FA5}">
                      <a16:colId xmlns:a16="http://schemas.microsoft.com/office/drawing/2014/main" val="194572329"/>
                    </a:ext>
                  </a:extLst>
                </a:gridCol>
              </a:tblGrid>
              <a:tr h="618067">
                <a:tc>
                  <a:txBody>
                    <a:bodyPr/>
                    <a:lstStyle/>
                    <a:p>
                      <a:pPr algn="l"/>
                      <a:r>
                        <a:rPr lang="en-PH" sz="1600" b="1">
                          <a:solidFill>
                            <a:srgbClr val="000000"/>
                          </a:solidFill>
                          <a:latin typeface="Calibri" panose="020F0502020204030204" pitchFamily="34" charset="0"/>
                        </a:rPr>
                        <a:t>Method</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PR-AUC</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F2</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Precision</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Recall</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FP</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FN</a:t>
                      </a:r>
                    </a:p>
                  </a:txBody>
                  <a:tcPr marL="50800" marR="50800" marT="38100" marB="38100" anchor="ctr">
                    <a:solidFill>
                      <a:srgbClr val="E1E7EF"/>
                    </a:solidFill>
                  </a:tcPr>
                </a:tc>
                <a:extLst>
                  <a:ext uri="{0D108BD9-81ED-4DB2-BD59-A6C34878D82A}">
                    <a16:rowId xmlns:a16="http://schemas.microsoft.com/office/drawing/2014/main" val="936655367"/>
                  </a:ext>
                </a:extLst>
              </a:tr>
              <a:tr h="618067">
                <a:tc>
                  <a:txBody>
                    <a:bodyPr/>
                    <a:lstStyle/>
                    <a:p>
                      <a:pPr algn="l"/>
                      <a:r>
                        <a:rPr lang="en-PH" sz="1600">
                          <a:solidFill>
                            <a:srgbClr val="000000"/>
                          </a:solidFill>
                          <a:latin typeface="Calibri" panose="020F0502020204030204" pitchFamily="34" charset="0"/>
                        </a:rPr>
                        <a:t>Keyword rule</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0.4451</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0.6308</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0.7105</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0.6136</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11</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17</a:t>
                      </a:r>
                    </a:p>
                  </a:txBody>
                  <a:tcPr marL="50800" marR="50800" marT="38100" marB="38100" anchor="ctr">
                    <a:solidFill>
                      <a:srgbClr val="FFFFFF"/>
                    </a:solidFill>
                  </a:tcPr>
                </a:tc>
                <a:extLst>
                  <a:ext uri="{0D108BD9-81ED-4DB2-BD59-A6C34878D82A}">
                    <a16:rowId xmlns:a16="http://schemas.microsoft.com/office/drawing/2014/main" val="3916212824"/>
                  </a:ext>
                </a:extLst>
              </a:tr>
              <a:tr h="618067">
                <a:tc>
                  <a:txBody>
                    <a:bodyPr/>
                    <a:lstStyle/>
                    <a:p>
                      <a:pPr algn="l"/>
                      <a:r>
                        <a:rPr lang="en-PH" sz="1600">
                          <a:solidFill>
                            <a:srgbClr val="000000"/>
                          </a:solidFill>
                          <a:latin typeface="Calibri" panose="020F0502020204030204" pitchFamily="34" charset="0"/>
                        </a:rPr>
                        <a:t>Maximum Layer 1</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0.5523</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0.6655</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0.3333</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0.8864</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78</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5</a:t>
                      </a:r>
                    </a:p>
                  </a:txBody>
                  <a:tcPr marL="50800" marR="50800" marT="38100" marB="38100" anchor="ctr">
                    <a:solidFill>
                      <a:srgbClr val="FFFFFF"/>
                    </a:solidFill>
                  </a:tcPr>
                </a:tc>
                <a:extLst>
                  <a:ext uri="{0D108BD9-81ED-4DB2-BD59-A6C34878D82A}">
                    <a16:rowId xmlns:a16="http://schemas.microsoft.com/office/drawing/2014/main" val="3868423462"/>
                  </a:ext>
                </a:extLst>
              </a:tr>
              <a:tr h="618067">
                <a:tc>
                  <a:txBody>
                    <a:bodyPr/>
                    <a:lstStyle/>
                    <a:p>
                      <a:pPr algn="l"/>
                      <a:r>
                        <a:rPr lang="en-PH" sz="1600">
                          <a:solidFill>
                            <a:srgbClr val="000000"/>
                          </a:solidFill>
                          <a:latin typeface="Calibri" panose="020F0502020204030204" pitchFamily="34" charset="0"/>
                        </a:rPr>
                        <a:t>Weighted scorer</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0.8050</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0.7983</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0.6129</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0.8636</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24</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6</a:t>
                      </a:r>
                    </a:p>
                  </a:txBody>
                  <a:tcPr marL="50800" marR="50800" marT="38100" marB="38100" anchor="ctr">
                    <a:solidFill>
                      <a:srgbClr val="FFFFFF"/>
                    </a:solidFill>
                  </a:tcPr>
                </a:tc>
                <a:extLst>
                  <a:ext uri="{0D108BD9-81ED-4DB2-BD59-A6C34878D82A}">
                    <a16:rowId xmlns:a16="http://schemas.microsoft.com/office/drawing/2014/main" val="594079778"/>
                  </a:ext>
                </a:extLst>
              </a:tr>
              <a:tr h="618067">
                <a:tc>
                  <a:txBody>
                    <a:bodyPr/>
                    <a:lstStyle/>
                    <a:p>
                      <a:pPr algn="l"/>
                      <a:r>
                        <a:rPr lang="en-PH" sz="1600" b="0">
                          <a:solidFill>
                            <a:srgbClr val="000000"/>
                          </a:solidFill>
                          <a:latin typeface="Calibri" panose="020F0502020204030204" pitchFamily="34" charset="0"/>
                        </a:rPr>
                        <a:t>Trajectory-Feature LSTM</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0.9153</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0.8613</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0.6613</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0.9318</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21</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3</a:t>
                      </a:r>
                    </a:p>
                  </a:txBody>
                  <a:tcPr marL="50800" marR="50800" marT="38100" marB="38100" anchor="ctr">
                    <a:solidFill>
                      <a:srgbClr val="FFFFFF"/>
                    </a:solidFill>
                  </a:tcPr>
                </a:tc>
                <a:extLst>
                  <a:ext uri="{0D108BD9-81ED-4DB2-BD59-A6C34878D82A}">
                    <a16:rowId xmlns:a16="http://schemas.microsoft.com/office/drawing/2014/main" val="3528414813"/>
                  </a:ext>
                </a:extLst>
              </a:tr>
              <a:tr h="618067">
                <a:tc>
                  <a:txBody>
                    <a:bodyPr/>
                    <a:lstStyle/>
                    <a:p>
                      <a:pPr algn="l"/>
                      <a:r>
                        <a:rPr lang="en-PH" sz="1600" b="0">
                          <a:solidFill>
                            <a:srgbClr val="000000"/>
                          </a:solidFill>
                          <a:latin typeface="Calibri" panose="020F0502020204030204" pitchFamily="34" charset="0"/>
                        </a:rPr>
                        <a:t>Embedding-and-Feature LSTM</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0.9483</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0.8429</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0.5176</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1.0000</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41</a:t>
                      </a:r>
                    </a:p>
                  </a:txBody>
                  <a:tcPr marL="50800" marR="50800" marT="38100" marB="38100" anchor="ctr">
                    <a:solidFill>
                      <a:srgbClr val="FFFFFF"/>
                    </a:solidFill>
                  </a:tcPr>
                </a:tc>
                <a:tc>
                  <a:txBody>
                    <a:bodyPr/>
                    <a:lstStyle/>
                    <a:p>
                      <a:pPr algn="ctr"/>
                      <a:r>
                        <a:rPr lang="en-PH" sz="1600" b="0">
                          <a:solidFill>
                            <a:srgbClr val="000000"/>
                          </a:solidFill>
                          <a:latin typeface="Calibri" panose="020F0502020204030204" pitchFamily="34" charset="0"/>
                        </a:rPr>
                        <a:t>0</a:t>
                      </a:r>
                    </a:p>
                  </a:txBody>
                  <a:tcPr marL="50800" marR="50800" marT="38100" marB="38100" anchor="ctr">
                    <a:solidFill>
                      <a:srgbClr val="FFFFFF"/>
                    </a:solidFill>
                  </a:tcPr>
                </a:tc>
                <a:extLst>
                  <a:ext uri="{0D108BD9-81ED-4DB2-BD59-A6C34878D82A}">
                    <a16:rowId xmlns:a16="http://schemas.microsoft.com/office/drawing/2014/main" val="2266072408"/>
                  </a:ext>
                </a:extLst>
              </a:tr>
            </a:tbl>
          </a:graphicData>
        </a:graphic>
      </p:graphicFrame>
      <p:sp>
        <p:nvSpPr>
          <p:cNvPr id="8" name="Results Footnote">
            <a:extLst>
              <a:ext uri="{FF2B5EF4-FFF2-40B4-BE49-F238E27FC236}">
                <a16:creationId xmlns:a16="http://schemas.microsoft.com/office/drawing/2014/main" id="{0B2770C0-A40A-B5FB-1DC6-B35CA7D9AE11}"/>
              </a:ext>
            </a:extLst>
          </p:cNvPr>
          <p:cNvSpPr txBox="1"/>
          <p:nvPr/>
        </p:nvSpPr>
        <p:spPr>
          <a:xfrm>
            <a:off x="660400" y="5588000"/>
            <a:ext cx="10871200" cy="353943"/>
          </a:xfrm>
          <a:prstGeom prst="rect">
            <a:avLst/>
          </a:prstGeom>
          <a:noFill/>
        </p:spPr>
        <p:txBody>
          <a:bodyPr vert="horz" rtlCol="0">
            <a:spAutoFit/>
          </a:bodyPr>
          <a:lstStyle/>
          <a:p>
            <a:pPr algn="ctr"/>
            <a:r>
              <a:rPr lang="en-US" sz="1700">
                <a:solidFill>
                  <a:srgbClr val="404040"/>
                </a:solidFill>
                <a:latin typeface="Calibri Light" panose="020F0302020204030204" pitchFamily="34" charset="0"/>
              </a:rPr>
              <a:t>N = 1,862; 44 positive. Validation-selected F2 cutoffs on saved test scores.</a:t>
            </a:r>
            <a:endParaRPr lang="en-PH" sz="1700">
              <a:solidFill>
                <a:srgbClr val="404040"/>
              </a:solidFill>
              <a:latin typeface="Calibri Light" panose="020F0302020204030204" pitchFamily="34" charset="0"/>
            </a:endParaRPr>
          </a:p>
        </p:txBody>
      </p:sp>
    </p:spTree>
    <p:extLst>
      <p:ext uri="{BB962C8B-B14F-4D97-AF65-F5344CB8AC3E}">
        <p14:creationId xmlns:p14="http://schemas.microsoft.com/office/powerpoint/2010/main" val="165754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Missed Positives and False Alerts</a:t>
            </a:r>
            <a:endParaRPr sz="3400">
              <a:solidFill>
                <a:schemeClr val="accent1">
                  <a:lumMod val="75000"/>
                </a:schemeClr>
              </a:solidFill>
            </a:endParaRPr>
          </a:p>
        </p:txBody>
      </p:sp>
      <p:graphicFrame>
        <p:nvGraphicFramePr>
          <p:cNvPr id="3" name="Editable results chart"/>
          <p:cNvGraphicFramePr/>
          <p:nvPr/>
        </p:nvGraphicFramePr>
        <p:xfrm>
          <a:off x="787400" y="1841500"/>
          <a:ext cx="10464800" cy="3771900"/>
        </p:xfrm>
        <a:graphic>
          <a:graphicData uri="http://schemas.openxmlformats.org/drawingml/2006/chart">
            <c:chart xmlns:c="http://schemas.openxmlformats.org/drawingml/2006/chart" xmlns:r="http://schemas.openxmlformats.org/officeDocument/2006/relationships" r:id="rId3"/>
          </a:graphicData>
        </a:graphic>
      </p:graphicFrame>
      <p:sp>
        <p:nvSpPr>
          <p:cNvPr id="6" name="Error interpretation">
            <a:extLst>
              <a:ext uri="{FF2B5EF4-FFF2-40B4-BE49-F238E27FC236}">
                <a16:creationId xmlns:a16="http://schemas.microsoft.com/office/drawing/2014/main" id="{9C633023-A631-14C6-B7AC-316CD801B7AB}"/>
              </a:ext>
            </a:extLst>
          </p:cNvPr>
          <p:cNvSpPr txBox="1"/>
          <p:nvPr/>
        </p:nvSpPr>
        <p:spPr>
          <a:xfrm>
            <a:off x="825500" y="5791200"/>
            <a:ext cx="10414000" cy="787400"/>
          </a:xfrm>
          <a:prstGeom prst="rect">
            <a:avLst/>
          </a:prstGeom>
          <a:noFill/>
        </p:spPr>
        <p:txBody>
          <a:bodyPr vert="horz" wrap="square" lIns="25400" tIns="25400" rIns="25400" bIns="25400" rtlCol="0">
            <a:noAutofit/>
          </a:bodyPr>
          <a:lstStyle/>
          <a:p>
            <a:r>
              <a:rPr lang="en-US" sz="2200">
                <a:solidFill>
                  <a:srgbClr val="191F28"/>
                </a:solidFill>
                <a:latin typeface="Calibri Light" panose="020F0302020204030204" pitchFamily="34" charset="0"/>
              </a:rPr>
              <a:t>7-feature LSTM: 3 misses and 21 false alerts. 775-input LSTM: 0 misses and 41 false alerts.</a:t>
            </a:r>
            <a:endParaRPr lang="en-PH" sz="22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4140593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598A0-9FA3-ADAE-2623-D2D08491DEAB}"/>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Sequence Modeling Added Value</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CB07CC07-9904-E8B6-5924-5744447F0EEC}"/>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8C0E438C-2025-E56C-F494-8D54F4A829C4}"/>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500">
                <a:solidFill>
                  <a:srgbClr val="191F28"/>
                </a:solidFill>
                <a:latin typeface="Calibri Light" panose="020F0302020204030204" pitchFamily="34" charset="0"/>
              </a:rPr>
              <a:t>The Trajectory-Feature LSTM and weighted scorer share seven inputs.</a:t>
            </a:r>
          </a:p>
          <a:p>
            <a:pPr>
              <a:spcAft>
                <a:spcPts val="1500"/>
              </a:spcAft>
            </a:pPr>
            <a:r>
              <a:rPr lang="en-US" sz="2500">
                <a:solidFill>
                  <a:srgbClr val="191F28"/>
                </a:solidFill>
                <a:latin typeface="Calibri Light" panose="020F0302020204030204" pitchFamily="34" charset="0"/>
              </a:rPr>
              <a:t>PR-AUC difference: +0.1103 [0.0251, 0.2254].</a:t>
            </a:r>
          </a:p>
          <a:p>
            <a:pPr>
              <a:spcAft>
                <a:spcPts val="1500"/>
              </a:spcAft>
            </a:pPr>
            <a:r>
              <a:rPr lang="en-US" sz="2500">
                <a:solidFill>
                  <a:srgbClr val="191F28"/>
                </a:solidFill>
                <a:latin typeface="Calibri Light" panose="020F0302020204030204" pitchFamily="34" charset="0"/>
              </a:rPr>
              <a:t>F2 difference: +0.0630 [0.0034, 0.1294].</a:t>
            </a:r>
          </a:p>
          <a:p>
            <a:pPr>
              <a:spcAft>
                <a:spcPts val="1500"/>
              </a:spcAft>
            </a:pPr>
            <a:r>
              <a:rPr lang="en-US" sz="2500">
                <a:solidFill>
                  <a:srgbClr val="191F28"/>
                </a:solidFill>
                <a:latin typeface="Calibri Light" panose="020F0302020204030204" pitchFamily="34" charset="0"/>
              </a:rPr>
              <a:t>Both paired 95% intervals are above zero.</a:t>
            </a:r>
            <a:endParaRPr lang="en-PH" sz="25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944644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Cutoff Choice: Coverage and Alerts</a:t>
            </a:r>
            <a:endParaRPr sz="3400">
              <a:solidFill>
                <a:schemeClr val="accent1">
                  <a:lumMod val="75000"/>
                </a:schemeClr>
              </a:solidFill>
            </a:endParaRPr>
          </a:p>
        </p:txBody>
      </p:sp>
      <p:sp>
        <p:nvSpPr>
          <p:cNvPr id="3" name="Policy context">
            <a:extLst>
              <a:ext uri="{FF2B5EF4-FFF2-40B4-BE49-F238E27FC236}">
                <a16:creationId xmlns:a16="http://schemas.microsoft.com/office/drawing/2014/main" id="{94175046-A9D0-5A93-278F-E1C89721899C}"/>
              </a:ext>
            </a:extLst>
          </p:cNvPr>
          <p:cNvSpPr txBox="1"/>
          <p:nvPr/>
        </p:nvSpPr>
        <p:spPr>
          <a:xfrm>
            <a:off x="685800" y="1739900"/>
            <a:ext cx="10795000" cy="338554"/>
          </a:xfrm>
          <a:prstGeom prst="rect">
            <a:avLst/>
          </a:prstGeom>
          <a:noFill/>
        </p:spPr>
        <p:txBody>
          <a:bodyPr vert="horz" lIns="0" tIns="0" rIns="0" bIns="0" rtlCol="0">
            <a:spAutoFit/>
          </a:bodyPr>
          <a:lstStyle/>
          <a:p>
            <a:r>
              <a:rPr lang="en-US" sz="2200">
                <a:solidFill>
                  <a:srgbClr val="333333"/>
                </a:solidFill>
                <a:latin typeface="Calibri Light" panose="020F0302020204030204" pitchFamily="34" charset="0"/>
              </a:rPr>
              <a:t>Same two trained models. Only the validation-selected cutoff changes.</a:t>
            </a:r>
            <a:endParaRPr lang="en-PH" sz="2200">
              <a:solidFill>
                <a:srgbClr val="333333"/>
              </a:solidFill>
              <a:latin typeface="Calibri Light" panose="020F0302020204030204" pitchFamily="34" charset="0"/>
            </a:endParaRPr>
          </a:p>
        </p:txBody>
      </p:sp>
      <p:graphicFrame>
        <p:nvGraphicFramePr>
          <p:cNvPr id="8" name="Combined policy table">
            <a:extLst>
              <a:ext uri="{FF2B5EF4-FFF2-40B4-BE49-F238E27FC236}">
                <a16:creationId xmlns:a16="http://schemas.microsoft.com/office/drawing/2014/main" id="{A437C8BF-ECD0-1B07-8660-457C11FC6A2E}"/>
              </a:ext>
            </a:extLst>
          </p:cNvPr>
          <p:cNvGraphicFramePr>
            <a:graphicFrameLocks noGrp="1"/>
          </p:cNvGraphicFramePr>
          <p:nvPr>
            <p:extLst>
              <p:ext uri="{D42A27DB-BD31-4B8C-83A1-F6EECF244321}">
                <p14:modId xmlns:p14="http://schemas.microsoft.com/office/powerpoint/2010/main" val="4097553129"/>
              </p:ext>
            </p:extLst>
          </p:nvPr>
        </p:nvGraphicFramePr>
        <p:xfrm>
          <a:off x="685800" y="2146300"/>
          <a:ext cx="10795000" cy="3581403"/>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85618305"/>
                    </a:ext>
                  </a:extLst>
                </a:gridCol>
                <a:gridCol w="952500">
                  <a:extLst>
                    <a:ext uri="{9D8B030D-6E8A-4147-A177-3AD203B41FA5}">
                      <a16:colId xmlns:a16="http://schemas.microsoft.com/office/drawing/2014/main" val="1797071680"/>
                    </a:ext>
                  </a:extLst>
                </a:gridCol>
                <a:gridCol w="952500">
                  <a:extLst>
                    <a:ext uri="{9D8B030D-6E8A-4147-A177-3AD203B41FA5}">
                      <a16:colId xmlns:a16="http://schemas.microsoft.com/office/drawing/2014/main" val="980132809"/>
                    </a:ext>
                  </a:extLst>
                </a:gridCol>
                <a:gridCol w="952500">
                  <a:extLst>
                    <a:ext uri="{9D8B030D-6E8A-4147-A177-3AD203B41FA5}">
                      <a16:colId xmlns:a16="http://schemas.microsoft.com/office/drawing/2014/main" val="1317412603"/>
                    </a:ext>
                  </a:extLst>
                </a:gridCol>
                <a:gridCol w="1397000">
                  <a:extLst>
                    <a:ext uri="{9D8B030D-6E8A-4147-A177-3AD203B41FA5}">
                      <a16:colId xmlns:a16="http://schemas.microsoft.com/office/drawing/2014/main" val="1708381866"/>
                    </a:ext>
                  </a:extLst>
                </a:gridCol>
                <a:gridCol w="1714500">
                  <a:extLst>
                    <a:ext uri="{9D8B030D-6E8A-4147-A177-3AD203B41FA5}">
                      <a16:colId xmlns:a16="http://schemas.microsoft.com/office/drawing/2014/main" val="1232810850"/>
                    </a:ext>
                  </a:extLst>
                </a:gridCol>
                <a:gridCol w="1714500">
                  <a:extLst>
                    <a:ext uri="{9D8B030D-6E8A-4147-A177-3AD203B41FA5}">
                      <a16:colId xmlns:a16="http://schemas.microsoft.com/office/drawing/2014/main" val="3669939012"/>
                    </a:ext>
                  </a:extLst>
                </a:gridCol>
              </a:tblGrid>
              <a:tr h="511629">
                <a:tc>
                  <a:txBody>
                    <a:bodyPr/>
                    <a:lstStyle/>
                    <a:p>
                      <a:pPr algn="l"/>
                      <a:r>
                        <a:rPr lang="en-PH" sz="1800" b="1">
                          <a:solidFill>
                            <a:srgbClr val="FFFFFF"/>
                          </a:solidFill>
                          <a:latin typeface="Calibri" panose="020F0502020204030204" pitchFamily="34" charset="0"/>
                        </a:rPr>
                        <a:t>Model</a:t>
                      </a:r>
                    </a:p>
                  </a:txBody>
                  <a:tcPr marL="50800" marR="50800" marT="25400" marB="25400" anchor="ctr">
                    <a:solidFill>
                      <a:srgbClr val="336699"/>
                    </a:solidFill>
                  </a:tcPr>
                </a:tc>
                <a:tc>
                  <a:txBody>
                    <a:bodyPr/>
                    <a:lstStyle/>
                    <a:p>
                      <a:pPr algn="ctr"/>
                      <a:r>
                        <a:rPr lang="en-PH" sz="1800" b="1">
                          <a:solidFill>
                            <a:srgbClr val="FFFFFF"/>
                          </a:solidFill>
                          <a:latin typeface="Calibri" panose="020F0502020204030204" pitchFamily="34" charset="0"/>
                        </a:rPr>
                        <a:t>Policy</a:t>
                      </a:r>
                    </a:p>
                  </a:txBody>
                  <a:tcPr marL="50800" marR="50800" marT="25400" marB="25400" anchor="ctr">
                    <a:solidFill>
                      <a:srgbClr val="336699"/>
                    </a:solidFill>
                  </a:tcPr>
                </a:tc>
                <a:tc>
                  <a:txBody>
                    <a:bodyPr/>
                    <a:lstStyle/>
                    <a:p>
                      <a:pPr algn="ctr"/>
                      <a:r>
                        <a:rPr lang="en-PH" sz="1800" b="1">
                          <a:solidFill>
                            <a:srgbClr val="FFFFFF"/>
                          </a:solidFill>
                          <a:latin typeface="Calibri" panose="020F0502020204030204" pitchFamily="34" charset="0"/>
                        </a:rPr>
                        <a:t>Found</a:t>
                      </a:r>
                    </a:p>
                  </a:txBody>
                  <a:tcPr marL="50800" marR="50800" marT="25400" marB="25400" anchor="ctr">
                    <a:solidFill>
                      <a:srgbClr val="336699"/>
                    </a:solidFill>
                  </a:tcPr>
                </a:tc>
                <a:tc>
                  <a:txBody>
                    <a:bodyPr/>
                    <a:lstStyle/>
                    <a:p>
                      <a:pPr algn="ctr"/>
                      <a:r>
                        <a:rPr lang="en-PH" sz="1800" b="1">
                          <a:solidFill>
                            <a:srgbClr val="FFFFFF"/>
                          </a:solidFill>
                          <a:latin typeface="Calibri" panose="020F0502020204030204" pitchFamily="34" charset="0"/>
                        </a:rPr>
                        <a:t>Missed</a:t>
                      </a:r>
                    </a:p>
                  </a:txBody>
                  <a:tcPr marL="50800" marR="50800" marT="25400" marB="25400" anchor="ctr">
                    <a:solidFill>
                      <a:srgbClr val="336699"/>
                    </a:solidFill>
                  </a:tcPr>
                </a:tc>
                <a:tc>
                  <a:txBody>
                    <a:bodyPr/>
                    <a:lstStyle/>
                    <a:p>
                      <a:pPr algn="ctr"/>
                      <a:r>
                        <a:rPr lang="en-PH" sz="1800" b="1">
                          <a:solidFill>
                            <a:srgbClr val="FFFFFF"/>
                          </a:solidFill>
                          <a:latin typeface="Calibri" panose="020F0502020204030204" pitchFamily="34" charset="0"/>
                        </a:rPr>
                        <a:t>False alerts</a:t>
                      </a:r>
                    </a:p>
                  </a:txBody>
                  <a:tcPr marL="50800" marR="50800" marT="25400" marB="25400" anchor="ctr">
                    <a:solidFill>
                      <a:srgbClr val="336699"/>
                    </a:solidFill>
                  </a:tcPr>
                </a:tc>
                <a:tc>
                  <a:txBody>
                    <a:bodyPr/>
                    <a:lstStyle/>
                    <a:p>
                      <a:pPr algn="ctr"/>
                      <a:r>
                        <a:rPr lang="en-PH" sz="1800" b="1">
                          <a:solidFill>
                            <a:srgbClr val="FFFFFF"/>
                          </a:solidFill>
                          <a:latin typeface="Calibri" panose="020F0502020204030204" pitchFamily="34" charset="0"/>
                        </a:rPr>
                        <a:t>Precision</a:t>
                      </a:r>
                    </a:p>
                  </a:txBody>
                  <a:tcPr marL="50800" marR="50800" marT="25400" marB="25400" anchor="ctr">
                    <a:solidFill>
                      <a:srgbClr val="336699"/>
                    </a:solidFill>
                  </a:tcPr>
                </a:tc>
                <a:tc>
                  <a:txBody>
                    <a:bodyPr/>
                    <a:lstStyle/>
                    <a:p>
                      <a:pPr algn="ctr"/>
                      <a:r>
                        <a:rPr lang="en-PH" sz="1800" b="1">
                          <a:solidFill>
                            <a:srgbClr val="FFFFFF"/>
                          </a:solidFill>
                          <a:latin typeface="Calibri" panose="020F0502020204030204" pitchFamily="34" charset="0"/>
                        </a:rPr>
                        <a:t>Recall</a:t>
                      </a:r>
                    </a:p>
                  </a:txBody>
                  <a:tcPr marL="50800" marR="50800" marT="25400" marB="25400" anchor="ctr">
                    <a:solidFill>
                      <a:srgbClr val="336699"/>
                    </a:solidFill>
                  </a:tcPr>
                </a:tc>
                <a:extLst>
                  <a:ext uri="{0D108BD9-81ED-4DB2-BD59-A6C34878D82A}">
                    <a16:rowId xmlns:a16="http://schemas.microsoft.com/office/drawing/2014/main" val="3677161963"/>
                  </a:ext>
                </a:extLst>
              </a:tr>
              <a:tr h="511629">
                <a:tc>
                  <a:txBody>
                    <a:bodyPr/>
                    <a:lstStyle/>
                    <a:p>
                      <a:pPr algn="l"/>
                      <a:r>
                        <a:rPr lang="en-PH" sz="1800" b="0">
                          <a:solidFill>
                            <a:srgbClr val="333333"/>
                          </a:solidFill>
                          <a:latin typeface="Calibri" panose="020F0502020204030204" pitchFamily="34" charset="0"/>
                        </a:rPr>
                        <a:t>Embedding-and-Feature LSTM</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F0.5</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41</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3</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6</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87.2%</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93.2%</a:t>
                      </a:r>
                    </a:p>
                  </a:txBody>
                  <a:tcPr marL="50800" marR="50800" marT="25400" marB="25400" anchor="ctr">
                    <a:solidFill>
                      <a:srgbClr val="FFFFFF"/>
                    </a:solidFill>
                  </a:tcPr>
                </a:tc>
                <a:extLst>
                  <a:ext uri="{0D108BD9-81ED-4DB2-BD59-A6C34878D82A}">
                    <a16:rowId xmlns:a16="http://schemas.microsoft.com/office/drawing/2014/main" val="3849901422"/>
                  </a:ext>
                </a:extLst>
              </a:tr>
              <a:tr h="511629">
                <a:tc>
                  <a:txBody>
                    <a:bodyPr/>
                    <a:lstStyle/>
                    <a:p>
                      <a:pPr algn="l"/>
                      <a:r>
                        <a:rPr lang="en-PH" sz="1800" b="0">
                          <a:solidFill>
                            <a:srgbClr val="333333"/>
                          </a:solidFill>
                          <a:latin typeface="Calibri" panose="020F0502020204030204" pitchFamily="34" charset="0"/>
                        </a:rPr>
                        <a:t>Embedding-and-Feature LSTM</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F1</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43</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1</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14</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75.4%</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97.7%</a:t>
                      </a:r>
                    </a:p>
                  </a:txBody>
                  <a:tcPr marL="50800" marR="50800" marT="25400" marB="25400" anchor="ctr">
                    <a:solidFill>
                      <a:srgbClr val="FFFFFF"/>
                    </a:solidFill>
                  </a:tcPr>
                </a:tc>
                <a:extLst>
                  <a:ext uri="{0D108BD9-81ED-4DB2-BD59-A6C34878D82A}">
                    <a16:rowId xmlns:a16="http://schemas.microsoft.com/office/drawing/2014/main" val="3181783268"/>
                  </a:ext>
                </a:extLst>
              </a:tr>
              <a:tr h="511629">
                <a:tc>
                  <a:txBody>
                    <a:bodyPr/>
                    <a:lstStyle/>
                    <a:p>
                      <a:pPr algn="l"/>
                      <a:r>
                        <a:rPr lang="en-PH" sz="1800" b="0">
                          <a:solidFill>
                            <a:srgbClr val="333333"/>
                          </a:solidFill>
                          <a:latin typeface="Calibri" panose="020F0502020204030204" pitchFamily="34" charset="0"/>
                        </a:rPr>
                        <a:t>Embedding-and-Feature LSTM</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F2</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44</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0</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41</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51.8%</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100.0%</a:t>
                      </a:r>
                    </a:p>
                  </a:txBody>
                  <a:tcPr marL="50800" marR="50800" marT="25400" marB="25400" anchor="ctr">
                    <a:solidFill>
                      <a:srgbClr val="FFFFFF"/>
                    </a:solidFill>
                  </a:tcPr>
                </a:tc>
                <a:extLst>
                  <a:ext uri="{0D108BD9-81ED-4DB2-BD59-A6C34878D82A}">
                    <a16:rowId xmlns:a16="http://schemas.microsoft.com/office/drawing/2014/main" val="3524694230"/>
                  </a:ext>
                </a:extLst>
              </a:tr>
              <a:tr h="511629">
                <a:tc>
                  <a:txBody>
                    <a:bodyPr/>
                    <a:lstStyle/>
                    <a:p>
                      <a:pPr algn="l"/>
                      <a:r>
                        <a:rPr lang="en-PH" sz="1800" b="0">
                          <a:solidFill>
                            <a:srgbClr val="333333"/>
                          </a:solidFill>
                          <a:latin typeface="Calibri" panose="020F0502020204030204" pitchFamily="34" charset="0"/>
                        </a:rPr>
                        <a:t>Trajectory-Feature LSTM</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F0.5</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40</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4</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7</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85.1%</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90.9%</a:t>
                      </a:r>
                    </a:p>
                  </a:txBody>
                  <a:tcPr marL="50800" marR="50800" marT="25400" marB="25400" anchor="ctr">
                    <a:solidFill>
                      <a:srgbClr val="FFFFFF"/>
                    </a:solidFill>
                  </a:tcPr>
                </a:tc>
                <a:extLst>
                  <a:ext uri="{0D108BD9-81ED-4DB2-BD59-A6C34878D82A}">
                    <a16:rowId xmlns:a16="http://schemas.microsoft.com/office/drawing/2014/main" val="3681020595"/>
                  </a:ext>
                </a:extLst>
              </a:tr>
              <a:tr h="511629">
                <a:tc>
                  <a:txBody>
                    <a:bodyPr/>
                    <a:lstStyle/>
                    <a:p>
                      <a:pPr algn="l"/>
                      <a:r>
                        <a:rPr lang="en-PH" sz="1800" b="0">
                          <a:solidFill>
                            <a:srgbClr val="333333"/>
                          </a:solidFill>
                          <a:latin typeface="Calibri" panose="020F0502020204030204" pitchFamily="34" charset="0"/>
                        </a:rPr>
                        <a:t>Trajectory-Feature LSTM</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F1</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40</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4</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9</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81.6%</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90.9%</a:t>
                      </a:r>
                    </a:p>
                  </a:txBody>
                  <a:tcPr marL="50800" marR="50800" marT="25400" marB="25400" anchor="ctr">
                    <a:solidFill>
                      <a:srgbClr val="FFFFFF"/>
                    </a:solidFill>
                  </a:tcPr>
                </a:tc>
                <a:extLst>
                  <a:ext uri="{0D108BD9-81ED-4DB2-BD59-A6C34878D82A}">
                    <a16:rowId xmlns:a16="http://schemas.microsoft.com/office/drawing/2014/main" val="4226602888"/>
                  </a:ext>
                </a:extLst>
              </a:tr>
              <a:tr h="511629">
                <a:tc>
                  <a:txBody>
                    <a:bodyPr/>
                    <a:lstStyle/>
                    <a:p>
                      <a:pPr algn="l"/>
                      <a:r>
                        <a:rPr lang="en-PH" sz="1800" b="0">
                          <a:solidFill>
                            <a:srgbClr val="333333"/>
                          </a:solidFill>
                          <a:latin typeface="Calibri" panose="020F0502020204030204" pitchFamily="34" charset="0"/>
                        </a:rPr>
                        <a:t>Trajectory-Feature LSTM</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F2</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41</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3</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21</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66.1%</a:t>
                      </a:r>
                    </a:p>
                  </a:txBody>
                  <a:tcPr marL="50800" marR="50800" marT="25400" marB="25400" anchor="ctr">
                    <a:solidFill>
                      <a:srgbClr val="FFFFFF"/>
                    </a:solidFill>
                  </a:tcPr>
                </a:tc>
                <a:tc>
                  <a:txBody>
                    <a:bodyPr/>
                    <a:lstStyle/>
                    <a:p>
                      <a:pPr algn="ctr"/>
                      <a:r>
                        <a:rPr lang="en-PH" sz="1800" b="0">
                          <a:solidFill>
                            <a:srgbClr val="333333"/>
                          </a:solidFill>
                          <a:latin typeface="Calibri" panose="020F0502020204030204" pitchFamily="34" charset="0"/>
                        </a:rPr>
                        <a:t>93.2%</a:t>
                      </a:r>
                    </a:p>
                  </a:txBody>
                  <a:tcPr marL="50800" marR="50800" marT="25400" marB="25400" anchor="ctr">
                    <a:solidFill>
                      <a:srgbClr val="FFFFFF"/>
                    </a:solidFill>
                  </a:tcPr>
                </a:tc>
                <a:extLst>
                  <a:ext uri="{0D108BD9-81ED-4DB2-BD59-A6C34878D82A}">
                    <a16:rowId xmlns:a16="http://schemas.microsoft.com/office/drawing/2014/main" val="1666863558"/>
                  </a:ext>
                </a:extLst>
              </a:tr>
            </a:tbl>
          </a:graphicData>
        </a:graphic>
      </p:graphicFrame>
      <p:sp>
        <p:nvSpPr>
          <p:cNvPr id="9" name="Policy meaning">
            <a:extLst>
              <a:ext uri="{FF2B5EF4-FFF2-40B4-BE49-F238E27FC236}">
                <a16:creationId xmlns:a16="http://schemas.microsoft.com/office/drawing/2014/main" id="{BAC7885B-18A0-A3BD-AE47-9C764A55562F}"/>
              </a:ext>
            </a:extLst>
          </p:cNvPr>
          <p:cNvSpPr txBox="1"/>
          <p:nvPr/>
        </p:nvSpPr>
        <p:spPr>
          <a:xfrm>
            <a:off x="685800" y="5918200"/>
            <a:ext cx="10795000" cy="615553"/>
          </a:xfrm>
          <a:prstGeom prst="rect">
            <a:avLst/>
          </a:prstGeom>
          <a:noFill/>
        </p:spPr>
        <p:txBody>
          <a:bodyPr vert="horz" lIns="0" tIns="0" rIns="0" bIns="0" rtlCol="0">
            <a:spAutoFit/>
          </a:bodyPr>
          <a:lstStyle/>
          <a:p>
            <a:r>
              <a:rPr lang="en-US" sz="2000">
                <a:solidFill>
                  <a:srgbClr val="333333"/>
                </a:solidFill>
                <a:latin typeface="Calibri Light" panose="020F0302020204030204" pitchFamily="34" charset="0"/>
              </a:rPr>
              <a:t>Embedding model: F1 catches 43/44 with 14 false alerts.</a:t>
            </a:r>
          </a:p>
          <a:p>
            <a:r>
              <a:rPr lang="en-US" sz="2000">
                <a:solidFill>
                  <a:srgbClr val="333333"/>
                </a:solidFill>
                <a:latin typeface="Calibri Light" panose="020F0302020204030204" pitchFamily="34" charset="0"/>
              </a:rPr>
              <a:t>F2 catches 44/44 with 41 false alerts: 27 more for one additional positive.</a:t>
            </a:r>
            <a:endParaRPr lang="en-PH" sz="2000">
              <a:solidFill>
                <a:srgbClr val="333333"/>
              </a:solidFill>
              <a:latin typeface="Calibri Light" panose="020F0302020204030204" pitchFamily="34" charset="0"/>
            </a:endParaRPr>
          </a:p>
        </p:txBody>
      </p:sp>
    </p:spTree>
    <p:extLst>
      <p:ext uri="{BB962C8B-B14F-4D97-AF65-F5344CB8AC3E}">
        <p14:creationId xmlns:p14="http://schemas.microsoft.com/office/powerpoint/2010/main" val="508017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Local Turn-by-Turn Latency</a:t>
            </a:r>
            <a:endParaRPr sz="3400">
              <a:solidFill>
                <a:schemeClr val="accent1">
                  <a:lumMod val="75000"/>
                </a:schemeClr>
              </a:solidFill>
            </a:endParaRPr>
          </a:p>
        </p:txBody>
      </p:sp>
      <p:sp>
        <p:nvSpPr>
          <p:cNvPr id="3" name="Panel body">
            <a:extLst>
              <a:ext uri="{FF2B5EF4-FFF2-40B4-BE49-F238E27FC236}">
                <a16:creationId xmlns:a16="http://schemas.microsoft.com/office/drawing/2014/main" id="{42DE89F6-D2A2-FCA5-073F-70118AC4E153}"/>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Local CPU HTTP benchmark: 160 requests per model.</a:t>
            </a:r>
          </a:p>
          <a:p>
            <a:pPr>
              <a:spcAft>
                <a:spcPts val="1500"/>
              </a:spcAft>
            </a:pPr>
            <a:r>
              <a:rPr lang="en-US" sz="2600">
                <a:solidFill>
                  <a:srgbClr val="191F28"/>
                </a:solidFill>
                <a:latin typeface="Calibri Light" panose="020F0302020204030204" pitchFamily="34" charset="0"/>
              </a:rPr>
              <a:t>7-feature LSTM: median 267 ms, p95 709 ms, p99 830 ms.</a:t>
            </a:r>
          </a:p>
          <a:p>
            <a:pPr>
              <a:spcAft>
                <a:spcPts val="1500"/>
              </a:spcAft>
            </a:pPr>
            <a:r>
              <a:rPr lang="en-US" sz="2600">
                <a:solidFill>
                  <a:srgbClr val="191F28"/>
                </a:solidFill>
                <a:latin typeface="Calibri Light" panose="020F0302020204030204" pitchFamily="34" charset="0"/>
              </a:rPr>
              <a:t>775-input LSTM: median 246 ms, p95 718 ms, p99 1,058 ms.</a:t>
            </a:r>
          </a:p>
          <a:p>
            <a:pPr>
              <a:spcAft>
                <a:spcPts val="1500"/>
              </a:spcAft>
            </a:pPr>
            <a:r>
              <a:rPr lang="en-US" sz="2600">
                <a:solidFill>
                  <a:srgbClr val="191F28"/>
                </a:solidFill>
                <a:latin typeface="Calibri Light" panose="020F0302020204030204" pitchFamily="34" charset="0"/>
              </a:rPr>
              <a:t>Throughput: 3.39 and 3.32 requests/s, respectively.</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1649523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35F6-715A-F097-9D74-51FCC60B8438}"/>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Conclusions by Research Objective</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9451E37B-51E5-FF13-489D-A280F0F4FFEC}"/>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CC787A8C-5C08-4D1C-7970-C14948D8AEED}"/>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500">
                <a:solidFill>
                  <a:srgbClr val="191F28"/>
                </a:solidFill>
                <a:latin typeface="Calibri Light" panose="020F0302020204030204" pitchFamily="34" charset="0"/>
              </a:rPr>
              <a:t>Objective 1: Quantified the limits of static methods.</a:t>
            </a:r>
          </a:p>
          <a:p>
            <a:pPr>
              <a:spcAft>
                <a:spcPts val="1500"/>
              </a:spcAft>
            </a:pPr>
            <a:r>
              <a:rPr lang="en-US" sz="2500">
                <a:solidFill>
                  <a:srgbClr val="191F28"/>
                </a:solidFill>
                <a:latin typeface="Calibri Light" panose="020F0302020204030204" pitchFamily="34" charset="0"/>
              </a:rPr>
              <a:t>Objective 2: Built the contextual and sequence module.</a:t>
            </a:r>
          </a:p>
          <a:p>
            <a:pPr>
              <a:spcAft>
                <a:spcPts val="1500"/>
              </a:spcAft>
            </a:pPr>
            <a:r>
              <a:rPr lang="en-US" sz="2500">
                <a:solidFill>
                  <a:srgbClr val="191F28"/>
                </a:solidFill>
                <a:latin typeface="Calibri Light" panose="020F0302020204030204" pitchFamily="34" charset="0"/>
              </a:rPr>
              <a:t>Objective 3: F2 misses: weighted 6; trajectory 3; embedding 0.</a:t>
            </a:r>
          </a:p>
          <a:p>
            <a:pPr>
              <a:spcAft>
                <a:spcPts val="1500"/>
              </a:spcAft>
            </a:pPr>
            <a:r>
              <a:rPr lang="en-US" sz="2500">
                <a:solidFill>
                  <a:srgbClr val="191F28"/>
                </a:solidFill>
                <a:latin typeface="Calibri Light" panose="020F0302020204030204" pitchFamily="34" charset="0"/>
              </a:rPr>
              <a:t>General objective: Broader conversation coverage for human review.</a:t>
            </a:r>
            <a:endParaRPr lang="en-PH" sz="25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4154563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Recommendations</a:t>
            </a:r>
            <a:endParaRPr sz="3400">
              <a:solidFill>
                <a:schemeClr val="accent1">
                  <a:lumMod val="75000"/>
                </a:schemeClr>
              </a:solidFill>
            </a:endParaRPr>
          </a:p>
        </p:txBody>
      </p:sp>
      <p:sp>
        <p:nvSpPr>
          <p:cNvPr id="3" name="Panel body">
            <a:extLst>
              <a:ext uri="{FF2B5EF4-FFF2-40B4-BE49-F238E27FC236}">
                <a16:creationId xmlns:a16="http://schemas.microsoft.com/office/drawing/2014/main" id="{42DE89F6-D2A2-FCA5-073F-70118AC4E153}"/>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Compare embedding-model F1 and F2 in a moderator workflow.</a:t>
            </a:r>
          </a:p>
          <a:p>
            <a:pPr>
              <a:spcAft>
                <a:spcPts val="1500"/>
              </a:spcAft>
            </a:pPr>
            <a:r>
              <a:rPr lang="en-US" sz="2600">
                <a:solidFill>
                  <a:srgbClr val="191F28"/>
                </a:solidFill>
                <a:latin typeface="Calibri Light" panose="020F0302020204030204" pitchFamily="34" charset="0"/>
              </a:rPr>
              <a:t>Test fixed cutoffs on contemporary external chats.</a:t>
            </a:r>
          </a:p>
          <a:p>
            <a:pPr>
              <a:spcAft>
                <a:spcPts val="1500"/>
              </a:spcAft>
            </a:pPr>
            <a:r>
              <a:rPr lang="en-US" sz="2600">
                <a:solidFill>
                  <a:srgbClr val="191F28"/>
                </a:solidFill>
                <a:latin typeface="Calibri Light" panose="020F0302020204030204" pitchFamily="34" charset="0"/>
              </a:rPr>
              <a:t>Benchmark longer histories, concurrent traffic, and caching.</a:t>
            </a:r>
          </a:p>
          <a:p>
            <a:pPr>
              <a:spcAft>
                <a:spcPts val="1500"/>
              </a:spcAft>
            </a:pPr>
            <a:r>
              <a:rPr lang="en-US" sz="2600">
                <a:solidFill>
                  <a:srgbClr val="191F28"/>
                </a:solidFill>
                <a:latin typeface="Calibri Light" panose="020F0302020204030204" pitchFamily="34" charset="0"/>
              </a:rPr>
              <a:t>Evaluate early prefixes with independently reviewed onset labels.</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677145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The Three Missed Conversations Were Short</a:t>
            </a:r>
            <a:endParaRPr sz="3400">
              <a:solidFill>
                <a:schemeClr val="accent1">
                  <a:lumMod val="75000"/>
                </a:schemeClr>
              </a:solidFill>
            </a:endParaRPr>
          </a:p>
        </p:txBody>
      </p:sp>
      <p:graphicFrame>
        <p:nvGraphicFramePr>
          <p:cNvPr id="3" name="Editable results chart"/>
          <p:cNvGraphicFramePr/>
          <p:nvPr/>
        </p:nvGraphicFramePr>
        <p:xfrm>
          <a:off x="787400" y="1841500"/>
          <a:ext cx="10464800" cy="3771900"/>
        </p:xfrm>
        <a:graphic>
          <a:graphicData uri="http://schemas.openxmlformats.org/drawingml/2006/chart">
            <c:chart xmlns:c="http://schemas.openxmlformats.org/drawingml/2006/chart" xmlns:r="http://schemas.openxmlformats.org/officeDocument/2006/relationships" r:id="rId3"/>
          </a:graphicData>
        </a:graphic>
      </p:graphicFrame>
      <p:sp>
        <p:nvSpPr>
          <p:cNvPr id="6" name="Length comparison">
            <a:extLst>
              <a:ext uri="{FF2B5EF4-FFF2-40B4-BE49-F238E27FC236}">
                <a16:creationId xmlns:a16="http://schemas.microsoft.com/office/drawing/2014/main" id="{57C47A18-6EE5-121B-F3C3-8454E0A1E975}"/>
              </a:ext>
            </a:extLst>
          </p:cNvPr>
          <p:cNvSpPr txBox="1"/>
          <p:nvPr/>
        </p:nvSpPr>
        <p:spPr>
          <a:xfrm>
            <a:off x="825500" y="5753100"/>
            <a:ext cx="10414000" cy="850900"/>
          </a:xfrm>
          <a:prstGeom prst="rect">
            <a:avLst/>
          </a:prstGeom>
          <a:noFill/>
        </p:spPr>
        <p:txBody>
          <a:bodyPr vert="horz" wrap="square" lIns="25400" tIns="25400" rIns="25400" bIns="25400" rtlCol="0">
            <a:noAutofit/>
          </a:bodyPr>
          <a:lstStyle/>
          <a:p>
            <a:r>
              <a:rPr lang="en-US" sz="2200">
                <a:solidFill>
                  <a:srgbClr val="191F28"/>
                </a:solidFill>
                <a:latin typeface="Calibri Light" panose="020F0302020204030204" pitchFamily="34" charset="0"/>
              </a:rPr>
              <a:t>Missed cases: 2, 11, and 26 turns. Correctly detected positives: lower quartile 36, median 61 turns.</a:t>
            </a:r>
            <a:endParaRPr lang="en-PH" sz="22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017949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Baseline Policy Comparison</a:t>
            </a:r>
            <a:endParaRPr sz="3400">
              <a:solidFill>
                <a:schemeClr val="accent1">
                  <a:lumMod val="75000"/>
                </a:schemeClr>
              </a:solidFill>
            </a:endParaRPr>
          </a:p>
        </p:txBody>
      </p:sp>
      <p:sp>
        <p:nvSpPr>
          <p:cNvPr id="4" name="Backup context">
            <a:extLst>
              <a:ext uri="{FF2B5EF4-FFF2-40B4-BE49-F238E27FC236}">
                <a16:creationId xmlns:a16="http://schemas.microsoft.com/office/drawing/2014/main" id="{58C67348-F18C-2142-1939-221E1F8720E6}"/>
              </a:ext>
            </a:extLst>
          </p:cNvPr>
          <p:cNvSpPr txBox="1"/>
          <p:nvPr/>
        </p:nvSpPr>
        <p:spPr>
          <a:xfrm>
            <a:off x="685800" y="1689100"/>
            <a:ext cx="10795000" cy="307777"/>
          </a:xfrm>
          <a:prstGeom prst="rect">
            <a:avLst/>
          </a:prstGeom>
          <a:noFill/>
        </p:spPr>
        <p:txBody>
          <a:bodyPr vert="horz" lIns="0" tIns="0" rIns="0" bIns="0" rtlCol="0">
            <a:spAutoFit/>
          </a:bodyPr>
          <a:lstStyle/>
          <a:p>
            <a:r>
              <a:rPr lang="en-US" sz="2000">
                <a:solidFill>
                  <a:srgbClr val="333333"/>
                </a:solidFill>
                <a:latin typeface="Calibri Light" panose="020F0302020204030204" pitchFamily="34" charset="0"/>
              </a:rPr>
              <a:t>Same test partition and fixed models; three validation-selected cutoff policies.</a:t>
            </a:r>
            <a:endParaRPr lang="en-PH" sz="2000">
              <a:solidFill>
                <a:srgbClr val="333333"/>
              </a:solidFill>
              <a:latin typeface="Calibri Light" panose="020F0302020204030204" pitchFamily="34" charset="0"/>
            </a:endParaRPr>
          </a:p>
        </p:txBody>
      </p:sp>
      <p:graphicFrame>
        <p:nvGraphicFramePr>
          <p:cNvPr id="5" name="Policy comparison table">
            <a:extLst>
              <a:ext uri="{FF2B5EF4-FFF2-40B4-BE49-F238E27FC236}">
                <a16:creationId xmlns:a16="http://schemas.microsoft.com/office/drawing/2014/main" id="{2E0FB665-A855-147F-760D-D6019912D9F2}"/>
              </a:ext>
            </a:extLst>
          </p:cNvPr>
          <p:cNvGraphicFramePr>
            <a:graphicFrameLocks noGrp="1"/>
          </p:cNvGraphicFramePr>
          <p:nvPr>
            <p:extLst>
              <p:ext uri="{D42A27DB-BD31-4B8C-83A1-F6EECF244321}">
                <p14:modId xmlns:p14="http://schemas.microsoft.com/office/powerpoint/2010/main" val="2401661499"/>
              </p:ext>
            </p:extLst>
          </p:nvPr>
        </p:nvGraphicFramePr>
        <p:xfrm>
          <a:off x="685800" y="2247900"/>
          <a:ext cx="10795000" cy="3835400"/>
        </p:xfrm>
        <a:graphic>
          <a:graphicData uri="http://schemas.openxmlformats.org/drawingml/2006/table">
            <a:tbl>
              <a:tblPr firstRow="1" bandRow="1">
                <a:tableStyleId>{5C22544A-7EE6-4342-B048-85BDC9FD1C3A}</a:tableStyleId>
              </a:tblPr>
              <a:tblGrid>
                <a:gridCol w="2603500">
                  <a:extLst>
                    <a:ext uri="{9D8B030D-6E8A-4147-A177-3AD203B41FA5}">
                      <a16:colId xmlns:a16="http://schemas.microsoft.com/office/drawing/2014/main" val="3151006316"/>
                    </a:ext>
                  </a:extLst>
                </a:gridCol>
                <a:gridCol w="990600">
                  <a:extLst>
                    <a:ext uri="{9D8B030D-6E8A-4147-A177-3AD203B41FA5}">
                      <a16:colId xmlns:a16="http://schemas.microsoft.com/office/drawing/2014/main" val="660418554"/>
                    </a:ext>
                  </a:extLst>
                </a:gridCol>
                <a:gridCol w="673100">
                  <a:extLst>
                    <a:ext uri="{9D8B030D-6E8A-4147-A177-3AD203B41FA5}">
                      <a16:colId xmlns:a16="http://schemas.microsoft.com/office/drawing/2014/main" val="3530721111"/>
                    </a:ext>
                  </a:extLst>
                </a:gridCol>
                <a:gridCol w="673100">
                  <a:extLst>
                    <a:ext uri="{9D8B030D-6E8A-4147-A177-3AD203B41FA5}">
                      <a16:colId xmlns:a16="http://schemas.microsoft.com/office/drawing/2014/main" val="1715896826"/>
                    </a:ext>
                  </a:extLst>
                </a:gridCol>
                <a:gridCol w="673100">
                  <a:extLst>
                    <a:ext uri="{9D8B030D-6E8A-4147-A177-3AD203B41FA5}">
                      <a16:colId xmlns:a16="http://schemas.microsoft.com/office/drawing/2014/main" val="3989115163"/>
                    </a:ext>
                  </a:extLst>
                </a:gridCol>
                <a:gridCol w="990600">
                  <a:extLst>
                    <a:ext uri="{9D8B030D-6E8A-4147-A177-3AD203B41FA5}">
                      <a16:colId xmlns:a16="http://schemas.microsoft.com/office/drawing/2014/main" val="603268406"/>
                    </a:ext>
                  </a:extLst>
                </a:gridCol>
                <a:gridCol w="2095500">
                  <a:extLst>
                    <a:ext uri="{9D8B030D-6E8A-4147-A177-3AD203B41FA5}">
                      <a16:colId xmlns:a16="http://schemas.microsoft.com/office/drawing/2014/main" val="3468694149"/>
                    </a:ext>
                  </a:extLst>
                </a:gridCol>
                <a:gridCol w="2095500">
                  <a:extLst>
                    <a:ext uri="{9D8B030D-6E8A-4147-A177-3AD203B41FA5}">
                      <a16:colId xmlns:a16="http://schemas.microsoft.com/office/drawing/2014/main" val="297307130"/>
                    </a:ext>
                  </a:extLst>
                </a:gridCol>
              </a:tblGrid>
              <a:tr h="383540">
                <a:tc>
                  <a:txBody>
                    <a:bodyPr/>
                    <a:lstStyle/>
                    <a:p>
                      <a:pPr algn="l"/>
                      <a:r>
                        <a:rPr lang="en-PH" sz="1800" b="1">
                          <a:solidFill>
                            <a:srgbClr val="FFFFFF"/>
                          </a:solidFill>
                          <a:latin typeface="Calibri" panose="020F0502020204030204" pitchFamily="34" charset="0"/>
                        </a:rPr>
                        <a:t>Method</a:t>
                      </a:r>
                    </a:p>
                  </a:txBody>
                  <a:tcPr marL="63500" marR="63500" marT="38100" marB="38100" anchor="ctr">
                    <a:solidFill>
                      <a:srgbClr val="336699"/>
                    </a:solidFill>
                  </a:tcPr>
                </a:tc>
                <a:tc>
                  <a:txBody>
                    <a:bodyPr/>
                    <a:lstStyle/>
                    <a:p>
                      <a:pPr algn="ctr"/>
                      <a:r>
                        <a:rPr lang="en-PH" sz="1800" b="1">
                          <a:solidFill>
                            <a:srgbClr val="FFFFFF"/>
                          </a:solidFill>
                          <a:latin typeface="Calibri" panose="020F0502020204030204" pitchFamily="34" charset="0"/>
                        </a:rPr>
                        <a:t>Policy</a:t>
                      </a:r>
                    </a:p>
                  </a:txBody>
                  <a:tcPr marL="63500" marR="63500" marT="38100" marB="38100" anchor="ctr">
                    <a:solidFill>
                      <a:srgbClr val="336699"/>
                    </a:solidFill>
                  </a:tcPr>
                </a:tc>
                <a:tc>
                  <a:txBody>
                    <a:bodyPr/>
                    <a:lstStyle/>
                    <a:p>
                      <a:pPr algn="ctr"/>
                      <a:r>
                        <a:rPr lang="en-PH" sz="1800" b="1">
                          <a:solidFill>
                            <a:srgbClr val="FFFFFF"/>
                          </a:solidFill>
                          <a:latin typeface="Calibri" panose="020F0502020204030204" pitchFamily="34" charset="0"/>
                        </a:rPr>
                        <a:t>TP</a:t>
                      </a:r>
                    </a:p>
                  </a:txBody>
                  <a:tcPr marL="63500" marR="63500" marT="38100" marB="38100" anchor="ctr">
                    <a:solidFill>
                      <a:srgbClr val="336699"/>
                    </a:solidFill>
                  </a:tcPr>
                </a:tc>
                <a:tc>
                  <a:txBody>
                    <a:bodyPr/>
                    <a:lstStyle/>
                    <a:p>
                      <a:pPr algn="ctr"/>
                      <a:r>
                        <a:rPr lang="en-PH" sz="1800" b="1">
                          <a:solidFill>
                            <a:srgbClr val="FFFFFF"/>
                          </a:solidFill>
                          <a:latin typeface="Calibri" panose="020F0502020204030204" pitchFamily="34" charset="0"/>
                        </a:rPr>
                        <a:t>FN</a:t>
                      </a:r>
                    </a:p>
                  </a:txBody>
                  <a:tcPr marL="63500" marR="63500" marT="38100" marB="38100" anchor="ctr">
                    <a:solidFill>
                      <a:srgbClr val="336699"/>
                    </a:solidFill>
                  </a:tcPr>
                </a:tc>
                <a:tc>
                  <a:txBody>
                    <a:bodyPr/>
                    <a:lstStyle/>
                    <a:p>
                      <a:pPr algn="ctr"/>
                      <a:r>
                        <a:rPr lang="en-PH" sz="1800" b="1">
                          <a:solidFill>
                            <a:srgbClr val="FFFFFF"/>
                          </a:solidFill>
                          <a:latin typeface="Calibri" panose="020F0502020204030204" pitchFamily="34" charset="0"/>
                        </a:rPr>
                        <a:t>FP</a:t>
                      </a:r>
                    </a:p>
                  </a:txBody>
                  <a:tcPr marL="63500" marR="63500" marT="38100" marB="38100" anchor="ctr">
                    <a:solidFill>
                      <a:srgbClr val="336699"/>
                    </a:solidFill>
                  </a:tcPr>
                </a:tc>
                <a:tc>
                  <a:txBody>
                    <a:bodyPr/>
                    <a:lstStyle/>
                    <a:p>
                      <a:pPr algn="ctr"/>
                      <a:r>
                        <a:rPr lang="en-PH" sz="1800" b="1">
                          <a:solidFill>
                            <a:srgbClr val="FFFFFF"/>
                          </a:solidFill>
                          <a:latin typeface="Calibri" panose="020F0502020204030204" pitchFamily="34" charset="0"/>
                        </a:rPr>
                        <a:t>TN</a:t>
                      </a:r>
                    </a:p>
                  </a:txBody>
                  <a:tcPr marL="63500" marR="63500" marT="38100" marB="38100" anchor="ctr">
                    <a:solidFill>
                      <a:srgbClr val="336699"/>
                    </a:solidFill>
                  </a:tcPr>
                </a:tc>
                <a:tc>
                  <a:txBody>
                    <a:bodyPr/>
                    <a:lstStyle/>
                    <a:p>
                      <a:pPr algn="ctr"/>
                      <a:r>
                        <a:rPr lang="en-PH" sz="1800" b="1">
                          <a:solidFill>
                            <a:srgbClr val="FFFFFF"/>
                          </a:solidFill>
                          <a:latin typeface="Calibri" panose="020F0502020204030204" pitchFamily="34" charset="0"/>
                        </a:rPr>
                        <a:t>Precision</a:t>
                      </a:r>
                    </a:p>
                  </a:txBody>
                  <a:tcPr marL="63500" marR="63500" marT="38100" marB="38100" anchor="ctr">
                    <a:solidFill>
                      <a:srgbClr val="336699"/>
                    </a:solidFill>
                  </a:tcPr>
                </a:tc>
                <a:tc>
                  <a:txBody>
                    <a:bodyPr/>
                    <a:lstStyle/>
                    <a:p>
                      <a:pPr algn="ctr"/>
                      <a:r>
                        <a:rPr lang="en-PH" sz="1800" b="1">
                          <a:solidFill>
                            <a:srgbClr val="FFFFFF"/>
                          </a:solidFill>
                          <a:latin typeface="Calibri" panose="020F0502020204030204" pitchFamily="34" charset="0"/>
                        </a:rPr>
                        <a:t>Recall</a:t>
                      </a:r>
                    </a:p>
                  </a:txBody>
                  <a:tcPr marL="63500" marR="63500" marT="38100" marB="38100" anchor="ctr">
                    <a:solidFill>
                      <a:srgbClr val="336699"/>
                    </a:solidFill>
                  </a:tcPr>
                </a:tc>
                <a:extLst>
                  <a:ext uri="{0D108BD9-81ED-4DB2-BD59-A6C34878D82A}">
                    <a16:rowId xmlns:a16="http://schemas.microsoft.com/office/drawing/2014/main" val="815468157"/>
                  </a:ext>
                </a:extLst>
              </a:tr>
              <a:tr h="383540">
                <a:tc>
                  <a:txBody>
                    <a:bodyPr/>
                    <a:lstStyle/>
                    <a:p>
                      <a:pPr algn="l"/>
                      <a:r>
                        <a:rPr lang="en-PH" sz="1800" b="0">
                          <a:solidFill>
                            <a:srgbClr val="333333"/>
                          </a:solidFill>
                          <a:latin typeface="Calibri" panose="020F0502020204030204" pitchFamily="34" charset="0"/>
                        </a:rPr>
                        <a:t>Maximum Layer 1</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F0.5</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23</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21</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18</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1800</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56.10%</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52.27%</a:t>
                      </a:r>
                    </a:p>
                  </a:txBody>
                  <a:tcPr marL="63500" marR="63500" marT="38100" marB="38100" anchor="ctr">
                    <a:solidFill>
                      <a:srgbClr val="FFFFFF"/>
                    </a:solidFill>
                  </a:tcPr>
                </a:tc>
                <a:extLst>
                  <a:ext uri="{0D108BD9-81ED-4DB2-BD59-A6C34878D82A}">
                    <a16:rowId xmlns:a16="http://schemas.microsoft.com/office/drawing/2014/main" val="1686775951"/>
                  </a:ext>
                </a:extLst>
              </a:tr>
              <a:tr h="383540">
                <a:tc>
                  <a:txBody>
                    <a:bodyPr/>
                    <a:lstStyle/>
                    <a:p>
                      <a:pPr algn="l"/>
                      <a:r>
                        <a:rPr lang="en-PH" sz="1800" b="0">
                          <a:solidFill>
                            <a:srgbClr val="333333"/>
                          </a:solidFill>
                          <a:latin typeface="Calibri" panose="020F0502020204030204" pitchFamily="34" charset="0"/>
                        </a:rPr>
                        <a:t>Maximum Layer 1</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F1</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26</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18</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21</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1797</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55.32%</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59.09%</a:t>
                      </a:r>
                    </a:p>
                  </a:txBody>
                  <a:tcPr marL="63500" marR="63500" marT="38100" marB="38100" anchor="ctr">
                    <a:solidFill>
                      <a:srgbClr val="FFFFFF"/>
                    </a:solidFill>
                  </a:tcPr>
                </a:tc>
                <a:extLst>
                  <a:ext uri="{0D108BD9-81ED-4DB2-BD59-A6C34878D82A}">
                    <a16:rowId xmlns:a16="http://schemas.microsoft.com/office/drawing/2014/main" val="2362733308"/>
                  </a:ext>
                </a:extLst>
              </a:tr>
              <a:tr h="383540">
                <a:tc>
                  <a:txBody>
                    <a:bodyPr/>
                    <a:lstStyle/>
                    <a:p>
                      <a:pPr algn="l"/>
                      <a:r>
                        <a:rPr lang="en-PH" sz="1800" b="0">
                          <a:solidFill>
                            <a:srgbClr val="333333"/>
                          </a:solidFill>
                          <a:latin typeface="Calibri" panose="020F0502020204030204" pitchFamily="34" charset="0"/>
                        </a:rPr>
                        <a:t>Maximum Layer 1</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F2</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39</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5</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78</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1740</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33.33%</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88.64%</a:t>
                      </a:r>
                    </a:p>
                  </a:txBody>
                  <a:tcPr marL="63500" marR="63500" marT="38100" marB="38100" anchor="ctr">
                    <a:solidFill>
                      <a:srgbClr val="FFFFFF"/>
                    </a:solidFill>
                  </a:tcPr>
                </a:tc>
                <a:extLst>
                  <a:ext uri="{0D108BD9-81ED-4DB2-BD59-A6C34878D82A}">
                    <a16:rowId xmlns:a16="http://schemas.microsoft.com/office/drawing/2014/main" val="2690509105"/>
                  </a:ext>
                </a:extLst>
              </a:tr>
              <a:tr h="383540">
                <a:tc>
                  <a:txBody>
                    <a:bodyPr/>
                    <a:lstStyle/>
                    <a:p>
                      <a:pPr algn="l"/>
                      <a:r>
                        <a:rPr lang="en-PH" sz="1800" b="0">
                          <a:solidFill>
                            <a:srgbClr val="333333"/>
                          </a:solidFill>
                          <a:latin typeface="Calibri" panose="020F0502020204030204" pitchFamily="34" charset="0"/>
                        </a:rPr>
                        <a:t>Weighted scorer</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F0.5</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36</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8</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13</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1805</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73.47%</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81.82%</a:t>
                      </a:r>
                    </a:p>
                  </a:txBody>
                  <a:tcPr marL="63500" marR="63500" marT="38100" marB="38100" anchor="ctr">
                    <a:solidFill>
                      <a:srgbClr val="FFFFFF"/>
                    </a:solidFill>
                  </a:tcPr>
                </a:tc>
                <a:extLst>
                  <a:ext uri="{0D108BD9-81ED-4DB2-BD59-A6C34878D82A}">
                    <a16:rowId xmlns:a16="http://schemas.microsoft.com/office/drawing/2014/main" val="1137914380"/>
                  </a:ext>
                </a:extLst>
              </a:tr>
              <a:tr h="383540">
                <a:tc>
                  <a:txBody>
                    <a:bodyPr/>
                    <a:lstStyle/>
                    <a:p>
                      <a:pPr algn="l"/>
                      <a:r>
                        <a:rPr lang="en-PH" sz="1800" b="0">
                          <a:solidFill>
                            <a:srgbClr val="333333"/>
                          </a:solidFill>
                          <a:latin typeface="Calibri" panose="020F0502020204030204" pitchFamily="34" charset="0"/>
                        </a:rPr>
                        <a:t>Weighted scorer</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F1</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36</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8</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13</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1805</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73.47%</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81.82%</a:t>
                      </a:r>
                    </a:p>
                  </a:txBody>
                  <a:tcPr marL="63500" marR="63500" marT="38100" marB="38100" anchor="ctr">
                    <a:solidFill>
                      <a:srgbClr val="FFFFFF"/>
                    </a:solidFill>
                  </a:tcPr>
                </a:tc>
                <a:extLst>
                  <a:ext uri="{0D108BD9-81ED-4DB2-BD59-A6C34878D82A}">
                    <a16:rowId xmlns:a16="http://schemas.microsoft.com/office/drawing/2014/main" val="1946897226"/>
                  </a:ext>
                </a:extLst>
              </a:tr>
              <a:tr h="383540">
                <a:tc>
                  <a:txBody>
                    <a:bodyPr/>
                    <a:lstStyle/>
                    <a:p>
                      <a:pPr algn="l"/>
                      <a:r>
                        <a:rPr lang="en-PH" sz="1800" b="0">
                          <a:solidFill>
                            <a:srgbClr val="333333"/>
                          </a:solidFill>
                          <a:latin typeface="Calibri" panose="020F0502020204030204" pitchFamily="34" charset="0"/>
                        </a:rPr>
                        <a:t>Weighted scorer</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F2</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38</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6</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24</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1794</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61.29%</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86.36%</a:t>
                      </a:r>
                    </a:p>
                  </a:txBody>
                  <a:tcPr marL="63500" marR="63500" marT="38100" marB="38100" anchor="ctr">
                    <a:solidFill>
                      <a:srgbClr val="FFFFFF"/>
                    </a:solidFill>
                  </a:tcPr>
                </a:tc>
                <a:extLst>
                  <a:ext uri="{0D108BD9-81ED-4DB2-BD59-A6C34878D82A}">
                    <a16:rowId xmlns:a16="http://schemas.microsoft.com/office/drawing/2014/main" val="2965266039"/>
                  </a:ext>
                </a:extLst>
              </a:tr>
              <a:tr h="383540">
                <a:tc>
                  <a:txBody>
                    <a:bodyPr/>
                    <a:lstStyle/>
                    <a:p>
                      <a:pPr algn="l"/>
                      <a:r>
                        <a:rPr lang="en-PH" sz="1800" b="0">
                          <a:solidFill>
                            <a:srgbClr val="333333"/>
                          </a:solidFill>
                          <a:latin typeface="Calibri" panose="020F0502020204030204" pitchFamily="34" charset="0"/>
                        </a:rPr>
                        <a:t>Keyword rule</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F0.5</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27</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17</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11</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1807</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71.05%</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61.36%</a:t>
                      </a:r>
                    </a:p>
                  </a:txBody>
                  <a:tcPr marL="63500" marR="63500" marT="38100" marB="38100" anchor="ctr">
                    <a:solidFill>
                      <a:srgbClr val="FFFFFF"/>
                    </a:solidFill>
                  </a:tcPr>
                </a:tc>
                <a:extLst>
                  <a:ext uri="{0D108BD9-81ED-4DB2-BD59-A6C34878D82A}">
                    <a16:rowId xmlns:a16="http://schemas.microsoft.com/office/drawing/2014/main" val="3108535182"/>
                  </a:ext>
                </a:extLst>
              </a:tr>
              <a:tr h="383540">
                <a:tc>
                  <a:txBody>
                    <a:bodyPr/>
                    <a:lstStyle/>
                    <a:p>
                      <a:pPr algn="l"/>
                      <a:r>
                        <a:rPr lang="en-PH" sz="1800" b="0">
                          <a:solidFill>
                            <a:srgbClr val="333333"/>
                          </a:solidFill>
                          <a:latin typeface="Calibri" panose="020F0502020204030204" pitchFamily="34" charset="0"/>
                        </a:rPr>
                        <a:t>Keyword rule</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F1</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27</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17</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11</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1807</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71.05%</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61.36%</a:t>
                      </a:r>
                    </a:p>
                  </a:txBody>
                  <a:tcPr marL="63500" marR="63500" marT="38100" marB="38100" anchor="ctr">
                    <a:solidFill>
                      <a:srgbClr val="FFFFFF"/>
                    </a:solidFill>
                  </a:tcPr>
                </a:tc>
                <a:extLst>
                  <a:ext uri="{0D108BD9-81ED-4DB2-BD59-A6C34878D82A}">
                    <a16:rowId xmlns:a16="http://schemas.microsoft.com/office/drawing/2014/main" val="2079843198"/>
                  </a:ext>
                </a:extLst>
              </a:tr>
              <a:tr h="383540">
                <a:tc>
                  <a:txBody>
                    <a:bodyPr/>
                    <a:lstStyle/>
                    <a:p>
                      <a:pPr algn="l"/>
                      <a:r>
                        <a:rPr lang="en-PH" sz="1800" b="0">
                          <a:solidFill>
                            <a:srgbClr val="333333"/>
                          </a:solidFill>
                          <a:latin typeface="Calibri" panose="020F0502020204030204" pitchFamily="34" charset="0"/>
                        </a:rPr>
                        <a:t>Keyword rule</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F2</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27</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17</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11</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1807</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71.05%</a:t>
                      </a:r>
                    </a:p>
                  </a:txBody>
                  <a:tcPr marL="63500" marR="63500" marT="38100" marB="38100" anchor="ctr">
                    <a:solidFill>
                      <a:srgbClr val="FFFFFF"/>
                    </a:solidFill>
                  </a:tcPr>
                </a:tc>
                <a:tc>
                  <a:txBody>
                    <a:bodyPr/>
                    <a:lstStyle/>
                    <a:p>
                      <a:pPr algn="ctr"/>
                      <a:r>
                        <a:rPr lang="en-PH" sz="1800" b="0">
                          <a:solidFill>
                            <a:srgbClr val="333333"/>
                          </a:solidFill>
                          <a:latin typeface="Calibri" panose="020F0502020204030204" pitchFamily="34" charset="0"/>
                        </a:rPr>
                        <a:t>61.36%</a:t>
                      </a:r>
                    </a:p>
                  </a:txBody>
                  <a:tcPr marL="63500" marR="63500" marT="38100" marB="38100" anchor="ctr">
                    <a:solidFill>
                      <a:srgbClr val="FFFFFF"/>
                    </a:solidFill>
                  </a:tcPr>
                </a:tc>
                <a:extLst>
                  <a:ext uri="{0D108BD9-81ED-4DB2-BD59-A6C34878D82A}">
                    <a16:rowId xmlns:a16="http://schemas.microsoft.com/office/drawing/2014/main" val="1592807575"/>
                  </a:ext>
                </a:extLst>
              </a:tr>
            </a:tbl>
          </a:graphicData>
        </a:graphic>
      </p:graphicFrame>
      <p:sp>
        <p:nvSpPr>
          <p:cNvPr id="6" name="Backup footnote">
            <a:extLst>
              <a:ext uri="{FF2B5EF4-FFF2-40B4-BE49-F238E27FC236}">
                <a16:creationId xmlns:a16="http://schemas.microsoft.com/office/drawing/2014/main" id="{A713DDF1-4C20-37A9-E539-305529AD9DBC}"/>
              </a:ext>
            </a:extLst>
          </p:cNvPr>
          <p:cNvSpPr txBox="1"/>
          <p:nvPr/>
        </p:nvSpPr>
        <p:spPr>
          <a:xfrm>
            <a:off x="685800" y="6248400"/>
            <a:ext cx="10795000" cy="261610"/>
          </a:xfrm>
          <a:prstGeom prst="rect">
            <a:avLst/>
          </a:prstGeom>
          <a:noFill/>
        </p:spPr>
        <p:txBody>
          <a:bodyPr vert="horz" lIns="0" tIns="0" rIns="0" bIns="0" rtlCol="0">
            <a:spAutoFit/>
          </a:bodyPr>
          <a:lstStyle/>
          <a:p>
            <a:r>
              <a:rPr lang="en-PH" sz="1700">
                <a:solidFill>
                  <a:srgbClr val="333333"/>
                </a:solidFill>
                <a:latin typeface="Calibri Light" panose="020F0302020204030204" pitchFamily="34" charset="0"/>
              </a:rPr>
              <a:t>TP: found positives | FN: misses | FP: false alerts | TN: correct negatives. N = 1,862.</a:t>
            </a:r>
          </a:p>
        </p:txBody>
      </p:sp>
    </p:spTree>
    <p:extLst>
      <p:ext uri="{BB962C8B-B14F-4D97-AF65-F5344CB8AC3E}">
        <p14:creationId xmlns:p14="http://schemas.microsoft.com/office/powerpoint/2010/main" val="591965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844B5-70AB-4288-3250-7B9D2AE0D6B1}"/>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9C1D6124-563A-7F70-DF21-E8FEA2257CAD}"/>
              </a:ext>
            </a:extLst>
          </p:cNvPr>
          <p:cNvSpPr>
            <a:spLocks noGrp="1"/>
          </p:cNvSpPr>
          <p:nvPr>
            <p:ph type="title"/>
          </p:nvPr>
        </p:nvSpPr>
        <p:spPr>
          <a:xfrm>
            <a:off x="1205255" y="2850418"/>
            <a:ext cx="9781489" cy="1325563"/>
          </a:xfrm>
        </p:spPr>
        <p:txBody>
          <a:bodyPr>
            <a:noAutofit/>
          </a:bodyPr>
          <a:lstStyle/>
          <a:p>
            <a:pPr algn="ctr">
              <a:buNone/>
            </a:pPr>
            <a:r>
              <a:rPr sz="8000" b="1"/>
              <a:t>RESOURCE SLIDES</a:t>
            </a:r>
            <a:br/>
            <a:r>
              <a:rPr sz="8000" b="1"/>
              <a:t>vvv</a:t>
            </a:r>
          </a:p>
        </p:txBody>
      </p:sp>
      <p:sp>
        <p:nvSpPr>
          <p:cNvPr id="3" name="Rectangle 2">
            <a:extLst>
              <a:ext uri="{FF2B5EF4-FFF2-40B4-BE49-F238E27FC236}">
                <a16:creationId xmlns:a16="http://schemas.microsoft.com/office/drawing/2014/main" id="{972EB74F-12A3-192F-04F0-FA096E2E1BCF}"/>
              </a:ext>
            </a:extLst>
          </p:cNvPr>
          <p:cNvSpPr>
            <a:spLocks noGrp="1"/>
          </p:cNvSpPr>
          <p:nvPr/>
        </p:nvSpPr>
        <p:spPr>
          <a:xfrm>
            <a:off x="-1" y="1342521"/>
            <a:ext cx="12192001" cy="773723"/>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Rectangle 3">
            <a:extLst>
              <a:ext uri="{FF2B5EF4-FFF2-40B4-BE49-F238E27FC236}">
                <a16:creationId xmlns:a16="http://schemas.microsoft.com/office/drawing/2014/main" id="{623FB5B4-11EE-FCD9-7BF8-04B000C6621F}"/>
              </a:ext>
            </a:extLst>
          </p:cNvPr>
          <p:cNvSpPr>
            <a:spLocks noGrp="1"/>
          </p:cNvSpPr>
          <p:nvPr/>
        </p:nvSpPr>
        <p:spPr>
          <a:xfrm>
            <a:off x="-1" y="4523293"/>
            <a:ext cx="12192001" cy="773723"/>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537506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F6EC9-01F9-3331-09AA-19C64635D555}"/>
              </a:ext>
            </a:extLst>
          </p:cNvPr>
          <p:cNvSpPr>
            <a:spLocks noGrp="1"/>
          </p:cNvSpPr>
          <p:nvPr>
            <p:ph type="ctrTitle"/>
          </p:nvPr>
        </p:nvSpPr>
        <p:spPr>
          <a:xfrm>
            <a:off x="6096000" y="2722563"/>
            <a:ext cx="5077521" cy="2387600"/>
          </a:xfrm>
        </p:spPr>
        <p:txBody>
          <a:bodyPr>
            <a:normAutofit/>
          </a:bodyPr>
          <a:lstStyle/>
          <a:p>
            <a:pPr>
              <a:lnSpc>
                <a:spcPts val="5000"/>
              </a:lnSpc>
              <a:buNone/>
            </a:pPr>
            <a:r>
              <a:rPr sz="6600"/>
              <a:t>PACIFIC COLLEGE</a:t>
            </a:r>
          </a:p>
        </p:txBody>
      </p:sp>
    </p:spTree>
    <p:extLst>
      <p:ext uri="{BB962C8B-B14F-4D97-AF65-F5344CB8AC3E}">
        <p14:creationId xmlns:p14="http://schemas.microsoft.com/office/powerpoint/2010/main" val="4021905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B60773-11B5-CF24-34E2-87D3F196B882}"/>
              </a:ext>
            </a:extLst>
          </p:cNvPr>
          <p:cNvSpPr>
            <a:spLocks noGrp="1"/>
          </p:cNvSpPr>
          <p:nvPr/>
        </p:nvSpPr>
        <p:spPr>
          <a:xfrm>
            <a:off x="831850" y="605343"/>
            <a:ext cx="10062122" cy="1284059"/>
          </a:xfrm>
          <a:prstGeom prst="rect">
            <a:avLst/>
          </a:prstGeom>
        </p:spPr>
        <p:txBody>
          <a:bodyPr vert="horz" lIns="91440" tIns="45720" rIns="91440" bIns="45720" anchor="b">
            <a:normAutofit/>
          </a:bodyPr>
          <a:lstStyle>
            <a:lvl1pPr algn="l" defTabSz="914400">
              <a:lnSpc>
                <a:spcPct val="90000"/>
              </a:lnSpc>
              <a:spcBef>
                <a:spcPct val="0"/>
              </a:spcBef>
              <a:buNone/>
              <a:defRPr sz="6000" kern="1200">
                <a:solidFill>
                  <a:schemeClr val="bg1"/>
                </a:solidFill>
                <a:latin typeface="+mj-lt"/>
                <a:ea typeface="+mj-lt"/>
                <a:cs typeface="+mj-lt"/>
              </a:defRPr>
            </a:lvl1pPr>
          </a:lstStyle>
          <a:p>
            <a:r>
              <a:rPr b="1"/>
              <a:t>Sustainable Development Goals </a:t>
            </a:r>
          </a:p>
        </p:txBody>
      </p:sp>
      <p:pic>
        <p:nvPicPr>
          <p:cNvPr id="9" name="Picture 5"/>
          <p:cNvPicPr>
            <a:picLocks noChangeAspect="1"/>
          </p:cNvPicPr>
          <p:nvPr/>
        </p:nvPicPr>
        <p:blipFill>
          <a:blip r:embed="rId3"/>
          <a:stretch>
            <a:fillRect/>
          </a:stretch>
        </p:blipFill>
        <p:spPr>
          <a:xfrm>
            <a:off x="1131626" y="2706805"/>
            <a:ext cx="3559791" cy="3548418"/>
          </a:xfrm>
          <a:prstGeom prst="rect">
            <a:avLst/>
          </a:prstGeom>
        </p:spPr>
      </p:pic>
      <p:pic>
        <p:nvPicPr>
          <p:cNvPr id="10" name="Picture 6"/>
          <p:cNvPicPr>
            <a:picLocks noChangeAspect="1"/>
          </p:cNvPicPr>
          <p:nvPr/>
        </p:nvPicPr>
        <p:blipFill>
          <a:blip r:embed="rId4"/>
          <a:stretch>
            <a:fillRect/>
          </a:stretch>
        </p:blipFill>
        <p:spPr>
          <a:xfrm>
            <a:off x="6863687" y="2706805"/>
            <a:ext cx="3616657" cy="3548419"/>
          </a:xfrm>
          <a:prstGeom prst="rect">
            <a:avLst/>
          </a:prstGeom>
        </p:spPr>
      </p:pic>
    </p:spTree>
    <p:extLst>
      <p:ext uri="{BB962C8B-B14F-4D97-AF65-F5344CB8AC3E}">
        <p14:creationId xmlns:p14="http://schemas.microsoft.com/office/powerpoint/2010/main" val="131381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3398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34F65-AA79-3DA3-8DD3-52D817FFB6A3}"/>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Tree>
    <p:extLst>
      <p:ext uri="{BB962C8B-B14F-4D97-AF65-F5344CB8AC3E}">
        <p14:creationId xmlns:p14="http://schemas.microsoft.com/office/powerpoint/2010/main" val="5982917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TotalTime>
  <Words>3202</Words>
  <Application>Microsoft Office PowerPoint</Application>
  <DocSecurity>0</DocSecurity>
  <PresentationFormat>Widescreen</PresentationFormat>
  <Paragraphs>322</Paragraphs>
  <Slides>24</Slides>
  <Notes>24</Notes>
  <HiddenSlides>7</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Office Theme</vt:lpstr>
      <vt:lpstr>GroomShield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RESOURCE SLIDES vvv</vt:lpstr>
      <vt:lpstr>PACIFIC COLLEGE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John Michael Maala</cp:lastModifiedBy>
  <cp:revision>15</cp:revision>
  <dcterms:created xsi:type="dcterms:W3CDTF">2026-08-12T16:37:22Z</dcterms:created>
  <dcterms:modified xsi:type="dcterms:W3CDTF">2026-10-01T00:32:27Z</dcterms:modified>
</cp:coreProperties>
</file>