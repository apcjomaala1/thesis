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rts/chart1.xml" ContentType="application/vnd.openxmlformats-officedocument.drawingml.chart+xml"/>
  <Override PartName="/ppt/notesSlides/notesSlide28.xml" ContentType="application/vnd.openxmlformats-officedocument.presentationml.notesSlide+xml"/>
  <Override PartName="/ppt/charts/chart2.xml" ContentType="application/vnd.openxmlformats-officedocument.drawingml.chart+xml"/>
  <Override PartName="/ppt/notesSlides/notesSlide29.xml" ContentType="application/vnd.openxmlformats-officedocument.presentationml.notesSlide+xml"/>
  <Override PartName="/ppt/charts/chart3.xml" ContentType="application/vnd.openxmlformats-officedocument.drawingml.chart+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4.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90" r:id="rId9"/>
    <p:sldId id="291" r:id="rId10"/>
    <p:sldId id="263" r:id="rId11"/>
    <p:sldId id="264" r:id="rId12"/>
    <p:sldId id="265" r:id="rId13"/>
    <p:sldId id="266" r:id="rId14"/>
    <p:sldId id="267" r:id="rId15"/>
    <p:sldId id="268" r:id="rId16"/>
    <p:sldId id="292" r:id="rId17"/>
    <p:sldId id="269" r:id="rId18"/>
    <p:sldId id="270" r:id="rId19"/>
    <p:sldId id="271" r:id="rId20"/>
    <p:sldId id="293" r:id="rId21"/>
    <p:sldId id="272" r:id="rId22"/>
    <p:sldId id="273" r:id="rId23"/>
    <p:sldId id="294" r:id="rId24"/>
    <p:sldId id="274" r:id="rId25"/>
    <p:sldId id="275" r:id="rId26"/>
    <p:sldId id="276" r:id="rId27"/>
    <p:sldId id="295" r:id="rId28"/>
    <p:sldId id="296" r:id="rId29"/>
    <p:sldId id="297" r:id="rId30"/>
    <p:sldId id="277" r:id="rId31"/>
    <p:sldId id="298" r:id="rId32"/>
    <p:sldId id="278" r:id="rId33"/>
    <p:sldId id="299" r:id="rId34"/>
    <p:sldId id="284" r:id="rId35"/>
    <p:sldId id="285" r:id="rId36"/>
    <p:sldId id="286" r:id="rId37"/>
    <p:sldId id="287" r:id="rId38"/>
    <p:sldId id="288" r:id="rId39"/>
    <p:sldId id="28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3383" autoAdjust="0"/>
  </p:normalViewPr>
  <p:slideViewPr>
    <p:cSldViewPr snapToGrid="0">
      <p:cViewPr varScale="1">
        <p:scale>
          <a:sx n="64" d="100"/>
          <a:sy n="64" d="100"/>
        </p:scale>
        <p:origin x="1354"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PR-AUC</c:v>
                </c:pt>
              </c:strCache>
            </c:strRef>
          </c:tx>
          <c:spPr>
            <a:solidFill>
              <a:srgbClr val="36588C"/>
            </a:solidFill>
            <a:ln>
              <a:noFill/>
            </a:ln>
          </c:spPr>
          <c:invertIfNegative val="1"/>
          <c:dLbls>
            <c:numFmt formatCode="0.000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Primary LSTM</c:v>
                </c:pt>
                <c:pt idx="4">
                  <c:v>Enhanced LSTM</c:v>
                </c:pt>
              </c:strCache>
            </c:strRef>
          </c:cat>
          <c:val>
            <c:numRef>
              <c:f>Sheet1!$B$2:$B$6</c:f>
              <c:numCache>
                <c:formatCode>0.0000</c:formatCode>
                <c:ptCount val="5"/>
                <c:pt idx="0">
                  <c:v>0.4451</c:v>
                </c:pt>
                <c:pt idx="1">
                  <c:v>0.55230000000000001</c:v>
                </c:pt>
                <c:pt idx="2">
                  <c:v>0.80500000000000005</c:v>
                </c:pt>
                <c:pt idx="3">
                  <c:v>0.9153</c:v>
                </c:pt>
                <c:pt idx="4">
                  <c:v>0.94830000000000003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89B-4763-9187-A4EB114318B8}"/>
            </c:ext>
          </c:extLst>
        </c:ser>
        <c:ser>
          <c:idx val="1"/>
          <c:order val="1"/>
          <c:tx>
            <c:strRef>
              <c:f>Sheet1!$C$1</c:f>
              <c:strCache>
                <c:ptCount val="1"/>
                <c:pt idx="0">
                  <c:v>F0.5</c:v>
                </c:pt>
              </c:strCache>
            </c:strRef>
          </c:tx>
          <c:spPr>
            <a:solidFill>
              <a:srgbClr val="257656"/>
            </a:solidFill>
            <a:ln>
              <a:noFill/>
            </a:ln>
          </c:spPr>
          <c:invertIfNegative val="1"/>
          <c:dLbls>
            <c:numFmt formatCode="0.000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Primary LSTM</c:v>
                </c:pt>
                <c:pt idx="4">
                  <c:v>Enhanced LSTM</c:v>
                </c:pt>
              </c:strCache>
            </c:strRef>
          </c:cat>
          <c:val>
            <c:numRef>
              <c:f>Sheet1!$C$2:$C$6</c:f>
              <c:numCache>
                <c:formatCode>0.0000</c:formatCode>
                <c:ptCount val="5"/>
                <c:pt idx="0">
                  <c:v>0.68879999999999997</c:v>
                </c:pt>
                <c:pt idx="1">
                  <c:v>0.55289999999999995</c:v>
                </c:pt>
                <c:pt idx="2">
                  <c:v>0.75</c:v>
                </c:pt>
                <c:pt idx="3">
                  <c:v>0.86209999999999998</c:v>
                </c:pt>
                <c:pt idx="4">
                  <c:v>0.88360000000000005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89B-4763-9187-A4EB114318B8}"/>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1"/>
          <c:min val="0"/>
        </c:scaling>
        <c:delete val="0"/>
        <c:axPos val="l"/>
        <c:majorGridlines>
          <c:spPr>
            <a:ln w="6350">
              <a:solidFill>
                <a:srgbClr val="E5E8ED"/>
              </a:solidFill>
            </a:ln>
          </c:spPr>
        </c:majorGridlines>
        <c:numFmt formatCode="0.0" sourceLinked="0"/>
        <c:majorTickMark val="none"/>
        <c:minorTickMark val="none"/>
        <c:tickLblPos val="nextTo"/>
        <c:txPr>
          <a:bodyPr/>
          <a:lstStyle/>
          <a:p>
            <a:pPr>
              <a:defRPr sz="1600">
                <a:latin typeface="Calibri"/>
              </a:defRPr>
            </a:pPr>
            <a:endParaRPr lang="en-US"/>
          </a:p>
        </c:txPr>
        <c:crossAx val="10"/>
        <c:crosses val="autoZero"/>
        <c:crossBetween val="between"/>
        <c:majorUnit val="0.2"/>
      </c:valAx>
    </c:plotArea>
    <c:legend>
      <c:legendPos val="b"/>
      <c:overlay val="0"/>
      <c:txPr>
        <a:bodyPr/>
        <a:lstStyle/>
        <a:p>
          <a:pPr>
            <a:defRPr sz="1700">
              <a:latin typeface="Calibri"/>
            </a:defRPr>
          </a:pPr>
          <a:endParaRPr lang="en-US"/>
        </a:p>
      </c:txPr>
    </c:legend>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Recall</c:v>
                </c:pt>
              </c:strCache>
            </c:strRef>
          </c:tx>
          <c:spPr>
            <a:solidFill>
              <a:srgbClr val="257656"/>
            </a:solidFill>
            <a:ln>
              <a:noFill/>
            </a:ln>
          </c:spPr>
          <c:invertIfNegative val="1"/>
          <c:dLbls>
            <c:numFmt formatCode="0.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Primary LSTM</c:v>
                </c:pt>
                <c:pt idx="4">
                  <c:v>Enhanced LSTM</c:v>
                </c:pt>
              </c:strCache>
            </c:strRef>
          </c:cat>
          <c:val>
            <c:numRef>
              <c:f>Sheet1!$B$2:$B$6</c:f>
              <c:numCache>
                <c:formatCode>0.0%</c:formatCode>
                <c:ptCount val="5"/>
                <c:pt idx="0">
                  <c:v>0.61360000000000003</c:v>
                </c:pt>
                <c:pt idx="1">
                  <c:v>0.52270000000000005</c:v>
                </c:pt>
                <c:pt idx="2">
                  <c:v>0.81820000000000004</c:v>
                </c:pt>
                <c:pt idx="3">
                  <c:v>0.90910000000000002</c:v>
                </c:pt>
                <c:pt idx="4">
                  <c:v>0.93179999999999996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D8C1-4A93-B8C9-2EFF4B82BC43}"/>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1"/>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0.2"/>
      </c:valAx>
    </c:plotArea>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Missed positives (FN)</c:v>
                </c:pt>
              </c:strCache>
            </c:strRef>
          </c:tx>
          <c:spPr>
            <a:solidFill>
              <a:srgbClr val="D59A16"/>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Primary LSTM</c:v>
                </c:pt>
                <c:pt idx="4">
                  <c:v>Enhanced LSTM</c:v>
                </c:pt>
              </c:strCache>
            </c:strRef>
          </c:cat>
          <c:val>
            <c:numRef>
              <c:f>Sheet1!$B$2:$B$6</c:f>
              <c:numCache>
                <c:formatCode>0</c:formatCode>
                <c:ptCount val="5"/>
                <c:pt idx="0">
                  <c:v>17</c:v>
                </c:pt>
                <c:pt idx="1">
                  <c:v>21</c:v>
                </c:pt>
                <c:pt idx="2">
                  <c:v>8</c:v>
                </c:pt>
                <c:pt idx="3">
                  <c:v>4</c:v>
                </c:pt>
                <c:pt idx="4">
                  <c:v>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2627-43F6-BFA4-4D52BE2C6397}"/>
            </c:ext>
          </c:extLst>
        </c:ser>
        <c:ser>
          <c:idx val="1"/>
          <c:order val="1"/>
          <c:tx>
            <c:strRef>
              <c:f>Sheet1!$C$1</c:f>
              <c:strCache>
                <c:ptCount val="1"/>
                <c:pt idx="0">
                  <c:v>False alerts (FP)</c:v>
                </c:pt>
              </c:strCache>
            </c:strRef>
          </c:tx>
          <c:spPr>
            <a:solidFill>
              <a:srgbClr val="36588C"/>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Keyword</c:v>
                </c:pt>
                <c:pt idx="1">
                  <c:v>Maximum L1</c:v>
                </c:pt>
                <c:pt idx="2">
                  <c:v>Weighted</c:v>
                </c:pt>
                <c:pt idx="3">
                  <c:v>Primary LSTM</c:v>
                </c:pt>
                <c:pt idx="4">
                  <c:v>Enhanced LSTM</c:v>
                </c:pt>
              </c:strCache>
            </c:strRef>
          </c:cat>
          <c:val>
            <c:numRef>
              <c:f>Sheet1!$C$2:$C$6</c:f>
              <c:numCache>
                <c:formatCode>0</c:formatCode>
                <c:ptCount val="5"/>
                <c:pt idx="0">
                  <c:v>11</c:v>
                </c:pt>
                <c:pt idx="1">
                  <c:v>18</c:v>
                </c:pt>
                <c:pt idx="2">
                  <c:v>13</c:v>
                </c:pt>
                <c:pt idx="3">
                  <c:v>7</c:v>
                </c:pt>
                <c:pt idx="4">
                  <c:v>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2627-43F6-BFA4-4D52BE2C6397}"/>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25"/>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5"/>
      </c:valAx>
    </c:plotArea>
    <c:legend>
      <c:legendPos val="b"/>
      <c:overlay val="0"/>
      <c:txPr>
        <a:bodyPr/>
        <a:lstStyle/>
        <a:p>
          <a:pPr>
            <a:defRPr sz="1700">
              <a:latin typeface="Calibri"/>
            </a:defRPr>
          </a:pPr>
          <a:endParaRPr lang="en-US"/>
        </a:p>
      </c:txPr>
    </c:legend>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strRef>
              <c:f>Sheet1!$B$1</c:f>
              <c:strCache>
                <c:ptCount val="1"/>
                <c:pt idx="0">
                  <c:v>Conversation length in turns</c:v>
                </c:pt>
              </c:strCache>
            </c:strRef>
          </c:tx>
          <c:spPr>
            <a:solidFill>
              <a:srgbClr val="D59A16"/>
            </a:solidFill>
            <a:ln>
              <a:noFill/>
            </a:ln>
          </c:spPr>
          <c:invertIfNegative val="1"/>
          <c:dLbls>
            <c:numFmt formatCode="0" sourceLinked="0"/>
            <c:spPr>
              <a:noFill/>
              <a:ln>
                <a:noFill/>
              </a:ln>
              <a:effectLst/>
            </c:spPr>
            <c:txPr>
              <a:bodyPr/>
              <a:lstStyle/>
              <a:p>
                <a:pPr>
                  <a:defRPr sz="1600">
                    <a:latin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Missed case 1</c:v>
                </c:pt>
                <c:pt idx="1">
                  <c:v>Missed case 2</c:v>
                </c:pt>
                <c:pt idx="2">
                  <c:v>Missed case 3</c:v>
                </c:pt>
                <c:pt idx="3">
                  <c:v>Missed case 4</c:v>
                </c:pt>
              </c:strCache>
            </c:strRef>
          </c:cat>
          <c:val>
            <c:numRef>
              <c:f>Sheet1!$B$2:$B$5</c:f>
              <c:numCache>
                <c:formatCode>0</c:formatCode>
                <c:ptCount val="4"/>
                <c:pt idx="0">
                  <c:v>2</c:v>
                </c:pt>
                <c:pt idx="1">
                  <c:v>11</c:v>
                </c:pt>
                <c:pt idx="2">
                  <c:v>13</c:v>
                </c:pt>
                <c:pt idx="3">
                  <c:v>26</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B18A-4E32-8547-033A8D737AD2}"/>
            </c:ext>
          </c:extLst>
        </c:ser>
        <c:dLbls>
          <c:dLblPos val="outEnd"/>
          <c:showLegendKey val="0"/>
          <c:showVal val="1"/>
          <c:showCatName val="0"/>
          <c:showSerName val="0"/>
          <c:showPercent val="0"/>
          <c:showBubbleSize val="0"/>
        </c:dLbls>
        <c:gapWidth val="90"/>
        <c:axId val="10"/>
        <c:axId val="20"/>
      </c:barChart>
      <c:catAx>
        <c:axId val="10"/>
        <c:scaling>
          <c:orientation val="minMax"/>
        </c:scaling>
        <c:delete val="0"/>
        <c:axPos val="b"/>
        <c:numFmt formatCode="General" sourceLinked="0"/>
        <c:majorTickMark val="none"/>
        <c:minorTickMark val="none"/>
        <c:tickLblPos val="nextTo"/>
        <c:txPr>
          <a:bodyPr/>
          <a:lstStyle/>
          <a:p>
            <a:pPr>
              <a:defRPr sz="1600">
                <a:latin typeface="Calibri"/>
              </a:defRPr>
            </a:pPr>
            <a:endParaRPr lang="en-US"/>
          </a:p>
        </c:txPr>
        <c:crossAx val="20"/>
        <c:crosses val="autoZero"/>
        <c:auto val="1"/>
        <c:lblAlgn val="ctr"/>
        <c:lblOffset val="100"/>
        <c:noMultiLvlLbl val="1"/>
      </c:catAx>
      <c:valAx>
        <c:axId val="20"/>
        <c:scaling>
          <c:orientation val="minMax"/>
          <c:max val="40"/>
          <c:min val="0"/>
        </c:scaling>
        <c:delete val="0"/>
        <c:axPos val="l"/>
        <c:majorGridlines>
          <c:spPr>
            <a:ln w="6350">
              <a:solidFill>
                <a:srgbClr val="E5E8ED"/>
              </a:solidFill>
            </a:ln>
          </c:spPr>
        </c:majorGridlines>
        <c:numFmt formatCode="0" sourceLinked="0"/>
        <c:majorTickMark val="none"/>
        <c:minorTickMark val="none"/>
        <c:tickLblPos val="nextTo"/>
        <c:txPr>
          <a:bodyPr/>
          <a:lstStyle/>
          <a:p>
            <a:pPr>
              <a:defRPr sz="1600">
                <a:latin typeface="Calibri"/>
              </a:defRPr>
            </a:pPr>
            <a:endParaRPr lang="en-US"/>
          </a:p>
        </c:txPr>
        <c:crossAx val="10"/>
        <c:crosses val="autoZero"/>
        <c:crossBetween val="between"/>
        <c:majorUnit val="10"/>
      </c:valAx>
    </c:plotArea>
    <c:plotVisOnly val="1"/>
    <c:dispBlanksAs val="gap"/>
    <c:showDLblsOverMax val="1"/>
  </c:chart>
  <c:spPr>
    <a:solidFill>
      <a:srgbClr val="FFFFFF"/>
    </a:solidFill>
    <a:ln>
      <a:noFill/>
    </a:ln>
  </c:spPr>
  <c:txPr>
    <a:bodyPr/>
    <a:lstStyle/>
    <a:p>
      <a:pPr>
        <a:defRPr sz="1600">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Good day. Our study developed a chat moderation module that combines language context with patterns across a conversation. We tested whether this combination could reduce the positive conversations missed by keyword rules and static scoring. I will connect our objectives to the methods, explain the model, and show the results.</a:t>
            </a:r>
          </a:p>
          <a:p>
            <a:endParaRPr lang="en-US">
              <a:latin typeface="Calibri" panose="020F0502020204030204" pitchFamily="34" charset="0"/>
            </a:endParaRPr>
          </a:p>
          <a:p>
            <a:r>
              <a:rPr lang="en-US">
                <a:latin typeface="Calibri" panose="020F0502020204030204" pitchFamily="34" charset="0"/>
              </a:rPr>
              <a:t>Sources: thesis_docs/Finals_Revised_Paper_WASD.md, title and Sections 1.2-1.3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team is Andrei Torres, Don Idos, Justin Arroco, and Michael Maala, with Manuel Calimlim Jr. as our project adviser.
Source: Original presentation team slide.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problem begins with how conversations develop. A single turn may provide very little information. Our study examines whether recent context and the longer sequence together improve the evidence available to a moderator.</a:t>
            </a:r>
          </a:p>
          <a:p>
            <a:endParaRPr lang="en-US">
              <a:latin typeface="Calibri" panose="020F0502020204030204" pitchFamily="34" charset="0"/>
            </a:endParaRPr>
          </a:p>
          <a:p>
            <a:r>
              <a:rPr lang="en-US">
                <a:latin typeface="Calibri" panose="020F0502020204030204" pitchFamily="34" charset="0"/>
              </a:rPr>
              <a:t>Sources: thesis_docs/Finals_Revised_Paper_WASD.md, Section 1.1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Keyword filters remain useful for explicit language. The difficulty is that a conversation can develop through ordinary wording, indirect requests, or changing interaction patterns. Reports also depend on someone recognizing a problem. This motivated us to develop an additional module that examines context and the conversation sequence.</a:t>
            </a:r>
          </a:p>
          <a:p>
            <a:endParaRPr lang="en-US">
              <a:latin typeface="Calibri" panose="020F0502020204030204" pitchFamily="34" charset="0"/>
            </a:endParaRPr>
          </a:p>
          <a:p>
            <a:r>
              <a:rPr lang="en-US">
                <a:latin typeface="Calibri" panose="020F0502020204030204" pitchFamily="34" charset="0"/>
              </a:rPr>
              <a:t>Sources: thesis_docs/Finals_Revised_Paper_WASD.md, Section 1.1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Calibri" panose="020F0502020204030204" pitchFamily="34" charset="0"/>
              </a:rPr>
              <a:t>Our research asks whether a system that follows the development of a conversation can identify more positive cases than static methods. We built the architecture to address that problem, then selected a dataset with ordered conversations and persistent speaker identifiers to evaluate it.</a:t>
            </a:r>
          </a:p>
          <a:p>
            <a:endParaRPr lang="en-US" dirty="0">
              <a:latin typeface="Calibri" panose="020F0502020204030204" pitchFamily="34" charset="0"/>
            </a:endParaRPr>
          </a:p>
          <a:p>
            <a:r>
              <a:rPr lang="en-US" dirty="0">
                <a:latin typeface="Calibri" panose="020F0502020204030204" pitchFamily="34" charset="0"/>
              </a:rPr>
              <a:t>Sources: </a:t>
            </a:r>
            <a:r>
              <a:rPr lang="en-US" dirty="0" err="1">
                <a:latin typeface="Calibri" panose="020F0502020204030204" pitchFamily="34" charset="0"/>
              </a:rPr>
              <a:t>thesis_docs</a:t>
            </a:r>
            <a:r>
              <a:rPr lang="en-US" dirty="0">
                <a:latin typeface="Calibri" panose="020F0502020204030204" pitchFamily="34" charset="0"/>
              </a:rPr>
              <a:t>/Finals_Revised_Paper_WASD.md, Section 1.2</a:t>
            </a:r>
            <a:endParaRPr dirty="0">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These slide questions summarize the unchanged research questions in the paper. The first two examine existing moderation and its limits. The third concerns the architecture we developed. The fourth asks whether the completed system improves recall and reduces missed cases. Recall means the fraction of positive conversations that the model identifies.</a:t>
            </a:r>
          </a:p>
          <a:p>
            <a:endParaRPr lang="en-US">
              <a:latin typeface="Calibri" panose="020F0502020204030204" pitchFamily="34" charset="0"/>
            </a:endParaRPr>
          </a:p>
          <a:p>
            <a:r>
              <a:rPr lang="en-US">
                <a:latin typeface="Calibri" panose="020F0502020204030204" pitchFamily="34" charset="0"/>
              </a:rPr>
              <a:t>Sources: thesis_docs/Finals_Revised_Paper_WASD.md, Section 1.2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objectives remain the ones approved for the study. We evaluate conventional approaches, develop a module using context and behavioral patterns, and assess the improvement in detection. The next two slides show the alignment between these objectives, our methods, and the resulting evidence. The slide wording is abbreviated for presentation.</a:t>
            </a:r>
          </a:p>
          <a:p>
            <a:endParaRPr lang="en-US">
              <a:latin typeface="Calibri" panose="020F0502020204030204" pitchFamily="34" charset="0"/>
            </a:endParaRPr>
          </a:p>
          <a:p>
            <a:r>
              <a:rPr lang="en-US">
                <a:latin typeface="Calibri" panose="020F0502020204030204" pitchFamily="34" charset="0"/>
              </a:rPr>
              <a:t>Sources: thesis_docs/Finals_Revised_Paper_WASD.md, Section 1.3</a:t>
            </a:r>
          </a:p>
          <a:p>
            <a:endParaRPr lang="en-US">
              <a:latin typeface="Calibri" panose="020F0502020204030204" pitchFamily="34" charset="0"/>
            </a:endParaRPr>
          </a:p>
          <a:p>
            <a:r>
              <a:rPr lang="en-US">
                <a:latin typeface="Calibri" panose="020F0502020204030204" pitchFamily="34" charset="0"/>
              </a:rPr>
              <a:t>Exact approved wording:</a:t>
            </a:r>
          </a:p>
          <a:p>
            <a:r>
              <a:rPr lang="en-US">
                <a:latin typeface="Calibri" panose="020F0502020204030204" pitchFamily="34" charset="0"/>
              </a:rPr>
              <a:t>## 1.3 Objectives of the Study
__General Objective:__ Develop an AI-powered moderation module that enhances existing chat moderation systems by incorporating behavioral pattern analysis and contextual understanding to detect grooming-related interactions in chat environments.
- __Specific Objective:__
	1. Evaluate the limitations and effectiveness of existing keyword-based and rule-based chat moderation systems in handling context-dependent communication.
	2. Design and develop an AI-based chat moderation module that applies machine learning and NLP techniques to analyze behavioral patterns and conversational context across multiple chat interactions.
	3. Assess the improvement in detection performance of the proposed AI-driven module, specifically focusing on the reduction of false negatives compared to traditional keyword-based and report-driven approaches.
</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This is the first half of the alignment table, shortened to keep one clear entry in each cell. Research Questions 1 and 2 both support Objective 1. We assessed the keyword rule on the same test conversations as the other methods. It identified 27 of 44 positives and missed 17. We also tested maximum Layer 1 aggregation, which uses the highest contextual score in a conversation. Comparing these methods with the LSTM establishes where the sequence model improves over static aggregation. We did not run a separate experiment against an operational user-report system.</a:t>
            </a:r>
          </a:p>
          <a:p>
            <a:endParaRPr lang="en-US">
              <a:latin typeface="Calibri" panose="020F0502020204030204" pitchFamily="34" charset="0"/>
            </a:endParaRPr>
          </a:p>
          <a:p>
            <a:r>
              <a:rPr lang="en-US">
                <a:latin typeface="Calibri" panose="020F0502020204030204" pitchFamily="34" charset="0"/>
              </a:rPr>
              <a:t>Sources: Alignment Table.docx, rows 1-2;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second half connects development and evaluation. For Objective 2, we implemented the complete two-layer pipeline and the review interface. For Objective 3, we assessed it on the locked held-out test. The primary LSTM identified 40 of 44 positives, so its recall was 90.91 percent. Its four misses were half the weighted scorer's eight and 76.5 percent fewer than the keyword rule's seventeen. These are measured comparisons against implemented methods. The module can complement reporting workflows, while an actual comparison with moderator reporting remains a separate study.</a:t>
            </a:r>
          </a:p>
          <a:p>
            <a:endParaRPr lang="en-US">
              <a:latin typeface="Calibri" panose="020F0502020204030204" pitchFamily="34" charset="0"/>
            </a:endParaRPr>
          </a:p>
          <a:p>
            <a:r>
              <a:rPr lang="en-US">
                <a:latin typeface="Calibri" panose="020F0502020204030204" pitchFamily="34" charset="0"/>
              </a:rPr>
              <a:t>Sources: Alignment Table.docx, rows 3-4; thesis_docs/CHAPTER_IV_RESULTS_AND_DISCUSSION.md, Tables 4.1-4.2; thesis_docs/CHAPTER_V_SUMMARY_CONCLUSIONS_AND_RECOMMENDATIONS.md, Section 5.2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system has two learned layers. DistilBERT processes the current turn with up to two preceding turns. We then track seven features across the conversation. The LSTM combines that sequence into a conversation score. The practical output is a priority for human review. The moderator interprets the content and decides what action is appropriate.</a:t>
            </a:r>
          </a:p>
          <a:p>
            <a:endParaRPr lang="en-US">
              <a:latin typeface="Calibri" panose="020F0502020204030204" pitchFamily="34" charset="0"/>
            </a:endParaRPr>
          </a:p>
          <a:p>
            <a:r>
              <a:rPr lang="en-US">
                <a:latin typeface="Calibri" panose="020F0502020204030204" pitchFamily="34" charset="0"/>
              </a:rPr>
              <a:t>Sources: thesis_docs/Finals_Revised_Paper_WASD.md, Sections 3.1 and 3.4</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PAN-2012 met the study's need for a large collection of ordered conversations and stable speaker identifiers. For the evaluated outcome, a positive conversation contains at least one author on the official predator list. Layer 1 learns from author-derived supervision, and Layer 2 learns the conversation label. A turn-level score is an intermediate signal, so we do not interpret it as an independently verified grooming label for that message. This gives every comparison the same measurable conversation outcome.</a:t>
            </a:r>
          </a:p>
          <a:p>
            <a:endParaRPr lang="en-US">
              <a:latin typeface="Calibri" panose="020F0502020204030204" pitchFamily="34" charset="0"/>
            </a:endParaRPr>
          </a:p>
          <a:p>
            <a:r>
              <a:rPr lang="en-US">
                <a:latin typeface="Calibri" panose="020F0502020204030204" pitchFamily="34" charset="0"/>
              </a:rPr>
              <a:t>Sources: thesis_docs/Finals_Revised_Paper_WASD.md, Sections 1.4 and 3.3.1; thesis_docs/CHAPTER_IV_RESULTS_AND_DISCUSSION.md, Section 4.1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contribution is a complete contextual and behavioral architecture with a controlled comparison. It delivers a working review interface and evidence that learned aggregation improves detection over static use of the same inputs. For a moderation workflow, both kinds of errors matter: missed positive conversations and false alerts that consume review time.</a:t>
            </a:r>
          </a:p>
          <a:p>
            <a:endParaRPr lang="en-US">
              <a:latin typeface="Calibri" panose="020F0502020204030204" pitchFamily="34" charset="0"/>
            </a:endParaRPr>
          </a:p>
          <a:p>
            <a:r>
              <a:rPr lang="en-US">
                <a:latin typeface="Calibri" panose="020F0502020204030204" pitchFamily="34" charset="0"/>
              </a:rPr>
              <a:t>Sources: thesis_docs/Finals_Revised_Paper_WASD.md, Section 1.5; thesis_docs/CHAPTER_IV_RESULTS_AND_DISCUSSION.md, Section 4.7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literature supports two parts of our design: understanding language in context and following how interaction develops over time. The theory section explains why a sequence representation is appropriate.</a:t>
            </a:r>
          </a:p>
          <a:p>
            <a:endParaRPr lang="en-US">
              <a:latin typeface="Calibri" panose="020F0502020204030204" pitchFamily="34" charset="0"/>
            </a:endParaRPr>
          </a:p>
          <a:p>
            <a:r>
              <a:rPr lang="en-US">
                <a:latin typeface="Calibri" panose="020F0502020204030204" pitchFamily="34" charset="0"/>
              </a:rPr>
              <a:t>Sources: thesis_docs/Finals_Revised_Paper_WASD.md, Chapter II</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panose="020F0502020204030204" pitchFamily="34" charset="0"/>
              </a:rPr>
              <a:t>Transformers help represent the current wording together with recent context. The LSTM addresses a different scale: how the evidence changes across the conversation. We evaluate their combination through the completed two-layer module.</a:t>
            </a:r>
          </a:p>
          <a:p>
            <a:endParaRPr lang="en-US" b="1">
              <a:latin typeface="Calibri" panose="020F0502020204030204" pitchFamily="34" charset="0"/>
            </a:endParaRPr>
          </a:p>
          <a:p>
            <a:r>
              <a:rPr lang="en-US" b="1">
                <a:latin typeface="Calibri" panose="020F0502020204030204" pitchFamily="34" charset="0"/>
              </a:rPr>
              <a:t>Sources: thesis_docs/Finals_Revised_Paper_WASD.md, Sections 2.1-2.3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latin typeface="Calibri" panose="020F0502020204030204" pitchFamily="34" charset="0"/>
              </a:rPr>
              <a:t>Our theoretical basis is the Online Grooming Discourse Model, or OGDM. It describes interrelated conversational processes that can recur or overlap rather than always following one fixed order. That motivates tracking how evidence persists and changes across turns. We then selected PAN-2012 as the evaluation dataset because it provides the chronology and participant identifiers needed for this design.</a:t>
            </a:r>
          </a:p>
          <a:p>
            <a:endParaRPr lang="en-US" b="1">
              <a:latin typeface="Calibri" panose="020F0502020204030204" pitchFamily="34" charset="0"/>
            </a:endParaRPr>
          </a:p>
          <a:p>
            <a:r>
              <a:rPr lang="en-US" b="1">
                <a:latin typeface="Calibri" panose="020F0502020204030204" pitchFamily="34" charset="0"/>
              </a:rPr>
              <a:t>Sources: thesis_docs/Finals_Revised_Paper_WASD.md, Section 2.3 and references [11], [13]</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This table connects theory to computation. Peak and current scores, together with spike count, represent persistence and accumulation of contextual evidence. Rate of change and spike-then-drop represent increases and retreats. Topic distance measures movement away from a reference built from negative training conversations. Turn-taking imbalance summarizes participation within the pair. These are indicators motivated by the theory. We have not independently annotated them as OGDM stages, and the experiment does not establish the individual causal contribution of each feature.</a:t>
            </a:r>
          </a:p>
          <a:p>
            <a:endParaRPr lang="en-US">
              <a:latin typeface="Calibri" panose="020F0502020204030204" pitchFamily="34" charset="0"/>
            </a:endParaRPr>
          </a:p>
          <a:p>
            <a:r>
              <a:rPr lang="en-US">
                <a:latin typeface="Calibri" panose="020F0502020204030204" pitchFamily="34" charset="0"/>
              </a:rPr>
              <a:t>Sources: thesis_docs/Finals_Revised_Paper_WASD.md, Sections 2.3 and 3.3.4; thesis_docs/CHAPTER_IV_RESULTS_AND_DISCUSSION.md, Section 4.5</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I will now explain the model architecture, how we separated the data, and how we selected the operating threshold before the final test.</a:t>
            </a:r>
          </a:p>
          <a:p>
            <a:endParaRPr lang="en-US">
              <a:latin typeface="Calibri" panose="020F0502020204030204" pitchFamily="34" charset="0"/>
            </a:endParaRPr>
          </a:p>
          <a:p>
            <a:r>
              <a:rPr lang="en-US">
                <a:latin typeface="Calibri" panose="020F0502020204030204" pitchFamily="34" charset="0"/>
              </a:rPr>
              <a:t>Sources: thesis_docs/Finals_Revised_Paper_WASD.md, Chapter III</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Read the diagram from left to right. The current turn and up to two preceding turns enter the fine-tuned DistilBERT classifier. Its output is an author-derived contextual proxy score. A separate fixed base encoder represents the current turn for topic-distance calculation against the benign training reference. The pipeline combines those signals with speaker-turn information into seven features. The LSTM processes the ordered feature sequence and outputs a conversation score. A threshold selected on validation determines which conversations receive a flag for human review. The primary LSTM has seven inputs per turn. The enhanced experiment additionally feeds 768 embedding values into its recurrent model.</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thesis_docs/Finals_Revised_Paper_WASD.md, Sections 3.3.2-3.4.2; thesis_docs/assets/AI_Model_Architecture_Diagram.svg</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controls make the comparison reproducible. We preserve original conversation and turn identifiers, maintain chronological context, and restrict this experiment to two-speaker conversations. Derived resources come from training data. Validation is used for selection. The held-out final test is then evaluated with those choices already fixed.</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thesis_docs/Finals_Revised_Paper_WASD.md, Sections 3.3 and 3.5</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Suppose one conversation contains authors A and B, and another contains B and C. The shared author B connects the conversations, so both stay in the same partition. The same rule applies to every connected group, including indirect connections. Otherwise the model could benefit from recognizing recurring participants or their language during testing. We verified zero overlap of conversations, authors, and connected components. The bootstrap analysis resamples these whole groups for the same reason: conversations linked by an author should not be treated as independent observations.</a:t>
            </a:r>
          </a:p>
          <a:p>
            <a:endParaRPr lang="en-US">
              <a:latin typeface="Calibri" panose="020F0502020204030204" pitchFamily="34" charset="0"/>
            </a:endParaRPr>
          </a:p>
          <a:p>
            <a:r>
              <a:rPr lang="en-US">
                <a:latin typeface="Calibri" panose="020F0502020204030204" pitchFamily="34" charset="0"/>
              </a:rPr>
              <a:t>Sources: thesis_docs/Finals_Revised_Paper_WASD.md, Sections 3.3.3 and 3.5.2; thesis_docs/CHAPTER_IV_RESULTS_AND_DISCUSSION.md, Section 4.1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central comparison uses the same seven trajectory features. The weighted scorer combines them statically, while the LSTM learns a recurrent sequence model. This evaluates the selected aggregation methods with matched inputs. Keyword matching and maximum Layer 1 aggregation provide additional baselines. We report the enhanced LSTM separately because it also receives 768 embedding values. Feature-removal and ordering ablations would be needed to isolate individual design contributions.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thesis_docs/Finals_Revised_Paper_WASD.md, Section 3.4.3; thesis_docs/CHAPTER_IV_RESULTS_AND_DISCUSSION.md, Sections 4.2-4.5</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Because the test contains only 44 positive conversations among 1,862, we report precision-recall measures together with actual error counts. PR-AUC summarizes performance across thresholds. Precision measures the proportion of alerts that are positive. Recall measures the proportion of all positives that we find. We also report uncertainty using 2,000 bootstrap resamples of connected-author groups.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thesis_docs/Finals_Revised_Paper_WASD.md, Section 3.5.2; thesis_docs/CHAPTER_IV_RESULTS_AND_DISCUSSION.md, Sections 4.1-4.3</a:t>
            </a:r>
            <a:endParaRPr b="0" i="0">
              <a:solidFill>
                <a:schemeClr val="tx1"/>
              </a:solidFill>
              <a:latin typeface="Calibri" panose="020F0502020204030204" pitchFamily="34" charset="0"/>
              <a:ea typeface="+mn-lt"/>
              <a:cs typeface="+mn-l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F0.5 and recall serve different purposes in this experiment. We used validation F0.5 to choose an operating threshold that gives greater weight to precision, because a review queue has limited capacity and false alerts consume that capacity. In the F-beta formulation, beta of one-half weights precision four times as much as recall. We then separately report recall and false-negative counts to answer the research objective about missed cases. The selected model reached 85.11 percent precision and 90.91 percent recall on the final test, with seven false alerts and four missed positives. The operating threshold was 0.9688298. We did not optimize that threshold on the final test, and this rationale does not substitute for a future study of actual moderator workload.</a:t>
            </a:r>
          </a:p>
          <a:p>
            <a:endParaRPr lang="en-US">
              <a:latin typeface="Calibri" panose="020F0502020204030204" pitchFamily="34" charset="0"/>
            </a:endParaRPr>
          </a:p>
          <a:p>
            <a:r>
              <a:rPr lang="en-US">
                <a:latin typeface="Calibri" panose="020F0502020204030204" pitchFamily="34" charset="0"/>
              </a:rPr>
              <a:t>Sources: thesis_docs/Finals_Revised_Paper_WASD.md, Section 3.5.2; thesis_docs/CHAPTER_IV_RESULTS_AND_DISCUSSION.md, Tables 4.1-4.2 and Section 4.7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These results come from the frozen held-out evaluation. The following table and graphs show the same accepted Chapter IV figures.</a:t>
            </a:r>
          </a:p>
          <a:p>
            <a:endParaRPr lang="en-US">
              <a:latin typeface="Calibri" panose="020F0502020204030204" pitchFamily="34" charset="0"/>
            </a:endParaRPr>
          </a:p>
          <a:p>
            <a:r>
              <a:rPr lang="en-US">
                <a:latin typeface="Calibri" panose="020F0502020204030204" pitchFamily="34" charset="0"/>
              </a:rPr>
              <a:t>Sources: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 training set contains 13,031 conversations, validation contains 1,827, and the final test contains 1,862. There are 44 positive and 1,818 negative conversations in the final test. The manifest also retains 1,847 excluded historical-test conversations for complete accounting. We kept every connected-author group in one partition and froze all selection decisions before testing.</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thesis_docs/CHAPTER_IV_RESULTS_AND_DISCUSSION.md, Section 4.1</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This table shows all five methods. The primary LSTM reached PR-AUC of 0.9153, F0.5 of 0.8621, precision of 0.8511, and recall of 0.9091. It found 40 of the 44 positive conversations and made seven false alerts. The main architectural comparison is against the weighted scorer because both receive seven features. The enhanced LSTM has higher point estimates with additional embedding inputs. The paired comparison does not establish a performance difference between the two LSTMs.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blue bars show PR-AUC and the green bars show F0.5. Higher is better for both. The primary LSTM improves both measures over the keyword rule, maximum Layer 1 aggregation, and weighted scoring. The clearest architecture comparison is weighted scoring versus the primary LSTM because the inputs match. The enhanced LSTM also receives embeddings. These bars show point estimates, while the paper reports confidence intervals and paired differences.</a:t>
            </a:r>
          </a:p>
          <a:p>
            <a:endParaRPr lang="en-US">
              <a:latin typeface="Calibri" panose="020F0502020204030204" pitchFamily="34" charset="0"/>
            </a:endParaRPr>
          </a:p>
          <a:p>
            <a:r>
              <a:rPr lang="en-US">
                <a:latin typeface="Calibri" panose="020F0502020204030204" pitchFamily="34" charset="0"/>
              </a:rPr>
              <a:t>Sources: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Recall answers the question most directly connected to our third objective: how many positive conversations did we find? The primary LSTM found 40 out of 44, compared with 27 for the keyword rule, 23 for maximum Layer 1, and 36 for the weighted scorer. The enhanced LSTM found 41. The paired evidence supports the primary model's improvement over the three static baselines. One extra detected case does not establish superiority for the enhanced LSTM.</a:t>
            </a:r>
          </a:p>
          <a:p>
            <a:endParaRPr lang="en-US">
              <a:latin typeface="Calibri" panose="020F0502020204030204" pitchFamily="34" charset="0"/>
            </a:endParaRPr>
          </a:p>
          <a:p>
            <a:r>
              <a:rPr lang="en-US">
                <a:latin typeface="Calibri" panose="020F0502020204030204" pitchFamily="34" charset="0"/>
              </a:rPr>
              <a:t>Sources: thesis_docs/CHAPTER_IV_RESULTS_AND_DISCUSSION.md, Tables 4.1-4.2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Lower bars are better here. The primary LSTM cut the weighted scorer's missed positives from eight to four, a 50 percent reduction, while also cutting false alerts from thirteen to seven. Compared with keyword matching, it reduced missed cases from seventeen to four, a 76.5 percent reduction. These counts show that the improved recall was accompanied by fewer false alerts at the selected operating points. The units are conversations, not individual messages.</a:t>
            </a:r>
          </a:p>
          <a:p>
            <a:endParaRPr lang="en-US">
              <a:latin typeface="Calibri" panose="020F0502020204030204" pitchFamily="34" charset="0"/>
            </a:endParaRPr>
          </a:p>
          <a:p>
            <a:r>
              <a:rPr lang="en-US">
                <a:latin typeface="Calibri" panose="020F0502020204030204" pitchFamily="34" charset="0"/>
              </a:rPr>
              <a:t>Sources: thesis_docs/CHAPTER_IV_RESULTS_AND_DISCUSSION.md, Tables 4.1 and Section 4.7</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We compared the models within the same 2,000 bootstrap resamples of author groups. For primary LSTM minus weighted scorer, the PR-AUC improvement was 0.1103 and the F0.5 improvement was 0.1121. Both paired 95 percent intervals remain above zero. This supports an advantage for the learned recurrent aggregator over the selected static combination of the same features. It establishes the architecture comparison as tested. It does not by itself quantify how much each feature or temporal ordering contributes individually.</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thesis_docs/CHAPTER_IV_RESULTS_AND_DISCUSSION.md, Table 4.2 and Section 4.5</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All four missed positives were short conversations: two, eleven, thirteen, and twenty-six turns. Each was shorter than the lower quartile of correctly detected positives, which was thirty-six turns. Their median was sixty-two. This is the main observed error pattern and is consistent with limited accumulated sequence evidence. It does not prove that length caused each miss or establish a minimum safe number of turns. We have not annotated the first onset of grooming, so these lengths cannot measure detection delay after onset. A future study should measure performance at fixed conversation prefixes, with onset annotations when evaluating time from onset.</a:t>
            </a:r>
          </a:p>
          <a:p>
            <a:endParaRPr lang="en-US">
              <a:latin typeface="Calibri" panose="020F0502020204030204" pitchFamily="34" charset="0"/>
            </a:endParaRPr>
          </a:p>
          <a:p>
            <a:r>
              <a:rPr lang="en-US">
                <a:latin typeface="Calibri" panose="020F0502020204030204" pitchFamily="34" charset="0"/>
              </a:rPr>
              <a:t>Sources: thesis_docs/CHAPTER_IV_RESULTS_AND_DISCUSSION.md, Section 4.6</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a:solidFill>
                  <a:schemeClr val="tx1"/>
                </a:solidFill>
                <a:latin typeface="Calibri" panose="020F0502020204030204" pitchFamily="34" charset="0"/>
                <a:ea typeface="+mn-lt"/>
                <a:cs typeface="+mn-lt"/>
              </a:rPr>
              <a:t>These conclusions answer the approved objectives. First, the controlled comparison established the limitations of the tested static methods. Second, we implemented the complete contextual and behavioral module with a working review interface. Third, we measured higher recall and fewer false negatives, including half as many misses as weighted scoring. Together, the architecture and comparative results support the general objective of enhancing chat moderation. Our measured improvement is against the implemented keyword and score-based baselines.</a:t>
            </a:r>
          </a:p>
          <a:p>
            <a:endParaRPr lang="en-US" b="0" i="0">
              <a:solidFill>
                <a:schemeClr val="tx1"/>
              </a:solidFill>
              <a:latin typeface="Calibri" panose="020F0502020204030204" pitchFamily="34" charset="0"/>
              <a:ea typeface="+mn-lt"/>
              <a:cs typeface="+mn-lt"/>
            </a:endParaRPr>
          </a:p>
          <a:p>
            <a:r>
              <a:rPr lang="en-US" b="0" i="0">
                <a:solidFill>
                  <a:schemeClr val="tx1"/>
                </a:solidFill>
                <a:latin typeface="Calibri" panose="020F0502020204030204" pitchFamily="34" charset="0"/>
                <a:ea typeface="+mn-lt"/>
                <a:cs typeface="+mn-lt"/>
              </a:rPr>
              <a:t>Sources: thesis_docs/CHAPTER_V_SUMMARY_CONCLUSIONS_AND_RECOMMENDATIONS.md, Section 5.2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The next stage is to test the completed system in conditions closer to a platform workflow. Contemporary external data can assess how performance transfers to current language and interaction patterns. Latency testing should measure the complete per-turn pipeline, including both transformer processing and sequence scoring, with median, p95, p99, and throughput. Expert-reviewed onset annotations are needed if we want to measure how quickly the model reacts after grooming begins. Ablations can identify which model components contribute most, and a separate protocol can extend the current two-speaker design to group conversations. The current demo provides sequential replay; production real-time performance remains to be measured.</a:t>
            </a:r>
          </a:p>
          <a:p>
            <a:endParaRPr lang="en-US">
              <a:latin typeface="Calibri" panose="020F0502020204030204" pitchFamily="34" charset="0"/>
            </a:endParaRPr>
          </a:p>
          <a:p>
            <a:r>
              <a:rPr lang="en-US">
                <a:latin typeface="Calibri" panose="020F0502020204030204" pitchFamily="34" charset="0"/>
              </a:rPr>
              <a:t>Sources: thesis_docs/CHAPTER_V_SUMMARY_CONCLUSIONS_AND_RECOMMENDATIONS.md, Section 5.3; thesis_docs/PANEL_COMMENTS_MATRIX.md</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Calibri" panose="020F0502020204030204" pitchFamily="34" charset="0"/>
              </a:rPr>
              <a:t>Our main result is that the learned trajectory model improved conversation detection over the tested static approaches, using the same seven inputs as the weighted comparator. It identified forty of forty-four positives with seven false alerts. Thank you. We welcome your questions about the architecture, data partitions, metric choice, and results.</a:t>
            </a:r>
          </a:p>
          <a:p>
            <a:endParaRPr lang="en-US">
              <a:latin typeface="Calibri" panose="020F0502020204030204" pitchFamily="34" charset="0"/>
            </a:endParaRPr>
          </a:p>
          <a:p>
            <a:r>
              <a:rPr lang="en-US">
                <a:latin typeface="Calibri" panose="020F0502020204030204" pitchFamily="34" charset="0"/>
              </a:rPr>
              <a:t>Sources: thesis_docs/CHAPTER_IV_RESULTS_AND_DISCUSSION.md, Tables 4.1-4.2; thesis_docs/CHAPTER_V_SUMMARY_CONCLUSIONS_AND_RECOMMENDATIONS.md, Section 5.2</a:t>
            </a:r>
            <a:endParaRPr>
              <a:latin typeface="Calibri" panose="020F0502020204030204" pitchFamily="34"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 asset retained from the original presentation. This slide is hidden during the main defense.</a:t>
            </a:r>
          </a:p>
          <a:p>
            <a:endParaRPr lang="en-US"/>
          </a:p>
          <a:p>
            <a:r>
              <a:rPr lang="en-US"/>
              <a:t>Sources: Original presentation template</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1" name="Picture 11"/>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141889" y="5257800"/>
            <a:ext cx="3730228" cy="15984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7"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93092" y="261292"/>
            <a:ext cx="2018121" cy="1078777"/>
          </a:xfrm>
          <a:prstGeom prst="rect">
            <a:avLst/>
          </a:prstGeom>
        </p:spPr>
      </p:pic>
      <p:pic>
        <p:nvPicPr>
          <p:cNvPr id="28" name="Graphic 17"/>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05311" y="3976038"/>
            <a:ext cx="1680181" cy="1760189"/>
          </a:xfrm>
          <a:prstGeom prst="rect">
            <a:avLst/>
          </a:prstGeom>
        </p:spPr>
      </p:pic>
      <p:pic>
        <p:nvPicPr>
          <p:cNvPr id="29" name="Picture 18"/>
          <p:cNvPicPr>
            <a:picLocks noChangeAspect="1"/>
          </p:cNvPicPr>
          <p:nvPr/>
        </p:nvPicPr>
        <p:blipFill>
          <a:blip r:embed="rId5"/>
          <a:stretch>
            <a:fillRect/>
          </a:stretch>
        </p:blipFill>
        <p:spPr>
          <a:xfrm>
            <a:off x="916741" y="5793265"/>
            <a:ext cx="2193834" cy="79368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bg1">
            <a:alpha val="54000"/>
          </a:schemeClr>
        </a:solidFill>
        <a:effectLst/>
      </p:bgPr>
    </p:bg>
    <p:spTree>
      <p:nvGrpSpPr>
        <p:cNvPr id="1" name=""/>
        <p:cNvGrpSpPr/>
        <p:nvPr/>
      </p:nvGrpSpPr>
      <p:grpSpPr>
        <a:xfrm>
          <a:off x="0" y="0"/>
          <a:ext cx="0" cy="0"/>
          <a:chOff x="0" y="0"/>
          <a:chExt cx="0" cy="0"/>
        </a:xfrm>
      </p:grpSpPr>
      <p:pic>
        <p:nvPicPr>
          <p:cNvPr id="20" name="Picture 14"/>
          <p:cNvPicPr>
            <a:picLocks noChangeAspect="1"/>
          </p:cNvPicPr>
          <p:nvPr/>
        </p:nvPicPr>
        <p:blipFill>
          <a:blip r:embed="rId2"/>
          <a:stretch>
            <a:fillRect/>
          </a:stretch>
        </p:blipFill>
        <p:spPr>
          <a:xfrm>
            <a:off x="0" y="0"/>
            <a:ext cx="12191999" cy="6858000"/>
          </a:xfrm>
          <a:prstGeom prst="rect">
            <a:avLst/>
          </a:prstGeom>
        </p:spPr>
      </p:pic>
      <p:sp>
        <p:nvSpPr>
          <p:cNvPr id="2" name="Title 1">
            <a:extLst>
              <a:ext uri="{FF2B5EF4-FFF2-40B4-BE49-F238E27FC236}">
                <a16:creationId xmlns:a16="http://schemas.microsoft.com/office/drawing/2014/main" id="{8085120E-655A-8FD8-CB7D-DD765B31293A}"/>
              </a:ext>
            </a:extLst>
          </p:cNvPr>
          <p:cNvSpPr>
            <a:spLocks noGrp="1"/>
          </p:cNvSpPr>
          <p:nvPr>
            <p:ph type="ctrTitle"/>
          </p:nvPr>
        </p:nvSpPr>
        <p:spPr>
          <a:xfrm>
            <a:off x="6096000" y="1122363"/>
            <a:ext cx="5077521" cy="2387600"/>
          </a:xfrm>
        </p:spPr>
        <p:txBody>
          <a:bodyPr anchor="b"/>
          <a:lstStyle>
            <a:lvl1pPr algn="l">
              <a:buNone/>
              <a:defRPr sz="6000">
                <a:solidFill>
                  <a:schemeClr val="bg1"/>
                </a:solidFill>
              </a:defRPr>
            </a:lvl1pPr>
          </a:lstStyle>
          <a:p>
            <a:r>
              <a:t>Click to edit Master title style</a:t>
            </a:r>
          </a:p>
        </p:txBody>
      </p:sp>
      <p:sp>
        <p:nvSpPr>
          <p:cNvPr id="3" name="Subtitle 2">
            <a:extLst>
              <a:ext uri="{FF2B5EF4-FFF2-40B4-BE49-F238E27FC236}">
                <a16:creationId xmlns:a16="http://schemas.microsoft.com/office/drawing/2014/main" id="{916988A7-3F4B-21EA-264D-4EF35F036658}"/>
              </a:ext>
            </a:extLst>
          </p:cNvPr>
          <p:cNvSpPr>
            <a:spLocks noGrp="1"/>
          </p:cNvSpPr>
          <p:nvPr>
            <p:ph type="subTitle" idx="1"/>
          </p:nvPr>
        </p:nvSpPr>
        <p:spPr>
          <a:xfrm>
            <a:off x="6096000" y="3602038"/>
            <a:ext cx="5077521" cy="1655762"/>
          </a:xfrm>
        </p:spPr>
        <p:txBody>
          <a:bodyPr/>
          <a:lstStyle>
            <a:lvl1pPr marL="0" indent="0" algn="l">
              <a:buNone/>
              <a:defRPr sz="2400">
                <a:solidFill>
                  <a:schemeClr val="bg1">
                    <a:lumMod val="8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5" name="Footer Placeholder 4">
            <a:extLst>
              <a:ext uri="{FF2B5EF4-FFF2-40B4-BE49-F238E27FC236}">
                <a16:creationId xmlns:a16="http://schemas.microsoft.com/office/drawing/2014/main" id="{7372C160-A834-98A5-D95A-1D3DD1BCF843}"/>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33B87298-36A1-C307-CA25-6CA619804EC5}"/>
              </a:ext>
            </a:extLst>
          </p:cNvPr>
          <p:cNvSpPr>
            <a:spLocks noGrp="1"/>
          </p:cNvSpPr>
          <p:nvPr>
            <p:ph type="sldNum" idx="12"/>
          </p:nvPr>
        </p:nvSpPr>
        <p:spPr/>
        <p:txBody>
          <a:bodyPr/>
          <a:lstStyle/>
          <a:p>
            <a:fld id="{DEA345B2-507C-43D7-80BF-79F59DDCF0A3}" type="slidenum">
              <a:t>‹#›</a:t>
            </a:fld>
            <a:endParaRPr/>
          </a:p>
        </p:txBody>
      </p:sp>
      <p:sp>
        <p:nvSpPr>
          <p:cNvPr id="16" name="Rectangle 15">
            <a:extLst>
              <a:ext uri="{FF2B5EF4-FFF2-40B4-BE49-F238E27FC236}">
                <a16:creationId xmlns:a16="http://schemas.microsoft.com/office/drawing/2014/main" id="{F52D2EBE-72FC-45F2-E7E4-6F66B911B5D4}"/>
              </a:ext>
            </a:extLst>
          </p:cNvPr>
          <p:cNvSpPr>
            <a:spLocks noGrp="1"/>
          </p:cNvSpPr>
          <p:nvPr/>
        </p:nvSpPr>
        <p:spPr>
          <a:xfrm>
            <a:off x="4160312" y="337011"/>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6" name="Graphic 8"/>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60312" y="337011"/>
            <a:ext cx="647700" cy="1295400"/>
          </a:xfrm>
          <a:prstGeom prst="rect">
            <a:avLst/>
          </a:prstGeom>
        </p:spPr>
      </p:pic>
      <p:pic>
        <p:nvPicPr>
          <p:cNvPr id="27" name="Graphic 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93092" y="261292"/>
            <a:ext cx="2018121" cy="1078777"/>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09B8A-7AB0-01A2-A126-A218F7CD2D94}"/>
              </a:ext>
            </a:extLst>
          </p:cNvPr>
          <p:cNvSpPr>
            <a:spLocks noGrp="1"/>
          </p:cNvSpPr>
          <p:nvPr>
            <p:ph type="title"/>
          </p:nvPr>
        </p:nvSpPr>
        <p:spPr>
          <a:xfrm>
            <a:off x="838200" y="365125"/>
            <a:ext cx="9781489" cy="1325563"/>
          </a:xfrm>
        </p:spPr>
        <p:txBody>
          <a:bodyPr/>
          <a:lstStyle/>
          <a:p>
            <a:r>
              <a:t>Click to edit Master title style</a:t>
            </a:r>
          </a:p>
        </p:txBody>
      </p:sp>
      <p:sp>
        <p:nvSpPr>
          <p:cNvPr id="3" name="Content Placeholder 2">
            <a:extLst>
              <a:ext uri="{FF2B5EF4-FFF2-40B4-BE49-F238E27FC236}">
                <a16:creationId xmlns:a16="http://schemas.microsoft.com/office/drawing/2014/main" id="{E2AF2D31-8C3D-DD6A-FF19-980A28830403}"/>
              </a:ext>
            </a:extLst>
          </p:cNvPr>
          <p:cNvSpPr>
            <a:spLocks noGrp="1"/>
          </p:cNvSpPr>
          <p:nvPr>
            <p:ph idx="1"/>
          </p:nvPr>
        </p:nvSpPr>
        <p:spPr>
          <a:xfrm>
            <a:off x="838200" y="1825625"/>
            <a:ext cx="978148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0E098455-C645-8AEB-AC43-0325DA4FAF77}"/>
              </a:ext>
            </a:extLst>
          </p:cNvPr>
          <p:cNvSpPr>
            <a:spLocks noGrp="1"/>
          </p:cNvSpPr>
          <p:nvPr>
            <p:ph type="dt" idx="10"/>
          </p:nvPr>
        </p:nvSpPr>
        <p:spPr/>
        <p:txBody>
          <a:bodyPr/>
          <a:lstStyle/>
          <a:p>
            <a:fld id="{5750368A-0602-41DA-8C72-F3668C4CC159}" type="datetimeFigureOut">
              <a:t>9/16/2026</a:t>
            </a:fld>
            <a:endParaRPr/>
          </a:p>
        </p:txBody>
      </p:sp>
      <p:sp>
        <p:nvSpPr>
          <p:cNvPr id="5" name="Footer Placeholder 4">
            <a:extLst>
              <a:ext uri="{FF2B5EF4-FFF2-40B4-BE49-F238E27FC236}">
                <a16:creationId xmlns:a16="http://schemas.microsoft.com/office/drawing/2014/main" id="{E7065D6F-F540-C08F-2265-B5D2D5CCF526}"/>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49F2013-7326-AAFC-EDFD-0E440ADDE41A}"/>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C6FA413D-DBF3-6C5E-11D0-8AD41C06F2E3}"/>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7"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056153" y="153965"/>
            <a:ext cx="842573" cy="882695"/>
          </a:xfrm>
          <a:prstGeom prst="rect">
            <a:avLst/>
          </a:prstGeom>
        </p:spPr>
      </p:pic>
      <p:pic>
        <p:nvPicPr>
          <p:cNvPr id="18" name="Picture 11"/>
          <p:cNvPicPr>
            <a:picLocks noChangeAspect="1"/>
          </p:cNvPicPr>
          <p:nvPr/>
        </p:nvPicPr>
        <p:blipFill>
          <a:blip r:embed="rId3"/>
          <a:stretch>
            <a:fillRect/>
          </a:stretch>
        </p:blipFill>
        <p:spPr>
          <a:xfrm>
            <a:off x="10984081" y="1246733"/>
            <a:ext cx="1009241" cy="36512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7" name="Picture 15"/>
          <p:cNvPicPr>
            <a:picLocks noChangeAspect="1"/>
          </p:cNvPicPr>
          <p:nvPr/>
        </p:nvPicPr>
        <p:blipFill>
          <a:blip r:embed="rId2"/>
          <a:stretch>
            <a:fillRect/>
          </a:stretch>
        </p:blipFill>
        <p:spPr>
          <a:xfrm>
            <a:off x="9836" y="0"/>
            <a:ext cx="12172328" cy="6858000"/>
          </a:xfrm>
          <a:prstGeom prst="rect">
            <a:avLst/>
          </a:prstGeom>
        </p:spPr>
      </p:pic>
      <p:sp>
        <p:nvSpPr>
          <p:cNvPr id="2" name="Title 1">
            <a:extLst>
              <a:ext uri="{FF2B5EF4-FFF2-40B4-BE49-F238E27FC236}">
                <a16:creationId xmlns:a16="http://schemas.microsoft.com/office/drawing/2014/main" id="{6308B091-CA0E-212E-D29C-ACABD2F8DDFB}"/>
              </a:ext>
            </a:extLst>
          </p:cNvPr>
          <p:cNvSpPr>
            <a:spLocks noGrp="1"/>
          </p:cNvSpPr>
          <p:nvPr>
            <p:ph type="title"/>
          </p:nvPr>
        </p:nvSpPr>
        <p:spPr>
          <a:xfrm>
            <a:off x="831850" y="3657550"/>
            <a:ext cx="10062122" cy="1284059"/>
          </a:xfrm>
        </p:spPr>
        <p:txBody>
          <a:bodyPr anchor="b"/>
          <a:lstStyle>
            <a:lvl1pPr>
              <a:buNone/>
              <a:defRPr sz="6000">
                <a:solidFill>
                  <a:schemeClr val="bg1"/>
                </a:solidFill>
              </a:defRPr>
            </a:lvl1pPr>
          </a:lstStyle>
          <a:p>
            <a:r>
              <a:t>Click to edit Master title style</a:t>
            </a:r>
          </a:p>
        </p:txBody>
      </p:sp>
      <p:sp>
        <p:nvSpPr>
          <p:cNvPr id="3" name="Text Placeholder 2">
            <a:extLst>
              <a:ext uri="{FF2B5EF4-FFF2-40B4-BE49-F238E27FC236}">
                <a16:creationId xmlns:a16="http://schemas.microsoft.com/office/drawing/2014/main" id="{371A8C11-013C-7F67-5D2A-FB3AE080AD0D}"/>
              </a:ext>
            </a:extLst>
          </p:cNvPr>
          <p:cNvSpPr>
            <a:spLocks noGrp="1"/>
          </p:cNvSpPr>
          <p:nvPr>
            <p:ph type="body" idx="1"/>
          </p:nvPr>
        </p:nvSpPr>
        <p:spPr>
          <a:xfrm>
            <a:off x="831850" y="4968598"/>
            <a:ext cx="10062122" cy="843282"/>
          </a:xfrm>
        </p:spPr>
        <p:txBody>
          <a:bodyPr/>
          <a:lstStyle>
            <a:lvl1pPr marL="0" indent="0">
              <a:buNone/>
              <a:defRPr sz="2400">
                <a:solidFill>
                  <a:schemeClr val="bg1">
                    <a:lumMod val="8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D40B097E-EB72-FBAD-1C85-21B5359E6DB1}"/>
              </a:ext>
            </a:extLst>
          </p:cNvPr>
          <p:cNvSpPr>
            <a:spLocks noGrp="1"/>
          </p:cNvSpPr>
          <p:nvPr>
            <p:ph type="dt" idx="10"/>
          </p:nvPr>
        </p:nvSpPr>
        <p:spPr/>
        <p:txBody>
          <a:bodyPr/>
          <a:lstStyle/>
          <a:p>
            <a:fld id="{5750368A-0602-41DA-8C72-F3668C4CC159}" type="datetimeFigureOut">
              <a:t>9/16/2026</a:t>
            </a:fld>
            <a:endParaRPr/>
          </a:p>
        </p:txBody>
      </p:sp>
      <p:sp>
        <p:nvSpPr>
          <p:cNvPr id="5" name="Footer Placeholder 4">
            <a:extLst>
              <a:ext uri="{FF2B5EF4-FFF2-40B4-BE49-F238E27FC236}">
                <a16:creationId xmlns:a16="http://schemas.microsoft.com/office/drawing/2014/main" id="{92E519E1-451E-47E7-BC93-7F69CEEB6A0B}"/>
              </a:ext>
            </a:extLst>
          </p:cNvPr>
          <p:cNvSpPr>
            <a:spLocks noGrp="1"/>
          </p:cNvSpPr>
          <p:nvPr>
            <p:ph type="ftr" idx="11"/>
          </p:nvPr>
        </p:nvSpPr>
        <p:spPr/>
        <p:txBody>
          <a:bodyPr/>
          <a:lstStyle/>
          <a:p>
            <a:endParaRPr/>
          </a:p>
        </p:txBody>
      </p:sp>
      <p:sp>
        <p:nvSpPr>
          <p:cNvPr id="13" name="Date Placeholder 3">
            <a:extLst>
              <a:ext uri="{FF2B5EF4-FFF2-40B4-BE49-F238E27FC236}">
                <a16:creationId xmlns:a16="http://schemas.microsoft.com/office/drawing/2014/main" id="{E6B67043-CB4F-0116-BB76-C70A70583552}"/>
              </a:ext>
            </a:extLst>
          </p:cNvPr>
          <p:cNvSpPr>
            <a:spLocks noGrp="1"/>
          </p:cNvSpPr>
          <p:nvPr/>
        </p:nvSpPr>
        <p:spPr>
          <a:xfrm>
            <a:off x="838200" y="6357212"/>
            <a:ext cx="2743200" cy="365125"/>
          </a:xfrm>
          <a:prstGeom prst="rect">
            <a:avLst/>
          </a:prstGeom>
        </p:spPr>
        <p:txBody>
          <a:bodyPr vert="horz" lIns="91440" tIns="45720" rIns="91440" bIns="45720" anchor="ctr"/>
          <a:lstStyle>
            <a:lvl1pPr marL="0" algn="l" defTabSz="914400">
              <a:buNone/>
              <a:defRPr sz="1200" kern="1200">
                <a:solidFill>
                  <a:schemeClr val="tx1">
                    <a:tint val="75000"/>
                  </a:schemeClr>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a:lstStyle>
          <a:p>
            <a:fld id="{5750368A-0602-41DA-8C72-F3668C4CC159}" type="datetimeFigureOut">
              <a:t>9/16/2026</a:t>
            </a:fld>
            <a:endParaRPr/>
          </a:p>
        </p:txBody>
      </p:sp>
      <p:sp>
        <p:nvSpPr>
          <p:cNvPr id="11" name="Rectangle 10">
            <a:extLst>
              <a:ext uri="{FF2B5EF4-FFF2-40B4-BE49-F238E27FC236}">
                <a16:creationId xmlns:a16="http://schemas.microsoft.com/office/drawing/2014/main" id="{D1544972-4926-2F64-D0DC-83BF6176CC0D}"/>
              </a:ext>
            </a:extLst>
          </p:cNvPr>
          <p:cNvSpPr>
            <a:spLocks noGrp="1"/>
          </p:cNvSpPr>
          <p:nvPr/>
        </p:nvSpPr>
        <p:spPr>
          <a:xfrm>
            <a:off x="11407448" y="5473373"/>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7448" y="5473373"/>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73253" y="261293"/>
            <a:ext cx="1292556" cy="69093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7B5681-F3A2-40A5-A9EA-7166B07C9EA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2EB8B488-E7D3-935C-277F-C21ECB6D87A0}"/>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95AA6DE-DDA8-FF2B-FD76-96F4B00724E9}"/>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26C2EDAA-B6F0-BAE3-0023-77078903916A}"/>
              </a:ext>
            </a:extLst>
          </p:cNvPr>
          <p:cNvSpPr>
            <a:spLocks noGrp="1"/>
          </p:cNvSpPr>
          <p:nvPr>
            <p:ph type="dt" idx="10"/>
          </p:nvPr>
        </p:nvSpPr>
        <p:spPr/>
        <p:txBody>
          <a:bodyPr/>
          <a:lstStyle/>
          <a:p>
            <a:fld id="{5750368A-0602-41DA-8C72-F3668C4CC159}" type="datetimeFigureOut">
              <a:t>9/16/2026</a:t>
            </a:fld>
            <a:endParaRPr/>
          </a:p>
        </p:txBody>
      </p:sp>
      <p:sp>
        <p:nvSpPr>
          <p:cNvPr id="6" name="Footer Placeholder 5">
            <a:extLst>
              <a:ext uri="{FF2B5EF4-FFF2-40B4-BE49-F238E27FC236}">
                <a16:creationId xmlns:a16="http://schemas.microsoft.com/office/drawing/2014/main" id="{DC10A058-AA1A-CDC2-FF66-8D3A35F6DB46}"/>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1489E0F8-44E2-4A76-2B57-8359A388CD9C}"/>
              </a:ext>
            </a:extLst>
          </p:cNvPr>
          <p:cNvSpPr>
            <a:spLocks noGrp="1"/>
          </p:cNvSpPr>
          <p:nvPr>
            <p:ph type="sldNum" idx="12"/>
          </p:nvPr>
        </p:nvSpPr>
        <p:spPr/>
        <p:txBody>
          <a:bodyPr/>
          <a:lstStyle/>
          <a:p>
            <a:fld id="{DEA345B2-507C-43D7-80BF-79F59DDCF0A3}" type="slidenum">
              <a:t>‹#›</a:t>
            </a:fld>
            <a:endParaRPr/>
          </a:p>
        </p:txBody>
      </p:sp>
      <p:sp>
        <p:nvSpPr>
          <p:cNvPr id="10" name="Rectangle 9">
            <a:extLst>
              <a:ext uri="{FF2B5EF4-FFF2-40B4-BE49-F238E27FC236}">
                <a16:creationId xmlns:a16="http://schemas.microsoft.com/office/drawing/2014/main" id="{4D025B53-CC35-C249-1081-E752796BE04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0" name="Graphic 10"/>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1" name="Graphic 11"/>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779F0-5F10-E13F-AB63-76AC9A23EA8A}"/>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A58DFCF9-73B2-EF35-7501-7BE217954C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66B7AC54-B991-35A0-F037-68B94E344518}"/>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28D6D34-BBA3-122B-A6D7-45A5E90F8C64}"/>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CAFA6EFC-F0B8-F706-C203-A56328A24E13}"/>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DFCEBC52-F71A-B504-62EF-9D7E439E71B0}"/>
              </a:ext>
            </a:extLst>
          </p:cNvPr>
          <p:cNvSpPr>
            <a:spLocks noGrp="1"/>
          </p:cNvSpPr>
          <p:nvPr>
            <p:ph type="dt" idx="10"/>
          </p:nvPr>
        </p:nvSpPr>
        <p:spPr/>
        <p:txBody>
          <a:bodyPr/>
          <a:lstStyle/>
          <a:p>
            <a:fld id="{5750368A-0602-41DA-8C72-F3668C4CC159}" type="datetimeFigureOut">
              <a:t>9/16/2026</a:t>
            </a:fld>
            <a:endParaRPr/>
          </a:p>
        </p:txBody>
      </p:sp>
      <p:sp>
        <p:nvSpPr>
          <p:cNvPr id="8" name="Footer Placeholder 7">
            <a:extLst>
              <a:ext uri="{FF2B5EF4-FFF2-40B4-BE49-F238E27FC236}">
                <a16:creationId xmlns:a16="http://schemas.microsoft.com/office/drawing/2014/main" id="{147BD498-27EC-05AD-4788-497CF407CAB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06AD9F0F-FA93-6068-7489-31750FAC1EAC}"/>
              </a:ext>
            </a:extLst>
          </p:cNvPr>
          <p:cNvSpPr>
            <a:spLocks noGrp="1"/>
          </p:cNvSpPr>
          <p:nvPr>
            <p:ph type="sldNum" idx="12"/>
          </p:nvPr>
        </p:nvSpPr>
        <p:spPr/>
        <p:txBody>
          <a:bodyPr/>
          <a:lstStyle/>
          <a:p>
            <a:fld id="{DEA345B2-507C-43D7-80BF-79F59DDCF0A3}" type="slidenum">
              <a:t>‹#›</a:t>
            </a:fld>
            <a:endParaRPr/>
          </a:p>
        </p:txBody>
      </p:sp>
      <p:sp>
        <p:nvSpPr>
          <p:cNvPr id="12" name="Rectangle 11">
            <a:extLst>
              <a:ext uri="{FF2B5EF4-FFF2-40B4-BE49-F238E27FC236}">
                <a16:creationId xmlns:a16="http://schemas.microsoft.com/office/drawing/2014/main" id="{56B6D730-5CCC-3A0F-07C5-E177B23EB431}"/>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4"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25" name="Graphic 13"/>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969776FB-D0A1-D9FE-95EC-7FC45484C5D7}"/>
              </a:ext>
            </a:extLst>
          </p:cNvPr>
          <p:cNvSpPr>
            <a:spLocks noGrp="1"/>
          </p:cNvSpPr>
          <p:nvPr/>
        </p:nvSpPr>
        <p:spPr>
          <a:xfrm>
            <a:off x="0" y="6721474"/>
            <a:ext cx="12191999" cy="1500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9/16/2026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9" name="Rectangle 8">
            <a:extLst>
              <a:ext uri="{FF2B5EF4-FFF2-40B4-BE49-F238E27FC236}">
                <a16:creationId xmlns:a16="http://schemas.microsoft.com/office/drawing/2014/main" id="{36BE3AD5-276B-966C-24E2-2E7C8C7B4B3B}"/>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1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FE27-8077-08F7-450C-470C035521CE}"/>
              </a:ext>
            </a:extLst>
          </p:cNvPr>
          <p:cNvSpPr>
            <a:spLocks noGrp="1"/>
          </p:cNvSpPr>
          <p:nvPr>
            <p:ph type="title"/>
          </p:nvPr>
        </p:nvSpPr>
        <p:spPr>
          <a:xfrm>
            <a:off x="838200" y="365125"/>
            <a:ext cx="9144000" cy="1325563"/>
          </a:xfrm>
        </p:spPr>
        <p:txBody>
          <a:bodyPr/>
          <a:lstStyle/>
          <a:p>
            <a:r>
              <a:t>Click to edit Master title style</a:t>
            </a:r>
          </a:p>
        </p:txBody>
      </p:sp>
      <p:sp>
        <p:nvSpPr>
          <p:cNvPr id="3" name="Date Placeholder 2">
            <a:extLst>
              <a:ext uri="{FF2B5EF4-FFF2-40B4-BE49-F238E27FC236}">
                <a16:creationId xmlns:a16="http://schemas.microsoft.com/office/drawing/2014/main" id="{9C5E2896-F43F-2CDC-4FAE-F1178C67D403}"/>
              </a:ext>
            </a:extLst>
          </p:cNvPr>
          <p:cNvSpPr>
            <a:spLocks noGrp="1"/>
          </p:cNvSpPr>
          <p:nvPr>
            <p:ph type="dt" idx="10"/>
          </p:nvPr>
        </p:nvSpPr>
        <p:spPr/>
        <p:txBody>
          <a:bodyPr/>
          <a:lstStyle/>
          <a:p>
            <a:fld id="{5750368A-0602-41DA-8C72-F3668C4CC159}" type="datetimeFigureOut">
              <a:t>9/16/2026</a:t>
            </a:fld>
            <a:endParaRPr/>
          </a:p>
        </p:txBody>
      </p:sp>
      <p:sp>
        <p:nvSpPr>
          <p:cNvPr id="4" name="Footer Placeholder 3">
            <a:extLst>
              <a:ext uri="{FF2B5EF4-FFF2-40B4-BE49-F238E27FC236}">
                <a16:creationId xmlns:a16="http://schemas.microsoft.com/office/drawing/2014/main" id="{F563C219-D37D-2418-305D-047051B022B0}"/>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BE6278F9-514F-8E85-6413-B3DB744CE38B}"/>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D11C6594-2F3D-BF1F-E328-BEF238877366}"/>
              </a:ext>
            </a:extLst>
          </p:cNvPr>
          <p:cNvSpPr>
            <a:spLocks noGrp="1"/>
          </p:cNvSpPr>
          <p:nvPr/>
        </p:nvSpPr>
        <p:spPr>
          <a:xfrm>
            <a:off x="12021015" y="0"/>
            <a:ext cx="170984"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9" name="Rectangle 8">
            <a:extLst>
              <a:ext uri="{FF2B5EF4-FFF2-40B4-BE49-F238E27FC236}">
                <a16:creationId xmlns:a16="http://schemas.microsoft.com/office/drawing/2014/main" id="{6F2C923C-188F-78A4-9EBF-A50E775EE8BF}"/>
              </a:ext>
            </a:extLst>
          </p:cNvPr>
          <p:cNvSpPr>
            <a:spLocks noGrp="1"/>
          </p:cNvSpPr>
          <p:nvPr/>
        </p:nvSpPr>
        <p:spPr>
          <a:xfrm>
            <a:off x="98087" y="78344"/>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Graphic 9"/>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78344"/>
            <a:ext cx="647700" cy="1295400"/>
          </a:xfrm>
          <a:prstGeom prst="rect">
            <a:avLst/>
          </a:prstGeom>
        </p:spPr>
      </p:pic>
      <p:pic>
        <p:nvPicPr>
          <p:cNvPr id="19" name="Graphic 7"/>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8FCBA4-BC60-BBA3-1928-200ADA4CB434}"/>
              </a:ext>
            </a:extLst>
          </p:cNvPr>
          <p:cNvSpPr>
            <a:spLocks noGrp="1"/>
          </p:cNvSpPr>
          <p:nvPr>
            <p:ph type="dt" idx="10"/>
          </p:nvPr>
        </p:nvSpPr>
        <p:spPr/>
        <p:txBody>
          <a:bodyPr/>
          <a:lstStyle/>
          <a:p>
            <a:fld id="{5750368A-0602-41DA-8C72-F3668C4CC159}" type="datetimeFigureOut">
              <a:t>9/16/2026</a:t>
            </a:fld>
            <a:endParaRPr/>
          </a:p>
        </p:txBody>
      </p:sp>
      <p:sp>
        <p:nvSpPr>
          <p:cNvPr id="3" name="Footer Placeholder 2">
            <a:extLst>
              <a:ext uri="{FF2B5EF4-FFF2-40B4-BE49-F238E27FC236}">
                <a16:creationId xmlns:a16="http://schemas.microsoft.com/office/drawing/2014/main" id="{FBF75781-DD6B-802C-A2A1-0C35279A16A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1782606-1EA0-41A1-3BF0-BF1A775C445A}"/>
              </a:ext>
            </a:extLst>
          </p:cNvPr>
          <p:cNvSpPr>
            <a:spLocks noGrp="1"/>
          </p:cNvSpPr>
          <p:nvPr>
            <p:ph type="sldNum" idx="12"/>
          </p:nvPr>
        </p:nvSpPr>
        <p:spPr/>
        <p:txBody>
          <a:bodyPr/>
          <a:lstStyle/>
          <a:p>
            <a:fld id="{DEA345B2-507C-43D7-80BF-79F59DDCF0A3}" type="slidenum">
              <a:t>‹#›</a:t>
            </a:fld>
            <a:endParaRPr/>
          </a:p>
        </p:txBody>
      </p:sp>
      <p:sp>
        <p:nvSpPr>
          <p:cNvPr id="5" name="Rectangle 4">
            <a:extLst>
              <a:ext uri="{FF2B5EF4-FFF2-40B4-BE49-F238E27FC236}">
                <a16:creationId xmlns:a16="http://schemas.microsoft.com/office/drawing/2014/main" id="{CBC13CDF-943F-636D-D5DB-2FDBB1961722}"/>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00C19DF9-E21D-1085-1DFC-9FE4B99E53AD}"/>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6" name="Graphic 8"/>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17"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5ECBE-34FA-41CD-B39E-E682DB66CCF8}"/>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75407737-3DE7-D4A3-E002-F26143FB5EA5}"/>
              </a:ext>
            </a:extLst>
          </p:cNvPr>
          <p:cNvSpPr>
            <a:spLocks noGrp="1"/>
          </p:cNvSpPr>
          <p:nvPr>
            <p:ph idx="1"/>
          </p:nvPr>
        </p:nvSpPr>
        <p:spPr>
          <a:xfrm>
            <a:off x="5183188" y="1244600"/>
            <a:ext cx="6172200" cy="4616450"/>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27DDE05A-F981-052B-D9CA-2307E6582F2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E2B4FF3B-390C-C8D3-3713-88461DB202A3}"/>
              </a:ext>
            </a:extLst>
          </p:cNvPr>
          <p:cNvSpPr>
            <a:spLocks noGrp="1"/>
          </p:cNvSpPr>
          <p:nvPr>
            <p:ph type="dt" idx="10"/>
          </p:nvPr>
        </p:nvSpPr>
        <p:spPr/>
        <p:txBody>
          <a:bodyPr/>
          <a:lstStyle/>
          <a:p>
            <a:fld id="{5750368A-0602-41DA-8C72-F3668C4CC159}" type="datetimeFigureOut">
              <a:t>9/16/2026</a:t>
            </a:fld>
            <a:endParaRPr/>
          </a:p>
        </p:txBody>
      </p:sp>
      <p:sp>
        <p:nvSpPr>
          <p:cNvPr id="6" name="Footer Placeholder 5">
            <a:extLst>
              <a:ext uri="{FF2B5EF4-FFF2-40B4-BE49-F238E27FC236}">
                <a16:creationId xmlns:a16="http://schemas.microsoft.com/office/drawing/2014/main" id="{508635E4-8B8B-231A-102E-E0EF2EE4228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A6EB191B-A130-1FB5-D1C7-27E0B608ADBF}"/>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70DD950B-956C-0CC5-90DF-600294A61021}"/>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Rectangle 13">
            <a:extLst>
              <a:ext uri="{FF2B5EF4-FFF2-40B4-BE49-F238E27FC236}">
                <a16:creationId xmlns:a16="http://schemas.microsoft.com/office/drawing/2014/main" id="{4E872611-7B62-0858-2F35-215FC7BEDC7C}"/>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5" name="Graphic 14"/>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6" name="Graphic 9"/>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73E5F-CFA9-31D3-ED26-1E57AC1EFA03}"/>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F349FB75-59BA-B6B1-9EFA-B9D58E548B8E}"/>
              </a:ext>
            </a:extLst>
          </p:cNvPr>
          <p:cNvSpPr>
            <a:spLocks noGrp="1"/>
          </p:cNvSpPr>
          <p:nvPr>
            <p:ph type="pic" idx="1"/>
          </p:nvPr>
        </p:nvSpPr>
        <p:spPr>
          <a:xfrm>
            <a:off x="5183188" y="1219200"/>
            <a:ext cx="6172200" cy="4641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15C4119-4703-ABFE-3D93-76F1F254DF53}"/>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25208027-E9E1-AFE8-C2CF-267B0B717A63}"/>
              </a:ext>
            </a:extLst>
          </p:cNvPr>
          <p:cNvSpPr>
            <a:spLocks noGrp="1"/>
          </p:cNvSpPr>
          <p:nvPr>
            <p:ph type="dt" idx="10"/>
          </p:nvPr>
        </p:nvSpPr>
        <p:spPr/>
        <p:txBody>
          <a:bodyPr/>
          <a:lstStyle/>
          <a:p>
            <a:fld id="{5750368A-0602-41DA-8C72-F3668C4CC159}" type="datetimeFigureOut">
              <a:t>9/16/2026</a:t>
            </a:fld>
            <a:endParaRPr/>
          </a:p>
        </p:txBody>
      </p:sp>
      <p:sp>
        <p:nvSpPr>
          <p:cNvPr id="6" name="Footer Placeholder 5">
            <a:extLst>
              <a:ext uri="{FF2B5EF4-FFF2-40B4-BE49-F238E27FC236}">
                <a16:creationId xmlns:a16="http://schemas.microsoft.com/office/drawing/2014/main" id="{17FFCF05-D3BC-4D51-B7E1-EDFADA0E8FE8}"/>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DD992EE-B08D-5105-202E-3F06215E82B9}"/>
              </a:ext>
            </a:extLst>
          </p:cNvPr>
          <p:cNvSpPr>
            <a:spLocks noGrp="1"/>
          </p:cNvSpPr>
          <p:nvPr>
            <p:ph type="sldNum" idx="12"/>
          </p:nvPr>
        </p:nvSpPr>
        <p:spPr/>
        <p:txBody>
          <a:bodyPr/>
          <a:lstStyle/>
          <a:p>
            <a:fld id="{DEA345B2-507C-43D7-80BF-79F59DDCF0A3}" type="slidenum">
              <a:t>‹#›</a:t>
            </a:fld>
            <a:endParaRPr/>
          </a:p>
        </p:txBody>
      </p:sp>
      <p:sp>
        <p:nvSpPr>
          <p:cNvPr id="8" name="Rectangle 7">
            <a:extLst>
              <a:ext uri="{FF2B5EF4-FFF2-40B4-BE49-F238E27FC236}">
                <a16:creationId xmlns:a16="http://schemas.microsoft.com/office/drawing/2014/main" id="{66BB9E47-266A-449B-0690-EA113F897327}"/>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641E680E-9AE0-1F51-2218-98C4A676EA4E}"/>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2" name="Graphic 11"/>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pic>
        <p:nvPicPr>
          <p:cNvPr id="23" name="Graphic 12"/>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73253" y="261293"/>
            <a:ext cx="1292556" cy="69093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BFC79-23A1-4C75-E226-24FAA8769F66}"/>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CF9E1CF8-7906-6964-F94B-A82C18B6DC4E}"/>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EF018C3-1F7A-68D9-F106-B3E9DF573BD4}"/>
              </a:ext>
            </a:extLst>
          </p:cNvPr>
          <p:cNvSpPr>
            <a:spLocks noGrp="1"/>
          </p:cNvSpPr>
          <p:nvPr>
            <p:ph type="dt" idx="10"/>
          </p:nvPr>
        </p:nvSpPr>
        <p:spPr/>
        <p:txBody>
          <a:bodyPr/>
          <a:lstStyle/>
          <a:p>
            <a:fld id="{5750368A-0602-41DA-8C72-F3668C4CC159}" type="datetimeFigureOut">
              <a:t>9/16/2026</a:t>
            </a:fld>
            <a:endParaRPr/>
          </a:p>
        </p:txBody>
      </p:sp>
      <p:sp>
        <p:nvSpPr>
          <p:cNvPr id="5" name="Footer Placeholder 4">
            <a:extLst>
              <a:ext uri="{FF2B5EF4-FFF2-40B4-BE49-F238E27FC236}">
                <a16:creationId xmlns:a16="http://schemas.microsoft.com/office/drawing/2014/main" id="{D75C044C-642A-B1F3-B761-AC4E930E04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3F30CAD-B8A9-C9D6-2C4B-86E1BC5168AE}"/>
              </a:ext>
            </a:extLst>
          </p:cNvPr>
          <p:cNvSpPr>
            <a:spLocks noGrp="1"/>
          </p:cNvSpPr>
          <p:nvPr>
            <p:ph type="sldNum" idx="12"/>
          </p:nvPr>
        </p:nvSpPr>
        <p:spPr/>
        <p:txBody>
          <a:bodyPr/>
          <a:lstStyle/>
          <a:p>
            <a:fld id="{DEA345B2-507C-43D7-80BF-79F59DDCF0A3}" type="slidenum">
              <a:t>‹#›</a:t>
            </a:fld>
            <a:endParaRPr/>
          </a:p>
        </p:txBody>
      </p:sp>
      <p:sp>
        <p:nvSpPr>
          <p:cNvPr id="7" name="Rectangle 6">
            <a:extLst>
              <a:ext uri="{FF2B5EF4-FFF2-40B4-BE49-F238E27FC236}">
                <a16:creationId xmlns:a16="http://schemas.microsoft.com/office/drawing/2014/main" id="{F067F39E-E68E-53C9-D0D5-DBD631643F9E}"/>
              </a:ext>
            </a:extLst>
          </p:cNvPr>
          <p:cNvSpPr>
            <a:spLocks noGrp="1"/>
          </p:cNvSpPr>
          <p:nvPr/>
        </p:nvSpPr>
        <p:spPr>
          <a:xfrm>
            <a:off x="0" y="0"/>
            <a:ext cx="157655"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F1B0B79-95A6-CFCE-EFDD-FECD5A381C32}"/>
              </a:ext>
            </a:extLst>
          </p:cNvPr>
          <p:cNvSpPr>
            <a:spLocks noGrp="1"/>
          </p:cNvSpPr>
          <p:nvPr/>
        </p:nvSpPr>
        <p:spPr>
          <a:xfrm>
            <a:off x="98087" y="-9437"/>
            <a:ext cx="647700" cy="12853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21" name="Graphic 12"/>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8087" y="-9437"/>
            <a:ext cx="647700" cy="12954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A63DC65-B013-FE6E-EC24-75CE5E5821E6}"/>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23F5FF98-96D5-B94A-633D-AA80D7617E36}"/>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F4A29F5-20EF-68ED-9A31-EF9B85F25C39}"/>
              </a:ext>
            </a:extLst>
          </p:cNvPr>
          <p:cNvSpPr>
            <a:spLocks noGrp="1"/>
          </p:cNvSpPr>
          <p:nvPr>
            <p:ph type="dt" idx="10"/>
          </p:nvPr>
        </p:nvSpPr>
        <p:spPr/>
        <p:txBody>
          <a:bodyPr/>
          <a:lstStyle/>
          <a:p>
            <a:fld id="{5750368A-0602-41DA-8C72-F3668C4CC159}" type="datetimeFigureOut">
              <a:t>9/16/2026</a:t>
            </a:fld>
            <a:endParaRPr/>
          </a:p>
        </p:txBody>
      </p:sp>
      <p:sp>
        <p:nvSpPr>
          <p:cNvPr id="5" name="Footer Placeholder 4">
            <a:extLst>
              <a:ext uri="{FF2B5EF4-FFF2-40B4-BE49-F238E27FC236}">
                <a16:creationId xmlns:a16="http://schemas.microsoft.com/office/drawing/2014/main" id="{04EE87FD-C808-4643-2317-3CDB3CBCB449}"/>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ACF01170-CC99-1C80-2814-8C172DEF9DA3}"/>
              </a:ext>
            </a:extLst>
          </p:cNvPr>
          <p:cNvSpPr>
            <a:spLocks noGrp="1"/>
          </p:cNvSpPr>
          <p:nvPr>
            <p:ph type="sldNum" idx="12"/>
          </p:nvPr>
        </p:nvSpPr>
        <p:spPr/>
        <p:txBody>
          <a:bodyPr/>
          <a:lstStyle/>
          <a:p>
            <a:fld id="{DEA345B2-507C-43D7-80BF-79F59DDCF0A3}"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61B42E-1446-2B7F-B0AB-68026A695039}"/>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32E6454A-9B58-1467-10AE-5BAA88523177}"/>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6688D33-D71B-794B-B556-D3F17CC2B085}"/>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latin typeface="+mj-lt"/>
                <a:ea typeface="+mj-lt"/>
                <a:cs typeface="+mj-lt"/>
              </a:defRPr>
            </a:lvl1pPr>
          </a:lstStyle>
          <a:p>
            <a:fld id="{5750368A-0602-41DA-8C72-F3668C4CC159}" type="datetimeFigureOut">
              <a:t>9/16/2026</a:t>
            </a:fld>
            <a:endParaRPr/>
          </a:p>
        </p:txBody>
      </p:sp>
      <p:sp>
        <p:nvSpPr>
          <p:cNvPr id="5" name="Footer Placeholder 4">
            <a:extLst>
              <a:ext uri="{FF2B5EF4-FFF2-40B4-BE49-F238E27FC236}">
                <a16:creationId xmlns:a16="http://schemas.microsoft.com/office/drawing/2014/main" id="{E82302E3-550F-6EB1-3682-88ECDCAB2B66}"/>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latin typeface="+mj-lt"/>
                <a:ea typeface="+mj-lt"/>
                <a:cs typeface="+mj-lt"/>
              </a:defRPr>
            </a:lvl1pPr>
          </a:lstStyle>
          <a:p>
            <a:endParaRPr/>
          </a:p>
        </p:txBody>
      </p:sp>
      <p:sp>
        <p:nvSpPr>
          <p:cNvPr id="6" name="Slide Number Placeholder 5">
            <a:extLst>
              <a:ext uri="{FF2B5EF4-FFF2-40B4-BE49-F238E27FC236}">
                <a16:creationId xmlns:a16="http://schemas.microsoft.com/office/drawing/2014/main" id="{F30F3CC4-BECA-E918-14B4-1688C26034E1}"/>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latin typeface="+mj-lt"/>
                <a:ea typeface="+mj-lt"/>
                <a:cs typeface="+mj-lt"/>
              </a:defRPr>
            </a:lvl1pPr>
          </a:lstStyle>
          <a:p>
            <a:fld id="{DEA345B2-507C-43D7-80BF-79F59DDCF0A3}"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j-lt"/>
          <a:ea typeface="+mj-lt"/>
          <a:cs typeface="+mj-lt"/>
        </a:defRPr>
      </a:lvl1pPr>
      <a:lvl2pPr marL="685800" indent="-228600" algn="l" defTabSz="914400">
        <a:lnSpc>
          <a:spcPct val="90000"/>
        </a:lnSpc>
        <a:spcBef>
          <a:spcPts val="500"/>
        </a:spcBef>
        <a:buFont typeface="Arial"/>
        <a:buChar char="•"/>
        <a:defRPr sz="2400" kern="1200">
          <a:solidFill>
            <a:schemeClr val="tx1"/>
          </a:solidFill>
          <a:latin typeface="+mj-lt"/>
          <a:ea typeface="+mj-lt"/>
          <a:cs typeface="+mj-lt"/>
        </a:defRPr>
      </a:lvl2pPr>
      <a:lvl3pPr marL="1143000" indent="-228600" algn="l" defTabSz="914400">
        <a:lnSpc>
          <a:spcPct val="90000"/>
        </a:lnSpc>
        <a:spcBef>
          <a:spcPts val="500"/>
        </a:spcBef>
        <a:buFont typeface="Arial"/>
        <a:buChar char="•"/>
        <a:defRPr sz="2000" kern="1200">
          <a:solidFill>
            <a:schemeClr val="tx1"/>
          </a:solidFill>
          <a:latin typeface="+mj-lt"/>
          <a:ea typeface="+mj-lt"/>
          <a:cs typeface="+mj-lt"/>
        </a:defRPr>
      </a:lvl3pPr>
      <a:lvl4pPr marL="1600200" indent="-228600" algn="l" defTabSz="914400">
        <a:lnSpc>
          <a:spcPct val="90000"/>
        </a:lnSpc>
        <a:spcBef>
          <a:spcPts val="500"/>
        </a:spcBef>
        <a:buFont typeface="Arial"/>
        <a:buChar char="•"/>
        <a:defRPr sz="1800" kern="1200">
          <a:solidFill>
            <a:schemeClr val="tx1"/>
          </a:solidFill>
          <a:latin typeface="+mj-lt"/>
          <a:ea typeface="+mj-lt"/>
          <a:cs typeface="+mj-lt"/>
        </a:defRPr>
      </a:lvl4pPr>
      <a:lvl5pPr marL="2057400" indent="-228600" algn="l" defTabSz="914400">
        <a:lnSpc>
          <a:spcPct val="90000"/>
        </a:lnSpc>
        <a:spcBef>
          <a:spcPts val="500"/>
        </a:spcBef>
        <a:buFont typeface="Arial"/>
        <a:buChar char="•"/>
        <a:defRPr sz="1800" kern="1200">
          <a:solidFill>
            <a:schemeClr val="tx1"/>
          </a:solidFill>
          <a:latin typeface="+mj-lt"/>
          <a:ea typeface="+mj-lt"/>
          <a:cs typeface="+mj-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7.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C628D34-8338-454B-E97A-2B8FE3681CB4}"/>
              </a:ext>
            </a:extLst>
          </p:cNvPr>
          <p:cNvSpPr>
            <a:spLocks noGrp="1"/>
          </p:cNvSpPr>
          <p:nvPr>
            <p:ph type="subTitle" idx="1"/>
          </p:nvPr>
        </p:nvSpPr>
        <p:spPr>
          <a:xfrm>
            <a:off x="6096000" y="5202238"/>
            <a:ext cx="5077521" cy="1655762"/>
          </a:xfrm>
        </p:spPr>
        <p:txBody>
          <a:bodyPr>
            <a:normAutofit/>
          </a:bodyPr>
          <a:lstStyle/>
          <a:p>
            <a:r>
              <a:rPr sz="2000"/>
              <a:t>AI-Based Detection of Grooming-Related Interactions in Chat Conversations Using Contextual and Behavioral Analysis</a:t>
            </a:r>
          </a:p>
        </p:txBody>
      </p:sp>
      <p:sp>
        <p:nvSpPr>
          <p:cNvPr id="5" name="Title 4">
            <a:extLst>
              <a:ext uri="{FF2B5EF4-FFF2-40B4-BE49-F238E27FC236}">
                <a16:creationId xmlns:a16="http://schemas.microsoft.com/office/drawing/2014/main" id="{F6ED2DF7-F311-FDB6-B94A-056A1A4D8792}"/>
              </a:ext>
            </a:extLst>
          </p:cNvPr>
          <p:cNvSpPr>
            <a:spLocks noGrp="1"/>
          </p:cNvSpPr>
          <p:nvPr>
            <p:ph type="ctrTitle"/>
          </p:nvPr>
        </p:nvSpPr>
        <p:spPr/>
        <p:txBody>
          <a:bodyPr/>
          <a:lstStyle/>
          <a:p>
            <a:endParaRPr lang="en-PH"/>
          </a:p>
        </p:txBody>
      </p:sp>
    </p:spTree>
    <p:extLst>
      <p:ext uri="{BB962C8B-B14F-4D97-AF65-F5344CB8AC3E}">
        <p14:creationId xmlns:p14="http://schemas.microsoft.com/office/powerpoint/2010/main" val="6874192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4"/>
          <p:cNvPicPr>
            <a:picLocks noChangeAspect="1"/>
          </p:cNvPicPr>
          <p:nvPr/>
        </p:nvPicPr>
        <p:blipFill>
          <a:blip r:embed="rId3"/>
          <a:stretch>
            <a:fillRect/>
          </a:stretch>
        </p:blipFill>
        <p:spPr>
          <a:xfrm>
            <a:off x="0" y="5568"/>
            <a:ext cx="12192000" cy="6846864"/>
          </a:xfrm>
          <a:prstGeom prst="rect">
            <a:avLst/>
          </a:prstGeom>
        </p:spPr>
      </p:pic>
      <p:pic>
        <p:nvPicPr>
          <p:cNvPr id="7" name="Picture 6"/>
          <p:cNvPicPr>
            <a:picLocks noChangeAspect="1"/>
          </p:cNvPicPr>
          <p:nvPr/>
        </p:nvPicPr>
        <p:blipFill>
          <a:blip r:embed="rId4"/>
          <a:stretch>
            <a:fillRect/>
          </a:stretch>
        </p:blipFill>
        <p:spPr>
          <a:xfrm>
            <a:off x="10719917" y="6099734"/>
            <a:ext cx="1286054" cy="514422"/>
          </a:xfrm>
          <a:prstGeom prst="rect">
            <a:avLst/>
          </a:prstGeom>
        </p:spPr>
      </p:pic>
    </p:spTree>
    <p:extLst>
      <p:ext uri="{BB962C8B-B14F-4D97-AF65-F5344CB8AC3E}">
        <p14:creationId xmlns:p14="http://schemas.microsoft.com/office/powerpoint/2010/main" val="1704954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9FE59-E69B-FA61-1F9F-69D2B6BE4BF3}"/>
              </a:ext>
            </a:extLst>
          </p:cNvPr>
          <p:cNvSpPr>
            <a:spLocks noGrp="1"/>
          </p:cNvSpPr>
          <p:nvPr>
            <p:ph type="title"/>
          </p:nvPr>
        </p:nvSpPr>
        <p:spPr/>
        <p:txBody>
          <a:bodyPr>
            <a:normAutofit/>
          </a:bodyPr>
          <a:lstStyle/>
          <a:p>
            <a:r>
              <a:rPr lang="en-PH"/>
              <a:t>Introduction</a:t>
            </a:r>
            <a:endParaRPr/>
          </a:p>
        </p:txBody>
      </p:sp>
      <p:sp>
        <p:nvSpPr>
          <p:cNvPr id="3" name="Text Placeholder 2">
            <a:extLst>
              <a:ext uri="{FF2B5EF4-FFF2-40B4-BE49-F238E27FC236}">
                <a16:creationId xmlns:a16="http://schemas.microsoft.com/office/drawing/2014/main" id="{361CC8EF-A543-7340-D864-3EE048E2398C}"/>
              </a:ext>
            </a:extLst>
          </p:cNvPr>
          <p:cNvSpPr>
            <a:spLocks noGrp="1"/>
          </p:cNvSpPr>
          <p:nvPr>
            <p:ph type="body" idx="1"/>
          </p:nvPr>
        </p:nvSpPr>
        <p:spPr/>
        <p:txBody>
          <a:bodyPr/>
          <a:lstStyle/>
          <a:p>
            <a:r>
              <a:rPr lang="en-US"/>
              <a:t>Why contextual and behavioral analysis matters</a:t>
            </a:r>
            <a:endParaRPr/>
          </a:p>
        </p:txBody>
      </p:sp>
    </p:spTree>
    <p:extLst>
      <p:ext uri="{BB962C8B-B14F-4D97-AF65-F5344CB8AC3E}">
        <p14:creationId xmlns:p14="http://schemas.microsoft.com/office/powerpoint/2010/main" val="7454735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44C2198-1C42-A790-4121-5218735B7DDB}"/>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8" name="Content Placeholder 6">
            <a:extLst>
              <a:ext uri="{FF2B5EF4-FFF2-40B4-BE49-F238E27FC236}">
                <a16:creationId xmlns:a16="http://schemas.microsoft.com/office/drawing/2014/main" id="{166323FE-9773-D041-E0C5-1689233D65B8}"/>
              </a:ext>
            </a:extLst>
          </p:cNvPr>
          <p:cNvSpPr>
            <a:spLocks noGrp="1"/>
          </p:cNvSpPr>
          <p:nvPr>
            <p:ph idx="1"/>
          </p:nvPr>
        </p:nvSpPr>
        <p:spPr>
          <a:xfrm>
            <a:off x="838200" y="1825625"/>
            <a:ext cx="9781489" cy="4351338"/>
          </a:xfrm>
        </p:spPr>
        <p:txBody>
          <a:bodyPr vert="horz" wrap="square" lIns="91440" tIns="45720" rIns="91440" bIns="45720" anchor="t">
            <a:noAutofit/>
          </a:bodyPr>
          <a:lstStyle/>
          <a:p>
            <a:pPr>
              <a:lnSpc>
                <a:spcPct val="100000"/>
              </a:lnSpc>
              <a:spcAft>
                <a:spcPts val="700"/>
              </a:spcAft>
            </a:pPr>
            <a:r>
              <a:rPr lang="en-US" sz="2700">
                <a:latin typeface="Calibri Light" panose="020F0302020204030204" pitchFamily="34" charset="0"/>
              </a:rPr>
              <a:t>Online chats can carry harmful interactions across many turns.</a:t>
            </a:r>
          </a:p>
          <a:p>
            <a:pPr>
              <a:lnSpc>
                <a:spcPct val="100000"/>
              </a:lnSpc>
              <a:spcAft>
                <a:spcPts val="700"/>
              </a:spcAft>
            </a:pPr>
            <a:r>
              <a:rPr lang="en-US" sz="2700">
                <a:latin typeface="Calibri Light" panose="020F0302020204030204" pitchFamily="34" charset="0"/>
              </a:rPr>
              <a:t>Keyword filters detect explicit words but miss context and progression.</a:t>
            </a:r>
          </a:p>
          <a:p>
            <a:pPr>
              <a:lnSpc>
                <a:spcPct val="100000"/>
              </a:lnSpc>
              <a:spcAft>
                <a:spcPts val="700"/>
              </a:spcAft>
            </a:pPr>
            <a:r>
              <a:rPr lang="en-US" sz="2700">
                <a:latin typeface="Calibri Light" panose="020F0302020204030204" pitchFamily="34" charset="0"/>
              </a:rPr>
              <a:t>User reports help, but they usually act after someone notices a problem.</a:t>
            </a:r>
          </a:p>
          <a:p>
            <a:pPr>
              <a:lnSpc>
                <a:spcPct val="100000"/>
              </a:lnSpc>
              <a:spcAft>
                <a:spcPts val="700"/>
              </a:spcAft>
            </a:pPr>
            <a:r>
              <a:rPr lang="en-US" sz="2700">
                <a:latin typeface="Calibri Light" panose="020F0302020204030204" pitchFamily="34" charset="0"/>
              </a:rPr>
              <a:t>Moderation needs both local context and conversation-wide patterns.</a:t>
            </a:r>
            <a:endParaRPr sz="2700">
              <a:latin typeface="Calibri Light" panose="020F0302020204030204" pitchFamily="34" charset="0"/>
            </a:endParaRPr>
          </a:p>
        </p:txBody>
      </p:sp>
      <p:sp>
        <p:nvSpPr>
          <p:cNvPr id="9" name="Rectangle 8">
            <a:extLst>
              <a:ext uri="{FF2B5EF4-FFF2-40B4-BE49-F238E27FC236}">
                <a16:creationId xmlns:a16="http://schemas.microsoft.com/office/drawing/2014/main" id="{B1F26A3C-9B81-B8D3-EEA5-D7DD35D3D218}"/>
              </a:ext>
            </a:extLst>
          </p:cNvPr>
          <p:cNvSpPr>
            <a:spLocks noGrp="1"/>
          </p:cNvSpPr>
          <p:nvPr/>
        </p:nvSpPr>
        <p:spPr>
          <a:xfrm>
            <a:off x="161544" y="0"/>
            <a:ext cx="10710672" cy="741680"/>
          </a:xfrm>
          <a:prstGeom prst="rect">
            <a:avLst/>
          </a:prstGeom>
          <a:solidFill>
            <a:schemeClr val="bg1"/>
          </a:solidFill>
          <a:ln>
            <a:solidFill>
              <a:schemeClr val="bg1"/>
            </a:solid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0" name="Title 5">
            <a:extLst>
              <a:ext uri="{FF2B5EF4-FFF2-40B4-BE49-F238E27FC236}">
                <a16:creationId xmlns:a16="http://schemas.microsoft.com/office/drawing/2014/main" id="{562366F7-771B-E12D-0784-5DF536657F4F}"/>
              </a:ext>
            </a:extLst>
          </p:cNvPr>
          <p:cNvSpPr>
            <a:spLocks noGrp="1"/>
          </p:cNvSpPr>
          <p:nvPr/>
        </p:nvSpPr>
        <p:spPr>
          <a:xfrm>
            <a:off x="3148127" y="87629"/>
            <a:ext cx="8882329" cy="593408"/>
          </a:xfrm>
          <a:prstGeom prst="rect">
            <a:avLst/>
          </a:prstGeom>
        </p:spPr>
        <p:txBody>
          <a:bodyPr vert="horz" lIns="91440" tIns="45720" rIns="91440" bIns="45720" anchor="ctr">
            <a:normAutofit fontScale="90000" lnSpcReduction="10000"/>
          </a:bodyPr>
          <a:lstStyle>
            <a:lvl1pPr algn="l" defTabSz="914400">
              <a:lnSpc>
                <a:spcPct val="90000"/>
              </a:lnSpc>
              <a:spcBef>
                <a:spcPct val="0"/>
              </a:spcBef>
              <a:buNone/>
              <a:defRPr sz="4400" kern="1200">
                <a:solidFill>
                  <a:schemeClr val="tx1"/>
                </a:solidFill>
                <a:latin typeface="+mj-lt"/>
                <a:ea typeface="+mj-lt"/>
                <a:cs typeface="+mj-lt"/>
              </a:defRPr>
            </a:lvl1pPr>
          </a:lstStyle>
          <a:p>
            <a:r>
              <a:t>Background of the Study</a:t>
            </a:r>
            <a:endParaRPr>
              <a:latin typeface="Corbel"/>
              <a:ea typeface="Corbel"/>
              <a:cs typeface="Corbel"/>
            </a:endParaRPr>
          </a:p>
        </p:txBody>
      </p:sp>
    </p:spTree>
    <p:extLst>
      <p:ext uri="{BB962C8B-B14F-4D97-AF65-F5344CB8AC3E}">
        <p14:creationId xmlns:p14="http://schemas.microsoft.com/office/powerpoint/2010/main" val="487461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36837-15F7-9AC5-506D-EB98ECC48AD4}"/>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Statement of the Problem</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11F6840A-CC91-616E-AB80-9489D4871FF5}"/>
              </a:ext>
            </a:extLst>
          </p:cNvPr>
          <p:cNvSpPr>
            <a:spLocks noGrp="1"/>
          </p:cNvSpPr>
          <p:nvPr>
            <p:ph idx="1"/>
          </p:nvPr>
        </p:nvSpPr>
        <p:spPr/>
        <p:txBody>
          <a:bodyPr wrap="square">
            <a:noAutofit/>
          </a:bodyPr>
          <a:lstStyle/>
          <a:p>
            <a:pPr>
              <a:lnSpc>
                <a:spcPct val="100000"/>
              </a:lnSpc>
              <a:spcAft>
                <a:spcPts val="700"/>
              </a:spcAft>
            </a:pPr>
            <a:r>
              <a:rPr lang="en-US" sz="2900">
                <a:latin typeface="Calibri Light" panose="020F0302020204030204" pitchFamily="34" charset="0"/>
              </a:rPr>
              <a:t>An ordinary message can change meaning when viewed with surrounding turns.</a:t>
            </a:r>
          </a:p>
          <a:p>
            <a:pPr>
              <a:lnSpc>
                <a:spcPct val="100000"/>
              </a:lnSpc>
              <a:spcAft>
                <a:spcPts val="700"/>
              </a:spcAft>
            </a:pPr>
            <a:r>
              <a:rPr lang="en-US" sz="2900">
                <a:latin typeface="Calibri Light" panose="020F0302020204030204" pitchFamily="34" charset="0"/>
              </a:rPr>
              <a:t>Static methods miss gradual or obfuscated behavior.</a:t>
            </a:r>
          </a:p>
          <a:p>
            <a:pPr>
              <a:lnSpc>
                <a:spcPct val="100000"/>
              </a:lnSpc>
              <a:spcAft>
                <a:spcPts val="700"/>
              </a:spcAft>
            </a:pPr>
            <a:r>
              <a:rPr lang="en-US" sz="2900">
                <a:latin typeface="Calibri Light" panose="020F0302020204030204" pitchFamily="34" charset="0"/>
              </a:rPr>
              <a:t>The study tests whether contextual and trajectory modeling reduces missed cases.</a:t>
            </a:r>
            <a:endParaRPr sz="2900">
              <a:latin typeface="Calibri Light" panose="020F0302020204030204" pitchFamily="34" charset="0"/>
            </a:endParaRPr>
          </a:p>
        </p:txBody>
      </p:sp>
    </p:spTree>
    <p:extLst>
      <p:ext uri="{BB962C8B-B14F-4D97-AF65-F5344CB8AC3E}">
        <p14:creationId xmlns:p14="http://schemas.microsoft.com/office/powerpoint/2010/main" val="2672449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F420E-DB4F-AAC4-E6C3-9E670B879997}"/>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Research Questions</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C6973DE6-43FD-6A2F-BD6D-2870C787B5DE}"/>
              </a:ext>
            </a:extLst>
          </p:cNvPr>
          <p:cNvSpPr>
            <a:spLocks noGrp="1"/>
          </p:cNvSpPr>
          <p:nvPr>
            <p:ph idx="1"/>
          </p:nvPr>
        </p:nvSpPr>
        <p:spPr/>
        <p:txBody>
          <a:bodyPr wrap="square">
            <a:noAutofit/>
          </a:bodyPr>
          <a:lstStyle/>
          <a:p>
            <a:pPr>
              <a:lnSpc>
                <a:spcPct val="100000"/>
              </a:lnSpc>
              <a:spcAft>
                <a:spcPts val="700"/>
              </a:spcAft>
            </a:pPr>
            <a:r>
              <a:rPr lang="en-US" sz="2500">
                <a:latin typeface="Calibri Light" panose="020F0302020204030204" pitchFamily="34" charset="0"/>
              </a:rPr>
              <a:t>How effective are existing chat moderation systems?</a:t>
            </a:r>
          </a:p>
          <a:p>
            <a:pPr>
              <a:lnSpc>
                <a:spcPct val="100000"/>
              </a:lnSpc>
              <a:spcAft>
                <a:spcPts val="700"/>
              </a:spcAft>
            </a:pPr>
            <a:r>
              <a:rPr lang="en-US" sz="2500">
                <a:latin typeface="Calibri Light" panose="020F0302020204030204" pitchFamily="34" charset="0"/>
              </a:rPr>
              <a:t>Where do keyword and rule-based methods fail on context?</a:t>
            </a:r>
          </a:p>
          <a:p>
            <a:pPr>
              <a:lnSpc>
                <a:spcPct val="100000"/>
              </a:lnSpc>
              <a:spcAft>
                <a:spcPts val="700"/>
              </a:spcAft>
            </a:pPr>
            <a:r>
              <a:rPr lang="en-US" sz="2500">
                <a:latin typeface="Calibri Light" panose="020F0302020204030204" pitchFamily="34" charset="0"/>
              </a:rPr>
              <a:t>How can ML and NLP analyze behavior across a conversation?</a:t>
            </a:r>
          </a:p>
          <a:p>
            <a:pPr>
              <a:lnSpc>
                <a:spcPct val="100000"/>
              </a:lnSpc>
              <a:spcAft>
                <a:spcPts val="700"/>
              </a:spcAft>
            </a:pPr>
            <a:r>
              <a:rPr lang="en-US" sz="2500">
                <a:latin typeface="Calibri Light" panose="020F0302020204030204" pitchFamily="34" charset="0"/>
              </a:rPr>
              <a:t>How much can the proposed module improve recall and reduce false negatives?</a:t>
            </a:r>
            <a:endParaRPr sz="2500">
              <a:latin typeface="Calibri Light" panose="020F0302020204030204" pitchFamily="34" charset="0"/>
            </a:endParaRPr>
          </a:p>
        </p:txBody>
      </p:sp>
    </p:spTree>
    <p:extLst>
      <p:ext uri="{BB962C8B-B14F-4D97-AF65-F5344CB8AC3E}">
        <p14:creationId xmlns:p14="http://schemas.microsoft.com/office/powerpoint/2010/main" val="57805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E9F28-BE19-01F7-925B-315A4EB7E37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a:solidFill>
                  <a:schemeClr val="accent1">
                    <a:lumMod val="75000"/>
                  </a:schemeClr>
                </a:solidFill>
              </a:rPr>
              <a:t>Objectives of the Study</a:t>
            </a:r>
            <a:endParaRPr>
              <a:solidFill>
                <a:schemeClr val="accent1">
                  <a:lumMod val="75000"/>
                </a:schemeClr>
              </a:solidFill>
            </a:endParaRPr>
          </a:p>
        </p:txBody>
      </p:sp>
      <p:sp>
        <p:nvSpPr>
          <p:cNvPr id="7" name="Content Placeholder 6">
            <a:extLst>
              <a:ext uri="{FF2B5EF4-FFF2-40B4-BE49-F238E27FC236}">
                <a16:creationId xmlns:a16="http://schemas.microsoft.com/office/drawing/2014/main" id="{862A178E-C1B3-DC86-F272-7BC7DA7322ED}"/>
              </a:ext>
            </a:extLst>
          </p:cNvPr>
          <p:cNvSpPr>
            <a:spLocks noGrp="1"/>
          </p:cNvSpPr>
          <p:nvPr>
            <p:ph idx="1"/>
          </p:nvPr>
        </p:nvSpPr>
        <p:spPr>
          <a:xfrm>
            <a:off x="838200" y="1825625"/>
            <a:ext cx="10017369" cy="4351338"/>
          </a:xfrm>
        </p:spPr>
        <p:txBody>
          <a:bodyPr wrap="square">
            <a:noAutofit/>
          </a:bodyPr>
          <a:lstStyle/>
          <a:p>
            <a:pPr marL="34" indent="-20">
              <a:lnSpc>
                <a:spcPct val="100000"/>
              </a:lnSpc>
              <a:spcAft>
                <a:spcPts val="700"/>
              </a:spcAft>
              <a:buChar char="•"/>
            </a:pPr>
            <a:r>
              <a:rPr lang="en-US" sz="2400" b="0">
                <a:latin typeface="Calibri Light" panose="020F0302020204030204" pitchFamily="34" charset="0"/>
              </a:rPr>
              <a:t>General: Build an AI moderation module using context and behavioral patterns.</a:t>
            </a:r>
          </a:p>
          <a:p>
            <a:pPr marL="34" indent="-20">
              <a:lnSpc>
                <a:spcPct val="100000"/>
              </a:lnSpc>
              <a:spcAft>
                <a:spcPts val="700"/>
              </a:spcAft>
              <a:buChar char="•"/>
            </a:pPr>
            <a:r>
              <a:rPr lang="en-US" sz="2400" b="0">
                <a:latin typeface="Calibri Light" panose="020F0302020204030204" pitchFamily="34" charset="0"/>
              </a:rPr>
              <a:t>1. Evaluate the limits of keyword-based and rule-based moderation.</a:t>
            </a:r>
          </a:p>
          <a:p>
            <a:pPr marL="34" indent="-20">
              <a:lnSpc>
                <a:spcPct val="100000"/>
              </a:lnSpc>
              <a:spcAft>
                <a:spcPts val="700"/>
              </a:spcAft>
              <a:buChar char="•"/>
            </a:pPr>
            <a:r>
              <a:rPr lang="en-US" sz="2400" b="0">
                <a:latin typeface="Calibri Light" panose="020F0302020204030204" pitchFamily="34" charset="0"/>
              </a:rPr>
              <a:t>2. Develop a two-layer module for multi-turn chat analysis.</a:t>
            </a:r>
          </a:p>
          <a:p>
            <a:pPr marL="34" indent="-20">
              <a:lnSpc>
                <a:spcPct val="100000"/>
              </a:lnSpc>
              <a:spcAft>
                <a:spcPts val="700"/>
              </a:spcAft>
              <a:buChar char="•"/>
            </a:pPr>
            <a:r>
              <a:rPr lang="en-US" sz="2400" b="0">
                <a:latin typeface="Calibri Light" panose="020F0302020204030204" pitchFamily="34" charset="0"/>
              </a:rPr>
              <a:t>3. Measure recall improvement and false-negative reduction.</a:t>
            </a:r>
            <a:endParaRPr sz="2400" b="0">
              <a:latin typeface="Calibri Light" panose="020F0302020204030204" pitchFamily="34" charset="0"/>
            </a:endParaRPr>
          </a:p>
        </p:txBody>
      </p:sp>
    </p:spTree>
    <p:extLst>
      <p:ext uri="{BB962C8B-B14F-4D97-AF65-F5344CB8AC3E}">
        <p14:creationId xmlns:p14="http://schemas.microsoft.com/office/powerpoint/2010/main" val="18804845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Research Alignment: Existing Methods</a:t>
            </a:r>
            <a:endParaRPr sz="3400">
              <a:solidFill>
                <a:schemeClr val="accent1">
                  <a:lumMod val="75000"/>
                </a:schemeClr>
              </a:solidFill>
            </a:endParaRPr>
          </a:p>
        </p:txBody>
      </p:sp>
      <p:graphicFrame>
        <p:nvGraphicFramePr>
          <p:cNvPr id="5" name="Evidence table">
            <a:extLst>
              <a:ext uri="{FF2B5EF4-FFF2-40B4-BE49-F238E27FC236}">
                <a16:creationId xmlns:a16="http://schemas.microsoft.com/office/drawing/2014/main" id="{BDAA3C98-483E-4858-C8BE-2F383C6F96F1}"/>
              </a:ext>
            </a:extLst>
          </p:cNvPr>
          <p:cNvGraphicFramePr>
            <a:graphicFrameLocks noGrp="1"/>
          </p:cNvGraphicFramePr>
          <p:nvPr>
            <p:ph idx="1"/>
            <p:extLst>
              <p:ext uri="{D42A27DB-BD31-4B8C-83A1-F6EECF244321}">
                <p14:modId xmlns:p14="http://schemas.microsoft.com/office/powerpoint/2010/main" val="31470809"/>
              </p:ext>
            </p:extLst>
          </p:nvPr>
        </p:nvGraphicFramePr>
        <p:xfrm>
          <a:off x="685799" y="1930400"/>
          <a:ext cx="10795000" cy="3992033"/>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346889064"/>
                    </a:ext>
                  </a:extLst>
                </a:gridCol>
                <a:gridCol w="2679700">
                  <a:extLst>
                    <a:ext uri="{9D8B030D-6E8A-4147-A177-3AD203B41FA5}">
                      <a16:colId xmlns:a16="http://schemas.microsoft.com/office/drawing/2014/main" val="277590277"/>
                    </a:ext>
                  </a:extLst>
                </a:gridCol>
                <a:gridCol w="2806700">
                  <a:extLst>
                    <a:ext uri="{9D8B030D-6E8A-4147-A177-3AD203B41FA5}">
                      <a16:colId xmlns:a16="http://schemas.microsoft.com/office/drawing/2014/main" val="429554503"/>
                    </a:ext>
                  </a:extLst>
                </a:gridCol>
                <a:gridCol w="2794000">
                  <a:extLst>
                    <a:ext uri="{9D8B030D-6E8A-4147-A177-3AD203B41FA5}">
                      <a16:colId xmlns:a16="http://schemas.microsoft.com/office/drawing/2014/main" val="945222498"/>
                    </a:ext>
                  </a:extLst>
                </a:gridCol>
              </a:tblGrid>
              <a:tr h="1248833">
                <a:tc>
                  <a:txBody>
                    <a:bodyPr/>
                    <a:lstStyle/>
                    <a:p>
                      <a:r>
                        <a:rPr lang="en-PH" sz="2000" b="1">
                          <a:solidFill>
                            <a:srgbClr val="191F28"/>
                          </a:solidFill>
                          <a:latin typeface="Calibri" panose="020F0502020204030204" pitchFamily="34" charset="0"/>
                        </a:rPr>
                        <a:t>Problem</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Question / Objective</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Method</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Results evidence</a:t>
                      </a:r>
                    </a:p>
                  </a:txBody>
                  <a:tcPr marL="101600" marR="101600" marT="76200" marB="76200" anchor="ctr">
                    <a:solidFill>
                      <a:srgbClr val="E0E8F1"/>
                    </a:solidFill>
                  </a:tcPr>
                </a:tc>
                <a:extLst>
                  <a:ext uri="{0D108BD9-81ED-4DB2-BD59-A6C34878D82A}">
                    <a16:rowId xmlns:a16="http://schemas.microsoft.com/office/drawing/2014/main" val="2039143541"/>
                  </a:ext>
                </a:extLst>
              </a:tr>
              <a:tr h="1248833">
                <a:tc>
                  <a:txBody>
                    <a:bodyPr/>
                    <a:lstStyle/>
                    <a:p>
                      <a:r>
                        <a:rPr lang="en-US" sz="2000" b="0">
                          <a:solidFill>
                            <a:srgbClr val="191F28"/>
                          </a:solidFill>
                          <a:latin typeface="Calibri" panose="020F0502020204030204" pitchFamily="34" charset="0"/>
                        </a:rPr>
                        <a:t>How well do existing systems detect relevant conversations?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RQ1 / Objective 1: Evaluate existing moderation.</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Test the keyword rule on the same held-out conversations.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Keyword rule: 61.36% recall and 17 missed cases.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206382432"/>
                  </a:ext>
                </a:extLst>
              </a:tr>
              <a:tr h="1248833">
                <a:tc>
                  <a:txBody>
                    <a:bodyPr/>
                    <a:lstStyle/>
                    <a:p>
                      <a:r>
                        <a:rPr lang="en-US" sz="2000" b="0">
                          <a:solidFill>
                            <a:srgbClr val="191F28"/>
                          </a:solidFill>
                          <a:latin typeface="Calibri" panose="020F0502020204030204" pitchFamily="34" charset="0"/>
                        </a:rPr>
                        <a:t>Static methods can miss meaning that develops across turns.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RQ2 / Objective 1: Examine the limits of static methods.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Compare keyword and score aggregation with the trajectory LSTM.</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LSTM gains over maximum Layer 1: +0.3630 PR-AUC and +0.3864 recall.</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50964375"/>
                  </a:ext>
                </a:extLst>
              </a:tr>
            </a:tbl>
          </a:graphicData>
        </a:graphic>
      </p:graphicFrame>
    </p:spTree>
    <p:extLst>
      <p:ext uri="{BB962C8B-B14F-4D97-AF65-F5344CB8AC3E}">
        <p14:creationId xmlns:p14="http://schemas.microsoft.com/office/powerpoint/2010/main" val="7359827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Research Alignment: Module and Improvement</a:t>
            </a:r>
            <a:endParaRPr sz="3400">
              <a:solidFill>
                <a:schemeClr val="accent1">
                  <a:lumMod val="75000"/>
                </a:schemeClr>
              </a:solidFill>
            </a:endParaRPr>
          </a:p>
        </p:txBody>
      </p:sp>
      <p:graphicFrame>
        <p:nvGraphicFramePr>
          <p:cNvPr id="5" name="Evidence table">
            <a:extLst>
              <a:ext uri="{FF2B5EF4-FFF2-40B4-BE49-F238E27FC236}">
                <a16:creationId xmlns:a16="http://schemas.microsoft.com/office/drawing/2014/main" id="{658E6B48-24A1-22A5-6387-F4A04A4A17B4}"/>
              </a:ext>
            </a:extLst>
          </p:cNvPr>
          <p:cNvGraphicFramePr>
            <a:graphicFrameLocks noGrp="1"/>
          </p:cNvGraphicFramePr>
          <p:nvPr>
            <p:ph idx="1"/>
            <p:extLst>
              <p:ext uri="{D42A27DB-BD31-4B8C-83A1-F6EECF244321}">
                <p14:modId xmlns:p14="http://schemas.microsoft.com/office/powerpoint/2010/main" val="3283340704"/>
              </p:ext>
            </p:extLst>
          </p:nvPr>
        </p:nvGraphicFramePr>
        <p:xfrm>
          <a:off x="685799" y="1930400"/>
          <a:ext cx="10795000" cy="3992033"/>
        </p:xfrm>
        <a:graphic>
          <a:graphicData uri="http://schemas.openxmlformats.org/drawingml/2006/table">
            <a:tbl>
              <a:tblPr firstRow="1" bandRow="1">
                <a:tableStyleId>{5C22544A-7EE6-4342-B048-85BDC9FD1C3A}</a:tableStyleId>
              </a:tblPr>
              <a:tblGrid>
                <a:gridCol w="2514600">
                  <a:extLst>
                    <a:ext uri="{9D8B030D-6E8A-4147-A177-3AD203B41FA5}">
                      <a16:colId xmlns:a16="http://schemas.microsoft.com/office/drawing/2014/main" val="2799624030"/>
                    </a:ext>
                  </a:extLst>
                </a:gridCol>
                <a:gridCol w="2679700">
                  <a:extLst>
                    <a:ext uri="{9D8B030D-6E8A-4147-A177-3AD203B41FA5}">
                      <a16:colId xmlns:a16="http://schemas.microsoft.com/office/drawing/2014/main" val="284024264"/>
                    </a:ext>
                  </a:extLst>
                </a:gridCol>
                <a:gridCol w="2806700">
                  <a:extLst>
                    <a:ext uri="{9D8B030D-6E8A-4147-A177-3AD203B41FA5}">
                      <a16:colId xmlns:a16="http://schemas.microsoft.com/office/drawing/2014/main" val="2757323129"/>
                    </a:ext>
                  </a:extLst>
                </a:gridCol>
                <a:gridCol w="2794000">
                  <a:extLst>
                    <a:ext uri="{9D8B030D-6E8A-4147-A177-3AD203B41FA5}">
                      <a16:colId xmlns:a16="http://schemas.microsoft.com/office/drawing/2014/main" val="3525452511"/>
                    </a:ext>
                  </a:extLst>
                </a:gridCol>
              </a:tblGrid>
              <a:tr h="1248833">
                <a:tc>
                  <a:txBody>
                    <a:bodyPr/>
                    <a:lstStyle/>
                    <a:p>
                      <a:r>
                        <a:rPr lang="en-PH" sz="2000" b="1">
                          <a:solidFill>
                            <a:srgbClr val="191F28"/>
                          </a:solidFill>
                          <a:latin typeface="Calibri" panose="020F0502020204030204" pitchFamily="34" charset="0"/>
                        </a:rPr>
                        <a:t>Problem</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Question / Objective</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Method</a:t>
                      </a:r>
                    </a:p>
                  </a:txBody>
                  <a:tcPr marL="101600" marR="101600" marT="76200" marB="76200" anchor="ctr">
                    <a:solidFill>
                      <a:srgbClr val="E0E8F1"/>
                    </a:solidFill>
                  </a:tcPr>
                </a:tc>
                <a:tc>
                  <a:txBody>
                    <a:bodyPr/>
                    <a:lstStyle/>
                    <a:p>
                      <a:r>
                        <a:rPr lang="en-PH" sz="2000" b="1">
                          <a:solidFill>
                            <a:srgbClr val="191F28"/>
                          </a:solidFill>
                          <a:latin typeface="Calibri" panose="020F0502020204030204" pitchFamily="34" charset="0"/>
                        </a:rPr>
                        <a:t>Results evidence</a:t>
                      </a:r>
                    </a:p>
                  </a:txBody>
                  <a:tcPr marL="101600" marR="101600" marT="76200" marB="76200" anchor="ctr">
                    <a:solidFill>
                      <a:srgbClr val="E0E8F1"/>
                    </a:solidFill>
                  </a:tcPr>
                </a:tc>
                <a:extLst>
                  <a:ext uri="{0D108BD9-81ED-4DB2-BD59-A6C34878D82A}">
                    <a16:rowId xmlns:a16="http://schemas.microsoft.com/office/drawing/2014/main" val="815225734"/>
                  </a:ext>
                </a:extLst>
              </a:tr>
              <a:tr h="1248833">
                <a:tc>
                  <a:txBody>
                    <a:bodyPr/>
                    <a:lstStyle/>
                    <a:p>
                      <a:r>
                        <a:rPr lang="en-US" sz="2000" b="0">
                          <a:solidFill>
                            <a:srgbClr val="191F28"/>
                          </a:solidFill>
                          <a:latin typeface="Calibri" panose="020F0502020204030204" pitchFamily="34" charset="0"/>
                        </a:rPr>
                        <a:t>Chat analysis needs both context and behavioral development.</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RQ3 / Objective 2: Develop the AI moderation module.</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Combine DistilBERT, seven trajectory features, and an LSTM.</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Completed two-layer module and sequential review interface.</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2194784163"/>
                  </a:ext>
                </a:extLst>
              </a:tr>
              <a:tr h="1248833">
                <a:tc>
                  <a:txBody>
                    <a:bodyPr/>
                    <a:lstStyle/>
                    <a:p>
                      <a:r>
                        <a:rPr lang="en-US" sz="2000" b="0">
                          <a:solidFill>
                            <a:srgbClr val="191F28"/>
                          </a:solidFill>
                          <a:latin typeface="Calibri" panose="020F0502020204030204" pitchFamily="34" charset="0"/>
                        </a:rPr>
                        <a:t>The module must improve detection and reduce missed cases.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RQ4 / Objective 3: Measure recall and false-negative reduction.</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Use a locked test and paired comparisons across author groups.</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tc>
                  <a:txBody>
                    <a:bodyPr/>
                    <a:lstStyle/>
                    <a:p>
                      <a:r>
                        <a:rPr lang="en-US" sz="2000" b="0">
                          <a:solidFill>
                            <a:srgbClr val="191F28"/>
                          </a:solidFill>
                          <a:latin typeface="Calibri" panose="020F0502020204030204" pitchFamily="34" charset="0"/>
                        </a:rPr>
                        <a:t>LSTM: 90.91% recall and four misses; 50% fewer misses than weighted scoring.</a:t>
                      </a:r>
                      <a:endParaRPr lang="en-PH" sz="20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3028070350"/>
                  </a:ext>
                </a:extLst>
              </a:tr>
            </a:tbl>
          </a:graphicData>
        </a:graphic>
      </p:graphicFrame>
    </p:spTree>
    <p:extLst>
      <p:ext uri="{BB962C8B-B14F-4D97-AF65-F5344CB8AC3E}">
        <p14:creationId xmlns:p14="http://schemas.microsoft.com/office/powerpoint/2010/main" val="27763122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What the Study Built</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39EB6132-67A8-7E1F-24BB-A64EFB7A7440}"/>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45E0AAB8-B2E4-8B5C-2CD1-145344CE227E}"/>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dirty="0" err="1">
                <a:solidFill>
                  <a:srgbClr val="191F28"/>
                </a:solidFill>
                <a:latin typeface="Calibri Light" panose="020F0302020204030204" pitchFamily="34" charset="0"/>
              </a:rPr>
              <a:t>DistilBERT</a:t>
            </a:r>
            <a:r>
              <a:rPr lang="en-US" sz="2600" dirty="0">
                <a:solidFill>
                  <a:srgbClr val="191F28"/>
                </a:solidFill>
                <a:latin typeface="Calibri Light" panose="020F0302020204030204" pitchFamily="34" charset="0"/>
              </a:rPr>
              <a:t> reads each turn with recent context.</a:t>
            </a:r>
          </a:p>
          <a:p>
            <a:pPr>
              <a:spcAft>
                <a:spcPts val="1500"/>
              </a:spcAft>
            </a:pPr>
            <a:r>
              <a:rPr lang="en-US" sz="2600" dirty="0">
                <a:solidFill>
                  <a:srgbClr val="191F28"/>
                </a:solidFill>
                <a:latin typeface="Calibri Light" panose="020F0302020204030204" pitchFamily="34" charset="0"/>
              </a:rPr>
              <a:t>Seven features track changes across the conversation.</a:t>
            </a:r>
          </a:p>
          <a:p>
            <a:pPr>
              <a:spcAft>
                <a:spcPts val="1500"/>
              </a:spcAft>
            </a:pPr>
            <a:r>
              <a:rPr lang="en-US" sz="2600" dirty="0">
                <a:solidFill>
                  <a:srgbClr val="191F28"/>
                </a:solidFill>
                <a:latin typeface="Calibri Light" panose="020F0302020204030204" pitchFamily="34" charset="0"/>
              </a:rPr>
              <a:t>An LSTM uses the feature sequence to score the conversation.</a:t>
            </a:r>
          </a:p>
          <a:p>
            <a:pPr>
              <a:spcAft>
                <a:spcPts val="1500"/>
              </a:spcAft>
            </a:pPr>
            <a:r>
              <a:rPr lang="en-US" sz="2600" dirty="0">
                <a:solidFill>
                  <a:srgbClr val="191F28"/>
                </a:solidFill>
                <a:latin typeface="Calibri Light" panose="020F0302020204030204" pitchFamily="34" charset="0"/>
              </a:rPr>
              <a:t>The interface helps a moderator decide what to review.</a:t>
            </a:r>
            <a:endParaRPr lang="en-PH" sz="2600" dirty="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512868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49445-6B2E-B038-2128-77567FA741F6}"/>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Dataset and Evaluation Scope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D9BCD19F-8F4B-C8F1-BCF6-513AD6198481}"/>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5FB06679-67DF-40F1-E66A-31A43363C7FE}"/>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We selected PAN-2012 to evaluate the proposed architecture.</a:t>
            </a:r>
          </a:p>
          <a:p>
            <a:pPr>
              <a:spcAft>
                <a:spcPts val="1500"/>
              </a:spcAft>
            </a:pPr>
            <a:r>
              <a:rPr lang="en-US" sz="2600">
                <a:solidFill>
                  <a:srgbClr val="191F28"/>
                </a:solidFill>
                <a:latin typeface="Calibri Light" panose="020F0302020204030204" pitchFamily="34" charset="0"/>
              </a:rPr>
              <a:t>18,567 eligible two-speaker conversations and 218,114 turns.</a:t>
            </a:r>
          </a:p>
          <a:p>
            <a:pPr>
              <a:spcAft>
                <a:spcPts val="1500"/>
              </a:spcAft>
            </a:pPr>
            <a:r>
              <a:rPr lang="en-US" sz="2600">
                <a:solidFill>
                  <a:srgbClr val="191F28"/>
                </a:solidFill>
                <a:latin typeface="Calibri Light" panose="020F0302020204030204" pitchFamily="34" charset="0"/>
              </a:rPr>
              <a:t>The test evaluates conversation decisions on unseen author groups.</a:t>
            </a:r>
          </a:p>
          <a:p>
            <a:pPr>
              <a:spcAft>
                <a:spcPts val="1500"/>
              </a:spcAft>
            </a:pPr>
            <a:r>
              <a:rPr lang="en-US" sz="2600">
                <a:solidFill>
                  <a:srgbClr val="191F28"/>
                </a:solidFill>
                <a:latin typeface="Calibri Light" panose="020F0302020204030204" pitchFamily="34" charset="0"/>
              </a:rPr>
              <a:t>The completed experiment uses offline sequential replay.</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461310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25D0-52EA-24D7-C74D-83A7B28B9AE9}"/>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Why the Study Matters</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24DE2788-149B-528F-F468-9A8781236B40}"/>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489DFB67-1D78-E2B7-A392-A8CBD9EF6C61}"/>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The study tests whether sequence modeling improves detection.</a:t>
            </a:r>
          </a:p>
          <a:p>
            <a:pPr>
              <a:spcAft>
                <a:spcPts val="1500"/>
              </a:spcAft>
            </a:pPr>
            <a:r>
              <a:rPr lang="en-US" sz="2600">
                <a:solidFill>
                  <a:srgbClr val="191F28"/>
                </a:solidFill>
                <a:latin typeface="Calibri Light" panose="020F0302020204030204" pitchFamily="34" charset="0"/>
              </a:rPr>
              <a:t>The complete module supports conversation review.</a:t>
            </a:r>
          </a:p>
          <a:p>
            <a:pPr>
              <a:spcAft>
                <a:spcPts val="1500"/>
              </a:spcAft>
            </a:pPr>
            <a:r>
              <a:rPr lang="en-US" sz="2600">
                <a:solidFill>
                  <a:srgbClr val="191F28"/>
                </a:solidFill>
                <a:latin typeface="Calibri Light" panose="020F0302020204030204" pitchFamily="34" charset="0"/>
              </a:rPr>
              <a:t>The comparison measures both missed cases and false alerts.</a:t>
            </a:r>
          </a:p>
          <a:p>
            <a:pPr>
              <a:spcAft>
                <a:spcPts val="1500"/>
              </a:spcAft>
            </a:pPr>
            <a:r>
              <a:rPr lang="en-US" sz="2600">
                <a:solidFill>
                  <a:srgbClr val="191F28"/>
                </a:solidFill>
                <a:latin typeface="Calibri Light" panose="020F0302020204030204" pitchFamily="34" charset="0"/>
              </a:rPr>
              <a:t>The evaluation keeps author groups separate across partitions.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13669525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04548-D28E-C567-67D9-A7F73A398348}"/>
              </a:ext>
            </a:extLst>
          </p:cNvPr>
          <p:cNvSpPr>
            <a:spLocks noGrp="1"/>
          </p:cNvSpPr>
          <p:nvPr>
            <p:ph type="title"/>
          </p:nvPr>
        </p:nvSpPr>
        <p:spPr/>
        <p:txBody>
          <a:bodyPr>
            <a:normAutofit/>
          </a:bodyPr>
          <a:lstStyle/>
          <a:p>
            <a:r>
              <a:rPr lang="en-PH"/>
              <a:t>Review of Related Literature</a:t>
            </a:r>
            <a:endParaRPr/>
          </a:p>
        </p:txBody>
      </p:sp>
      <p:sp>
        <p:nvSpPr>
          <p:cNvPr id="3" name="Text Placeholder 2">
            <a:extLst>
              <a:ext uri="{FF2B5EF4-FFF2-40B4-BE49-F238E27FC236}">
                <a16:creationId xmlns:a16="http://schemas.microsoft.com/office/drawing/2014/main" id="{F83A8EAC-3CA8-6793-6398-0B05C4D71CEC}"/>
              </a:ext>
            </a:extLst>
          </p:cNvPr>
          <p:cNvSpPr>
            <a:spLocks noGrp="1"/>
          </p:cNvSpPr>
          <p:nvPr>
            <p:ph type="body" idx="1"/>
          </p:nvPr>
        </p:nvSpPr>
        <p:spPr/>
        <p:txBody>
          <a:bodyPr/>
          <a:lstStyle/>
          <a:p>
            <a:r>
              <a:rPr lang="en-US"/>
              <a:t>Context, behavior, and sequence learning</a:t>
            </a:r>
            <a:endParaRPr/>
          </a:p>
        </p:txBody>
      </p:sp>
    </p:spTree>
    <p:extLst>
      <p:ext uri="{BB962C8B-B14F-4D97-AF65-F5344CB8AC3E}">
        <p14:creationId xmlns:p14="http://schemas.microsoft.com/office/powerpoint/2010/main" val="6816114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D346D-8683-5037-C23F-47F648DF5CA9}"/>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4000">
                <a:solidFill>
                  <a:schemeClr val="accent1">
                    <a:lumMod val="75000"/>
                  </a:schemeClr>
                </a:solidFill>
              </a:rPr>
              <a:t>Why Context and Sequence Matter</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33D99DDF-C87D-BE06-E16D-DC3C465370B2}"/>
              </a:ext>
            </a:extLst>
          </p:cNvPr>
          <p:cNvSpPr>
            <a:spLocks noGrp="1"/>
          </p:cNvSpPr>
          <p:nvPr>
            <p:ph idx="1"/>
          </p:nvPr>
        </p:nvSpPr>
        <p:spPr>
          <a:xfrm>
            <a:off x="838200" y="1825624"/>
            <a:ext cx="10909151" cy="4811843"/>
          </a:xfrm>
        </p:spPr>
        <p:txBody>
          <a:bodyPr wrap="square">
            <a:noAutofit/>
          </a:bodyPr>
          <a:lstStyle/>
          <a:p>
            <a:pPr>
              <a:lnSpc>
                <a:spcPct val="100000"/>
              </a:lnSpc>
              <a:spcAft>
                <a:spcPts val="700"/>
              </a:spcAft>
            </a:pPr>
            <a:r>
              <a:rPr lang="en-US" b="1">
                <a:latin typeface="Calibri Light" panose="020F0302020204030204" pitchFamily="34" charset="0"/>
              </a:rPr>
              <a:t>The meaning of a turn depends on the surrounding conversation.</a:t>
            </a:r>
          </a:p>
          <a:p>
            <a:pPr>
              <a:lnSpc>
                <a:spcPct val="100000"/>
              </a:lnSpc>
              <a:spcAft>
                <a:spcPts val="700"/>
              </a:spcAft>
            </a:pPr>
            <a:r>
              <a:rPr lang="en-US" b="1">
                <a:latin typeface="Calibri Light" panose="020F0302020204030204" pitchFamily="34" charset="0"/>
              </a:rPr>
              <a:t>Transformers represent local conversational context.</a:t>
            </a:r>
          </a:p>
          <a:p>
            <a:pPr>
              <a:lnSpc>
                <a:spcPct val="100000"/>
              </a:lnSpc>
              <a:spcAft>
                <a:spcPts val="700"/>
              </a:spcAft>
            </a:pPr>
            <a:r>
              <a:rPr lang="en-US" b="1">
                <a:latin typeface="Calibri Light" panose="020F0302020204030204" pitchFamily="34" charset="0"/>
              </a:rPr>
              <a:t>Behavioral evidence develops across multiple turns.</a:t>
            </a:r>
          </a:p>
          <a:p>
            <a:pPr>
              <a:lnSpc>
                <a:spcPct val="100000"/>
              </a:lnSpc>
              <a:spcAft>
                <a:spcPts val="700"/>
              </a:spcAft>
            </a:pPr>
            <a:r>
              <a:rPr lang="en-US" b="1">
                <a:latin typeface="Calibri Light" panose="020F0302020204030204" pitchFamily="34" charset="0"/>
              </a:rPr>
              <a:t>Sequence models can learn how that evidence changes over time.</a:t>
            </a:r>
            <a:endParaRPr>
              <a:latin typeface="Calibri Light" panose="020F0302020204030204" pitchFamily="34" charset="0"/>
            </a:endParaRPr>
          </a:p>
        </p:txBody>
      </p:sp>
    </p:spTree>
    <p:extLst>
      <p:ext uri="{BB962C8B-B14F-4D97-AF65-F5344CB8AC3E}">
        <p14:creationId xmlns:p14="http://schemas.microsoft.com/office/powerpoint/2010/main" val="2185711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1058-A08A-BE33-9A5D-98508987B929}"/>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Theory and Dataset Selection</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EDE0EA88-01C6-C8C6-6AC1-131A16198D5B}"/>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B8460E8E-EA77-813E-7594-557E98DBF70C}"/>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OGDM describes grooming as a developing conversational process.</a:t>
            </a:r>
          </a:p>
          <a:p>
            <a:pPr>
              <a:spcAft>
                <a:spcPts val="1500"/>
              </a:spcAft>
            </a:pPr>
            <a:r>
              <a:rPr lang="en-US" sz="2500">
                <a:solidFill>
                  <a:srgbClr val="191F28"/>
                </a:solidFill>
                <a:latin typeface="Calibri Light" panose="020F0302020204030204" pitchFamily="34" charset="0"/>
              </a:rPr>
              <a:t>The model tracks persistence, changes, and interaction patterns.</a:t>
            </a:r>
          </a:p>
          <a:p>
            <a:pPr>
              <a:spcAft>
                <a:spcPts val="1500"/>
              </a:spcAft>
            </a:pPr>
            <a:r>
              <a:rPr lang="en-US" sz="2500">
                <a:solidFill>
                  <a:srgbClr val="191F28"/>
                </a:solidFill>
                <a:latin typeface="Calibri Light" panose="020F0302020204030204" pitchFamily="34" charset="0"/>
              </a:rPr>
              <a:t>PAN-2012 provides ordered conversations and persistent speaker IDs.</a:t>
            </a:r>
          </a:p>
          <a:p>
            <a:pPr>
              <a:spcAft>
                <a:spcPts val="1500"/>
              </a:spcAft>
            </a:pPr>
            <a:r>
              <a:rPr lang="en-US" sz="2500">
                <a:solidFill>
                  <a:srgbClr val="191F28"/>
                </a:solidFill>
                <a:latin typeface="Calibri Light" panose="020F0302020204030204" pitchFamily="34" charset="0"/>
              </a:rPr>
              <a:t>These properties support trajectory analysis and author-group testing.</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1637014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How OGDM Informs the Features</a:t>
            </a:r>
            <a:endParaRPr sz="3400">
              <a:solidFill>
                <a:schemeClr val="accent1">
                  <a:lumMod val="75000"/>
                </a:schemeClr>
              </a:solidFill>
            </a:endParaRPr>
          </a:p>
        </p:txBody>
      </p:sp>
      <p:graphicFrame>
        <p:nvGraphicFramePr>
          <p:cNvPr id="3" name="Evidence table">
            <a:extLst>
              <a:ext uri="{FF2B5EF4-FFF2-40B4-BE49-F238E27FC236}">
                <a16:creationId xmlns:a16="http://schemas.microsoft.com/office/drawing/2014/main" id="{66B26F94-C6FC-C85B-F9DD-4FD83B3FA049}"/>
              </a:ext>
            </a:extLst>
          </p:cNvPr>
          <p:cNvGraphicFramePr>
            <a:graphicFrameLocks noGrp="1"/>
          </p:cNvGraphicFramePr>
          <p:nvPr>
            <p:extLst>
              <p:ext uri="{D42A27DB-BD31-4B8C-83A1-F6EECF244321}">
                <p14:modId xmlns:p14="http://schemas.microsoft.com/office/powerpoint/2010/main" val="1027191965"/>
              </p:ext>
            </p:extLst>
          </p:nvPr>
        </p:nvGraphicFramePr>
        <p:xfrm>
          <a:off x="685800" y="1841500"/>
          <a:ext cx="10795000" cy="3606800"/>
        </p:xfrm>
        <a:graphic>
          <a:graphicData uri="http://schemas.openxmlformats.org/drawingml/2006/table">
            <a:tbl>
              <a:tblPr firstRow="1" bandRow="1">
                <a:tableStyleId>{5C22544A-7EE6-4342-B048-85BDC9FD1C3A}</a:tableStyleId>
              </a:tblPr>
              <a:tblGrid>
                <a:gridCol w="4508500">
                  <a:extLst>
                    <a:ext uri="{9D8B030D-6E8A-4147-A177-3AD203B41FA5}">
                      <a16:colId xmlns:a16="http://schemas.microsoft.com/office/drawing/2014/main" val="1143059944"/>
                    </a:ext>
                  </a:extLst>
                </a:gridCol>
                <a:gridCol w="6286500">
                  <a:extLst>
                    <a:ext uri="{9D8B030D-6E8A-4147-A177-3AD203B41FA5}">
                      <a16:colId xmlns:a16="http://schemas.microsoft.com/office/drawing/2014/main" val="1544061047"/>
                    </a:ext>
                  </a:extLst>
                </a:gridCol>
              </a:tblGrid>
              <a:tr h="721360">
                <a:tc>
                  <a:txBody>
                    <a:bodyPr/>
                    <a:lstStyle/>
                    <a:p>
                      <a:r>
                        <a:rPr lang="en-PH" sz="2200" b="1">
                          <a:solidFill>
                            <a:srgbClr val="191F28"/>
                          </a:solidFill>
                          <a:latin typeface="Calibri" panose="020F0502020204030204" pitchFamily="34" charset="0"/>
                        </a:rPr>
                        <a:t>Conversational property</a:t>
                      </a:r>
                    </a:p>
                  </a:txBody>
                  <a:tcPr marL="101600" marR="101600" marT="76200" marB="76200" anchor="ctr">
                    <a:solidFill>
                      <a:srgbClr val="E0E8F1"/>
                    </a:solidFill>
                  </a:tcPr>
                </a:tc>
                <a:tc>
                  <a:txBody>
                    <a:bodyPr/>
                    <a:lstStyle/>
                    <a:p>
                      <a:r>
                        <a:rPr lang="en-PH" sz="2200" b="1">
                          <a:solidFill>
                            <a:srgbClr val="191F28"/>
                          </a:solidFill>
                          <a:latin typeface="Calibri" panose="020F0502020204030204" pitchFamily="34" charset="0"/>
                        </a:rPr>
                        <a:t>Features used</a:t>
                      </a:r>
                    </a:p>
                  </a:txBody>
                  <a:tcPr marL="101600" marR="101600" marT="76200" marB="76200" anchor="ctr">
                    <a:solidFill>
                      <a:srgbClr val="E0E8F1"/>
                    </a:solidFill>
                  </a:tcPr>
                </a:tc>
                <a:extLst>
                  <a:ext uri="{0D108BD9-81ED-4DB2-BD59-A6C34878D82A}">
                    <a16:rowId xmlns:a16="http://schemas.microsoft.com/office/drawing/2014/main" val="842626567"/>
                  </a:ext>
                </a:extLst>
              </a:tr>
              <a:tr h="721360">
                <a:tc>
                  <a:txBody>
                    <a:bodyPr/>
                    <a:lstStyle/>
                    <a:p>
                      <a:r>
                        <a:rPr lang="en-PH" sz="2200" b="0">
                          <a:solidFill>
                            <a:srgbClr val="191F28"/>
                          </a:solidFill>
                          <a:latin typeface="Calibri" panose="020F0502020204030204" pitchFamily="34" charset="0"/>
                        </a:rPr>
                        <a:t>Accumulation and persistence</a:t>
                      </a:r>
                    </a:p>
                  </a:txBody>
                  <a:tcPr marL="101600" marR="101600" marT="76200" marB="76200" anchor="ctr">
                    <a:solidFill>
                      <a:srgbClr val="FFFFFF"/>
                    </a:solidFill>
                  </a:tcPr>
                </a:tc>
                <a:tc>
                  <a:txBody>
                    <a:bodyPr/>
                    <a:lstStyle/>
                    <a:p>
                      <a:r>
                        <a:rPr lang="en-US" sz="2200" b="0">
                          <a:solidFill>
                            <a:srgbClr val="191F28"/>
                          </a:solidFill>
                          <a:latin typeface="Calibri" panose="020F0502020204030204" pitchFamily="34" charset="0"/>
                        </a:rPr>
                        <a:t>Peak score, current score, spike count</a:t>
                      </a:r>
                      <a:endParaRPr lang="en-PH" sz="22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1308661531"/>
                  </a:ext>
                </a:extLst>
              </a:tr>
              <a:tr h="721360">
                <a:tc>
                  <a:txBody>
                    <a:bodyPr/>
                    <a:lstStyle/>
                    <a:p>
                      <a:r>
                        <a:rPr lang="en-PH" sz="2200" b="0">
                          <a:solidFill>
                            <a:srgbClr val="191F28"/>
                          </a:solidFill>
                          <a:latin typeface="Calibri" panose="020F0502020204030204" pitchFamily="34" charset="0"/>
                        </a:rPr>
                        <a:t>Escalation and retreat</a:t>
                      </a:r>
                    </a:p>
                  </a:txBody>
                  <a:tcPr marL="101600" marR="101600" marT="76200" marB="76200" anchor="ctr">
                    <a:solidFill>
                      <a:srgbClr val="FFFFFF"/>
                    </a:solidFill>
                  </a:tcPr>
                </a:tc>
                <a:tc>
                  <a:txBody>
                    <a:bodyPr/>
                    <a:lstStyle/>
                    <a:p>
                      <a:r>
                        <a:rPr lang="en-PH" sz="2200" b="0">
                          <a:solidFill>
                            <a:srgbClr val="191F28"/>
                          </a:solidFill>
                          <a:latin typeface="Calibri" panose="020F0502020204030204" pitchFamily="34" charset="0"/>
                        </a:rPr>
                        <a:t>Rate of change, spike-then-drop</a:t>
                      </a:r>
                    </a:p>
                  </a:txBody>
                  <a:tcPr marL="101600" marR="101600" marT="76200" marB="76200" anchor="ctr">
                    <a:solidFill>
                      <a:srgbClr val="FFFFFF"/>
                    </a:solidFill>
                  </a:tcPr>
                </a:tc>
                <a:extLst>
                  <a:ext uri="{0D108BD9-81ED-4DB2-BD59-A6C34878D82A}">
                    <a16:rowId xmlns:a16="http://schemas.microsoft.com/office/drawing/2014/main" val="2130883091"/>
                  </a:ext>
                </a:extLst>
              </a:tr>
              <a:tr h="721360">
                <a:tc>
                  <a:txBody>
                    <a:bodyPr/>
                    <a:lstStyle/>
                    <a:p>
                      <a:r>
                        <a:rPr lang="en-PH" sz="2200" b="0">
                          <a:solidFill>
                            <a:srgbClr val="191F28"/>
                          </a:solidFill>
                          <a:latin typeface="Calibri" panose="020F0502020204030204" pitchFamily="34" charset="0"/>
                        </a:rPr>
                        <a:t>Movement in conversational content</a:t>
                      </a:r>
                    </a:p>
                  </a:txBody>
                  <a:tcPr marL="101600" marR="101600" marT="76200" marB="76200" anchor="ctr">
                    <a:solidFill>
                      <a:srgbClr val="FFFFFF"/>
                    </a:solidFill>
                  </a:tcPr>
                </a:tc>
                <a:tc>
                  <a:txBody>
                    <a:bodyPr/>
                    <a:lstStyle/>
                    <a:p>
                      <a:r>
                        <a:rPr lang="en-US" sz="2200" b="0">
                          <a:solidFill>
                            <a:srgbClr val="191F28"/>
                          </a:solidFill>
                          <a:latin typeface="Calibri" panose="020F0502020204030204" pitchFamily="34" charset="0"/>
                        </a:rPr>
                        <a:t>Topic distance from the benign training reference</a:t>
                      </a:r>
                      <a:endParaRPr lang="en-PH" sz="2200" b="0">
                        <a:solidFill>
                          <a:srgbClr val="191F28"/>
                        </a:solidFill>
                        <a:latin typeface="Calibri" panose="020F0502020204030204" pitchFamily="34" charset="0"/>
                      </a:endParaRPr>
                    </a:p>
                  </a:txBody>
                  <a:tcPr marL="101600" marR="101600" marT="76200" marB="76200" anchor="ctr">
                    <a:solidFill>
                      <a:srgbClr val="FFFFFF"/>
                    </a:solidFill>
                  </a:tcPr>
                </a:tc>
                <a:extLst>
                  <a:ext uri="{0D108BD9-81ED-4DB2-BD59-A6C34878D82A}">
                    <a16:rowId xmlns:a16="http://schemas.microsoft.com/office/drawing/2014/main" val="1962073543"/>
                  </a:ext>
                </a:extLst>
              </a:tr>
              <a:tr h="721360">
                <a:tc>
                  <a:txBody>
                    <a:bodyPr/>
                    <a:lstStyle/>
                    <a:p>
                      <a:r>
                        <a:rPr lang="en-PH" sz="2200" b="0">
                          <a:solidFill>
                            <a:srgbClr val="191F28"/>
                          </a:solidFill>
                          <a:latin typeface="Calibri" panose="020F0502020204030204" pitchFamily="34" charset="0"/>
                        </a:rPr>
                        <a:t>Interaction structure</a:t>
                      </a:r>
                    </a:p>
                  </a:txBody>
                  <a:tcPr marL="101600" marR="101600" marT="76200" marB="76200" anchor="ctr">
                    <a:solidFill>
                      <a:srgbClr val="FFFFFF"/>
                    </a:solidFill>
                  </a:tcPr>
                </a:tc>
                <a:tc>
                  <a:txBody>
                    <a:bodyPr/>
                    <a:lstStyle/>
                    <a:p>
                      <a:r>
                        <a:rPr lang="en-PH" sz="2200" b="0">
                          <a:solidFill>
                            <a:srgbClr val="191F28"/>
                          </a:solidFill>
                          <a:latin typeface="Calibri" panose="020F0502020204030204" pitchFamily="34" charset="0"/>
                        </a:rPr>
                        <a:t>Cumulative turn-taking imbalance</a:t>
                      </a:r>
                    </a:p>
                  </a:txBody>
                  <a:tcPr marL="101600" marR="101600" marT="76200" marB="76200" anchor="ctr">
                    <a:solidFill>
                      <a:srgbClr val="FFFFFF"/>
                    </a:solidFill>
                  </a:tcPr>
                </a:tc>
                <a:extLst>
                  <a:ext uri="{0D108BD9-81ED-4DB2-BD59-A6C34878D82A}">
                    <a16:rowId xmlns:a16="http://schemas.microsoft.com/office/drawing/2014/main" val="2424512005"/>
                  </a:ext>
                </a:extLst>
              </a:tr>
            </a:tbl>
          </a:graphicData>
        </a:graphic>
      </p:graphicFrame>
      <p:sp>
        <p:nvSpPr>
          <p:cNvPr id="6" name="Interpretation">
            <a:extLst>
              <a:ext uri="{FF2B5EF4-FFF2-40B4-BE49-F238E27FC236}">
                <a16:creationId xmlns:a16="http://schemas.microsoft.com/office/drawing/2014/main" id="{ADC6AA4B-AB5D-A030-9813-7E5727D2DE3A}"/>
              </a:ext>
            </a:extLst>
          </p:cNvPr>
          <p:cNvSpPr txBox="1"/>
          <p:nvPr/>
        </p:nvSpPr>
        <p:spPr>
          <a:xfrm>
            <a:off x="812800" y="5676900"/>
            <a:ext cx="10439400" cy="5461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The LSTM learns how these signals develop together across turns.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775542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CAD7C-1915-C02D-55A4-9E64523BC0CF}"/>
              </a:ext>
            </a:extLst>
          </p:cNvPr>
          <p:cNvSpPr>
            <a:spLocks noGrp="1"/>
          </p:cNvSpPr>
          <p:nvPr>
            <p:ph type="title"/>
          </p:nvPr>
        </p:nvSpPr>
        <p:spPr/>
        <p:txBody>
          <a:bodyPr>
            <a:normAutofit/>
          </a:bodyPr>
          <a:lstStyle/>
          <a:p>
            <a:r>
              <a:rPr lang="en-PH"/>
              <a:t>Methodology</a:t>
            </a:r>
            <a:endParaRPr/>
          </a:p>
        </p:txBody>
      </p:sp>
      <p:sp>
        <p:nvSpPr>
          <p:cNvPr id="3" name="Text Placeholder 2">
            <a:extLst>
              <a:ext uri="{FF2B5EF4-FFF2-40B4-BE49-F238E27FC236}">
                <a16:creationId xmlns:a16="http://schemas.microsoft.com/office/drawing/2014/main" id="{5F4850A2-3852-8302-39D5-B2A6F6E7D26B}"/>
              </a:ext>
            </a:extLst>
          </p:cNvPr>
          <p:cNvSpPr>
            <a:spLocks noGrp="1"/>
          </p:cNvSpPr>
          <p:nvPr>
            <p:ph type="body" idx="1"/>
          </p:nvPr>
        </p:nvSpPr>
        <p:spPr/>
        <p:txBody>
          <a:bodyPr/>
          <a:lstStyle/>
          <a:p>
            <a:r>
              <a:rPr lang="en-US"/>
              <a:t>How the two-layer system was evaluated</a:t>
            </a:r>
            <a:endParaRPr/>
          </a:p>
        </p:txBody>
      </p:sp>
    </p:spTree>
    <p:extLst>
      <p:ext uri="{BB962C8B-B14F-4D97-AF65-F5344CB8AC3E}">
        <p14:creationId xmlns:p14="http://schemas.microsoft.com/office/powerpoint/2010/main" val="2780746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6913-EAEA-8B97-D32E-31E06E13A28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AI Model Architecture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AE47215D-E5CE-47B1-FCFE-617B4EAA2608}"/>
              </a:ext>
            </a:extLst>
          </p:cNvPr>
          <p:cNvSpPr>
            <a:spLocks noGrp="1"/>
          </p:cNvSpPr>
          <p:nvPr>
            <p:ph idx="1"/>
          </p:nvPr>
        </p:nvSpPr>
        <p:spPr/>
        <p:txBody>
          <a:bodyPr/>
          <a:lstStyle/>
          <a:p>
            <a:endParaRPr lang="en-PH"/>
          </a:p>
        </p:txBody>
      </p:sp>
      <p:sp>
        <p:nvSpPr>
          <p:cNvPr id="5" name="Current turn input">
            <a:extLst>
              <a:ext uri="{FF2B5EF4-FFF2-40B4-BE49-F238E27FC236}">
                <a16:creationId xmlns:a16="http://schemas.microsoft.com/office/drawing/2014/main" id="{E6895191-94C9-2F5B-0946-D1B793400C72}"/>
              </a:ext>
            </a:extLst>
          </p:cNvPr>
          <p:cNvSpPr/>
          <p:nvPr/>
        </p:nvSpPr>
        <p:spPr>
          <a:xfrm>
            <a:off x="609600" y="2552700"/>
            <a:ext cx="2032000" cy="13208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200">
                <a:solidFill>
                  <a:srgbClr val="191F28"/>
                </a:solidFill>
                <a:latin typeface="Calibri" panose="020F0502020204030204" pitchFamily="34" charset="0"/>
              </a:rPr>
              <a:t>Current turn</a:t>
            </a:r>
          </a:p>
          <a:p>
            <a:pPr algn="ctr"/>
            <a:r>
              <a:rPr lang="en-US" sz="2200">
                <a:solidFill>
                  <a:srgbClr val="191F28"/>
                </a:solidFill>
                <a:latin typeface="Calibri" panose="020F0502020204030204" pitchFamily="34" charset="0"/>
              </a:rPr>
              <a:t>+ up to two</a:t>
            </a:r>
          </a:p>
          <a:p>
            <a:pPr algn="ctr"/>
            <a:r>
              <a:rPr lang="en-US" sz="2200">
                <a:solidFill>
                  <a:srgbClr val="191F28"/>
                </a:solidFill>
                <a:latin typeface="Calibri" panose="020F0502020204030204" pitchFamily="34" charset="0"/>
              </a:rPr>
              <a:t>previous turns</a:t>
            </a:r>
            <a:endParaRPr lang="en-PH" sz="2200">
              <a:solidFill>
                <a:srgbClr val="191F28"/>
              </a:solidFill>
              <a:latin typeface="Calibri" panose="020F0502020204030204" pitchFamily="34" charset="0"/>
            </a:endParaRPr>
          </a:p>
        </p:txBody>
      </p:sp>
      <p:sp>
        <p:nvSpPr>
          <p:cNvPr id="6" name="Context classifier">
            <a:extLst>
              <a:ext uri="{FF2B5EF4-FFF2-40B4-BE49-F238E27FC236}">
                <a16:creationId xmlns:a16="http://schemas.microsoft.com/office/drawing/2014/main" id="{B1D94D3D-F46A-F928-3E33-ACE425F7AE27}"/>
              </a:ext>
            </a:extLst>
          </p:cNvPr>
          <p:cNvSpPr/>
          <p:nvPr/>
        </p:nvSpPr>
        <p:spPr>
          <a:xfrm>
            <a:off x="3111500" y="19431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1: DistilBERT</a:t>
            </a:r>
          </a:p>
          <a:p>
            <a:pPr algn="ctr"/>
            <a:r>
              <a:rPr lang="en-US" sz="2100">
                <a:solidFill>
                  <a:srgbClr val="191F28"/>
                </a:solidFill>
                <a:latin typeface="Calibri" panose="020F0502020204030204" pitchFamily="34" charset="0"/>
              </a:rPr>
              <a:t>Author-derived</a:t>
            </a:r>
          </a:p>
          <a:p>
            <a:pPr algn="ctr"/>
            <a:r>
              <a:rPr lang="en-US" sz="2100">
                <a:solidFill>
                  <a:srgbClr val="191F28"/>
                </a:solidFill>
                <a:latin typeface="Calibri" panose="020F0502020204030204" pitchFamily="34" charset="0"/>
              </a:rPr>
              <a:t>proxy score</a:t>
            </a:r>
            <a:endParaRPr lang="en-PH" sz="2100">
              <a:solidFill>
                <a:srgbClr val="191F28"/>
              </a:solidFill>
              <a:latin typeface="Calibri" panose="020F0502020204030204" pitchFamily="34" charset="0"/>
            </a:endParaRPr>
          </a:p>
        </p:txBody>
      </p:sp>
      <p:sp>
        <p:nvSpPr>
          <p:cNvPr id="8" name="Base encoder">
            <a:extLst>
              <a:ext uri="{FF2B5EF4-FFF2-40B4-BE49-F238E27FC236}">
                <a16:creationId xmlns:a16="http://schemas.microsoft.com/office/drawing/2014/main" id="{61BE1F36-041B-4B5F-7A71-5C5767617604}"/>
              </a:ext>
            </a:extLst>
          </p:cNvPr>
          <p:cNvSpPr/>
          <p:nvPr/>
        </p:nvSpPr>
        <p:spPr>
          <a:xfrm>
            <a:off x="3111500" y="4279900"/>
            <a:ext cx="2755900" cy="12319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900">
                <a:solidFill>
                  <a:srgbClr val="191F28"/>
                </a:solidFill>
                <a:latin typeface="Calibri" panose="020F0502020204030204" pitchFamily="34" charset="0"/>
              </a:rPr>
              <a:t>Fixed base encoder</a:t>
            </a:r>
          </a:p>
          <a:p>
            <a:pPr algn="ctr"/>
            <a:r>
              <a:rPr lang="en-US" sz="1900">
                <a:solidFill>
                  <a:srgbClr val="191F28"/>
                </a:solidFill>
                <a:latin typeface="Calibri" panose="020F0502020204030204" pitchFamily="34" charset="0"/>
              </a:rPr>
              <a:t>Current-turn embedding</a:t>
            </a:r>
          </a:p>
          <a:p>
            <a:pPr algn="ctr"/>
            <a:r>
              <a:rPr lang="en-US" sz="1900">
                <a:solidFill>
                  <a:srgbClr val="191F28"/>
                </a:solidFill>
                <a:latin typeface="Calibri" panose="020F0502020204030204" pitchFamily="34" charset="0"/>
              </a:rPr>
              <a:t>+ training reference</a:t>
            </a:r>
            <a:endParaRPr lang="en-PH" sz="1900">
              <a:solidFill>
                <a:srgbClr val="191F28"/>
              </a:solidFill>
              <a:latin typeface="Calibri" panose="020F0502020204030204" pitchFamily="34" charset="0"/>
            </a:endParaRPr>
          </a:p>
        </p:txBody>
      </p:sp>
      <p:sp>
        <p:nvSpPr>
          <p:cNvPr id="9" name="Trajectory features">
            <a:extLst>
              <a:ext uri="{FF2B5EF4-FFF2-40B4-BE49-F238E27FC236}">
                <a16:creationId xmlns:a16="http://schemas.microsoft.com/office/drawing/2014/main" id="{3DD60086-D214-9E72-8168-A28885D575F6}"/>
              </a:ext>
            </a:extLst>
          </p:cNvPr>
          <p:cNvSpPr/>
          <p:nvPr/>
        </p:nvSpPr>
        <p:spPr>
          <a:xfrm>
            <a:off x="6350000" y="1943100"/>
            <a:ext cx="2781300" cy="3568700"/>
          </a:xfrm>
          <a:prstGeom prst="rect">
            <a:avLst/>
          </a:prstGeom>
          <a:solidFill>
            <a:srgbClr val="ECF2F9"/>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000">
                <a:solidFill>
                  <a:srgbClr val="191F28"/>
                </a:solidFill>
                <a:latin typeface="Calibri" panose="020F0502020204030204" pitchFamily="34" charset="0"/>
              </a:rPr>
              <a:t>Seven features</a:t>
            </a:r>
          </a:p>
          <a:p>
            <a:pPr algn="ctr"/>
            <a:endParaRPr lang="en-US" sz="2000">
              <a:solidFill>
                <a:srgbClr val="191F28"/>
              </a:solidFill>
              <a:latin typeface="Calibri" panose="020F0502020204030204" pitchFamily="34" charset="0"/>
            </a:endParaRPr>
          </a:p>
          <a:p>
            <a:pPr algn="ctr"/>
            <a:r>
              <a:rPr lang="en-US" sz="2000">
                <a:solidFill>
                  <a:srgbClr val="191F28"/>
                </a:solidFill>
                <a:latin typeface="Calibri" panose="020F0502020204030204" pitchFamily="34" charset="0"/>
              </a:rPr>
              <a:t>Peak / current score</a:t>
            </a:r>
          </a:p>
          <a:p>
            <a:pPr algn="ctr"/>
            <a:r>
              <a:rPr lang="en-US" sz="2000">
                <a:solidFill>
                  <a:srgbClr val="191F28"/>
                </a:solidFill>
                <a:latin typeface="Calibri" panose="020F0502020204030204" pitchFamily="34" charset="0"/>
              </a:rPr>
              <a:t>Spike count / drop</a:t>
            </a:r>
          </a:p>
          <a:p>
            <a:pPr algn="ctr"/>
            <a:r>
              <a:rPr lang="en-US" sz="2000">
                <a:solidFill>
                  <a:srgbClr val="191F28"/>
                </a:solidFill>
                <a:latin typeface="Calibri" panose="020F0502020204030204" pitchFamily="34" charset="0"/>
              </a:rPr>
              <a:t>Rate of change</a:t>
            </a:r>
          </a:p>
          <a:p>
            <a:pPr algn="ctr"/>
            <a:r>
              <a:rPr lang="en-US" sz="2000">
                <a:solidFill>
                  <a:srgbClr val="191F28"/>
                </a:solidFill>
                <a:latin typeface="Calibri" panose="020F0502020204030204" pitchFamily="34" charset="0"/>
              </a:rPr>
              <a:t>Topic distance</a:t>
            </a:r>
          </a:p>
          <a:p>
            <a:pPr algn="ctr"/>
            <a:r>
              <a:rPr lang="en-US" sz="2000">
                <a:solidFill>
                  <a:srgbClr val="191F28"/>
                </a:solidFill>
                <a:latin typeface="Calibri" panose="020F0502020204030204" pitchFamily="34" charset="0"/>
              </a:rPr>
              <a:t>Turn imbalance</a:t>
            </a:r>
            <a:endParaRPr lang="en-PH" sz="2000">
              <a:solidFill>
                <a:srgbClr val="191F28"/>
              </a:solidFill>
              <a:latin typeface="Calibri" panose="020F0502020204030204" pitchFamily="34" charset="0"/>
            </a:endParaRPr>
          </a:p>
        </p:txBody>
      </p:sp>
      <p:sp>
        <p:nvSpPr>
          <p:cNvPr id="10" name="Sequence model">
            <a:extLst>
              <a:ext uri="{FF2B5EF4-FFF2-40B4-BE49-F238E27FC236}">
                <a16:creationId xmlns:a16="http://schemas.microsoft.com/office/drawing/2014/main" id="{3A5AF613-2F19-8CB6-A0F8-1E0AB1DECBFA}"/>
              </a:ext>
            </a:extLst>
          </p:cNvPr>
          <p:cNvSpPr/>
          <p:nvPr/>
        </p:nvSpPr>
        <p:spPr>
          <a:xfrm>
            <a:off x="9588500" y="1943100"/>
            <a:ext cx="2070100" cy="13335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2100">
                <a:solidFill>
                  <a:srgbClr val="191F28"/>
                </a:solidFill>
                <a:latin typeface="Calibri" panose="020F0502020204030204" pitchFamily="34" charset="0"/>
              </a:rPr>
              <a:t>Layer 2: LSTM</a:t>
            </a:r>
          </a:p>
          <a:p>
            <a:pPr algn="ctr"/>
            <a:r>
              <a:rPr lang="en-US" sz="2100">
                <a:solidFill>
                  <a:srgbClr val="191F28"/>
                </a:solidFill>
                <a:latin typeface="Calibri" panose="020F0502020204030204" pitchFamily="34" charset="0"/>
              </a:rPr>
              <a:t>Ordered feature sequence</a:t>
            </a:r>
            <a:endParaRPr lang="en-PH" sz="2100">
              <a:solidFill>
                <a:srgbClr val="191F28"/>
              </a:solidFill>
              <a:latin typeface="Calibri" panose="020F0502020204030204" pitchFamily="34" charset="0"/>
            </a:endParaRPr>
          </a:p>
        </p:txBody>
      </p:sp>
      <p:sp>
        <p:nvSpPr>
          <p:cNvPr id="11" name="Review decision">
            <a:extLst>
              <a:ext uri="{FF2B5EF4-FFF2-40B4-BE49-F238E27FC236}">
                <a16:creationId xmlns:a16="http://schemas.microsoft.com/office/drawing/2014/main" id="{7413A3D3-841E-984E-A4A2-1DE4FE91C837}"/>
              </a:ext>
            </a:extLst>
          </p:cNvPr>
          <p:cNvSpPr/>
          <p:nvPr/>
        </p:nvSpPr>
        <p:spPr>
          <a:xfrm>
            <a:off x="9588500" y="4279900"/>
            <a:ext cx="2070100" cy="1231900"/>
          </a:xfrm>
          <a:prstGeom prst="rect">
            <a:avLst/>
          </a:prstGeom>
          <a:solidFill>
            <a:srgbClr val="ECF6EF"/>
          </a:solidFill>
          <a:ln>
            <a:solidFill>
              <a:srgbClr val="36588C"/>
            </a:solidFill>
          </a:ln>
        </p:spPr>
        <p:style>
          <a:lnRef idx="2">
            <a:schemeClr val="accent1">
              <a:shade val="15000"/>
            </a:schemeClr>
          </a:lnRef>
          <a:fillRef idx="1">
            <a:schemeClr val="accent1"/>
          </a:fillRef>
          <a:effectRef idx="0">
            <a:schemeClr val="accent1"/>
          </a:effectRef>
          <a:fontRef idx="minor">
            <a:schemeClr val="lt1"/>
          </a:fontRef>
        </p:style>
        <p:txBody>
          <a:bodyPr lIns="101600" tIns="63500" rIns="101600" bIns="63500" rtlCol="0" anchor="ctr"/>
          <a:lstStyle/>
          <a:p>
            <a:pPr algn="ctr"/>
            <a:r>
              <a:rPr lang="en-US" sz="1800">
                <a:solidFill>
                  <a:srgbClr val="191F28"/>
                </a:solidFill>
                <a:latin typeface="Calibri" panose="020F0502020204030204" pitchFamily="34" charset="0"/>
              </a:rPr>
              <a:t>Conversation score</a:t>
            </a:r>
          </a:p>
          <a:p>
            <a:pPr algn="ctr"/>
            <a:r>
              <a:rPr lang="en-US" sz="1800">
                <a:solidFill>
                  <a:srgbClr val="191F28"/>
                </a:solidFill>
                <a:latin typeface="Calibri" panose="020F0502020204030204" pitchFamily="34" charset="0"/>
              </a:rPr>
              <a:t>Frozen threshold</a:t>
            </a:r>
          </a:p>
          <a:p>
            <a:pPr algn="ctr"/>
            <a:r>
              <a:rPr lang="en-US" sz="1800">
                <a:solidFill>
                  <a:srgbClr val="191F28"/>
                </a:solidFill>
                <a:latin typeface="Calibri" panose="020F0502020204030204" pitchFamily="34" charset="0"/>
              </a:rPr>
              <a:t>Human review</a:t>
            </a:r>
            <a:endParaRPr lang="en-PH" sz="2000">
              <a:solidFill>
                <a:srgbClr val="191F28"/>
              </a:solidFill>
              <a:latin typeface="Calibri" panose="020F0502020204030204" pitchFamily="34" charset="0"/>
            </a:endParaRPr>
          </a:p>
        </p:txBody>
      </p:sp>
      <p:cxnSp>
        <p:nvCxnSpPr>
          <p:cNvPr id="12" name="Straight Connector 11">
            <a:extLst>
              <a:ext uri="{FF2B5EF4-FFF2-40B4-BE49-F238E27FC236}">
                <a16:creationId xmlns:a16="http://schemas.microsoft.com/office/drawing/2014/main" id="{2EAA3094-7942-EA33-2570-2EB75C687840}"/>
              </a:ext>
            </a:extLst>
          </p:cNvPr>
          <p:cNvCxnSpPr/>
          <p:nvPr/>
        </p:nvCxnSpPr>
        <p:spPr>
          <a:xfrm>
            <a:off x="2641600" y="28448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5489064-505C-13B2-96F1-5EDB044C3D54}"/>
              </a:ext>
            </a:extLst>
          </p:cNvPr>
          <p:cNvCxnSpPr/>
          <p:nvPr/>
        </p:nvCxnSpPr>
        <p:spPr>
          <a:xfrm flipV="1">
            <a:off x="2882900" y="2552700"/>
            <a:ext cx="0" cy="2921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F3CA9F5-FB78-DA19-424A-82EC903F4FD4}"/>
              </a:ext>
            </a:extLst>
          </p:cNvPr>
          <p:cNvCxnSpPr/>
          <p:nvPr/>
        </p:nvCxnSpPr>
        <p:spPr>
          <a:xfrm>
            <a:off x="2882900" y="25527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F33E58E-F8FF-8BE9-7353-223A7419862C}"/>
              </a:ext>
            </a:extLst>
          </p:cNvPr>
          <p:cNvCxnSpPr/>
          <p:nvPr/>
        </p:nvCxnSpPr>
        <p:spPr>
          <a:xfrm>
            <a:off x="2641600" y="3530600"/>
            <a:ext cx="2413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A13E255-0385-DF91-BC35-7E014906115D}"/>
              </a:ext>
            </a:extLst>
          </p:cNvPr>
          <p:cNvCxnSpPr/>
          <p:nvPr/>
        </p:nvCxnSpPr>
        <p:spPr>
          <a:xfrm>
            <a:off x="2882900" y="3530600"/>
            <a:ext cx="0" cy="13589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C7AA78B-BD31-2EE1-CB06-98438A006AC9}"/>
              </a:ext>
            </a:extLst>
          </p:cNvPr>
          <p:cNvCxnSpPr/>
          <p:nvPr/>
        </p:nvCxnSpPr>
        <p:spPr>
          <a:xfrm>
            <a:off x="2882900" y="4889500"/>
            <a:ext cx="228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7E2C3102-0168-249B-BD5F-A675CA2D54F1}"/>
              </a:ext>
            </a:extLst>
          </p:cNvPr>
          <p:cNvCxnSpPr/>
          <p:nvPr/>
        </p:nvCxnSpPr>
        <p:spPr>
          <a:xfrm>
            <a:off x="5867400" y="25527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52C9E530-0149-E4D0-3980-60D516A6612F}"/>
              </a:ext>
            </a:extLst>
          </p:cNvPr>
          <p:cNvCxnSpPr/>
          <p:nvPr/>
        </p:nvCxnSpPr>
        <p:spPr>
          <a:xfrm>
            <a:off x="5867400" y="4889500"/>
            <a:ext cx="4826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2FC4FD5-A87E-B20E-E14A-DD30449C7DC3}"/>
              </a:ext>
            </a:extLst>
          </p:cNvPr>
          <p:cNvCxnSpPr/>
          <p:nvPr/>
        </p:nvCxnSpPr>
        <p:spPr>
          <a:xfrm>
            <a:off x="9131300" y="2552700"/>
            <a:ext cx="457200" cy="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9C9AB3E0-5991-5352-E474-387DEA8287BC}"/>
              </a:ext>
            </a:extLst>
          </p:cNvPr>
          <p:cNvCxnSpPr/>
          <p:nvPr/>
        </p:nvCxnSpPr>
        <p:spPr>
          <a:xfrm>
            <a:off x="10617200" y="3276600"/>
            <a:ext cx="0" cy="1003300"/>
          </a:xfrm>
          <a:prstGeom prst="line">
            <a:avLst/>
          </a:prstGeom>
          <a:ln w="25400">
            <a:solidFill>
              <a:srgbClr val="36588C"/>
            </a:solidFill>
            <a:tailEnd type="arrow"/>
          </a:ln>
        </p:spPr>
        <p:style>
          <a:lnRef idx="1">
            <a:schemeClr val="accent1"/>
          </a:lnRef>
          <a:fillRef idx="0">
            <a:schemeClr val="accent1"/>
          </a:fillRef>
          <a:effectRef idx="0">
            <a:schemeClr val="accent1"/>
          </a:effectRef>
          <a:fontRef idx="minor">
            <a:schemeClr val="tx1"/>
          </a:fontRef>
        </p:style>
      </p:cxnSp>
      <p:sp>
        <p:nvSpPr>
          <p:cNvPr id="22" name="Architecture summary">
            <a:extLst>
              <a:ext uri="{FF2B5EF4-FFF2-40B4-BE49-F238E27FC236}">
                <a16:creationId xmlns:a16="http://schemas.microsoft.com/office/drawing/2014/main" id="{19E48753-796B-3305-A838-5BD816C00558}"/>
              </a:ext>
            </a:extLst>
          </p:cNvPr>
          <p:cNvSpPr txBox="1"/>
          <p:nvPr/>
        </p:nvSpPr>
        <p:spPr>
          <a:xfrm>
            <a:off x="812800" y="5854700"/>
            <a:ext cx="10541000" cy="533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Each new turn updates the feature sequence and the conversation score.</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252218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88E86-068B-D8BF-990F-DD00E04F07CA}"/>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Data Preparation and Controls</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BEDF5418-4BDF-08F8-4432-E5ACBFE37D3A}"/>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0374AA72-95E7-9C0D-7715-0792530F6F50}"/>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Keep valid, ordered conversations with two distinct speakers.</a:t>
            </a:r>
          </a:p>
          <a:p>
            <a:pPr>
              <a:spcAft>
                <a:spcPts val="1500"/>
              </a:spcAft>
            </a:pPr>
            <a:r>
              <a:rPr lang="en-US" sz="2600">
                <a:solidFill>
                  <a:srgbClr val="191F28"/>
                </a:solidFill>
                <a:latin typeface="Calibri Light" panose="020F0302020204030204" pitchFamily="34" charset="0"/>
              </a:rPr>
              <a:t>Build the benign reference and keyword list from training data.</a:t>
            </a:r>
          </a:p>
          <a:p>
            <a:pPr>
              <a:spcAft>
                <a:spcPts val="1500"/>
              </a:spcAft>
            </a:pPr>
            <a:r>
              <a:rPr lang="en-US" sz="2600">
                <a:solidFill>
                  <a:srgbClr val="191F28"/>
                </a:solidFill>
                <a:latin typeface="Calibri Light" panose="020F0302020204030204" pitchFamily="34" charset="0"/>
              </a:rPr>
              <a:t>Use validation to choose checkpoints, settings, and thresholds.</a:t>
            </a:r>
          </a:p>
          <a:p>
            <a:pPr>
              <a:spcAft>
                <a:spcPts val="1500"/>
              </a:spcAft>
            </a:pPr>
            <a:r>
              <a:rPr lang="en-US" sz="2600">
                <a:solidFill>
                  <a:srgbClr val="191F28"/>
                </a:solidFill>
                <a:latin typeface="Calibri Light" panose="020F0302020204030204" pitchFamily="34" charset="0"/>
              </a:rPr>
              <a:t>Freeze these choices before the final test.</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483455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Why Authors Stay in One Partition</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A567BBC8-0432-20E4-9AD0-B37EC311679D}"/>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700">
                <a:solidFill>
                  <a:srgbClr val="191F28"/>
                </a:solidFill>
                <a:latin typeface="Calibri Light" panose="020F0302020204030204" pitchFamily="34" charset="0"/>
              </a:rPr>
              <a:t>Conversations that share an author belong to one connected group.</a:t>
            </a:r>
          </a:p>
          <a:p>
            <a:pPr>
              <a:spcAft>
                <a:spcPts val="1500"/>
              </a:spcAft>
            </a:pPr>
            <a:r>
              <a:rPr lang="en-US" sz="2700">
                <a:solidFill>
                  <a:srgbClr val="191F28"/>
                </a:solidFill>
                <a:latin typeface="Calibri Light" panose="020F0302020204030204" pitchFamily="34" charset="0"/>
              </a:rPr>
              <a:t>Each entire group goes into training, validation, or test.</a:t>
            </a:r>
          </a:p>
          <a:p>
            <a:pPr>
              <a:spcAft>
                <a:spcPts val="1500"/>
              </a:spcAft>
            </a:pPr>
            <a:r>
              <a:rPr lang="en-US" sz="2700">
                <a:solidFill>
                  <a:srgbClr val="191F28"/>
                </a:solidFill>
                <a:latin typeface="Calibri Light" panose="020F0302020204030204" pitchFamily="34" charset="0"/>
              </a:rPr>
              <a:t>This prevents the model from meeting the same author across splits.</a:t>
            </a:r>
          </a:p>
          <a:p>
            <a:pPr>
              <a:spcAft>
                <a:spcPts val="1500"/>
              </a:spcAft>
            </a:pPr>
            <a:r>
              <a:rPr lang="en-US" sz="2700">
                <a:solidFill>
                  <a:srgbClr val="191F28"/>
                </a:solidFill>
                <a:latin typeface="Calibri Light" panose="020F0302020204030204" pitchFamily="34" charset="0"/>
              </a:rPr>
              <a:t>The final test contains unseen author groups.</a:t>
            </a:r>
            <a:endParaRPr lang="en-PH" sz="27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852368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AC6D1-29B6-538B-7D25-7C5544CC89C0}"/>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4000">
                <a:solidFill>
                  <a:schemeClr val="accent1">
                    <a:lumMod val="75000"/>
                  </a:schemeClr>
                </a:solidFill>
              </a:rPr>
              <a:t>Models Compared Fairly</a:t>
            </a:r>
            <a:endParaRPr sz="4000">
              <a:solidFill>
                <a:schemeClr val="accent1">
                  <a:lumMod val="75000"/>
                </a:schemeClr>
              </a:solidFill>
            </a:endParaRPr>
          </a:p>
        </p:txBody>
      </p:sp>
      <p:sp>
        <p:nvSpPr>
          <p:cNvPr id="7" name="Content Placeholder 6">
            <a:extLst>
              <a:ext uri="{FF2B5EF4-FFF2-40B4-BE49-F238E27FC236}">
                <a16:creationId xmlns:a16="http://schemas.microsoft.com/office/drawing/2014/main" id="{F2C7DB05-330E-CFEE-9864-80C9E88E5EAE}"/>
              </a:ext>
            </a:extLst>
          </p:cNvPr>
          <p:cNvSpPr>
            <a:spLocks noGrp="1"/>
          </p:cNvSpPr>
          <p:nvPr>
            <p:ph idx="1"/>
          </p:nvPr>
        </p:nvSpPr>
        <p:spPr>
          <a:xfrm>
            <a:off x="838200" y="1825624"/>
            <a:ext cx="10417629" cy="4812919"/>
          </a:xfrm>
        </p:spPr>
        <p:txBody>
          <a:bodyPr wrap="square">
            <a:noAutofit/>
          </a:bodyPr>
          <a:lstStyle/>
          <a:p>
            <a:pPr>
              <a:lnSpc>
                <a:spcPct val="100000"/>
              </a:lnSpc>
              <a:spcAft>
                <a:spcPts val="700"/>
              </a:spcAft>
            </a:pPr>
            <a:r>
              <a:rPr lang="en-US" sz="2400" b="1">
                <a:latin typeface="Calibri Light" panose="020F0302020204030204" pitchFamily="34" charset="0"/>
              </a:rPr>
              <a:t>Primary LSTM: chronological sequence of seven trajectory features.</a:t>
            </a:r>
          </a:p>
          <a:p>
            <a:pPr>
              <a:lnSpc>
                <a:spcPct val="100000"/>
              </a:lnSpc>
              <a:spcAft>
                <a:spcPts val="700"/>
              </a:spcAft>
            </a:pPr>
            <a:r>
              <a:rPr lang="en-US" sz="2400" b="1">
                <a:latin typeface="Calibri Light" panose="020F0302020204030204" pitchFamily="34" charset="0"/>
              </a:rPr>
              <a:t>Weighted scorer: the same seven inputs combined statically.</a:t>
            </a:r>
          </a:p>
          <a:p>
            <a:pPr>
              <a:lnSpc>
                <a:spcPct val="100000"/>
              </a:lnSpc>
              <a:spcAft>
                <a:spcPts val="700"/>
              </a:spcAft>
            </a:pPr>
            <a:r>
              <a:rPr lang="en-US" sz="2400" b="1">
                <a:latin typeface="Calibri Light" panose="020F0302020204030204" pitchFamily="34" charset="0"/>
              </a:rPr>
              <a:t>Additional baselines: keyword rule and maximum Layer 1 score.</a:t>
            </a:r>
          </a:p>
          <a:p>
            <a:pPr>
              <a:lnSpc>
                <a:spcPct val="100000"/>
              </a:lnSpc>
              <a:spcAft>
                <a:spcPts val="700"/>
              </a:spcAft>
            </a:pPr>
            <a:r>
              <a:rPr lang="en-US" sz="2400" b="1">
                <a:latin typeface="Calibri Light" panose="020F0302020204030204" pitchFamily="34" charset="0"/>
              </a:rPr>
              <a:t>Enhanced LSTM: seven features plus DistilBERT embeddings.</a:t>
            </a:r>
          </a:p>
          <a:p>
            <a:pPr>
              <a:lnSpc>
                <a:spcPct val="100000"/>
              </a:lnSpc>
              <a:spcAft>
                <a:spcPts val="700"/>
              </a:spcAft>
            </a:pPr>
            <a:r>
              <a:rPr lang="en-US" sz="2400" b="1">
                <a:latin typeface="Calibri Light" panose="020F0302020204030204" pitchFamily="34" charset="0"/>
              </a:rPr>
              <a:t>The matched comparison isolates the value of recurrent aggregation.</a:t>
            </a:r>
            <a:endParaRPr sz="2400">
              <a:latin typeface="Calibri Light" panose="020F0302020204030204" pitchFamily="34" charset="0"/>
            </a:endParaRPr>
          </a:p>
        </p:txBody>
      </p:sp>
    </p:spTree>
    <p:extLst>
      <p:ext uri="{BB962C8B-B14F-4D97-AF65-F5344CB8AC3E}">
        <p14:creationId xmlns:p14="http://schemas.microsoft.com/office/powerpoint/2010/main" val="364987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FFB7C-5425-F0E1-52E3-30955A4CD23A}"/>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Evaluation Measures</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415EB77D-B6A6-291F-986F-D21666E5B3E1}"/>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B376781B-D3B2-B1F8-A2FC-6BA573A67BD2}"/>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PR-AUC measures the precision-recall tradeoff across thresholds.</a:t>
            </a:r>
          </a:p>
          <a:p>
            <a:pPr>
              <a:spcAft>
                <a:spcPts val="1500"/>
              </a:spcAft>
            </a:pPr>
            <a:r>
              <a:rPr lang="en-US" sz="2500">
                <a:solidFill>
                  <a:srgbClr val="191F28"/>
                </a:solidFill>
                <a:latin typeface="Calibri Light" panose="020F0302020204030204" pitchFamily="34" charset="0"/>
              </a:rPr>
              <a:t>Precision measures how many flagged conversations are positive.</a:t>
            </a:r>
          </a:p>
          <a:p>
            <a:pPr>
              <a:spcAft>
                <a:spcPts val="1500"/>
              </a:spcAft>
            </a:pPr>
            <a:r>
              <a:rPr lang="en-US" sz="2500">
                <a:solidFill>
                  <a:srgbClr val="191F28"/>
                </a:solidFill>
                <a:latin typeface="Calibri Light" panose="020F0302020204030204" pitchFamily="34" charset="0"/>
              </a:rPr>
              <a:t>Recall measures how many positive conversations are found.</a:t>
            </a:r>
          </a:p>
          <a:p>
            <a:pPr>
              <a:spcAft>
                <a:spcPts val="1500"/>
              </a:spcAft>
            </a:pPr>
            <a:r>
              <a:rPr lang="en-US" sz="2500">
                <a:solidFill>
                  <a:srgbClr val="191F28"/>
                </a:solidFill>
                <a:latin typeface="Calibri Light" panose="020F0302020204030204" pitchFamily="34" charset="0"/>
              </a:rPr>
              <a:t>False positives and false negatives show the actual error counts.</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1984140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Why We Use F0.5</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B2882D18-A969-99A5-D5BF-EA2B673DD92F}"/>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F0.5 gives more weight to precision when choosing the threshold.</a:t>
            </a:r>
          </a:p>
          <a:p>
            <a:pPr>
              <a:spcAft>
                <a:spcPts val="1500"/>
              </a:spcAft>
            </a:pPr>
            <a:r>
              <a:rPr lang="en-US" sz="2600">
                <a:solidFill>
                  <a:srgbClr val="191F28"/>
                </a:solidFill>
                <a:latin typeface="Calibri Light" panose="020F0302020204030204" pitchFamily="34" charset="0"/>
              </a:rPr>
              <a:t>False alerts consume moderator review capacity.</a:t>
            </a:r>
          </a:p>
          <a:p>
            <a:pPr>
              <a:spcAft>
                <a:spcPts val="1500"/>
              </a:spcAft>
            </a:pPr>
            <a:r>
              <a:rPr lang="en-US" sz="2600">
                <a:solidFill>
                  <a:srgbClr val="191F28"/>
                </a:solidFill>
                <a:latin typeface="Calibri Light" panose="020F0302020204030204" pitchFamily="34" charset="0"/>
              </a:rPr>
              <a:t>Recall and missed cases still measure the detection objective.</a:t>
            </a:r>
          </a:p>
          <a:p>
            <a:pPr>
              <a:spcAft>
                <a:spcPts val="1500"/>
              </a:spcAft>
            </a:pPr>
            <a:r>
              <a:rPr lang="en-US" sz="2600">
                <a:solidFill>
                  <a:srgbClr val="191F28"/>
                </a:solidFill>
                <a:latin typeface="Calibri Light" panose="020F0302020204030204" pitchFamily="34" charset="0"/>
              </a:rPr>
              <a:t>Result: 85.11% precision, 90.91% recall, and four missed cases.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5035564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0C014-A5FB-697C-FD43-5C83E2EDF2EF}"/>
              </a:ext>
            </a:extLst>
          </p:cNvPr>
          <p:cNvSpPr>
            <a:spLocks noGrp="1"/>
          </p:cNvSpPr>
          <p:nvPr>
            <p:ph type="title"/>
          </p:nvPr>
        </p:nvSpPr>
        <p:spPr/>
        <p:txBody>
          <a:bodyPr>
            <a:normAutofit/>
          </a:bodyPr>
          <a:lstStyle/>
          <a:p>
            <a:r>
              <a:rPr lang="en-PH" sz="5600"/>
              <a:t>Results and Conclusions</a:t>
            </a:r>
            <a:endParaRPr sz="5600"/>
          </a:p>
        </p:txBody>
      </p:sp>
      <p:sp>
        <p:nvSpPr>
          <p:cNvPr id="3" name="Text Placeholder 2">
            <a:extLst>
              <a:ext uri="{FF2B5EF4-FFF2-40B4-BE49-F238E27FC236}">
                <a16:creationId xmlns:a16="http://schemas.microsoft.com/office/drawing/2014/main" id="{DAAFFF55-7B74-69F4-9D7B-0BC8CB569A04}"/>
              </a:ext>
            </a:extLst>
          </p:cNvPr>
          <p:cNvSpPr>
            <a:spLocks noGrp="1"/>
          </p:cNvSpPr>
          <p:nvPr>
            <p:ph type="body" idx="1"/>
          </p:nvPr>
        </p:nvSpPr>
        <p:spPr/>
        <p:txBody>
          <a:bodyPr/>
          <a:lstStyle/>
          <a:p>
            <a:r>
              <a:rPr lang="en-US"/>
              <a:t>What the frozen held-out evaluation demonstrated</a:t>
            </a:r>
            <a:endParaRPr/>
          </a:p>
        </p:txBody>
      </p:sp>
    </p:spTree>
    <p:extLst>
      <p:ext uri="{BB962C8B-B14F-4D97-AF65-F5344CB8AC3E}">
        <p14:creationId xmlns:p14="http://schemas.microsoft.com/office/powerpoint/2010/main" val="10809800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4DCEE2-687D-86E2-A4AC-7703E81DFB2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800">
                <a:solidFill>
                  <a:schemeClr val="accent1">
                    <a:lumMod val="75000"/>
                  </a:schemeClr>
                </a:solidFill>
              </a:rPr>
              <a:t>Frozen Experimental Setup</a:t>
            </a:r>
            <a:endParaRPr sz="3800">
              <a:solidFill>
                <a:schemeClr val="accent1">
                  <a:lumMod val="75000"/>
                </a:schemeClr>
              </a:solidFill>
            </a:endParaRPr>
          </a:p>
        </p:txBody>
      </p:sp>
      <p:sp>
        <p:nvSpPr>
          <p:cNvPr id="7" name="Content Placeholder 6">
            <a:extLst>
              <a:ext uri="{FF2B5EF4-FFF2-40B4-BE49-F238E27FC236}">
                <a16:creationId xmlns:a16="http://schemas.microsoft.com/office/drawing/2014/main" id="{B91042CF-BDB0-7449-206F-A9449A7E0216}"/>
              </a:ext>
            </a:extLst>
          </p:cNvPr>
          <p:cNvSpPr>
            <a:spLocks noGrp="1"/>
          </p:cNvSpPr>
          <p:nvPr>
            <p:ph idx="1"/>
          </p:nvPr>
        </p:nvSpPr>
        <p:spPr>
          <a:xfrm>
            <a:off x="838200" y="1825624"/>
            <a:ext cx="10417629" cy="4812919"/>
          </a:xfrm>
        </p:spPr>
        <p:txBody>
          <a:bodyPr wrap="square">
            <a:noAutofit/>
          </a:bodyPr>
          <a:lstStyle/>
          <a:p>
            <a:pPr marL="34" indent="-20">
              <a:lnSpc>
                <a:spcPct val="100000"/>
              </a:lnSpc>
              <a:spcAft>
                <a:spcPts val="700"/>
              </a:spcAft>
              <a:buChar char="•"/>
            </a:pPr>
            <a:r>
              <a:rPr lang="en-US" sz="2600" b="1">
                <a:latin typeface="Calibri Light" panose="020F0302020204030204" pitchFamily="34" charset="0"/>
              </a:rPr>
              <a:t>Training: 13,031 conversations - 319 positive.</a:t>
            </a:r>
          </a:p>
          <a:p>
            <a:pPr marL="34" indent="-20">
              <a:lnSpc>
                <a:spcPct val="100000"/>
              </a:lnSpc>
              <a:spcAft>
                <a:spcPts val="700"/>
              </a:spcAft>
              <a:buChar char="•"/>
            </a:pPr>
            <a:r>
              <a:rPr lang="en-US" sz="2600" b="1">
                <a:latin typeface="Calibri Light" panose="020F0302020204030204" pitchFamily="34" charset="0"/>
              </a:rPr>
              <a:t>Validation: 1,827 conversations - 49 positive.</a:t>
            </a:r>
          </a:p>
          <a:p>
            <a:pPr marL="34" indent="-20">
              <a:lnSpc>
                <a:spcPct val="100000"/>
              </a:lnSpc>
              <a:spcAft>
                <a:spcPts val="700"/>
              </a:spcAft>
              <a:buChar char="•"/>
            </a:pPr>
            <a:r>
              <a:rPr lang="en-US" sz="2600" b="1">
                <a:latin typeface="Calibri Light" panose="020F0302020204030204" pitchFamily="34" charset="0"/>
              </a:rPr>
              <a:t>Held-out test: 1,862 conversations - 44 positive.</a:t>
            </a:r>
          </a:p>
          <a:p>
            <a:pPr marL="34" indent="-20">
              <a:lnSpc>
                <a:spcPct val="100000"/>
              </a:lnSpc>
              <a:spcAft>
                <a:spcPts val="700"/>
              </a:spcAft>
              <a:buChar char="•"/>
            </a:pPr>
            <a:r>
              <a:rPr lang="en-US" sz="2600" b="1">
                <a:latin typeface="Calibri Light" panose="020F0302020204030204" pitchFamily="34" charset="0"/>
              </a:rPr>
              <a:t>Zero author overlap; validation-only selection; one-time final evaluation.</a:t>
            </a:r>
            <a:endParaRPr sz="2600" b="0" dirty="0">
              <a:latin typeface="Calibri Light" panose="020F0302020204030204" pitchFamily="34" charset="0"/>
            </a:endParaRPr>
          </a:p>
        </p:txBody>
      </p:sp>
    </p:spTree>
    <p:extLst>
      <p:ext uri="{BB962C8B-B14F-4D97-AF65-F5344CB8AC3E}">
        <p14:creationId xmlns:p14="http://schemas.microsoft.com/office/powerpoint/2010/main" val="2325337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9D8BC-1F83-AEE8-FB1E-A56E1DC9E5A3}"/>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Held-Out Results</a:t>
            </a:r>
            <a:endParaRPr sz="3400">
              <a:solidFill>
                <a:schemeClr val="accent1">
                  <a:lumMod val="75000"/>
                </a:schemeClr>
              </a:solidFill>
            </a:endParaRPr>
          </a:p>
        </p:txBody>
      </p:sp>
      <p:graphicFrame>
        <p:nvGraphicFramePr>
          <p:cNvPr id="5" name="Results Table">
            <a:extLst>
              <a:ext uri="{FF2B5EF4-FFF2-40B4-BE49-F238E27FC236}">
                <a16:creationId xmlns:a16="http://schemas.microsoft.com/office/drawing/2014/main" id="{C856E440-A226-86DE-A51C-5161681A5DFD}"/>
              </a:ext>
            </a:extLst>
          </p:cNvPr>
          <p:cNvGraphicFramePr>
            <a:graphicFrameLocks noGrp="1"/>
          </p:cNvGraphicFramePr>
          <p:nvPr>
            <p:ph idx="1"/>
            <p:extLst>
              <p:ext uri="{D42A27DB-BD31-4B8C-83A1-F6EECF244321}">
                <p14:modId xmlns:p14="http://schemas.microsoft.com/office/powerpoint/2010/main" val="673736008"/>
              </p:ext>
            </p:extLst>
          </p:nvPr>
        </p:nvGraphicFramePr>
        <p:xfrm>
          <a:off x="660399" y="1651000"/>
          <a:ext cx="10871200" cy="3708402"/>
        </p:xfrm>
        <a:graphic>
          <a:graphicData uri="http://schemas.openxmlformats.org/drawingml/2006/table">
            <a:tbl>
              <a:tblPr firstRow="1" bandRow="1">
                <a:tableStyleId>{5C22544A-7EE6-4342-B048-85BDC9FD1C3A}</a:tableStyleId>
              </a:tblPr>
              <a:tblGrid>
                <a:gridCol w="2997200">
                  <a:extLst>
                    <a:ext uri="{9D8B030D-6E8A-4147-A177-3AD203B41FA5}">
                      <a16:colId xmlns:a16="http://schemas.microsoft.com/office/drawing/2014/main" val="2060636180"/>
                    </a:ext>
                  </a:extLst>
                </a:gridCol>
                <a:gridCol w="1524000">
                  <a:extLst>
                    <a:ext uri="{9D8B030D-6E8A-4147-A177-3AD203B41FA5}">
                      <a16:colId xmlns:a16="http://schemas.microsoft.com/office/drawing/2014/main" val="4199649200"/>
                    </a:ext>
                  </a:extLst>
                </a:gridCol>
                <a:gridCol w="1397000">
                  <a:extLst>
                    <a:ext uri="{9D8B030D-6E8A-4147-A177-3AD203B41FA5}">
                      <a16:colId xmlns:a16="http://schemas.microsoft.com/office/drawing/2014/main" val="3668404456"/>
                    </a:ext>
                  </a:extLst>
                </a:gridCol>
                <a:gridCol w="1524000">
                  <a:extLst>
                    <a:ext uri="{9D8B030D-6E8A-4147-A177-3AD203B41FA5}">
                      <a16:colId xmlns:a16="http://schemas.microsoft.com/office/drawing/2014/main" val="1410816486"/>
                    </a:ext>
                  </a:extLst>
                </a:gridCol>
                <a:gridCol w="1397000">
                  <a:extLst>
                    <a:ext uri="{9D8B030D-6E8A-4147-A177-3AD203B41FA5}">
                      <a16:colId xmlns:a16="http://schemas.microsoft.com/office/drawing/2014/main" val="2794559133"/>
                    </a:ext>
                  </a:extLst>
                </a:gridCol>
                <a:gridCol w="1016000">
                  <a:extLst>
                    <a:ext uri="{9D8B030D-6E8A-4147-A177-3AD203B41FA5}">
                      <a16:colId xmlns:a16="http://schemas.microsoft.com/office/drawing/2014/main" val="352518138"/>
                    </a:ext>
                  </a:extLst>
                </a:gridCol>
                <a:gridCol w="1016000">
                  <a:extLst>
                    <a:ext uri="{9D8B030D-6E8A-4147-A177-3AD203B41FA5}">
                      <a16:colId xmlns:a16="http://schemas.microsoft.com/office/drawing/2014/main" val="194572329"/>
                    </a:ext>
                  </a:extLst>
                </a:gridCol>
              </a:tblGrid>
              <a:tr h="618067">
                <a:tc>
                  <a:txBody>
                    <a:bodyPr/>
                    <a:lstStyle/>
                    <a:p>
                      <a:pPr algn="l"/>
                      <a:r>
                        <a:rPr lang="en-PH" sz="1600" b="1">
                          <a:solidFill>
                            <a:srgbClr val="000000"/>
                          </a:solidFill>
                          <a:latin typeface="Calibri" panose="020F0502020204030204" pitchFamily="34" charset="0"/>
                        </a:rPr>
                        <a:t>Method</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PR-AUC</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F0.5</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Precision</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Recall</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FP</a:t>
                      </a:r>
                    </a:p>
                  </a:txBody>
                  <a:tcPr marL="50800" marR="50800" marT="38100" marB="38100" anchor="ctr">
                    <a:solidFill>
                      <a:srgbClr val="E1E7EF"/>
                    </a:solidFill>
                  </a:tcPr>
                </a:tc>
                <a:tc>
                  <a:txBody>
                    <a:bodyPr/>
                    <a:lstStyle/>
                    <a:p>
                      <a:pPr algn="ctr"/>
                      <a:r>
                        <a:rPr lang="en-PH" sz="1600" b="1">
                          <a:solidFill>
                            <a:srgbClr val="000000"/>
                          </a:solidFill>
                          <a:latin typeface="Calibri" panose="020F0502020204030204" pitchFamily="34" charset="0"/>
                        </a:rPr>
                        <a:t>FN</a:t>
                      </a:r>
                    </a:p>
                  </a:txBody>
                  <a:tcPr marL="50800" marR="50800" marT="38100" marB="38100" anchor="ctr">
                    <a:solidFill>
                      <a:srgbClr val="E1E7EF"/>
                    </a:solidFill>
                  </a:tcPr>
                </a:tc>
                <a:extLst>
                  <a:ext uri="{0D108BD9-81ED-4DB2-BD59-A6C34878D82A}">
                    <a16:rowId xmlns:a16="http://schemas.microsoft.com/office/drawing/2014/main" val="936655367"/>
                  </a:ext>
                </a:extLst>
              </a:tr>
              <a:tr h="618067">
                <a:tc>
                  <a:txBody>
                    <a:bodyPr/>
                    <a:lstStyle/>
                    <a:p>
                      <a:pPr algn="l"/>
                      <a:r>
                        <a:rPr lang="en-PH" sz="1600">
                          <a:solidFill>
                            <a:srgbClr val="000000"/>
                          </a:solidFill>
                          <a:latin typeface="Calibri" panose="020F0502020204030204" pitchFamily="34" charset="0"/>
                        </a:rPr>
                        <a:t>Keyword rule</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0.4451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0.6888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0.7105</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0.6136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17</a:t>
                      </a:r>
                    </a:p>
                  </a:txBody>
                  <a:tcPr marL="50800" marR="50800" marT="38100" marB="38100" anchor="ctr">
                    <a:solidFill>
                      <a:srgbClr val="FFFFFF"/>
                    </a:solidFill>
                  </a:tcPr>
                </a:tc>
                <a:extLst>
                  <a:ext uri="{0D108BD9-81ED-4DB2-BD59-A6C34878D82A}">
                    <a16:rowId xmlns:a16="http://schemas.microsoft.com/office/drawing/2014/main" val="3916212824"/>
                  </a:ext>
                </a:extLst>
              </a:tr>
              <a:tr h="618067">
                <a:tc>
                  <a:txBody>
                    <a:bodyPr/>
                    <a:lstStyle/>
                    <a:p>
                      <a:pPr algn="l"/>
                      <a:r>
                        <a:rPr lang="en-PH" sz="1600">
                          <a:solidFill>
                            <a:srgbClr val="000000"/>
                          </a:solidFill>
                          <a:latin typeface="Calibri" panose="020F0502020204030204" pitchFamily="34" charset="0"/>
                        </a:rPr>
                        <a:t>Maximum Layer 1</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0.5523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0.5529</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0.5610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0.5227</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21</a:t>
                      </a:r>
                    </a:p>
                  </a:txBody>
                  <a:tcPr marL="50800" marR="50800" marT="38100" marB="38100" anchor="ctr">
                    <a:solidFill>
                      <a:srgbClr val="FFFFFF"/>
                    </a:solidFill>
                  </a:tcPr>
                </a:tc>
                <a:extLst>
                  <a:ext uri="{0D108BD9-81ED-4DB2-BD59-A6C34878D82A}">
                    <a16:rowId xmlns:a16="http://schemas.microsoft.com/office/drawing/2014/main" val="3868423462"/>
                  </a:ext>
                </a:extLst>
              </a:tr>
              <a:tr h="618067">
                <a:tc>
                  <a:txBody>
                    <a:bodyPr/>
                    <a:lstStyle/>
                    <a:p>
                      <a:pPr algn="l"/>
                      <a:r>
                        <a:rPr lang="en-PH" sz="1600">
                          <a:solidFill>
                            <a:srgbClr val="000000"/>
                          </a:solidFill>
                          <a:latin typeface="Calibri" panose="020F0502020204030204" pitchFamily="34" charset="0"/>
                        </a:rPr>
                        <a:t>Weighted scorer</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0.8050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0.7500</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0.7347</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0.8182</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13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8</a:t>
                      </a:r>
                    </a:p>
                  </a:txBody>
                  <a:tcPr marL="50800" marR="50800" marT="38100" marB="38100" anchor="ctr">
                    <a:solidFill>
                      <a:srgbClr val="FFFFFF"/>
                    </a:solidFill>
                  </a:tcPr>
                </a:tc>
                <a:extLst>
                  <a:ext uri="{0D108BD9-81ED-4DB2-BD59-A6C34878D82A}">
                    <a16:rowId xmlns:a16="http://schemas.microsoft.com/office/drawing/2014/main" val="594079778"/>
                  </a:ext>
                </a:extLst>
              </a:tr>
              <a:tr h="618067">
                <a:tc>
                  <a:txBody>
                    <a:bodyPr/>
                    <a:lstStyle/>
                    <a:p>
                      <a:pPr algn="l"/>
                      <a:r>
                        <a:rPr lang="en-PH" sz="1600" b="1">
                          <a:solidFill>
                            <a:srgbClr val="000000"/>
                          </a:solidFill>
                          <a:latin typeface="Calibri" panose="020F0502020204030204" pitchFamily="34" charset="0"/>
                        </a:rPr>
                        <a:t>Primary trajectory LSTM</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0.9153</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0.8621</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0.8511</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0.9091</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7</a:t>
                      </a:r>
                    </a:p>
                  </a:txBody>
                  <a:tcPr marL="50800" marR="50800" marT="38100" marB="38100" anchor="ctr">
                    <a:solidFill>
                      <a:srgbClr val="E2EFE6"/>
                    </a:solidFill>
                  </a:tcPr>
                </a:tc>
                <a:tc>
                  <a:txBody>
                    <a:bodyPr/>
                    <a:lstStyle/>
                    <a:p>
                      <a:pPr algn="ctr"/>
                      <a:r>
                        <a:rPr lang="en-PH" sz="1600" b="1">
                          <a:solidFill>
                            <a:srgbClr val="000000"/>
                          </a:solidFill>
                          <a:latin typeface="Calibri" panose="020F0502020204030204" pitchFamily="34" charset="0"/>
                        </a:rPr>
                        <a:t>4</a:t>
                      </a:r>
                    </a:p>
                  </a:txBody>
                  <a:tcPr marL="50800" marR="50800" marT="38100" marB="38100" anchor="ctr">
                    <a:solidFill>
                      <a:srgbClr val="E2EFE6"/>
                    </a:solidFill>
                  </a:tcPr>
                </a:tc>
                <a:extLst>
                  <a:ext uri="{0D108BD9-81ED-4DB2-BD59-A6C34878D82A}">
                    <a16:rowId xmlns:a16="http://schemas.microsoft.com/office/drawing/2014/main" val="3528414813"/>
                  </a:ext>
                </a:extLst>
              </a:tr>
              <a:tr h="618067">
                <a:tc>
                  <a:txBody>
                    <a:bodyPr/>
                    <a:lstStyle/>
                    <a:p>
                      <a:pPr algn="l"/>
                      <a:r>
                        <a:rPr lang="en-PH" sz="1600">
                          <a:solidFill>
                            <a:srgbClr val="000000"/>
                          </a:solidFill>
                          <a:latin typeface="Calibri" panose="020F0502020204030204" pitchFamily="34" charset="0"/>
                        </a:rPr>
                        <a:t>Enhanced LSTM</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0.9483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0.8836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0.8723</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0.9318</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6</a:t>
                      </a:r>
                    </a:p>
                  </a:txBody>
                  <a:tcPr marL="50800" marR="50800" marT="38100" marB="38100" anchor="ctr">
                    <a:solidFill>
                      <a:srgbClr val="FFFFFF"/>
                    </a:solidFill>
                  </a:tcPr>
                </a:tc>
                <a:tc>
                  <a:txBody>
                    <a:bodyPr/>
                    <a:lstStyle/>
                    <a:p>
                      <a:pPr algn="ctr"/>
                      <a:r>
                        <a:rPr lang="en-PH" sz="1600">
                          <a:solidFill>
                            <a:srgbClr val="000000"/>
                          </a:solidFill>
                          <a:latin typeface="Calibri" panose="020F0502020204030204" pitchFamily="34" charset="0"/>
                        </a:rPr>
                        <a:t>3</a:t>
                      </a:r>
                    </a:p>
                  </a:txBody>
                  <a:tcPr marL="50800" marR="50800" marT="38100" marB="38100" anchor="ctr">
                    <a:solidFill>
                      <a:srgbClr val="FFFFFF"/>
                    </a:solidFill>
                  </a:tcPr>
                </a:tc>
                <a:extLst>
                  <a:ext uri="{0D108BD9-81ED-4DB2-BD59-A6C34878D82A}">
                    <a16:rowId xmlns:a16="http://schemas.microsoft.com/office/drawing/2014/main" val="2266072408"/>
                  </a:ext>
                </a:extLst>
              </a:tr>
            </a:tbl>
          </a:graphicData>
        </a:graphic>
      </p:graphicFrame>
      <p:sp>
        <p:nvSpPr>
          <p:cNvPr id="8" name="Results Footnote">
            <a:extLst>
              <a:ext uri="{FF2B5EF4-FFF2-40B4-BE49-F238E27FC236}">
                <a16:creationId xmlns:a16="http://schemas.microsoft.com/office/drawing/2014/main" id="{0B2770C0-A40A-B5FB-1DC6-B35CA7D9AE11}"/>
              </a:ext>
            </a:extLst>
          </p:cNvPr>
          <p:cNvSpPr txBox="1"/>
          <p:nvPr/>
        </p:nvSpPr>
        <p:spPr>
          <a:xfrm>
            <a:off x="660400" y="5588000"/>
            <a:ext cx="10871200" cy="353943"/>
          </a:xfrm>
          <a:prstGeom prst="rect">
            <a:avLst/>
          </a:prstGeom>
          <a:noFill/>
        </p:spPr>
        <p:txBody>
          <a:bodyPr vert="horz" rtlCol="0">
            <a:spAutoFit/>
          </a:bodyPr>
          <a:lstStyle/>
          <a:p>
            <a:pPr algn="ctr"/>
            <a:r>
              <a:rPr lang="en-US" sz="1700">
                <a:solidFill>
                  <a:srgbClr val="404040"/>
                </a:solidFill>
                <a:latin typeface="Calibri Light" panose="020F0302020204030204" pitchFamily="34" charset="0"/>
              </a:rPr>
              <a:t>Held-out test: N = 1,862 conversations; 44 positive. Thresholds were frozen on validation.</a:t>
            </a:r>
            <a:endParaRPr lang="en-PH" sz="1700">
              <a:solidFill>
                <a:srgbClr val="404040"/>
              </a:solidFill>
              <a:latin typeface="Calibri Light" panose="020F0302020204030204" pitchFamily="34" charset="0"/>
            </a:endParaRPr>
          </a:p>
        </p:txBody>
      </p:sp>
    </p:spTree>
    <p:extLst>
      <p:ext uri="{BB962C8B-B14F-4D97-AF65-F5344CB8AC3E}">
        <p14:creationId xmlns:p14="http://schemas.microsoft.com/office/powerpoint/2010/main" val="16575400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Detection Performance Across Methods</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Graph interpretation">
            <a:extLst>
              <a:ext uri="{FF2B5EF4-FFF2-40B4-BE49-F238E27FC236}">
                <a16:creationId xmlns:a16="http://schemas.microsoft.com/office/drawing/2014/main" id="{ACFDF581-69AF-0ADA-B1C4-CE5780D68745}"/>
              </a:ext>
            </a:extLst>
          </p:cNvPr>
          <p:cNvSpPr txBox="1"/>
          <p:nvPr/>
        </p:nvSpPr>
        <p:spPr>
          <a:xfrm>
            <a:off x="825500" y="5791200"/>
            <a:ext cx="10414000" cy="736600"/>
          </a:xfrm>
          <a:prstGeom prst="rect">
            <a:avLst/>
          </a:prstGeom>
          <a:noFill/>
        </p:spPr>
        <p:txBody>
          <a:bodyPr vert="horz" wrap="square" lIns="25400" tIns="25400" rIns="25400" bIns="25400" rtlCol="0">
            <a:noAutofit/>
          </a:bodyPr>
          <a:lstStyle/>
          <a:p>
            <a:r>
              <a:rPr lang="en-US" sz="2100">
                <a:solidFill>
                  <a:srgbClr val="191F28"/>
                </a:solidFill>
                <a:latin typeface="Calibri Light" panose="020F0302020204030204" pitchFamily="34" charset="0"/>
              </a:rPr>
              <a:t>Primary comparison: weighted scorer and primary LSTM use the same seven features.</a:t>
            </a:r>
            <a:endParaRPr lang="en-PH" sz="21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32378493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The Primary LSTM Found 40 of 44 Positives</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all interpretation">
            <a:extLst>
              <a:ext uri="{FF2B5EF4-FFF2-40B4-BE49-F238E27FC236}">
                <a16:creationId xmlns:a16="http://schemas.microsoft.com/office/drawing/2014/main" id="{324C0D69-8768-E9AF-4620-98C0F7510561}"/>
              </a:ext>
            </a:extLst>
          </p:cNvPr>
          <p:cNvSpPr txBox="1"/>
          <p:nvPr/>
        </p:nvSpPr>
        <p:spPr>
          <a:xfrm>
            <a:off x="825500" y="5791200"/>
            <a:ext cx="10414000" cy="787400"/>
          </a:xfrm>
          <a:prstGeom prst="rect">
            <a:avLst/>
          </a:prstGeom>
          <a:noFill/>
        </p:spPr>
        <p:txBody>
          <a:bodyPr vert="horz" wrap="square" lIns="25400" tIns="25400" rIns="25400" bIns="25400" rtlCol="0">
            <a:noAutofit/>
          </a:bodyPr>
          <a:lstStyle/>
          <a:p>
            <a:r>
              <a:rPr lang="en-US" sz="2100">
                <a:solidFill>
                  <a:srgbClr val="191F28"/>
                </a:solidFill>
                <a:latin typeface="Calibri Light" panose="020F0302020204030204" pitchFamily="34" charset="0"/>
              </a:rPr>
              <a:t>Detected positives: keyword 27, maximum L1 23, weighted 36, primary 40, enhanced 41.</a:t>
            </a:r>
            <a:endParaRPr lang="en-PH" sz="21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2217882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Fewer Missed Cases and False Alerts</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Error interpretation">
            <a:extLst>
              <a:ext uri="{FF2B5EF4-FFF2-40B4-BE49-F238E27FC236}">
                <a16:creationId xmlns:a16="http://schemas.microsoft.com/office/drawing/2014/main" id="{9C633023-A631-14C6-B7AC-316CD801B7AB}"/>
              </a:ext>
            </a:extLst>
          </p:cNvPr>
          <p:cNvSpPr txBox="1"/>
          <p:nvPr/>
        </p:nvSpPr>
        <p:spPr>
          <a:xfrm>
            <a:off x="825500" y="5791200"/>
            <a:ext cx="10414000" cy="7874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Against weighted scoring: missed cases fell from 8 to 4 and false alerts from 13 to 7.</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140593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598A0-9FA3-ADAE-2623-D2D08491DEAB}"/>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Sequence Modeling Added Value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CB07CC07-9904-E8B6-5924-5744447F0EEC}"/>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8C0E438C-2025-E56C-F494-8D54F4A829C4}"/>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The primary LSTM and weighted scorer use the same seven inputs.</a:t>
            </a:r>
          </a:p>
          <a:p>
            <a:pPr>
              <a:spcAft>
                <a:spcPts val="1500"/>
              </a:spcAft>
            </a:pPr>
            <a:r>
              <a:rPr lang="en-US" sz="2500">
                <a:solidFill>
                  <a:srgbClr val="191F28"/>
                </a:solidFill>
                <a:latin typeface="Calibri Light" panose="020F0302020204030204" pitchFamily="34" charset="0"/>
              </a:rPr>
              <a:t>PR-AUC improvement: +0.1103, with 95% interval [0.0251, 0.2254].</a:t>
            </a:r>
          </a:p>
          <a:p>
            <a:pPr>
              <a:spcAft>
                <a:spcPts val="1500"/>
              </a:spcAft>
            </a:pPr>
            <a:r>
              <a:rPr lang="en-US" sz="2500">
                <a:solidFill>
                  <a:srgbClr val="191F28"/>
                </a:solidFill>
                <a:latin typeface="Calibri Light" panose="020F0302020204030204" pitchFamily="34" charset="0"/>
              </a:rPr>
              <a:t>F0.5 improvement: +0.1121, with 95% interval [0.0194, 0.2336].</a:t>
            </a:r>
          </a:p>
          <a:p>
            <a:pPr>
              <a:spcAft>
                <a:spcPts val="1500"/>
              </a:spcAft>
            </a:pPr>
            <a:r>
              <a:rPr lang="en-US" sz="2500">
                <a:solidFill>
                  <a:srgbClr val="191F28"/>
                </a:solidFill>
                <a:latin typeface="Calibri Light" panose="020F0302020204030204" pitchFamily="34" charset="0"/>
              </a:rPr>
              <a:t>Both intervals stay above zero, supporting the improvement.</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9446447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US" sz="3400">
                <a:solidFill>
                  <a:schemeClr val="accent1">
                    <a:lumMod val="75000"/>
                  </a:schemeClr>
                </a:solidFill>
              </a:rPr>
              <a:t>The Four Missed Conversations Were Short</a:t>
            </a:r>
            <a:endParaRPr sz="3400">
              <a:solidFill>
                <a:schemeClr val="accent1">
                  <a:lumMod val="75000"/>
                </a:schemeClr>
              </a:solidFill>
            </a:endParaRPr>
          </a:p>
        </p:txBody>
      </p:sp>
      <p:graphicFrame>
        <p:nvGraphicFramePr>
          <p:cNvPr id="3" name="Editable results chart"/>
          <p:cNvGraphicFramePr/>
          <p:nvPr/>
        </p:nvGraphicFramePr>
        <p:xfrm>
          <a:off x="787400" y="1841500"/>
          <a:ext cx="10464800" cy="3771900"/>
        </p:xfrm>
        <a:graphic>
          <a:graphicData uri="http://schemas.openxmlformats.org/drawingml/2006/chart">
            <c:chart xmlns:c="http://schemas.openxmlformats.org/drawingml/2006/chart" xmlns:r="http://schemas.openxmlformats.org/officeDocument/2006/relationships" r:id="rId3"/>
          </a:graphicData>
        </a:graphic>
      </p:graphicFrame>
      <p:sp>
        <p:nvSpPr>
          <p:cNvPr id="6" name="Length comparison">
            <a:extLst>
              <a:ext uri="{FF2B5EF4-FFF2-40B4-BE49-F238E27FC236}">
                <a16:creationId xmlns:a16="http://schemas.microsoft.com/office/drawing/2014/main" id="{57C47A18-6EE5-121B-F3C3-8454E0A1E975}"/>
              </a:ext>
            </a:extLst>
          </p:cNvPr>
          <p:cNvSpPr txBox="1"/>
          <p:nvPr/>
        </p:nvSpPr>
        <p:spPr>
          <a:xfrm>
            <a:off x="825500" y="5753100"/>
            <a:ext cx="10414000" cy="850900"/>
          </a:xfrm>
          <a:prstGeom prst="rect">
            <a:avLst/>
          </a:prstGeom>
          <a:noFill/>
        </p:spPr>
        <p:txBody>
          <a:bodyPr vert="horz" wrap="square" lIns="25400" tIns="25400" rIns="25400" bIns="25400" rtlCol="0">
            <a:noAutofit/>
          </a:bodyPr>
          <a:lstStyle/>
          <a:p>
            <a:r>
              <a:rPr lang="en-US" sz="2200">
                <a:solidFill>
                  <a:srgbClr val="191F28"/>
                </a:solidFill>
                <a:latin typeface="Calibri Light" panose="020F0302020204030204" pitchFamily="34" charset="0"/>
              </a:rPr>
              <a:t>Missed cases: 2-26 turns. Correctly detected positives: lower quartile 36, median 62 turns.</a:t>
            </a:r>
            <a:endParaRPr lang="en-PH" sz="22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20179490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D35F6-715A-F097-9D74-51FCC60B8438}"/>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Conclusions by Research Objective</a:t>
            </a:r>
            <a:endParaRPr sz="3400">
              <a:solidFill>
                <a:schemeClr val="accent1">
                  <a:lumMod val="75000"/>
                </a:schemeClr>
              </a:solidFill>
            </a:endParaRPr>
          </a:p>
        </p:txBody>
      </p:sp>
      <p:sp>
        <p:nvSpPr>
          <p:cNvPr id="4" name="Content Placeholder 3">
            <a:extLst>
              <a:ext uri="{FF2B5EF4-FFF2-40B4-BE49-F238E27FC236}">
                <a16:creationId xmlns:a16="http://schemas.microsoft.com/office/drawing/2014/main" id="{9451E37B-51E5-FF13-489D-A280F0F4FFEC}"/>
              </a:ext>
            </a:extLst>
          </p:cNvPr>
          <p:cNvSpPr>
            <a:spLocks noGrp="1"/>
          </p:cNvSpPr>
          <p:nvPr>
            <p:ph idx="1"/>
          </p:nvPr>
        </p:nvSpPr>
        <p:spPr/>
        <p:txBody>
          <a:bodyPr/>
          <a:lstStyle/>
          <a:p>
            <a:endParaRPr lang="en-PH"/>
          </a:p>
        </p:txBody>
      </p:sp>
      <p:sp>
        <p:nvSpPr>
          <p:cNvPr id="5" name="Panel body">
            <a:extLst>
              <a:ext uri="{FF2B5EF4-FFF2-40B4-BE49-F238E27FC236}">
                <a16:creationId xmlns:a16="http://schemas.microsoft.com/office/drawing/2014/main" id="{CC787A8C-5C08-4D1C-7970-C14948D8AEED}"/>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500">
                <a:solidFill>
                  <a:srgbClr val="191F28"/>
                </a:solidFill>
                <a:latin typeface="Calibri Light" panose="020F0302020204030204" pitchFamily="34" charset="0"/>
              </a:rPr>
              <a:t>Objective 1: Static methods missed more positive conversations.</a:t>
            </a:r>
          </a:p>
          <a:p>
            <a:pPr>
              <a:spcAft>
                <a:spcPts val="1500"/>
              </a:spcAft>
            </a:pPr>
            <a:r>
              <a:rPr lang="en-US" sz="2500">
                <a:solidFill>
                  <a:srgbClr val="191F28"/>
                </a:solidFill>
                <a:latin typeface="Calibri Light" panose="020F0302020204030204" pitchFamily="34" charset="0"/>
              </a:rPr>
              <a:t>Objective 2: We delivered the two-layer module and review interface.</a:t>
            </a:r>
          </a:p>
          <a:p>
            <a:pPr>
              <a:spcAft>
                <a:spcPts val="1500"/>
              </a:spcAft>
            </a:pPr>
            <a:r>
              <a:rPr lang="en-US" sz="2500">
                <a:solidFill>
                  <a:srgbClr val="191F28"/>
                </a:solidFill>
                <a:latin typeface="Calibri Light" panose="020F0302020204030204" pitchFamily="34" charset="0"/>
              </a:rPr>
              <a:t>Objective 3: The primary LSTM reached 90.91% recall with four misses.</a:t>
            </a:r>
          </a:p>
          <a:p>
            <a:pPr>
              <a:spcAft>
                <a:spcPts val="1500"/>
              </a:spcAft>
            </a:pPr>
            <a:r>
              <a:rPr lang="en-US" sz="2500">
                <a:solidFill>
                  <a:srgbClr val="191F28"/>
                </a:solidFill>
                <a:latin typeface="Calibri Light" panose="020F0302020204030204" pitchFamily="34" charset="0"/>
              </a:rPr>
              <a:t>General objective: The contextual and behavioral module improved detection over the tested baselines.</a:t>
            </a:r>
            <a:endParaRPr lang="en-PH" sz="25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41545632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0A5E93-C842-C508-5F66-693F2C47905E}"/>
              </a:ext>
            </a:extLst>
          </p:cNvPr>
          <p:cNvSpPr>
            <a:spLocks noGrp="1"/>
          </p:cNvSpPr>
          <p:nvPr/>
        </p:nvSpPr>
        <p:spPr>
          <a:xfrm>
            <a:off x="825500" y="685800"/>
            <a:ext cx="9969500" cy="977900"/>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r>
              <a:rPr lang="en-PH" sz="3400">
                <a:solidFill>
                  <a:schemeClr val="accent1">
                    <a:lumMod val="75000"/>
                  </a:schemeClr>
                </a:solidFill>
              </a:rPr>
              <a:t>Next Evaluation Steps</a:t>
            </a:r>
            <a:endParaRPr sz="3400">
              <a:solidFill>
                <a:schemeClr val="accent1">
                  <a:lumMod val="75000"/>
                </a:schemeClr>
              </a:solidFill>
            </a:endParaRPr>
          </a:p>
        </p:txBody>
      </p:sp>
      <p:sp>
        <p:nvSpPr>
          <p:cNvPr id="3" name="Panel body">
            <a:extLst>
              <a:ext uri="{FF2B5EF4-FFF2-40B4-BE49-F238E27FC236}">
                <a16:creationId xmlns:a16="http://schemas.microsoft.com/office/drawing/2014/main" id="{42DE89F6-D2A2-FCA5-073F-70118AC4E153}"/>
              </a:ext>
            </a:extLst>
          </p:cNvPr>
          <p:cNvSpPr txBox="1"/>
          <p:nvPr/>
        </p:nvSpPr>
        <p:spPr>
          <a:xfrm>
            <a:off x="838200" y="1879600"/>
            <a:ext cx="10350500" cy="4368800"/>
          </a:xfrm>
          <a:prstGeom prst="rect">
            <a:avLst/>
          </a:prstGeom>
          <a:noFill/>
        </p:spPr>
        <p:txBody>
          <a:bodyPr vert="horz" wrap="square" lIns="25400" tIns="25400" rIns="25400" bIns="25400" rtlCol="0">
            <a:noAutofit/>
          </a:bodyPr>
          <a:lstStyle/>
          <a:p>
            <a:pPr>
              <a:spcAft>
                <a:spcPts val="1500"/>
              </a:spcAft>
            </a:pPr>
            <a:r>
              <a:rPr lang="en-US" sz="2600">
                <a:solidFill>
                  <a:srgbClr val="191F28"/>
                </a:solidFill>
                <a:latin typeface="Calibri Light" panose="020F0302020204030204" pitchFamily="34" charset="0"/>
              </a:rPr>
              <a:t>Test transfer to contemporary chats and Filipino / Taglish data.</a:t>
            </a:r>
          </a:p>
          <a:p>
            <a:pPr>
              <a:spcAft>
                <a:spcPts val="1500"/>
              </a:spcAft>
            </a:pPr>
            <a:r>
              <a:rPr lang="en-US" sz="2600">
                <a:solidFill>
                  <a:srgbClr val="191F28"/>
                </a:solidFill>
                <a:latin typeface="Calibri Light" panose="020F0302020204030204" pitchFamily="34" charset="0"/>
              </a:rPr>
              <a:t>Measure latency, throughput, and moderator review outcomes.</a:t>
            </a:r>
          </a:p>
          <a:p>
            <a:pPr>
              <a:spcAft>
                <a:spcPts val="1500"/>
              </a:spcAft>
            </a:pPr>
            <a:r>
              <a:rPr lang="en-US" sz="2600">
                <a:solidFill>
                  <a:srgbClr val="191F28"/>
                </a:solidFill>
                <a:latin typeface="Calibri Light" panose="020F0302020204030204" pitchFamily="34" charset="0"/>
              </a:rPr>
              <a:t>Evaluate early prefixes and obtain expert onset annotations.</a:t>
            </a:r>
          </a:p>
          <a:p>
            <a:pPr>
              <a:spcAft>
                <a:spcPts val="1500"/>
              </a:spcAft>
            </a:pPr>
            <a:r>
              <a:rPr lang="en-US" sz="2600">
                <a:solidFill>
                  <a:srgbClr val="191F28"/>
                </a:solidFill>
                <a:latin typeface="Calibri Light" panose="020F0302020204030204" pitchFamily="34" charset="0"/>
              </a:rPr>
              <a:t>Test individual features and extend to multi-party conversations.</a:t>
            </a:r>
            <a:endParaRPr lang="en-PH" sz="2600">
              <a:solidFill>
                <a:srgbClr val="191F28"/>
              </a:solidFill>
              <a:latin typeface="Calibri Light" panose="020F0302020204030204" pitchFamily="34" charset="0"/>
            </a:endParaRPr>
          </a:p>
        </p:txBody>
      </p:sp>
    </p:spTree>
    <p:extLst>
      <p:ext uri="{BB962C8B-B14F-4D97-AF65-F5344CB8AC3E}">
        <p14:creationId xmlns:p14="http://schemas.microsoft.com/office/powerpoint/2010/main" val="67714526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62D6-6609-3BEA-6165-A7F5095A16AC}"/>
              </a:ext>
            </a:extLst>
          </p:cNvPr>
          <p:cNvSpPr>
            <a:spLocks noGrp="1"/>
          </p:cNvSpPr>
          <p:nvPr>
            <p:ph type="title"/>
          </p:nvPr>
        </p:nvSpPr>
        <p:spPr/>
        <p:txBody>
          <a:bodyPr>
            <a:normAutofit/>
          </a:bodyPr>
          <a:lstStyle/>
          <a:p>
            <a:r>
              <a:rPr lang="en-US" sz="4800"/>
              <a:t>The LSTM Reduced Missed Cases</a:t>
            </a:r>
            <a:endParaRPr sz="4800"/>
          </a:p>
        </p:txBody>
      </p:sp>
      <p:sp>
        <p:nvSpPr>
          <p:cNvPr id="3" name="Text Placeholder 2">
            <a:extLst>
              <a:ext uri="{FF2B5EF4-FFF2-40B4-BE49-F238E27FC236}">
                <a16:creationId xmlns:a16="http://schemas.microsoft.com/office/drawing/2014/main" id="{563B6A9D-5621-CA75-6BD4-0A403BD9EBA4}"/>
              </a:ext>
            </a:extLst>
          </p:cNvPr>
          <p:cNvSpPr>
            <a:spLocks noGrp="1"/>
          </p:cNvSpPr>
          <p:nvPr>
            <p:ph type="body" idx="1"/>
          </p:nvPr>
        </p:nvSpPr>
        <p:spPr>
          <a:xfrm>
            <a:off x="831850" y="5186854"/>
            <a:ext cx="10062122" cy="625025"/>
          </a:xfrm>
        </p:spPr>
        <p:txBody>
          <a:bodyPr/>
          <a:lstStyle/>
          <a:p>
            <a:pPr marL="0" marR="0" lvl="0" indent="0" defTabSz="914400">
              <a:lnSpc>
                <a:spcPct val="100000"/>
              </a:lnSpc>
              <a:spcBef>
                <a:spcPts val="0"/>
              </a:spcBef>
              <a:spcAft>
                <a:spcPts val="0"/>
              </a:spcAft>
              <a:buClrTx/>
              <a:buSzTx/>
              <a:buFontTx/>
              <a:buNone/>
            </a:pPr>
            <a:r>
              <a:rPr lang="en-PH" sz="2400" b="0" i="1" u="none" cap="none">
                <a:ln>
                  <a:noFill/>
                </a:ln>
                <a:solidFill>
                  <a:srgbClr val="FFFFFF"/>
                </a:solidFill>
                <a:latin typeface="Calibri Light"/>
                <a:ea typeface="Calibri Light"/>
                <a:cs typeface="Calibri Light"/>
              </a:rPr>
              <a:t>Questions and discussion</a:t>
            </a:r>
            <a:endParaRPr sz="2400" b="0" i="1" u="none" kern="1200" cap="none" spc="0" baseline="0">
              <a:ln>
                <a:noFill/>
              </a:ln>
              <a:solidFill>
                <a:srgbClr val="FFFFFF"/>
              </a:solidFill>
              <a:latin typeface="Calibri Light"/>
              <a:ea typeface="Calibri Light"/>
              <a:cs typeface="Calibri Light"/>
            </a:endParaRPr>
          </a:p>
        </p:txBody>
      </p:sp>
      <p:sp>
        <p:nvSpPr>
          <p:cNvPr id="5" name="Straight Connector 4">
            <a:extLst>
              <a:ext uri="{FF2B5EF4-FFF2-40B4-BE49-F238E27FC236}">
                <a16:creationId xmlns:a16="http://schemas.microsoft.com/office/drawing/2014/main" id="{AE7566C8-41F1-4BB5-AE3E-9D4B12E72064}"/>
              </a:ext>
            </a:extLst>
          </p:cNvPr>
          <p:cNvSpPr>
            <a:spLocks noGrp="1"/>
          </p:cNvSpPr>
          <p:nvPr/>
        </p:nvSpPr>
        <p:spPr>
          <a:xfrm>
            <a:off x="856937" y="5174411"/>
            <a:ext cx="756184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txBody>
          <a:bodyPr/>
          <a:lstStyle/>
          <a:p>
            <a:endParaRPr lang="en-PH"/>
          </a:p>
        </p:txBody>
      </p:sp>
    </p:spTree>
    <p:extLst>
      <p:ext uri="{BB962C8B-B14F-4D97-AF65-F5344CB8AC3E}">
        <p14:creationId xmlns:p14="http://schemas.microsoft.com/office/powerpoint/2010/main" val="305310800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844B5-70AB-4288-3250-7B9D2AE0D6B1}"/>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
        <p:nvSpPr>
          <p:cNvPr id="6" name="Title 5">
            <a:extLst>
              <a:ext uri="{FF2B5EF4-FFF2-40B4-BE49-F238E27FC236}">
                <a16:creationId xmlns:a16="http://schemas.microsoft.com/office/drawing/2014/main" id="{9C1D6124-563A-7F70-DF21-E8FEA2257CAD}"/>
              </a:ext>
            </a:extLst>
          </p:cNvPr>
          <p:cNvSpPr>
            <a:spLocks noGrp="1"/>
          </p:cNvSpPr>
          <p:nvPr>
            <p:ph type="title"/>
          </p:nvPr>
        </p:nvSpPr>
        <p:spPr>
          <a:xfrm>
            <a:off x="1205255" y="2850418"/>
            <a:ext cx="9781489" cy="1325563"/>
          </a:xfrm>
        </p:spPr>
        <p:txBody>
          <a:bodyPr>
            <a:noAutofit/>
          </a:bodyPr>
          <a:lstStyle/>
          <a:p>
            <a:pPr algn="ctr">
              <a:buNone/>
            </a:pPr>
            <a:r>
              <a:rPr sz="8000" b="1"/>
              <a:t>RESOURCE SLIDES</a:t>
            </a:r>
            <a:br/>
            <a:r>
              <a:rPr sz="8000" b="1"/>
              <a:t>vvv</a:t>
            </a:r>
          </a:p>
        </p:txBody>
      </p:sp>
      <p:sp>
        <p:nvSpPr>
          <p:cNvPr id="3" name="Rectangle 2">
            <a:extLst>
              <a:ext uri="{FF2B5EF4-FFF2-40B4-BE49-F238E27FC236}">
                <a16:creationId xmlns:a16="http://schemas.microsoft.com/office/drawing/2014/main" id="{972EB74F-12A3-192F-04F0-FA096E2E1BCF}"/>
              </a:ext>
            </a:extLst>
          </p:cNvPr>
          <p:cNvSpPr>
            <a:spLocks noGrp="1"/>
          </p:cNvSpPr>
          <p:nvPr/>
        </p:nvSpPr>
        <p:spPr>
          <a:xfrm>
            <a:off x="-1" y="1342521"/>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623FB5B4-11EE-FCD9-7BF8-04B000C6621F}"/>
              </a:ext>
            </a:extLst>
          </p:cNvPr>
          <p:cNvSpPr>
            <a:spLocks noGrp="1"/>
          </p:cNvSpPr>
          <p:nvPr/>
        </p:nvSpPr>
        <p:spPr>
          <a:xfrm>
            <a:off x="-1" y="4523293"/>
            <a:ext cx="12192001" cy="773723"/>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Tree>
    <p:extLst>
      <p:ext uri="{BB962C8B-B14F-4D97-AF65-F5344CB8AC3E}">
        <p14:creationId xmlns:p14="http://schemas.microsoft.com/office/powerpoint/2010/main" val="5375067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F6EC9-01F9-3331-09AA-19C64635D555}"/>
              </a:ext>
            </a:extLst>
          </p:cNvPr>
          <p:cNvSpPr>
            <a:spLocks noGrp="1"/>
          </p:cNvSpPr>
          <p:nvPr>
            <p:ph type="ctrTitle"/>
          </p:nvPr>
        </p:nvSpPr>
        <p:spPr>
          <a:xfrm>
            <a:off x="6096000" y="2722563"/>
            <a:ext cx="5077521" cy="2387600"/>
          </a:xfrm>
        </p:spPr>
        <p:txBody>
          <a:bodyPr>
            <a:normAutofit/>
          </a:bodyPr>
          <a:lstStyle/>
          <a:p>
            <a:pPr>
              <a:lnSpc>
                <a:spcPts val="5000"/>
              </a:lnSpc>
              <a:buNone/>
            </a:pPr>
            <a:r>
              <a:rPr sz="6600"/>
              <a:t>PACIFIC COLLEGE</a:t>
            </a:r>
          </a:p>
        </p:txBody>
      </p:sp>
    </p:spTree>
    <p:extLst>
      <p:ext uri="{BB962C8B-B14F-4D97-AF65-F5344CB8AC3E}">
        <p14:creationId xmlns:p14="http://schemas.microsoft.com/office/powerpoint/2010/main" val="40219051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BB60773-11B5-CF24-34E2-87D3F196B882}"/>
              </a:ext>
            </a:extLst>
          </p:cNvPr>
          <p:cNvSpPr>
            <a:spLocks noGrp="1"/>
          </p:cNvSpPr>
          <p:nvPr/>
        </p:nvSpPr>
        <p:spPr>
          <a:xfrm>
            <a:off x="831850" y="605343"/>
            <a:ext cx="10062122" cy="1284059"/>
          </a:xfrm>
          <a:prstGeom prst="rect">
            <a:avLst/>
          </a:prstGeom>
        </p:spPr>
        <p:txBody>
          <a:bodyPr vert="horz" lIns="91440" tIns="45720" rIns="91440" bIns="45720" anchor="b">
            <a:normAutofit/>
          </a:bodyPr>
          <a:lstStyle>
            <a:lvl1pPr algn="l" defTabSz="914400">
              <a:lnSpc>
                <a:spcPct val="90000"/>
              </a:lnSpc>
              <a:spcBef>
                <a:spcPct val="0"/>
              </a:spcBef>
              <a:buNone/>
              <a:defRPr sz="6000" kern="1200">
                <a:solidFill>
                  <a:schemeClr val="bg1"/>
                </a:solidFill>
                <a:latin typeface="+mj-lt"/>
                <a:ea typeface="+mj-lt"/>
                <a:cs typeface="+mj-lt"/>
              </a:defRPr>
            </a:lvl1pPr>
          </a:lstStyle>
          <a:p>
            <a:r>
              <a:rPr b="1"/>
              <a:t>Sustainable Development Goals </a:t>
            </a:r>
          </a:p>
        </p:txBody>
      </p:sp>
      <p:pic>
        <p:nvPicPr>
          <p:cNvPr id="9" name="Picture 5"/>
          <p:cNvPicPr>
            <a:picLocks noChangeAspect="1"/>
          </p:cNvPicPr>
          <p:nvPr/>
        </p:nvPicPr>
        <p:blipFill>
          <a:blip r:embed="rId3"/>
          <a:stretch>
            <a:fillRect/>
          </a:stretch>
        </p:blipFill>
        <p:spPr>
          <a:xfrm>
            <a:off x="1131626" y="2706805"/>
            <a:ext cx="3559791" cy="3548418"/>
          </a:xfrm>
          <a:prstGeom prst="rect">
            <a:avLst/>
          </a:prstGeom>
        </p:spPr>
      </p:pic>
      <p:pic>
        <p:nvPicPr>
          <p:cNvPr id="10" name="Picture 6"/>
          <p:cNvPicPr>
            <a:picLocks noChangeAspect="1"/>
          </p:cNvPicPr>
          <p:nvPr/>
        </p:nvPicPr>
        <p:blipFill>
          <a:blip r:embed="rId4"/>
          <a:stretch>
            <a:fillRect/>
          </a:stretch>
        </p:blipFill>
        <p:spPr>
          <a:xfrm>
            <a:off x="6863687" y="2706805"/>
            <a:ext cx="3616657" cy="3548419"/>
          </a:xfrm>
          <a:prstGeom prst="rect">
            <a:avLst/>
          </a:prstGeom>
        </p:spPr>
      </p:pic>
    </p:spTree>
    <p:extLst>
      <p:ext uri="{BB962C8B-B14F-4D97-AF65-F5344CB8AC3E}">
        <p14:creationId xmlns:p14="http://schemas.microsoft.com/office/powerpoint/2010/main" val="1313818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3980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34F65-AA79-3DA3-8DD3-52D817FFB6A3}"/>
              </a:ext>
            </a:extLst>
          </p:cNvPr>
          <p:cNvSpPr>
            <a:spLocks noGrp="1"/>
          </p:cNvSpPr>
          <p:nvPr/>
        </p:nvSpPr>
        <p:spPr>
          <a:xfrm>
            <a:off x="1627322" y="686487"/>
            <a:ext cx="9726480" cy="1002552"/>
          </a:xfrm>
          <a:prstGeom prst="rect">
            <a:avLst/>
          </a:prstGeom>
        </p:spPr>
        <p:txBody>
          <a:bodyPr/>
          <a:lstStyle>
            <a:lvl1pPr algn="l" defTabSz="914400">
              <a:lnSpc>
                <a:spcPct val="90000"/>
              </a:lnSpc>
              <a:spcBef>
                <a:spcPct val="0"/>
              </a:spcBef>
              <a:buNone/>
              <a:defRPr sz="4400" kern="1200">
                <a:solidFill>
                  <a:schemeClr val="tx1"/>
                </a:solidFill>
                <a:latin typeface="+mj-lt"/>
                <a:ea typeface="+mj-lt"/>
                <a:cs typeface="+mj-lt"/>
              </a:defRPr>
            </a:lvl1pPr>
          </a:lstStyle>
          <a:p>
            <a:endParaRPr>
              <a:solidFill>
                <a:schemeClr val="accent1">
                  <a:lumMod val="75000"/>
                </a:schemeClr>
              </a:solidFill>
            </a:endParaRPr>
          </a:p>
        </p:txBody>
      </p:sp>
    </p:spTree>
    <p:extLst>
      <p:ext uri="{BB962C8B-B14F-4D97-AF65-F5344CB8AC3E}">
        <p14:creationId xmlns:p14="http://schemas.microsoft.com/office/powerpoint/2010/main" val="5982917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4848</Words>
  <Application>Microsoft Office PowerPoint</Application>
  <DocSecurity>0</DocSecurity>
  <PresentationFormat>Widescreen</PresentationFormat>
  <Paragraphs>335</Paragraphs>
  <Slides>39</Slides>
  <Notes>39</Notes>
  <HiddenSlides>5</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Corbel</vt:lpstr>
      <vt:lpstr>Office Theme</vt:lpstr>
      <vt:lpstr>PowerPoint Presentation</vt:lpstr>
      <vt:lpstr>PowerPoint Presentation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Review of Related Literature</vt:lpstr>
      <vt:lpstr>PowerPoint Presentation</vt:lpstr>
      <vt:lpstr>PowerPoint Presentation</vt:lpstr>
      <vt:lpstr>PowerPoint Presentation</vt:lpstr>
      <vt:lpstr>Methodology</vt:lpstr>
      <vt:lpstr>PowerPoint Presentation</vt:lpstr>
      <vt:lpstr>PowerPoint Presentation</vt:lpstr>
      <vt:lpstr>PowerPoint Presentation</vt:lpstr>
      <vt:lpstr>PowerPoint Presentation</vt:lpstr>
      <vt:lpstr>PowerPoint Presentation</vt:lpstr>
      <vt:lpstr>PowerPoint Presentation</vt:lpstr>
      <vt:lpstr>Results and Conclusions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LSTM Reduced Missed Cases</vt:lpstr>
      <vt:lpstr>RESOURCE SLIDES vvv</vt:lpstr>
      <vt:lpstr>PACIFIC COLLEGE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John Michael Maala</cp:lastModifiedBy>
  <cp:revision>5</cp:revision>
  <dcterms:created xsi:type="dcterms:W3CDTF">2026-08-12T16:37:22Z</dcterms:created>
  <dcterms:modified xsi:type="dcterms:W3CDTF">2026-09-16T03:20:11Z</dcterms:modified>
</cp:coreProperties>
</file>