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84" r:id="rId25"/>
    <p:sldId id="285" r:id="rId26"/>
    <p:sldId id="286" r:id="rId27"/>
    <p:sldId id="287" r:id="rId28"/>
    <p:sldId id="288" r:id="rId29"/>
    <p:sldId id="289"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3383" autoAdjust="0"/>
  </p:normalViewPr>
  <p:slideViewPr>
    <p:cSldViewPr snapToGrid="0">
      <p:cViewPr varScale="1">
        <p:scale>
          <a:sx n="65" d="100"/>
          <a:sy n="65" d="100"/>
        </p:scale>
        <p:origin x="133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Good day. Our study is titled AI-Based Detection of Grooming-Related Interactions in Chat Conversations Using Contextual and Behavioral Analysis. We developed a two-layer moderation module that reads recent conversational context and then models how evidence changes across the full interaction.</a:t>
            </a:r>
          </a:p>
          <a:p>
            <a:endParaRPr lang="en-US">
              <a:latin typeface="Calibri" panose="020F0502020204030204" pitchFamily="34" charset="0"/>
            </a:endParaRPr>
          </a:p>
          <a:p>
            <a:r>
              <a:rPr lang="en-US">
                <a:latin typeface="Calibri" panose="020F0502020204030204" pitchFamily="34" charset="0"/>
              </a:rPr>
              <a:t>[Sources]</a:t>
            </a:r>
          </a:p>
          <a:p>
            <a:r>
              <a:rPr lang="en-US">
                <a:latin typeface="Calibri" panose="020F0502020204030204" pitchFamily="34" charset="0"/>
              </a:rPr>
              <a:t>- thesis_docs/Finals_Revised_Paper_WASD.md</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We will begin with the problem that motivated the study, then explain the architecture, the evaluation design, the results, and what those results mean for the research objectives.</a:t>
            </a:r>
          </a:p>
          <a:p>
            <a:endParaRPr lang="en-US">
              <a:latin typeface="Calibri" panose="020F0502020204030204" pitchFamily="34" charset="0"/>
            </a:endParaRPr>
          </a:p>
          <a:p>
            <a:r>
              <a:rPr lang="en-US">
                <a:latin typeface="Calibri" panose="020F0502020204030204" pitchFamily="34" charset="0"/>
              </a:rPr>
              <a:t>[Sources]</a:t>
            </a:r>
          </a:p>
          <a:p>
            <a:r>
              <a:rPr lang="en-US">
                <a:latin typeface="Calibri" panose="020F0502020204030204" pitchFamily="34" charset="0"/>
              </a:rPr>
              <a:t>- thesis_docs/Finals_Revised_Paper_WASD.md</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Online chat moderation often starts with keyword filters and user reports. Those tools are useful, but they do not always capture meaning that develops over several turns. Our study addresses that gap by combining recent message context with a model of the conversation trajectory.</a:t>
            </a:r>
          </a:p>
          <a:p>
            <a:endParaRPr lang="en-US">
              <a:latin typeface="Calibri" panose="020F0502020204030204" pitchFamily="34" charset="0"/>
            </a:endParaRPr>
          </a:p>
          <a:p>
            <a:r>
              <a:rPr lang="en-US">
                <a:latin typeface="Calibri" panose="020F0502020204030204" pitchFamily="34" charset="0"/>
              </a:rPr>
              <a:t>[Sources]</a:t>
            </a:r>
          </a:p>
          <a:p>
            <a:r>
              <a:rPr lang="en-US">
                <a:latin typeface="Calibri" panose="020F0502020204030204" pitchFamily="34" charset="0"/>
              </a:rPr>
              <a:t>- thesis_docs/Finals_Revised_Paper_WASD.md (Section 1.1)</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The key problem is context. A message that looks ordinary by itself may become concerning when we see what came before it and how the interaction is progressing. We therefore test whether combining contextual language analysis with conversation-wide sequence modeling reduces the cases missed by static approaches.</a:t>
            </a:r>
          </a:p>
          <a:p>
            <a:endParaRPr lang="en-US">
              <a:latin typeface="Calibri" panose="020F0502020204030204" pitchFamily="34" charset="0"/>
            </a:endParaRPr>
          </a:p>
          <a:p>
            <a:r>
              <a:rPr lang="en-US">
                <a:latin typeface="Calibri" panose="020F0502020204030204" pitchFamily="34" charset="0"/>
              </a:rPr>
              <a:t>[Sources]</a:t>
            </a:r>
          </a:p>
          <a:p>
            <a:r>
              <a:rPr lang="en-US">
                <a:latin typeface="Calibri" panose="020F0502020204030204" pitchFamily="34" charset="0"/>
              </a:rPr>
              <a:t>- thesis_docs/Finals_Revised_Paper_WASD.md (Section 1.2)</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The study asks four questions. First, how effective are existing moderation systems? Second, where do keyword and rule-based approaches struggle with context? Third, how can machine learning and NLP analyze behavioral patterns across a conversation? Fourth, how much can our module improve recall and reduce false negatives compared with the tested approaches?</a:t>
            </a:r>
          </a:p>
          <a:p>
            <a:endParaRPr lang="en-US">
              <a:latin typeface="Calibri" panose="020F0502020204030204" pitchFamily="34" charset="0"/>
            </a:endParaRPr>
          </a:p>
          <a:p>
            <a:r>
              <a:rPr lang="en-US">
                <a:latin typeface="Calibri" panose="020F0502020204030204" pitchFamily="34" charset="0"/>
              </a:rPr>
              <a:t>[Sources]</a:t>
            </a:r>
          </a:p>
          <a:p>
            <a:r>
              <a:rPr lang="en-US">
                <a:latin typeface="Calibri" panose="020F0502020204030204" pitchFamily="34" charset="0"/>
              </a:rPr>
              <a:t>- thesis_docs/Finals_Revised_Paper_WASD.md (Section 1.2)</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Our general objective is to develop an AI-powered moderation module that adds behavioral and contextual understanding to existing moderation. The three specific objectives are to evaluate static approaches, build the two-layer module, and measure whether it improves detection, especially by reducing false negatives.</a:t>
            </a:r>
          </a:p>
          <a:p>
            <a:endParaRPr lang="en-US">
              <a:latin typeface="Calibri" panose="020F0502020204030204" pitchFamily="34" charset="0"/>
            </a:endParaRPr>
          </a:p>
          <a:p>
            <a:r>
              <a:rPr lang="en-US">
                <a:latin typeface="Calibri" panose="020F0502020204030204" pitchFamily="34" charset="0"/>
              </a:rPr>
              <a:t>[Sources]</a:t>
            </a:r>
          </a:p>
          <a:p>
            <a:r>
              <a:rPr lang="en-US">
                <a:latin typeface="Calibri" panose="020F0502020204030204" pitchFamily="34" charset="0"/>
              </a:rPr>
              <a:t>- thesis_docs/Finals_Revised_Paper_WASD.md (Section 1.3)</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This is the complete system we built. Layer 1 reads the current turn together with recent context. From its outputs and the conversation structure, we compute seven trajectory features. Layer 2 uses an LSTM to learn how those features develop over time. The interface then presents the result for human review.</a:t>
            </a:r>
          </a:p>
          <a:p>
            <a:endParaRPr lang="en-US">
              <a:latin typeface="Calibri" panose="020F0502020204030204" pitchFamily="34" charset="0"/>
            </a:endParaRPr>
          </a:p>
          <a:p>
            <a:r>
              <a:rPr lang="en-US">
                <a:latin typeface="Calibri" panose="020F0502020204030204" pitchFamily="34" charset="0"/>
              </a:rPr>
              <a:t>[Sources]</a:t>
            </a:r>
          </a:p>
          <a:p>
            <a:r>
              <a:rPr lang="en-US">
                <a:latin typeface="Calibri" panose="020F0502020204030204" pitchFamily="34" charset="0"/>
              </a:rPr>
              <a:t>- thesis_docs/Finals_Revised_Paper_WASD.md (Sections 1.4 and 3.1)</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The research and architecture came first. We then selected PAN-2012 because it provides the scale, chronological conversations, and persistent speaker identifiers needed for trajectory modeling and author-disjoint evaluation. For this experiment, the measured outcome is conversation-level. The detailed label definition is documented in the paper, while external and Philippine-language validation remain future work.</a:t>
            </a:r>
          </a:p>
          <a:p>
            <a:endParaRPr lang="en-US">
              <a:latin typeface="Calibri" panose="020F0502020204030204" pitchFamily="34" charset="0"/>
            </a:endParaRPr>
          </a:p>
          <a:p>
            <a:r>
              <a:rPr lang="en-US">
                <a:latin typeface="Calibri" panose="020F0502020204030204" pitchFamily="34" charset="0"/>
              </a:rPr>
              <a:t>[Sources]</a:t>
            </a:r>
          </a:p>
          <a:p>
            <a:r>
              <a:rPr lang="en-US">
                <a:latin typeface="Calibri" panose="020F0502020204030204" pitchFamily="34" charset="0"/>
              </a:rPr>
              <a:t>- thesis_docs/Finals_Revised_Paper_WASD.md (Sections 1.4 and 3.3.1)</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The academic contribution is the combination of contextual language modeling and learned behavioral trajectories. The practical contribution is a working review interface, and the evaluation framework makes the comparison reproducible. The study also provides a foundation for future work using contemporary and Philippine-context data.</a:t>
            </a:r>
          </a:p>
          <a:p>
            <a:endParaRPr lang="en-US">
              <a:latin typeface="Calibri" panose="020F0502020204030204" pitchFamily="34" charset="0"/>
            </a:endParaRPr>
          </a:p>
          <a:p>
            <a:r>
              <a:rPr lang="en-US">
                <a:latin typeface="Calibri" panose="020F0502020204030204" pitchFamily="34" charset="0"/>
              </a:rPr>
              <a:t>[Sources]</a:t>
            </a:r>
          </a:p>
          <a:p>
            <a:r>
              <a:rPr lang="en-US">
                <a:latin typeface="Calibri" panose="020F0502020204030204" pitchFamily="34" charset="0"/>
              </a:rPr>
              <a:t>- thesis_docs/Finals_Revised_Paper_WASD.md (Section 1.5)</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Chapter 2 explains why both context and sequence matter and how the literature supports the design choices used in our module.</a:t>
            </a:r>
          </a:p>
          <a:p>
            <a:endParaRPr lang="en-US">
              <a:latin typeface="Calibri" panose="020F0502020204030204" pitchFamily="34" charset="0"/>
            </a:endParaRPr>
          </a:p>
          <a:p>
            <a:r>
              <a:rPr lang="en-US">
                <a:latin typeface="Calibri" panose="020F0502020204030204" pitchFamily="34" charset="0"/>
              </a:rPr>
              <a:t>[Sources]</a:t>
            </a:r>
          </a:p>
          <a:p>
            <a:r>
              <a:rPr lang="en-US">
                <a:latin typeface="Calibri" panose="020F0502020204030204" pitchFamily="34" charset="0"/>
              </a:rPr>
              <a:t>- thesis_docs/Finals_Revised_Paper_WASD.md (Chapter II)</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latin typeface="Calibri" panose="020F0502020204030204" pitchFamily="34" charset="0"/>
              </a:rPr>
              <a:t>Prior studies show that isolated words are not enough for many context-dependent interactions. Transformers help represent a turn together with nearby messages. Sequence models add another level by learning how evidence changes across the interaction instead of treating every turn as independent.</a:t>
            </a:r>
          </a:p>
          <a:p>
            <a:endParaRPr lang="en-US" b="1">
              <a:latin typeface="Calibri" panose="020F0502020204030204" pitchFamily="34" charset="0"/>
            </a:endParaRPr>
          </a:p>
          <a:p>
            <a:r>
              <a:rPr lang="en-US" b="1">
                <a:latin typeface="Calibri" panose="020F0502020204030204" pitchFamily="34" charset="0"/>
              </a:rPr>
              <a:t>[Sources]</a:t>
            </a:r>
          </a:p>
          <a:p>
            <a:r>
              <a:rPr lang="en-US" b="1">
                <a:latin typeface="Calibri" panose="020F0502020204030204" pitchFamily="34" charset="0"/>
              </a:rPr>
              <a:t>- thesis_docs/Finals_Revised_Paper_WASD.md (Sections 2.1 and 2.2)</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latin typeface="Calibri" panose="020F0502020204030204" pitchFamily="34" charset="0"/>
              </a:rPr>
              <a:t>OGDM provides the theoretical reason to look at progression across a conversation. We do not claim that each feature directly identifies a grooming stage. Instead, the theory guides which changes may be useful to model. PAN-2012 was selected later as the empirical dataset because it supports the sequence and split requirements of the architecture.</a:t>
            </a:r>
          </a:p>
          <a:p>
            <a:endParaRPr lang="en-US" b="1">
              <a:latin typeface="Calibri" panose="020F0502020204030204" pitchFamily="34" charset="0"/>
            </a:endParaRPr>
          </a:p>
          <a:p>
            <a:r>
              <a:rPr lang="en-US" b="1">
                <a:latin typeface="Calibri" panose="020F0502020204030204" pitchFamily="34" charset="0"/>
              </a:rPr>
              <a:t>[Sources]</a:t>
            </a:r>
          </a:p>
          <a:p>
            <a:r>
              <a:rPr lang="en-US" b="1">
                <a:latin typeface="Calibri" panose="020F0502020204030204" pitchFamily="34" charset="0"/>
              </a:rPr>
              <a:t>- thesis_docs/Finals_Revised_Paper_WASD.md (Sections 2.2 and 2.3)</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We now move to the methodology: how the data was prepared, how the two layers work, how the comparisons were made fair, and how the final evaluation was kept separate from model development.</a:t>
            </a:r>
          </a:p>
          <a:p>
            <a:endParaRPr lang="en-US">
              <a:latin typeface="Calibri" panose="020F0502020204030204" pitchFamily="34" charset="0"/>
            </a:endParaRPr>
          </a:p>
          <a:p>
            <a:r>
              <a:rPr lang="en-US">
                <a:latin typeface="Calibri" panose="020F0502020204030204" pitchFamily="34" charset="0"/>
              </a:rPr>
              <a:t>[Sources]</a:t>
            </a:r>
          </a:p>
          <a:p>
            <a:r>
              <a:rPr lang="en-US">
                <a:latin typeface="Calibri" panose="020F0502020204030204" pitchFamily="34" charset="0"/>
              </a:rPr>
              <a:t>- thesis_docs/Finals_Revised_Paper_WASD.md (Chapter III)</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chemeClr val="tx1"/>
                </a:solidFill>
                <a:latin typeface="Calibri" panose="020F0502020204030204" pitchFamily="34" charset="0"/>
                <a:ea typeface="+mn-lt"/>
                <a:cs typeface="+mn-lt"/>
              </a:rPr>
              <a:t>The easiest way to understand the architecture is as two levels of context. Layer 1 looks at the current turn and up to two previous turns. Layer 2 looks at the ordered trajectory of the entire conversation. Its final score is used to prioritize a conversation for human review, not to make an automatic enforcement decision.</a:t>
            </a:r>
          </a:p>
          <a:p>
            <a:endParaRPr lang="en-US" b="0" i="0">
              <a:solidFill>
                <a:schemeClr val="tx1"/>
              </a:solidFill>
              <a:latin typeface="Calibri" panose="020F0502020204030204" pitchFamily="34" charset="0"/>
              <a:ea typeface="+mn-lt"/>
              <a:cs typeface="+mn-lt"/>
            </a:endParaRPr>
          </a:p>
          <a:p>
            <a:r>
              <a:rPr lang="en-US" b="0" i="0">
                <a:solidFill>
                  <a:schemeClr val="tx1"/>
                </a:solidFill>
                <a:latin typeface="Calibri" panose="020F0502020204030204" pitchFamily="34" charset="0"/>
                <a:ea typeface="+mn-lt"/>
                <a:cs typeface="+mn-lt"/>
              </a:rPr>
              <a:t>[Sources]</a:t>
            </a:r>
          </a:p>
          <a:p>
            <a:r>
              <a:rPr lang="en-US" b="0" i="0">
                <a:solidFill>
                  <a:schemeClr val="tx1"/>
                </a:solidFill>
                <a:latin typeface="Calibri" panose="020F0502020204030204" pitchFamily="34" charset="0"/>
                <a:ea typeface="+mn-lt"/>
                <a:cs typeface="+mn-lt"/>
              </a:rPr>
              <a:t>- thesis_docs/Finals_Revised_Paper_WASD.md (Sections 3.1 and 3.4)</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chemeClr val="tx1"/>
                </a:solidFill>
                <a:latin typeface="Calibri" panose="020F0502020204030204" pitchFamily="34" charset="0"/>
                <a:ea typeface="+mn-lt"/>
                <a:cs typeface="+mn-lt"/>
              </a:rPr>
              <a:t>The eligible pool contains 18,567 dyadic conversations and 218,114 turns. We split connected groups of authors together, so the same author cannot appear in training and testing. Training-derived resources use training data only, validation is used for model and threshold selection, and the final test is used once after everything is frozen.</a:t>
            </a:r>
          </a:p>
          <a:p>
            <a:endParaRPr lang="en-US" b="0" i="0">
              <a:solidFill>
                <a:schemeClr val="tx1"/>
              </a:solidFill>
              <a:latin typeface="Calibri" panose="020F0502020204030204" pitchFamily="34" charset="0"/>
              <a:ea typeface="+mn-lt"/>
              <a:cs typeface="+mn-lt"/>
            </a:endParaRPr>
          </a:p>
          <a:p>
            <a:r>
              <a:rPr lang="en-US" b="0" i="0">
                <a:solidFill>
                  <a:schemeClr val="tx1"/>
                </a:solidFill>
                <a:latin typeface="Calibri" panose="020F0502020204030204" pitchFamily="34" charset="0"/>
                <a:ea typeface="+mn-lt"/>
                <a:cs typeface="+mn-lt"/>
              </a:rPr>
              <a:t>[Sources]</a:t>
            </a:r>
          </a:p>
          <a:p>
            <a:r>
              <a:rPr lang="en-US" b="0" i="0">
                <a:solidFill>
                  <a:schemeClr val="tx1"/>
                </a:solidFill>
                <a:latin typeface="Calibri" panose="020F0502020204030204" pitchFamily="34" charset="0"/>
                <a:ea typeface="+mn-lt"/>
                <a:cs typeface="+mn-lt"/>
              </a:rPr>
              <a:t>- thesis_docs/Finals_Revised_Paper_WASD.md (Section 3.3)</a:t>
            </a:r>
          </a:p>
          <a:p>
            <a:r>
              <a:rPr lang="en-US" b="0" i="0">
                <a:solidFill>
                  <a:schemeClr val="tx1"/>
                </a:solidFill>
                <a:latin typeface="Calibri" panose="020F0502020204030204" pitchFamily="34" charset="0"/>
                <a:ea typeface="+mn-lt"/>
                <a:cs typeface="+mn-lt"/>
              </a:rPr>
              <a:t>- thesis_docs/CHAPTER_IV_RESULTS_AND_DISCUSSION.md (Section 4.1)</a:t>
            </a:r>
            <a:endParaRPr b="0" i="0">
              <a:solidFill>
                <a:schemeClr val="tx1"/>
              </a:solidFill>
              <a:latin typeface="Calibri" panose="020F0502020204030204" pitchFamily="34" charset="0"/>
              <a:ea typeface="+mn-lt"/>
              <a:cs typeface="+mn-lt"/>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chemeClr val="tx1"/>
                </a:solidFill>
                <a:latin typeface="Calibri" panose="020F0502020204030204" pitchFamily="34" charset="0"/>
                <a:ea typeface="+mn-lt"/>
                <a:cs typeface="+mn-lt"/>
              </a:rPr>
              <a:t>The most important comparison is between the primary LSTM and the weighted scorer because both receive the same seven trajectory features. The difference is how they combine those features: the weighted scorer is static, while the LSTM learns from their order and progression. Keyword and maximum Layer 1 baselines provide additional reference points.</a:t>
            </a:r>
          </a:p>
          <a:p>
            <a:endParaRPr lang="en-US" b="0" i="0">
              <a:solidFill>
                <a:schemeClr val="tx1"/>
              </a:solidFill>
              <a:latin typeface="Calibri" panose="020F0502020204030204" pitchFamily="34" charset="0"/>
              <a:ea typeface="+mn-lt"/>
              <a:cs typeface="+mn-lt"/>
            </a:endParaRPr>
          </a:p>
          <a:p>
            <a:r>
              <a:rPr lang="en-US" b="0" i="0">
                <a:solidFill>
                  <a:schemeClr val="tx1"/>
                </a:solidFill>
                <a:latin typeface="Calibri" panose="020F0502020204030204" pitchFamily="34" charset="0"/>
                <a:ea typeface="+mn-lt"/>
                <a:cs typeface="+mn-lt"/>
              </a:rPr>
              <a:t>[Sources]</a:t>
            </a:r>
          </a:p>
          <a:p>
            <a:r>
              <a:rPr lang="en-US" b="0" i="0">
                <a:solidFill>
                  <a:schemeClr val="tx1"/>
                </a:solidFill>
                <a:latin typeface="Calibri" panose="020F0502020204030204" pitchFamily="34" charset="0"/>
                <a:ea typeface="+mn-lt"/>
                <a:cs typeface="+mn-lt"/>
              </a:rPr>
              <a:t>- thesis_docs/Finals_Revised_Paper_WASD.md (Section 3.4.3)</a:t>
            </a:r>
            <a:endParaRPr b="0" i="0">
              <a:solidFill>
                <a:schemeClr val="tx1"/>
              </a:solidFill>
              <a:latin typeface="Calibri" panose="020F0502020204030204" pitchFamily="34" charset="0"/>
              <a:ea typeface="+mn-lt"/>
              <a:cs typeface="+mn-lt"/>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chemeClr val="tx1"/>
                </a:solidFill>
                <a:latin typeface="Calibri" panose="020F0502020204030204" pitchFamily="34" charset="0"/>
                <a:ea typeface="+mn-lt"/>
                <a:cs typeface="+mn-lt"/>
              </a:rPr>
              <a:t>We emphasize precision-recall performance, recall, and false negatives because the positive class is rare and missed cases matter. Confidence intervals were computed by resampling connected author groups. All thresholds were selected on validation and frozen before the final test. The prototype is evaluated offline and is intended to support human reviewers.</a:t>
            </a:r>
          </a:p>
          <a:p>
            <a:endParaRPr lang="en-US" b="0" i="0">
              <a:solidFill>
                <a:schemeClr val="tx1"/>
              </a:solidFill>
              <a:latin typeface="Calibri" panose="020F0502020204030204" pitchFamily="34" charset="0"/>
              <a:ea typeface="+mn-lt"/>
              <a:cs typeface="+mn-lt"/>
            </a:endParaRPr>
          </a:p>
          <a:p>
            <a:r>
              <a:rPr lang="en-US" b="0" i="0">
                <a:solidFill>
                  <a:schemeClr val="tx1"/>
                </a:solidFill>
                <a:latin typeface="Calibri" panose="020F0502020204030204" pitchFamily="34" charset="0"/>
                <a:ea typeface="+mn-lt"/>
                <a:cs typeface="+mn-lt"/>
              </a:rPr>
              <a:t>[Sources]</a:t>
            </a:r>
          </a:p>
          <a:p>
            <a:r>
              <a:rPr lang="en-US" b="0" i="0">
                <a:solidFill>
                  <a:schemeClr val="tx1"/>
                </a:solidFill>
                <a:latin typeface="Calibri" panose="020F0502020204030204" pitchFamily="34" charset="0"/>
                <a:ea typeface="+mn-lt"/>
                <a:cs typeface="+mn-lt"/>
              </a:rPr>
              <a:t>- thesis_docs/Finals_Revised_Paper_WASD.md (Sections 3.5 and 3.6)</a:t>
            </a:r>
          </a:p>
          <a:p>
            <a:r>
              <a:rPr lang="en-US" b="0" i="0">
                <a:solidFill>
                  <a:schemeClr val="tx1"/>
                </a:solidFill>
                <a:latin typeface="Calibri" panose="020F0502020204030204" pitchFamily="34" charset="0"/>
                <a:ea typeface="+mn-lt"/>
                <a:cs typeface="+mn-lt"/>
              </a:rPr>
              <a:t>- thesis_docs/CHAPTER_IV_RESULTS_AND_DISCUSSION.md</a:t>
            </a:r>
            <a:endParaRPr b="0" i="0">
              <a:solidFill>
                <a:schemeClr val="tx1"/>
              </a:solidFill>
              <a:latin typeface="Calibri" panose="020F0502020204030204" pitchFamily="34" charset="0"/>
              <a:ea typeface="+mn-lt"/>
              <a:cs typeface="+mn-lt"/>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The next slides present the frozen experimental setup, the actual held-out results, the matched comparison, and the conclusions tied directly to the research objectives.</a:t>
            </a:r>
          </a:p>
          <a:p>
            <a:endParaRPr lang="en-US">
              <a:latin typeface="Calibri" panose="020F0502020204030204" pitchFamily="34" charset="0"/>
            </a:endParaRPr>
          </a:p>
          <a:p>
            <a:r>
              <a:rPr lang="en-US">
                <a:latin typeface="Calibri" panose="020F0502020204030204" pitchFamily="34" charset="0"/>
              </a:rPr>
              <a:t>[Sources]</a:t>
            </a:r>
          </a:p>
          <a:p>
            <a:r>
              <a:rPr lang="en-US">
                <a:latin typeface="Calibri" panose="020F0502020204030204" pitchFamily="34" charset="0"/>
              </a:rPr>
              <a:t>- thesis_docs/CHAPTER_IV_RESULTS_AND_DISCUSSION.md</a:t>
            </a:r>
          </a:p>
          <a:p>
            <a:r>
              <a:rPr lang="en-US">
                <a:latin typeface="Calibri" panose="020F0502020204030204" pitchFamily="34" charset="0"/>
              </a:rPr>
              <a:t>- thesis_docs/CHAPTER_V_SUMMARY_CONCLUSIONS_AND_RECOMMENDATIONS.md</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chemeClr val="tx1"/>
                </a:solidFill>
                <a:latin typeface="Calibri" panose="020F0502020204030204" pitchFamily="34" charset="0"/>
                <a:ea typeface="+mn-lt"/>
                <a:cs typeface="+mn-lt"/>
              </a:rPr>
              <a:t>The training partition contains 13,031 conversations, validation contains 1,827, and the held-out test contains 1,862. Only 44 test conversations are positive, so the task is highly imbalanced. The author-disjoint design prevents the model from being tested on authors it already saw during training.</a:t>
            </a:r>
          </a:p>
          <a:p>
            <a:endParaRPr lang="en-US" b="0" i="0">
              <a:solidFill>
                <a:schemeClr val="tx1"/>
              </a:solidFill>
              <a:latin typeface="Calibri" panose="020F0502020204030204" pitchFamily="34" charset="0"/>
              <a:ea typeface="+mn-lt"/>
              <a:cs typeface="+mn-lt"/>
            </a:endParaRPr>
          </a:p>
          <a:p>
            <a:r>
              <a:rPr lang="en-US" b="0" i="0">
                <a:solidFill>
                  <a:schemeClr val="tx1"/>
                </a:solidFill>
                <a:latin typeface="Calibri" panose="020F0502020204030204" pitchFamily="34" charset="0"/>
                <a:ea typeface="+mn-lt"/>
                <a:cs typeface="+mn-lt"/>
              </a:rPr>
              <a:t>[Sources]</a:t>
            </a:r>
          </a:p>
          <a:p>
            <a:r>
              <a:rPr lang="en-US" b="0" i="0">
                <a:solidFill>
                  <a:schemeClr val="tx1"/>
                </a:solidFill>
                <a:latin typeface="Calibri" panose="020F0502020204030204" pitchFamily="34" charset="0"/>
                <a:ea typeface="+mn-lt"/>
                <a:cs typeface="+mn-lt"/>
              </a:rPr>
              <a:t>- thesis_docs/CHAPTER_IV_RESULTS_AND_DISCUSSION.md (Section 4.1)</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chemeClr val="tx1"/>
                </a:solidFill>
                <a:latin typeface="Calibri" panose="020F0502020204030204" pitchFamily="34" charset="0"/>
                <a:ea typeface="+mn-lt"/>
                <a:cs typeface="+mn-lt"/>
              </a:rPr>
              <a:t>This table shows the actual held-out results. The primary trajectory LSTM achieved 0.9153 PR-AUC, 0.8621 F0.5, 0.8511 precision, and 0.9091 recall. It identified 40 of the 44 positive conversations, leaving four false negatives and seven false positives. The enhanced LSTM has slightly higher point estimates, but the paired analysis does not establish that it is superior to the primary model.</a:t>
            </a:r>
          </a:p>
          <a:p>
            <a:endParaRPr lang="en-US" b="0" i="0">
              <a:solidFill>
                <a:schemeClr val="tx1"/>
              </a:solidFill>
              <a:latin typeface="Calibri" panose="020F0502020204030204" pitchFamily="34" charset="0"/>
              <a:ea typeface="+mn-lt"/>
              <a:cs typeface="+mn-lt"/>
            </a:endParaRPr>
          </a:p>
          <a:p>
            <a:r>
              <a:rPr lang="en-US" b="0" i="0">
                <a:solidFill>
                  <a:schemeClr val="tx1"/>
                </a:solidFill>
                <a:latin typeface="Calibri" panose="020F0502020204030204" pitchFamily="34" charset="0"/>
                <a:ea typeface="+mn-lt"/>
                <a:cs typeface="+mn-lt"/>
              </a:rPr>
              <a:t>[Sources]</a:t>
            </a:r>
          </a:p>
          <a:p>
            <a:r>
              <a:rPr lang="en-US" b="0" i="0">
                <a:solidFill>
                  <a:schemeClr val="tx1"/>
                </a:solidFill>
                <a:latin typeface="Calibri" panose="020F0502020204030204" pitchFamily="34" charset="0"/>
                <a:ea typeface="+mn-lt"/>
                <a:cs typeface="+mn-lt"/>
              </a:rPr>
              <a:t>- thesis_docs/CHAPTER_IV_RESULTS_AND_DISCUSSION.md (Table 4.1)</a:t>
            </a:r>
          </a:p>
          <a:p>
            <a:r>
              <a:rPr lang="en-US" b="0" i="0">
                <a:solidFill>
                  <a:schemeClr val="tx1"/>
                </a:solidFill>
                <a:latin typeface="Calibri" panose="020F0502020204030204" pitchFamily="34" charset="0"/>
                <a:ea typeface="+mn-lt"/>
                <a:cs typeface="+mn-lt"/>
              </a:rPr>
              <a:t>- grooming-detector/grooming-detector-trajectory-pipeline/revised_runs/final_results/final_evaluation.json</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chemeClr val="tx1"/>
                </a:solidFill>
                <a:latin typeface="Calibri" panose="020F0502020204030204" pitchFamily="34" charset="0"/>
                <a:ea typeface="+mn-lt"/>
                <a:cs typeface="+mn-lt"/>
              </a:rPr>
              <a:t>The matched comparison is the clearest evidence for the architecture. With the same seven inputs, the LSTM improved PR-AUC by 0.1103 and F0.5 by 0.1121 over the weighted scorer. Both confidence intervals remain above zero. False negatives also fell from 17 for the keyword rule, to eight for the weighted scorer, and then to four for the LSTM. This supports learned recurrent aggregation rather than static combination.</a:t>
            </a:r>
          </a:p>
          <a:p>
            <a:endParaRPr lang="en-US" b="0" i="0">
              <a:solidFill>
                <a:schemeClr val="tx1"/>
              </a:solidFill>
              <a:latin typeface="Calibri" panose="020F0502020204030204" pitchFamily="34" charset="0"/>
              <a:ea typeface="+mn-lt"/>
              <a:cs typeface="+mn-lt"/>
            </a:endParaRPr>
          </a:p>
          <a:p>
            <a:r>
              <a:rPr lang="en-US" b="0" i="0">
                <a:solidFill>
                  <a:schemeClr val="tx1"/>
                </a:solidFill>
                <a:latin typeface="Calibri" panose="020F0502020204030204" pitchFamily="34" charset="0"/>
                <a:ea typeface="+mn-lt"/>
                <a:cs typeface="+mn-lt"/>
              </a:rPr>
              <a:t>[Sources]</a:t>
            </a:r>
          </a:p>
          <a:p>
            <a:r>
              <a:rPr lang="en-US" b="0" i="0">
                <a:solidFill>
                  <a:schemeClr val="tx1"/>
                </a:solidFill>
                <a:latin typeface="Calibri" panose="020F0502020204030204" pitchFamily="34" charset="0"/>
                <a:ea typeface="+mn-lt"/>
                <a:cs typeface="+mn-lt"/>
              </a:rPr>
              <a:t>- thesis_docs/CHAPTER_IV_RESULTS_AND_DISCUSSION.md (Table 4.2 and Section 4.7)</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chemeClr val="tx1"/>
                </a:solidFill>
                <a:latin typeface="Calibri" panose="020F0502020204030204" pitchFamily="34" charset="0"/>
                <a:ea typeface="+mn-lt"/>
                <a:cs typeface="+mn-lt"/>
              </a:rPr>
              <a:t>The conclusions answer the objectives directly. First, the static approaches missed more positive conversations. Second, we completed the two-layer module and its review interface. Third, the primary LSTM improved recall and reduced false negatives. Together, these results show that the general objective was achieved. The next work is external validation, targeted ablations, and evaluation with actual moderation workflows.</a:t>
            </a:r>
          </a:p>
          <a:p>
            <a:endParaRPr lang="en-US" b="0" i="0">
              <a:solidFill>
                <a:schemeClr val="tx1"/>
              </a:solidFill>
              <a:latin typeface="Calibri" panose="020F0502020204030204" pitchFamily="34" charset="0"/>
              <a:ea typeface="+mn-lt"/>
              <a:cs typeface="+mn-lt"/>
            </a:endParaRPr>
          </a:p>
          <a:p>
            <a:r>
              <a:rPr lang="en-US" b="0" i="0">
                <a:solidFill>
                  <a:schemeClr val="tx1"/>
                </a:solidFill>
                <a:latin typeface="Calibri" panose="020F0502020204030204" pitchFamily="34" charset="0"/>
                <a:ea typeface="+mn-lt"/>
                <a:cs typeface="+mn-lt"/>
              </a:rPr>
              <a:t>[Sources]</a:t>
            </a:r>
          </a:p>
          <a:p>
            <a:r>
              <a:rPr lang="en-US" b="0" i="0">
                <a:solidFill>
                  <a:schemeClr val="tx1"/>
                </a:solidFill>
                <a:latin typeface="Calibri" panose="020F0502020204030204" pitchFamily="34" charset="0"/>
                <a:ea typeface="+mn-lt"/>
                <a:cs typeface="+mn-lt"/>
              </a:rPr>
              <a:t>- thesis_docs/CHAPTER_V_SUMMARY_CONCLUSIONS_AND_RECOMMENDATIONS.md (Sections 5.2 and 5.3)</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In summary, the study delivered the proposed two-layer module, and the held-out results show that contextual and trajectory modeling reduced missed positive conversations compared with the tested static approaches. Thank you. We are ready for your questions.</a:t>
            </a:r>
          </a:p>
          <a:p>
            <a:endParaRPr lang="en-US">
              <a:latin typeface="Calibri" panose="020F0502020204030204" pitchFamily="34" charset="0"/>
            </a:endParaRPr>
          </a:p>
          <a:p>
            <a:r>
              <a:rPr lang="en-US">
                <a:latin typeface="Calibri" panose="020F0502020204030204" pitchFamily="34" charset="0"/>
              </a:rPr>
              <a:t>[Sources]</a:t>
            </a:r>
          </a:p>
          <a:p>
            <a:r>
              <a:rPr lang="en-US">
                <a:latin typeface="Calibri" panose="020F0502020204030204" pitchFamily="34" charset="0"/>
              </a:rPr>
              <a:t>- thesis_docs/CHAPTER_V_SUMMARY_CONCLUSIONS_AND_RECOMMENDATIONS.md</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alpha val="54000"/>
          </a:schemeClr>
        </a:solidFill>
        <a:effectLst/>
      </p:bgPr>
    </p:bg>
    <p:spTree>
      <p:nvGrpSpPr>
        <p:cNvPr id="1" name=""/>
        <p:cNvGrpSpPr/>
        <p:nvPr/>
      </p:nvGrpSpPr>
      <p:grpSpPr>
        <a:xfrm>
          <a:off x="0" y="0"/>
          <a:ext cx="0" cy="0"/>
          <a:chOff x="0" y="0"/>
          <a:chExt cx="0" cy="0"/>
        </a:xfrm>
      </p:grpSpPr>
      <p:pic>
        <p:nvPicPr>
          <p:cNvPr id="21" name="Picture 11"/>
          <p:cNvPicPr>
            <a:picLocks noChangeAspect="1"/>
          </p:cNvPicPr>
          <p:nvPr/>
        </p:nvPicPr>
        <p:blipFill>
          <a:blip r:embed="rId2"/>
          <a:stretch>
            <a:fillRect/>
          </a:stretch>
        </p:blipFill>
        <p:spPr>
          <a:xfrm>
            <a:off x="0" y="0"/>
            <a:ext cx="12191999" cy="6858000"/>
          </a:xfrm>
          <a:prstGeom prst="rect">
            <a:avLst/>
          </a:prstGeom>
        </p:spPr>
      </p:pic>
      <p:sp>
        <p:nvSpPr>
          <p:cNvPr id="2" name="Title 1">
            <a:extLst>
              <a:ext uri="{FF2B5EF4-FFF2-40B4-BE49-F238E27FC236}">
                <a16:creationId xmlns:a16="http://schemas.microsoft.com/office/drawing/2014/main" id="{8085120E-655A-8FD8-CB7D-DD765B31293A}"/>
              </a:ext>
            </a:extLst>
          </p:cNvPr>
          <p:cNvSpPr>
            <a:spLocks noGrp="1"/>
          </p:cNvSpPr>
          <p:nvPr>
            <p:ph type="ctrTitle"/>
          </p:nvPr>
        </p:nvSpPr>
        <p:spPr>
          <a:xfrm>
            <a:off x="6096000" y="1122363"/>
            <a:ext cx="5077521" cy="2387600"/>
          </a:xfrm>
        </p:spPr>
        <p:txBody>
          <a:bodyPr anchor="b"/>
          <a:lstStyle>
            <a:lvl1pPr algn="l">
              <a:buNone/>
              <a:defRPr sz="6000">
                <a:solidFill>
                  <a:schemeClr val="bg1"/>
                </a:solidFill>
              </a:defRPr>
            </a:lvl1pPr>
          </a:lstStyle>
          <a:p>
            <a:r>
              <a:t>Click to edit Master title style</a:t>
            </a:r>
          </a:p>
        </p:txBody>
      </p:sp>
      <p:sp>
        <p:nvSpPr>
          <p:cNvPr id="3" name="Subtitle 2">
            <a:extLst>
              <a:ext uri="{FF2B5EF4-FFF2-40B4-BE49-F238E27FC236}">
                <a16:creationId xmlns:a16="http://schemas.microsoft.com/office/drawing/2014/main" id="{916988A7-3F4B-21EA-264D-4EF35F036658}"/>
              </a:ext>
            </a:extLst>
          </p:cNvPr>
          <p:cNvSpPr>
            <a:spLocks noGrp="1"/>
          </p:cNvSpPr>
          <p:nvPr>
            <p:ph type="subTitle" idx="1"/>
          </p:nvPr>
        </p:nvSpPr>
        <p:spPr>
          <a:xfrm>
            <a:off x="6096000" y="3602038"/>
            <a:ext cx="5077521" cy="1655762"/>
          </a:xfrm>
        </p:spPr>
        <p:txBody>
          <a:bodyPr/>
          <a:lstStyle>
            <a:lvl1pPr marL="0" indent="0" algn="l">
              <a:buNone/>
              <a:defRPr sz="2400">
                <a:solidFill>
                  <a:schemeClr val="bg1">
                    <a:lumMod val="8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5" name="Footer Placeholder 4">
            <a:extLst>
              <a:ext uri="{FF2B5EF4-FFF2-40B4-BE49-F238E27FC236}">
                <a16:creationId xmlns:a16="http://schemas.microsoft.com/office/drawing/2014/main" id="{7372C160-A834-98A5-D95A-1D3DD1BCF843}"/>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33B87298-36A1-C307-CA25-6CA619804EC5}"/>
              </a:ext>
            </a:extLst>
          </p:cNvPr>
          <p:cNvSpPr>
            <a:spLocks noGrp="1"/>
          </p:cNvSpPr>
          <p:nvPr>
            <p:ph type="sldNum" idx="12"/>
          </p:nvPr>
        </p:nvSpPr>
        <p:spPr/>
        <p:txBody>
          <a:bodyPr/>
          <a:lstStyle/>
          <a:p>
            <a:fld id="{DEA345B2-507C-43D7-80BF-79F59DDCF0A3}" type="slidenum">
              <a:t>‹#›</a:t>
            </a:fld>
            <a:endParaRPr/>
          </a:p>
        </p:txBody>
      </p:sp>
      <p:sp>
        <p:nvSpPr>
          <p:cNvPr id="16" name="Rectangle 15">
            <a:extLst>
              <a:ext uri="{FF2B5EF4-FFF2-40B4-BE49-F238E27FC236}">
                <a16:creationId xmlns:a16="http://schemas.microsoft.com/office/drawing/2014/main" id="{F52D2EBE-72FC-45F2-E7E4-6F66B911B5D4}"/>
              </a:ext>
            </a:extLst>
          </p:cNvPr>
          <p:cNvSpPr>
            <a:spLocks noGrp="1"/>
          </p:cNvSpPr>
          <p:nvPr/>
        </p:nvSpPr>
        <p:spPr>
          <a:xfrm>
            <a:off x="141889" y="5257800"/>
            <a:ext cx="3730228" cy="15984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7" name="Graphic 13"/>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092" y="261292"/>
            <a:ext cx="2018121" cy="1078777"/>
          </a:xfrm>
          <a:prstGeom prst="rect">
            <a:avLst/>
          </a:prstGeom>
        </p:spPr>
      </p:pic>
      <p:pic>
        <p:nvPicPr>
          <p:cNvPr id="28" name="Graphic 17"/>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05311" y="3976038"/>
            <a:ext cx="1680181" cy="1760189"/>
          </a:xfrm>
          <a:prstGeom prst="rect">
            <a:avLst/>
          </a:prstGeom>
        </p:spPr>
      </p:pic>
      <p:pic>
        <p:nvPicPr>
          <p:cNvPr id="29" name="Picture 18"/>
          <p:cNvPicPr>
            <a:picLocks noChangeAspect="1"/>
          </p:cNvPicPr>
          <p:nvPr/>
        </p:nvPicPr>
        <p:blipFill>
          <a:blip r:embed="rId5"/>
          <a:stretch>
            <a:fillRect/>
          </a:stretch>
        </p:blipFill>
        <p:spPr>
          <a:xfrm>
            <a:off x="916741" y="5793265"/>
            <a:ext cx="2193834" cy="793686"/>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bg1">
            <a:alpha val="54000"/>
          </a:schemeClr>
        </a:solidFill>
        <a:effectLst/>
      </p:bgPr>
    </p:bg>
    <p:spTree>
      <p:nvGrpSpPr>
        <p:cNvPr id="1" name=""/>
        <p:cNvGrpSpPr/>
        <p:nvPr/>
      </p:nvGrpSpPr>
      <p:grpSpPr>
        <a:xfrm>
          <a:off x="0" y="0"/>
          <a:ext cx="0" cy="0"/>
          <a:chOff x="0" y="0"/>
          <a:chExt cx="0" cy="0"/>
        </a:xfrm>
      </p:grpSpPr>
      <p:pic>
        <p:nvPicPr>
          <p:cNvPr id="20" name="Picture 14"/>
          <p:cNvPicPr>
            <a:picLocks noChangeAspect="1"/>
          </p:cNvPicPr>
          <p:nvPr/>
        </p:nvPicPr>
        <p:blipFill>
          <a:blip r:embed="rId2"/>
          <a:stretch>
            <a:fillRect/>
          </a:stretch>
        </p:blipFill>
        <p:spPr>
          <a:xfrm>
            <a:off x="0" y="0"/>
            <a:ext cx="12191999" cy="6858000"/>
          </a:xfrm>
          <a:prstGeom prst="rect">
            <a:avLst/>
          </a:prstGeom>
        </p:spPr>
      </p:pic>
      <p:sp>
        <p:nvSpPr>
          <p:cNvPr id="2" name="Title 1">
            <a:extLst>
              <a:ext uri="{FF2B5EF4-FFF2-40B4-BE49-F238E27FC236}">
                <a16:creationId xmlns:a16="http://schemas.microsoft.com/office/drawing/2014/main" id="{8085120E-655A-8FD8-CB7D-DD765B31293A}"/>
              </a:ext>
            </a:extLst>
          </p:cNvPr>
          <p:cNvSpPr>
            <a:spLocks noGrp="1"/>
          </p:cNvSpPr>
          <p:nvPr>
            <p:ph type="ctrTitle"/>
          </p:nvPr>
        </p:nvSpPr>
        <p:spPr>
          <a:xfrm>
            <a:off x="6096000" y="1122363"/>
            <a:ext cx="5077521" cy="2387600"/>
          </a:xfrm>
        </p:spPr>
        <p:txBody>
          <a:bodyPr anchor="b"/>
          <a:lstStyle>
            <a:lvl1pPr algn="l">
              <a:buNone/>
              <a:defRPr sz="6000">
                <a:solidFill>
                  <a:schemeClr val="bg1"/>
                </a:solidFill>
              </a:defRPr>
            </a:lvl1pPr>
          </a:lstStyle>
          <a:p>
            <a:r>
              <a:t>Click to edit Master title style</a:t>
            </a:r>
          </a:p>
        </p:txBody>
      </p:sp>
      <p:sp>
        <p:nvSpPr>
          <p:cNvPr id="3" name="Subtitle 2">
            <a:extLst>
              <a:ext uri="{FF2B5EF4-FFF2-40B4-BE49-F238E27FC236}">
                <a16:creationId xmlns:a16="http://schemas.microsoft.com/office/drawing/2014/main" id="{916988A7-3F4B-21EA-264D-4EF35F036658}"/>
              </a:ext>
            </a:extLst>
          </p:cNvPr>
          <p:cNvSpPr>
            <a:spLocks noGrp="1"/>
          </p:cNvSpPr>
          <p:nvPr>
            <p:ph type="subTitle" idx="1"/>
          </p:nvPr>
        </p:nvSpPr>
        <p:spPr>
          <a:xfrm>
            <a:off x="6096000" y="3602038"/>
            <a:ext cx="5077521" cy="1655762"/>
          </a:xfrm>
        </p:spPr>
        <p:txBody>
          <a:bodyPr/>
          <a:lstStyle>
            <a:lvl1pPr marL="0" indent="0" algn="l">
              <a:buNone/>
              <a:defRPr sz="2400">
                <a:solidFill>
                  <a:schemeClr val="bg1">
                    <a:lumMod val="8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5" name="Footer Placeholder 4">
            <a:extLst>
              <a:ext uri="{FF2B5EF4-FFF2-40B4-BE49-F238E27FC236}">
                <a16:creationId xmlns:a16="http://schemas.microsoft.com/office/drawing/2014/main" id="{7372C160-A834-98A5-D95A-1D3DD1BCF843}"/>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33B87298-36A1-C307-CA25-6CA619804EC5}"/>
              </a:ext>
            </a:extLst>
          </p:cNvPr>
          <p:cNvSpPr>
            <a:spLocks noGrp="1"/>
          </p:cNvSpPr>
          <p:nvPr>
            <p:ph type="sldNum" idx="12"/>
          </p:nvPr>
        </p:nvSpPr>
        <p:spPr/>
        <p:txBody>
          <a:bodyPr/>
          <a:lstStyle/>
          <a:p>
            <a:fld id="{DEA345B2-507C-43D7-80BF-79F59DDCF0A3}" type="slidenum">
              <a:t>‹#›</a:t>
            </a:fld>
            <a:endParaRPr/>
          </a:p>
        </p:txBody>
      </p:sp>
      <p:sp>
        <p:nvSpPr>
          <p:cNvPr id="16" name="Rectangle 15">
            <a:extLst>
              <a:ext uri="{FF2B5EF4-FFF2-40B4-BE49-F238E27FC236}">
                <a16:creationId xmlns:a16="http://schemas.microsoft.com/office/drawing/2014/main" id="{F52D2EBE-72FC-45F2-E7E4-6F66B911B5D4}"/>
              </a:ext>
            </a:extLst>
          </p:cNvPr>
          <p:cNvSpPr>
            <a:spLocks noGrp="1"/>
          </p:cNvSpPr>
          <p:nvPr/>
        </p:nvSpPr>
        <p:spPr>
          <a:xfrm>
            <a:off x="4160312" y="337011"/>
            <a:ext cx="647700" cy="12853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6" name="Graphic 8"/>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60312" y="337011"/>
            <a:ext cx="647700" cy="1295400"/>
          </a:xfrm>
          <a:prstGeom prst="rect">
            <a:avLst/>
          </a:prstGeom>
        </p:spPr>
      </p:pic>
      <p:pic>
        <p:nvPicPr>
          <p:cNvPr id="27" name="Graphic 3"/>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3092" y="261292"/>
            <a:ext cx="2018121" cy="1078777"/>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09B8A-7AB0-01A2-A126-A218F7CD2D94}"/>
              </a:ext>
            </a:extLst>
          </p:cNvPr>
          <p:cNvSpPr>
            <a:spLocks noGrp="1"/>
          </p:cNvSpPr>
          <p:nvPr>
            <p:ph type="title"/>
          </p:nvPr>
        </p:nvSpPr>
        <p:spPr>
          <a:xfrm>
            <a:off x="838200" y="365125"/>
            <a:ext cx="9781489" cy="1325563"/>
          </a:xfrm>
        </p:spPr>
        <p:txBody>
          <a:bodyPr/>
          <a:lstStyle/>
          <a:p>
            <a:r>
              <a:t>Click to edit Master title style</a:t>
            </a:r>
          </a:p>
        </p:txBody>
      </p:sp>
      <p:sp>
        <p:nvSpPr>
          <p:cNvPr id="3" name="Content Placeholder 2">
            <a:extLst>
              <a:ext uri="{FF2B5EF4-FFF2-40B4-BE49-F238E27FC236}">
                <a16:creationId xmlns:a16="http://schemas.microsoft.com/office/drawing/2014/main" id="{E2AF2D31-8C3D-DD6A-FF19-980A28830403}"/>
              </a:ext>
            </a:extLst>
          </p:cNvPr>
          <p:cNvSpPr>
            <a:spLocks noGrp="1"/>
          </p:cNvSpPr>
          <p:nvPr>
            <p:ph idx="1"/>
          </p:nvPr>
        </p:nvSpPr>
        <p:spPr>
          <a:xfrm>
            <a:off x="838200" y="1825625"/>
            <a:ext cx="9781489"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0E098455-C645-8AEB-AC43-0325DA4FAF77}"/>
              </a:ext>
            </a:extLst>
          </p:cNvPr>
          <p:cNvSpPr>
            <a:spLocks noGrp="1"/>
          </p:cNvSpPr>
          <p:nvPr>
            <p:ph type="dt" idx="10"/>
          </p:nvPr>
        </p:nvSpPr>
        <p:spPr/>
        <p:txBody>
          <a:bodyPr/>
          <a:lstStyle/>
          <a:p>
            <a:fld id="{5750368A-0602-41DA-8C72-F3668C4CC159}" type="datetimeFigureOut">
              <a:t>9/2/2026</a:t>
            </a:fld>
            <a:endParaRPr/>
          </a:p>
        </p:txBody>
      </p:sp>
      <p:sp>
        <p:nvSpPr>
          <p:cNvPr id="5" name="Footer Placeholder 4">
            <a:extLst>
              <a:ext uri="{FF2B5EF4-FFF2-40B4-BE49-F238E27FC236}">
                <a16:creationId xmlns:a16="http://schemas.microsoft.com/office/drawing/2014/main" id="{E7065D6F-F540-C08F-2265-B5D2D5CCF526}"/>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49F2013-7326-AAFC-EDFD-0E440ADDE41A}"/>
              </a:ext>
            </a:extLst>
          </p:cNvPr>
          <p:cNvSpPr>
            <a:spLocks noGrp="1"/>
          </p:cNvSpPr>
          <p:nvPr>
            <p:ph type="sldNum" idx="12"/>
          </p:nvPr>
        </p:nvSpPr>
        <p:spPr/>
        <p:txBody>
          <a:bodyPr/>
          <a:lstStyle/>
          <a:p>
            <a:fld id="{DEA345B2-507C-43D7-80BF-79F59DDCF0A3}" type="slidenum">
              <a:t>‹#›</a:t>
            </a:fld>
            <a:endParaRPr/>
          </a:p>
        </p:txBody>
      </p:sp>
      <p:sp>
        <p:nvSpPr>
          <p:cNvPr id="8" name="Rectangle 7">
            <a:extLst>
              <a:ext uri="{FF2B5EF4-FFF2-40B4-BE49-F238E27FC236}">
                <a16:creationId xmlns:a16="http://schemas.microsoft.com/office/drawing/2014/main" id="{C6FA413D-DBF3-6C5E-11D0-8AD41C06F2E3}"/>
              </a:ext>
            </a:extLst>
          </p:cNvPr>
          <p:cNvSpPr>
            <a:spLocks noGrp="1"/>
          </p:cNvSpPr>
          <p:nvPr/>
        </p:nvSpPr>
        <p:spPr>
          <a:xfrm>
            <a:off x="0" y="0"/>
            <a:ext cx="157655"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7" name="Graphic 10"/>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056153" y="153965"/>
            <a:ext cx="842573" cy="882695"/>
          </a:xfrm>
          <a:prstGeom prst="rect">
            <a:avLst/>
          </a:prstGeom>
        </p:spPr>
      </p:pic>
      <p:pic>
        <p:nvPicPr>
          <p:cNvPr id="18" name="Picture 11"/>
          <p:cNvPicPr>
            <a:picLocks noChangeAspect="1"/>
          </p:cNvPicPr>
          <p:nvPr/>
        </p:nvPicPr>
        <p:blipFill>
          <a:blip r:embed="rId3"/>
          <a:stretch>
            <a:fillRect/>
          </a:stretch>
        </p:blipFill>
        <p:spPr>
          <a:xfrm>
            <a:off x="10984081" y="1246733"/>
            <a:ext cx="1009241" cy="36512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7" name="Picture 15"/>
          <p:cNvPicPr>
            <a:picLocks noChangeAspect="1"/>
          </p:cNvPicPr>
          <p:nvPr/>
        </p:nvPicPr>
        <p:blipFill>
          <a:blip r:embed="rId2"/>
          <a:stretch>
            <a:fillRect/>
          </a:stretch>
        </p:blipFill>
        <p:spPr>
          <a:xfrm>
            <a:off x="9836" y="0"/>
            <a:ext cx="12172328" cy="6858000"/>
          </a:xfrm>
          <a:prstGeom prst="rect">
            <a:avLst/>
          </a:prstGeom>
        </p:spPr>
      </p:pic>
      <p:sp>
        <p:nvSpPr>
          <p:cNvPr id="2" name="Title 1">
            <a:extLst>
              <a:ext uri="{FF2B5EF4-FFF2-40B4-BE49-F238E27FC236}">
                <a16:creationId xmlns:a16="http://schemas.microsoft.com/office/drawing/2014/main" id="{6308B091-CA0E-212E-D29C-ACABD2F8DDFB}"/>
              </a:ext>
            </a:extLst>
          </p:cNvPr>
          <p:cNvSpPr>
            <a:spLocks noGrp="1"/>
          </p:cNvSpPr>
          <p:nvPr>
            <p:ph type="title"/>
          </p:nvPr>
        </p:nvSpPr>
        <p:spPr>
          <a:xfrm>
            <a:off x="831850" y="3657550"/>
            <a:ext cx="10062122" cy="1284059"/>
          </a:xfrm>
        </p:spPr>
        <p:txBody>
          <a:bodyPr anchor="b"/>
          <a:lstStyle>
            <a:lvl1pPr>
              <a:buNone/>
              <a:defRPr sz="6000">
                <a:solidFill>
                  <a:schemeClr val="bg1"/>
                </a:solidFill>
              </a:defRPr>
            </a:lvl1pPr>
          </a:lstStyle>
          <a:p>
            <a:r>
              <a:t>Click to edit Master title style</a:t>
            </a:r>
          </a:p>
        </p:txBody>
      </p:sp>
      <p:sp>
        <p:nvSpPr>
          <p:cNvPr id="3" name="Text Placeholder 2">
            <a:extLst>
              <a:ext uri="{FF2B5EF4-FFF2-40B4-BE49-F238E27FC236}">
                <a16:creationId xmlns:a16="http://schemas.microsoft.com/office/drawing/2014/main" id="{371A8C11-013C-7F67-5D2A-FB3AE080AD0D}"/>
              </a:ext>
            </a:extLst>
          </p:cNvPr>
          <p:cNvSpPr>
            <a:spLocks noGrp="1"/>
          </p:cNvSpPr>
          <p:nvPr>
            <p:ph type="body" idx="1"/>
          </p:nvPr>
        </p:nvSpPr>
        <p:spPr>
          <a:xfrm>
            <a:off x="831850" y="4968598"/>
            <a:ext cx="10062122" cy="843282"/>
          </a:xfrm>
        </p:spPr>
        <p:txBody>
          <a:bodyPr/>
          <a:lstStyle>
            <a:lvl1pPr marL="0" indent="0">
              <a:buNone/>
              <a:defRPr sz="2400">
                <a:solidFill>
                  <a:schemeClr val="bg1">
                    <a:lumMod val="8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D40B097E-EB72-FBAD-1C85-21B5359E6DB1}"/>
              </a:ext>
            </a:extLst>
          </p:cNvPr>
          <p:cNvSpPr>
            <a:spLocks noGrp="1"/>
          </p:cNvSpPr>
          <p:nvPr>
            <p:ph type="dt" idx="10"/>
          </p:nvPr>
        </p:nvSpPr>
        <p:spPr/>
        <p:txBody>
          <a:bodyPr/>
          <a:lstStyle/>
          <a:p>
            <a:fld id="{5750368A-0602-41DA-8C72-F3668C4CC159}" type="datetimeFigureOut">
              <a:t>9/2/2026</a:t>
            </a:fld>
            <a:endParaRPr/>
          </a:p>
        </p:txBody>
      </p:sp>
      <p:sp>
        <p:nvSpPr>
          <p:cNvPr id="5" name="Footer Placeholder 4">
            <a:extLst>
              <a:ext uri="{FF2B5EF4-FFF2-40B4-BE49-F238E27FC236}">
                <a16:creationId xmlns:a16="http://schemas.microsoft.com/office/drawing/2014/main" id="{92E519E1-451E-47E7-BC93-7F69CEEB6A0B}"/>
              </a:ext>
            </a:extLst>
          </p:cNvPr>
          <p:cNvSpPr>
            <a:spLocks noGrp="1"/>
          </p:cNvSpPr>
          <p:nvPr>
            <p:ph type="ftr" idx="11"/>
          </p:nvPr>
        </p:nvSpPr>
        <p:spPr/>
        <p:txBody>
          <a:bodyPr/>
          <a:lstStyle/>
          <a:p>
            <a:endParaRPr/>
          </a:p>
        </p:txBody>
      </p:sp>
      <p:sp>
        <p:nvSpPr>
          <p:cNvPr id="13" name="Date Placeholder 3">
            <a:extLst>
              <a:ext uri="{FF2B5EF4-FFF2-40B4-BE49-F238E27FC236}">
                <a16:creationId xmlns:a16="http://schemas.microsoft.com/office/drawing/2014/main" id="{E6B67043-CB4F-0116-BB76-C70A70583552}"/>
              </a:ext>
            </a:extLst>
          </p:cNvPr>
          <p:cNvSpPr>
            <a:spLocks noGrp="1"/>
          </p:cNvSpPr>
          <p:nvPr/>
        </p:nvSpPr>
        <p:spPr>
          <a:xfrm>
            <a:off x="838200" y="6357212"/>
            <a:ext cx="2743200" cy="365125"/>
          </a:xfrm>
          <a:prstGeom prst="rect">
            <a:avLst/>
          </a:prstGeom>
        </p:spPr>
        <p:txBody>
          <a:bodyPr vert="horz" lIns="91440" tIns="45720" rIns="91440" bIns="45720" anchor="ctr"/>
          <a:lstStyle>
            <a:lvl1pPr marL="0" algn="l"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fld id="{5750368A-0602-41DA-8C72-F3668C4CC159}" type="datetimeFigureOut">
              <a:t>9/2/2026</a:t>
            </a:fld>
            <a:endParaRPr/>
          </a:p>
        </p:txBody>
      </p:sp>
      <p:sp>
        <p:nvSpPr>
          <p:cNvPr id="11" name="Rectangle 10">
            <a:extLst>
              <a:ext uri="{FF2B5EF4-FFF2-40B4-BE49-F238E27FC236}">
                <a16:creationId xmlns:a16="http://schemas.microsoft.com/office/drawing/2014/main" id="{D1544972-4926-2F64-D0DC-83BF6176CC0D}"/>
              </a:ext>
            </a:extLst>
          </p:cNvPr>
          <p:cNvSpPr>
            <a:spLocks noGrp="1"/>
          </p:cNvSpPr>
          <p:nvPr/>
        </p:nvSpPr>
        <p:spPr>
          <a:xfrm>
            <a:off x="11407448" y="5473373"/>
            <a:ext cx="647700" cy="12853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4" name="Graphic 11"/>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07448" y="5473373"/>
            <a:ext cx="647700" cy="1295400"/>
          </a:xfrm>
          <a:prstGeom prst="rect">
            <a:avLst/>
          </a:prstGeom>
        </p:spPr>
      </p:pic>
      <p:pic>
        <p:nvPicPr>
          <p:cNvPr id="25" name="Graphic 13"/>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73253" y="261293"/>
            <a:ext cx="1292556" cy="69093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B5681-F3A2-40A5-A9EA-7166B07C9EA6}"/>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2EB8B488-E7D3-935C-277F-C21ECB6D87A0}"/>
              </a:ext>
            </a:extLst>
          </p:cNvPr>
          <p:cNvSpPr>
            <a:spLocks noGrp="1"/>
          </p:cNvSpPr>
          <p:nvPr>
            <p:ph idx="1"/>
          </p:nvPr>
        </p:nvSpPr>
        <p:spPr>
          <a:xfrm>
            <a:off x="838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795AA6DE-DDA8-FF2B-FD76-96F4B00724E9}"/>
              </a:ext>
            </a:extLst>
          </p:cNvPr>
          <p:cNvSpPr>
            <a:spLocks noGrp="1"/>
          </p:cNvSpPr>
          <p:nvPr>
            <p:ph idx="2"/>
          </p:nvPr>
        </p:nvSpPr>
        <p:spPr>
          <a:xfrm>
            <a:off x="6172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26C2EDAA-B6F0-BAE3-0023-77078903916A}"/>
              </a:ext>
            </a:extLst>
          </p:cNvPr>
          <p:cNvSpPr>
            <a:spLocks noGrp="1"/>
          </p:cNvSpPr>
          <p:nvPr>
            <p:ph type="dt" idx="10"/>
          </p:nvPr>
        </p:nvSpPr>
        <p:spPr/>
        <p:txBody>
          <a:bodyPr/>
          <a:lstStyle/>
          <a:p>
            <a:fld id="{5750368A-0602-41DA-8C72-F3668C4CC159}" type="datetimeFigureOut">
              <a:t>9/2/2026</a:t>
            </a:fld>
            <a:endParaRPr/>
          </a:p>
        </p:txBody>
      </p:sp>
      <p:sp>
        <p:nvSpPr>
          <p:cNvPr id="6" name="Footer Placeholder 5">
            <a:extLst>
              <a:ext uri="{FF2B5EF4-FFF2-40B4-BE49-F238E27FC236}">
                <a16:creationId xmlns:a16="http://schemas.microsoft.com/office/drawing/2014/main" id="{DC10A058-AA1A-CDC2-FF66-8D3A35F6DB46}"/>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1489E0F8-44E2-4A76-2B57-8359A388CD9C}"/>
              </a:ext>
            </a:extLst>
          </p:cNvPr>
          <p:cNvSpPr>
            <a:spLocks noGrp="1"/>
          </p:cNvSpPr>
          <p:nvPr>
            <p:ph type="sldNum" idx="12"/>
          </p:nvPr>
        </p:nvSpPr>
        <p:spPr/>
        <p:txBody>
          <a:bodyPr/>
          <a:lstStyle/>
          <a:p>
            <a:fld id="{DEA345B2-507C-43D7-80BF-79F59DDCF0A3}" type="slidenum">
              <a:t>‹#›</a:t>
            </a:fld>
            <a:endParaRPr/>
          </a:p>
        </p:txBody>
      </p:sp>
      <p:sp>
        <p:nvSpPr>
          <p:cNvPr id="10" name="Rectangle 9">
            <a:extLst>
              <a:ext uri="{FF2B5EF4-FFF2-40B4-BE49-F238E27FC236}">
                <a16:creationId xmlns:a16="http://schemas.microsoft.com/office/drawing/2014/main" id="{4D025B53-CC35-C249-1081-E752796BE041}"/>
              </a:ext>
            </a:extLst>
          </p:cNvPr>
          <p:cNvSpPr>
            <a:spLocks noGrp="1"/>
          </p:cNvSpPr>
          <p:nvPr/>
        </p:nvSpPr>
        <p:spPr>
          <a:xfrm>
            <a:off x="98087" y="78344"/>
            <a:ext cx="647700" cy="12853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0" name="Graphic 10"/>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8087" y="78344"/>
            <a:ext cx="647700" cy="1295400"/>
          </a:xfrm>
          <a:prstGeom prst="rect">
            <a:avLst/>
          </a:prstGeom>
        </p:spPr>
      </p:pic>
      <p:pic>
        <p:nvPicPr>
          <p:cNvPr id="21" name="Graphic 11"/>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73253" y="261293"/>
            <a:ext cx="1292556" cy="69093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779F0-5F10-E13F-AB63-76AC9A23EA8A}"/>
              </a:ext>
            </a:extLst>
          </p:cNvPr>
          <p:cNvSpPr>
            <a:spLocks noGrp="1"/>
          </p:cNvSpPr>
          <p:nvPr>
            <p:ph type="title"/>
          </p:nvPr>
        </p:nvSpPr>
        <p:spPr>
          <a:xfrm>
            <a:off x="839788" y="365125"/>
            <a:ext cx="10515600" cy="1325563"/>
          </a:xfrm>
        </p:spPr>
        <p:txBody>
          <a:bodyPr/>
          <a:lstStyle/>
          <a:p>
            <a:r>
              <a:t>Click to edit Master title style</a:t>
            </a:r>
          </a:p>
        </p:txBody>
      </p:sp>
      <p:sp>
        <p:nvSpPr>
          <p:cNvPr id="3" name="Text Placeholder 2">
            <a:extLst>
              <a:ext uri="{FF2B5EF4-FFF2-40B4-BE49-F238E27FC236}">
                <a16:creationId xmlns:a16="http://schemas.microsoft.com/office/drawing/2014/main" id="{A58DFCF9-73B2-EF35-7501-7BE217954C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66B7AC54-B991-35A0-F037-68B94E344518}"/>
              </a:ext>
            </a:extLst>
          </p:cNvPr>
          <p:cNvSpPr>
            <a:spLocks noGrp="1"/>
          </p:cNvSpPr>
          <p:nvPr>
            <p:ph idx="2"/>
          </p:nvPr>
        </p:nvSpPr>
        <p:spPr>
          <a:xfrm>
            <a:off x="839788" y="2505075"/>
            <a:ext cx="5157787"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C28D6D34-BBA3-122B-A6D7-45A5E90F8C64}"/>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CAFA6EFC-F0B8-F706-C203-A56328A24E13}"/>
              </a:ext>
            </a:extLst>
          </p:cNvPr>
          <p:cNvSpPr>
            <a:spLocks noGrp="1"/>
          </p:cNvSpPr>
          <p:nvPr>
            <p:ph idx="4"/>
          </p:nvPr>
        </p:nvSpPr>
        <p:spPr>
          <a:xfrm>
            <a:off x="6172200" y="2505075"/>
            <a:ext cx="5183188"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DFCEBC52-F71A-B504-62EF-9D7E439E71B0}"/>
              </a:ext>
            </a:extLst>
          </p:cNvPr>
          <p:cNvSpPr>
            <a:spLocks noGrp="1"/>
          </p:cNvSpPr>
          <p:nvPr>
            <p:ph type="dt" idx="10"/>
          </p:nvPr>
        </p:nvSpPr>
        <p:spPr/>
        <p:txBody>
          <a:bodyPr/>
          <a:lstStyle/>
          <a:p>
            <a:fld id="{5750368A-0602-41DA-8C72-F3668C4CC159}" type="datetimeFigureOut">
              <a:t>9/2/2026</a:t>
            </a:fld>
            <a:endParaRPr/>
          </a:p>
        </p:txBody>
      </p:sp>
      <p:sp>
        <p:nvSpPr>
          <p:cNvPr id="8" name="Footer Placeholder 7">
            <a:extLst>
              <a:ext uri="{FF2B5EF4-FFF2-40B4-BE49-F238E27FC236}">
                <a16:creationId xmlns:a16="http://schemas.microsoft.com/office/drawing/2014/main" id="{147BD498-27EC-05AD-4788-497CF407CAB5}"/>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06AD9F0F-FA93-6068-7489-31750FAC1EAC}"/>
              </a:ext>
            </a:extLst>
          </p:cNvPr>
          <p:cNvSpPr>
            <a:spLocks noGrp="1"/>
          </p:cNvSpPr>
          <p:nvPr>
            <p:ph type="sldNum" idx="12"/>
          </p:nvPr>
        </p:nvSpPr>
        <p:spPr/>
        <p:txBody>
          <a:bodyPr/>
          <a:lstStyle/>
          <a:p>
            <a:fld id="{DEA345B2-507C-43D7-80BF-79F59DDCF0A3}" type="slidenum">
              <a:t>‹#›</a:t>
            </a:fld>
            <a:endParaRPr/>
          </a:p>
        </p:txBody>
      </p:sp>
      <p:sp>
        <p:nvSpPr>
          <p:cNvPr id="12" name="Rectangle 11">
            <a:extLst>
              <a:ext uri="{FF2B5EF4-FFF2-40B4-BE49-F238E27FC236}">
                <a16:creationId xmlns:a16="http://schemas.microsoft.com/office/drawing/2014/main" id="{56B6D730-5CCC-3A0F-07C5-E177B23EB431}"/>
              </a:ext>
            </a:extLst>
          </p:cNvPr>
          <p:cNvSpPr>
            <a:spLocks noGrp="1"/>
          </p:cNvSpPr>
          <p:nvPr/>
        </p:nvSpPr>
        <p:spPr>
          <a:xfrm>
            <a:off x="98087" y="78344"/>
            <a:ext cx="647700" cy="12853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4" name="Graphic 12"/>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8087" y="78344"/>
            <a:ext cx="647700" cy="1295400"/>
          </a:xfrm>
          <a:prstGeom prst="rect">
            <a:avLst/>
          </a:prstGeom>
        </p:spPr>
      </p:pic>
      <p:pic>
        <p:nvPicPr>
          <p:cNvPr id="25" name="Graphic 13"/>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73253" y="261293"/>
            <a:ext cx="1292556" cy="69093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69776FB-D0A1-D9FE-95EC-7FC45484C5D7}"/>
              </a:ext>
            </a:extLst>
          </p:cNvPr>
          <p:cNvSpPr>
            <a:spLocks noGrp="1"/>
          </p:cNvSpPr>
          <p:nvPr/>
        </p:nvSpPr>
        <p:spPr>
          <a:xfrm>
            <a:off x="0" y="6721474"/>
            <a:ext cx="12191999" cy="150019"/>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 name="Title 1">
            <a:extLst>
              <a:ext uri="{FF2B5EF4-FFF2-40B4-BE49-F238E27FC236}">
                <a16:creationId xmlns:a16="http://schemas.microsoft.com/office/drawing/2014/main" id="{71F2FE27-8077-08F7-450C-470C035521CE}"/>
              </a:ext>
            </a:extLst>
          </p:cNvPr>
          <p:cNvSpPr>
            <a:spLocks noGrp="1"/>
          </p:cNvSpPr>
          <p:nvPr>
            <p:ph type="title"/>
          </p:nvPr>
        </p:nvSpPr>
        <p:spPr>
          <a:xfrm>
            <a:off x="838200" y="365125"/>
            <a:ext cx="9144000" cy="1325563"/>
          </a:xfrm>
        </p:spPr>
        <p:txBody>
          <a:bodyPr/>
          <a:lstStyle/>
          <a:p>
            <a:r>
              <a:t>Click to edit Master title style</a:t>
            </a:r>
          </a:p>
        </p:txBody>
      </p:sp>
      <p:sp>
        <p:nvSpPr>
          <p:cNvPr id="3" name="Date Placeholder 2">
            <a:extLst>
              <a:ext uri="{FF2B5EF4-FFF2-40B4-BE49-F238E27FC236}">
                <a16:creationId xmlns:a16="http://schemas.microsoft.com/office/drawing/2014/main" id="{9C5E2896-F43F-2CDC-4FAE-F1178C67D403}"/>
              </a:ext>
            </a:extLst>
          </p:cNvPr>
          <p:cNvSpPr>
            <a:spLocks noGrp="1"/>
          </p:cNvSpPr>
          <p:nvPr>
            <p:ph type="dt" idx="10"/>
          </p:nvPr>
        </p:nvSpPr>
        <p:spPr/>
        <p:txBody>
          <a:bodyPr/>
          <a:lstStyle/>
          <a:p>
            <a:fld id="{5750368A-0602-41DA-8C72-F3668C4CC159}" type="datetimeFigureOut">
              <a:t>9/2/2026</a:t>
            </a:fld>
            <a:endParaRPr/>
          </a:p>
        </p:txBody>
      </p:sp>
      <p:sp>
        <p:nvSpPr>
          <p:cNvPr id="4" name="Footer Placeholder 3">
            <a:extLst>
              <a:ext uri="{FF2B5EF4-FFF2-40B4-BE49-F238E27FC236}">
                <a16:creationId xmlns:a16="http://schemas.microsoft.com/office/drawing/2014/main" id="{F563C219-D37D-2418-305D-047051B022B0}"/>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BE6278F9-514F-8E85-6413-B3DB744CE38B}"/>
              </a:ext>
            </a:extLst>
          </p:cNvPr>
          <p:cNvSpPr>
            <a:spLocks noGrp="1"/>
          </p:cNvSpPr>
          <p:nvPr>
            <p:ph type="sldNum" idx="12"/>
          </p:nvPr>
        </p:nvSpPr>
        <p:spPr/>
        <p:txBody>
          <a:bodyPr/>
          <a:lstStyle/>
          <a:p>
            <a:fld id="{DEA345B2-507C-43D7-80BF-79F59DDCF0A3}" type="slidenum">
              <a:t>‹#›</a:t>
            </a:fld>
            <a:endParaRPr/>
          </a:p>
        </p:txBody>
      </p:sp>
      <p:sp>
        <p:nvSpPr>
          <p:cNvPr id="9" name="Rectangle 8">
            <a:extLst>
              <a:ext uri="{FF2B5EF4-FFF2-40B4-BE49-F238E27FC236}">
                <a16:creationId xmlns:a16="http://schemas.microsoft.com/office/drawing/2014/main" id="{36BE3AD5-276B-966C-24E2-2E7C8C7B4B3B}"/>
              </a:ext>
            </a:extLst>
          </p:cNvPr>
          <p:cNvSpPr>
            <a:spLocks noGrp="1"/>
          </p:cNvSpPr>
          <p:nvPr/>
        </p:nvSpPr>
        <p:spPr>
          <a:xfrm>
            <a:off x="98087" y="78344"/>
            <a:ext cx="647700" cy="12853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8" name="Graphic 9"/>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8087" y="78344"/>
            <a:ext cx="647700" cy="1295400"/>
          </a:xfrm>
          <a:prstGeom prst="rect">
            <a:avLst/>
          </a:prstGeom>
        </p:spPr>
      </p:pic>
      <p:pic>
        <p:nvPicPr>
          <p:cNvPr id="19" name="Graphic 10"/>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73253" y="261293"/>
            <a:ext cx="1292556" cy="69093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2FE27-8077-08F7-450C-470C035521CE}"/>
              </a:ext>
            </a:extLst>
          </p:cNvPr>
          <p:cNvSpPr>
            <a:spLocks noGrp="1"/>
          </p:cNvSpPr>
          <p:nvPr>
            <p:ph type="title"/>
          </p:nvPr>
        </p:nvSpPr>
        <p:spPr>
          <a:xfrm>
            <a:off x="838200" y="365125"/>
            <a:ext cx="9144000" cy="1325563"/>
          </a:xfrm>
        </p:spPr>
        <p:txBody>
          <a:bodyPr/>
          <a:lstStyle/>
          <a:p>
            <a:r>
              <a:t>Click to edit Master title style</a:t>
            </a:r>
          </a:p>
        </p:txBody>
      </p:sp>
      <p:sp>
        <p:nvSpPr>
          <p:cNvPr id="3" name="Date Placeholder 2">
            <a:extLst>
              <a:ext uri="{FF2B5EF4-FFF2-40B4-BE49-F238E27FC236}">
                <a16:creationId xmlns:a16="http://schemas.microsoft.com/office/drawing/2014/main" id="{9C5E2896-F43F-2CDC-4FAE-F1178C67D403}"/>
              </a:ext>
            </a:extLst>
          </p:cNvPr>
          <p:cNvSpPr>
            <a:spLocks noGrp="1"/>
          </p:cNvSpPr>
          <p:nvPr>
            <p:ph type="dt" idx="10"/>
          </p:nvPr>
        </p:nvSpPr>
        <p:spPr/>
        <p:txBody>
          <a:bodyPr/>
          <a:lstStyle/>
          <a:p>
            <a:fld id="{5750368A-0602-41DA-8C72-F3668C4CC159}" type="datetimeFigureOut">
              <a:t>9/2/2026</a:t>
            </a:fld>
            <a:endParaRPr/>
          </a:p>
        </p:txBody>
      </p:sp>
      <p:sp>
        <p:nvSpPr>
          <p:cNvPr id="4" name="Footer Placeholder 3">
            <a:extLst>
              <a:ext uri="{FF2B5EF4-FFF2-40B4-BE49-F238E27FC236}">
                <a16:creationId xmlns:a16="http://schemas.microsoft.com/office/drawing/2014/main" id="{F563C219-D37D-2418-305D-047051B022B0}"/>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BE6278F9-514F-8E85-6413-B3DB744CE38B}"/>
              </a:ext>
            </a:extLst>
          </p:cNvPr>
          <p:cNvSpPr>
            <a:spLocks noGrp="1"/>
          </p:cNvSpPr>
          <p:nvPr>
            <p:ph type="sldNum" idx="12"/>
          </p:nvPr>
        </p:nvSpPr>
        <p:spPr/>
        <p:txBody>
          <a:bodyPr/>
          <a:lstStyle/>
          <a:p>
            <a:fld id="{DEA345B2-507C-43D7-80BF-79F59DDCF0A3}" type="slidenum">
              <a:t>‹#›</a:t>
            </a:fld>
            <a:endParaRPr/>
          </a:p>
        </p:txBody>
      </p:sp>
      <p:sp>
        <p:nvSpPr>
          <p:cNvPr id="7" name="Rectangle 6">
            <a:extLst>
              <a:ext uri="{FF2B5EF4-FFF2-40B4-BE49-F238E27FC236}">
                <a16:creationId xmlns:a16="http://schemas.microsoft.com/office/drawing/2014/main" id="{D11C6594-2F3D-BF1F-E328-BEF238877366}"/>
              </a:ext>
            </a:extLst>
          </p:cNvPr>
          <p:cNvSpPr>
            <a:spLocks noGrp="1"/>
          </p:cNvSpPr>
          <p:nvPr/>
        </p:nvSpPr>
        <p:spPr>
          <a:xfrm>
            <a:off x="12021015" y="0"/>
            <a:ext cx="170984"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Rectangle 8">
            <a:extLst>
              <a:ext uri="{FF2B5EF4-FFF2-40B4-BE49-F238E27FC236}">
                <a16:creationId xmlns:a16="http://schemas.microsoft.com/office/drawing/2014/main" id="{6F2C923C-188F-78A4-9EBF-A50E775EE8BF}"/>
              </a:ext>
            </a:extLst>
          </p:cNvPr>
          <p:cNvSpPr>
            <a:spLocks noGrp="1"/>
          </p:cNvSpPr>
          <p:nvPr/>
        </p:nvSpPr>
        <p:spPr>
          <a:xfrm>
            <a:off x="98087" y="78344"/>
            <a:ext cx="647700" cy="12853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8" name="Graphic 9"/>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8087" y="78344"/>
            <a:ext cx="647700" cy="1295400"/>
          </a:xfrm>
          <a:prstGeom prst="rect">
            <a:avLst/>
          </a:prstGeom>
        </p:spPr>
      </p:pic>
      <p:pic>
        <p:nvPicPr>
          <p:cNvPr id="19" name="Graphic 7"/>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73253" y="261293"/>
            <a:ext cx="1292556" cy="69093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8FCBA4-BC60-BBA3-1928-200ADA4CB434}"/>
              </a:ext>
            </a:extLst>
          </p:cNvPr>
          <p:cNvSpPr>
            <a:spLocks noGrp="1"/>
          </p:cNvSpPr>
          <p:nvPr>
            <p:ph type="dt" idx="10"/>
          </p:nvPr>
        </p:nvSpPr>
        <p:spPr/>
        <p:txBody>
          <a:bodyPr/>
          <a:lstStyle/>
          <a:p>
            <a:fld id="{5750368A-0602-41DA-8C72-F3668C4CC159}" type="datetimeFigureOut">
              <a:t>9/2/2026</a:t>
            </a:fld>
            <a:endParaRPr/>
          </a:p>
        </p:txBody>
      </p:sp>
      <p:sp>
        <p:nvSpPr>
          <p:cNvPr id="3" name="Footer Placeholder 2">
            <a:extLst>
              <a:ext uri="{FF2B5EF4-FFF2-40B4-BE49-F238E27FC236}">
                <a16:creationId xmlns:a16="http://schemas.microsoft.com/office/drawing/2014/main" id="{FBF75781-DD6B-802C-A2A1-0C35279A16A1}"/>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01782606-1EA0-41A1-3BF0-BF1A775C445A}"/>
              </a:ext>
            </a:extLst>
          </p:cNvPr>
          <p:cNvSpPr>
            <a:spLocks noGrp="1"/>
          </p:cNvSpPr>
          <p:nvPr>
            <p:ph type="sldNum" idx="12"/>
          </p:nvPr>
        </p:nvSpPr>
        <p:spPr/>
        <p:txBody>
          <a:bodyPr/>
          <a:lstStyle/>
          <a:p>
            <a:fld id="{DEA345B2-507C-43D7-80BF-79F59DDCF0A3}" type="slidenum">
              <a:t>‹#›</a:t>
            </a:fld>
            <a:endParaRPr/>
          </a:p>
        </p:txBody>
      </p:sp>
      <p:sp>
        <p:nvSpPr>
          <p:cNvPr id="5" name="Rectangle 4">
            <a:extLst>
              <a:ext uri="{FF2B5EF4-FFF2-40B4-BE49-F238E27FC236}">
                <a16:creationId xmlns:a16="http://schemas.microsoft.com/office/drawing/2014/main" id="{CBC13CDF-943F-636D-D5DB-2FDBB1961722}"/>
              </a:ext>
            </a:extLst>
          </p:cNvPr>
          <p:cNvSpPr>
            <a:spLocks noGrp="1"/>
          </p:cNvSpPr>
          <p:nvPr/>
        </p:nvSpPr>
        <p:spPr>
          <a:xfrm>
            <a:off x="0" y="0"/>
            <a:ext cx="157655"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Rectangle 7">
            <a:extLst>
              <a:ext uri="{FF2B5EF4-FFF2-40B4-BE49-F238E27FC236}">
                <a16:creationId xmlns:a16="http://schemas.microsoft.com/office/drawing/2014/main" id="{00C19DF9-E21D-1085-1DFC-9FE4B99E53AD}"/>
              </a:ext>
            </a:extLst>
          </p:cNvPr>
          <p:cNvSpPr>
            <a:spLocks noGrp="1"/>
          </p:cNvSpPr>
          <p:nvPr/>
        </p:nvSpPr>
        <p:spPr>
          <a:xfrm>
            <a:off x="98087" y="-9437"/>
            <a:ext cx="647700" cy="12853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6" name="Graphic 8"/>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8087" y="-9437"/>
            <a:ext cx="647700" cy="1295400"/>
          </a:xfrm>
          <a:prstGeom prst="rect">
            <a:avLst/>
          </a:prstGeom>
        </p:spPr>
      </p:pic>
      <p:pic>
        <p:nvPicPr>
          <p:cNvPr id="17" name="Graphic 9"/>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73253" y="261293"/>
            <a:ext cx="1292556" cy="69093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5ECBE-34FA-41CD-B39E-E682DB66CCF8}"/>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Content Placeholder 2">
            <a:extLst>
              <a:ext uri="{FF2B5EF4-FFF2-40B4-BE49-F238E27FC236}">
                <a16:creationId xmlns:a16="http://schemas.microsoft.com/office/drawing/2014/main" id="{75407737-3DE7-D4A3-E002-F26143FB5EA5}"/>
              </a:ext>
            </a:extLst>
          </p:cNvPr>
          <p:cNvSpPr>
            <a:spLocks noGrp="1"/>
          </p:cNvSpPr>
          <p:nvPr>
            <p:ph idx="1"/>
          </p:nvPr>
        </p:nvSpPr>
        <p:spPr>
          <a:xfrm>
            <a:off x="5183188" y="1244600"/>
            <a:ext cx="6172200" cy="4616450"/>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27DDE05A-F981-052B-D9CA-2307E6582F24}"/>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E2B4FF3B-390C-C8D3-3713-88461DB202A3}"/>
              </a:ext>
            </a:extLst>
          </p:cNvPr>
          <p:cNvSpPr>
            <a:spLocks noGrp="1"/>
          </p:cNvSpPr>
          <p:nvPr>
            <p:ph type="dt" idx="10"/>
          </p:nvPr>
        </p:nvSpPr>
        <p:spPr/>
        <p:txBody>
          <a:bodyPr/>
          <a:lstStyle/>
          <a:p>
            <a:fld id="{5750368A-0602-41DA-8C72-F3668C4CC159}" type="datetimeFigureOut">
              <a:t>9/2/2026</a:t>
            </a:fld>
            <a:endParaRPr/>
          </a:p>
        </p:txBody>
      </p:sp>
      <p:sp>
        <p:nvSpPr>
          <p:cNvPr id="6" name="Footer Placeholder 5">
            <a:extLst>
              <a:ext uri="{FF2B5EF4-FFF2-40B4-BE49-F238E27FC236}">
                <a16:creationId xmlns:a16="http://schemas.microsoft.com/office/drawing/2014/main" id="{508635E4-8B8B-231A-102E-E0EF2EE4228E}"/>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A6EB191B-A130-1FB5-D1C7-27E0B608ADBF}"/>
              </a:ext>
            </a:extLst>
          </p:cNvPr>
          <p:cNvSpPr>
            <a:spLocks noGrp="1"/>
          </p:cNvSpPr>
          <p:nvPr>
            <p:ph type="sldNum" idx="12"/>
          </p:nvPr>
        </p:nvSpPr>
        <p:spPr/>
        <p:txBody>
          <a:bodyPr/>
          <a:lstStyle/>
          <a:p>
            <a:fld id="{DEA345B2-507C-43D7-80BF-79F59DDCF0A3}" type="slidenum">
              <a:t>‹#›</a:t>
            </a:fld>
            <a:endParaRPr/>
          </a:p>
        </p:txBody>
      </p:sp>
      <p:sp>
        <p:nvSpPr>
          <p:cNvPr id="8" name="Rectangle 7">
            <a:extLst>
              <a:ext uri="{FF2B5EF4-FFF2-40B4-BE49-F238E27FC236}">
                <a16:creationId xmlns:a16="http://schemas.microsoft.com/office/drawing/2014/main" id="{70DD950B-956C-0CC5-90DF-600294A61021}"/>
              </a:ext>
            </a:extLst>
          </p:cNvPr>
          <p:cNvSpPr>
            <a:spLocks noGrp="1"/>
          </p:cNvSpPr>
          <p:nvPr/>
        </p:nvSpPr>
        <p:spPr>
          <a:xfrm>
            <a:off x="0" y="0"/>
            <a:ext cx="157655"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4E872611-7B62-0858-2F35-215FC7BEDC7C}"/>
              </a:ext>
            </a:extLst>
          </p:cNvPr>
          <p:cNvSpPr>
            <a:spLocks noGrp="1"/>
          </p:cNvSpPr>
          <p:nvPr/>
        </p:nvSpPr>
        <p:spPr>
          <a:xfrm>
            <a:off x="98087" y="-9437"/>
            <a:ext cx="647700" cy="12853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5" name="Graphic 14"/>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8087" y="-9437"/>
            <a:ext cx="647700" cy="1295400"/>
          </a:xfrm>
          <a:prstGeom prst="rect">
            <a:avLst/>
          </a:prstGeom>
        </p:spPr>
      </p:pic>
      <p:pic>
        <p:nvPicPr>
          <p:cNvPr id="26" name="Graphic 9"/>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73253" y="261293"/>
            <a:ext cx="1292556" cy="69093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73E5F-CFA9-31D3-ED26-1E57AC1EFA03}"/>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Picture Placeholder 2">
            <a:extLst>
              <a:ext uri="{FF2B5EF4-FFF2-40B4-BE49-F238E27FC236}">
                <a16:creationId xmlns:a16="http://schemas.microsoft.com/office/drawing/2014/main" id="{F349FB75-59BA-B6B1-9EFA-B9D58E548B8E}"/>
              </a:ext>
            </a:extLst>
          </p:cNvPr>
          <p:cNvSpPr>
            <a:spLocks noGrp="1"/>
          </p:cNvSpPr>
          <p:nvPr>
            <p:ph type="pic" idx="1"/>
          </p:nvPr>
        </p:nvSpPr>
        <p:spPr>
          <a:xfrm>
            <a:off x="5183188" y="1219200"/>
            <a:ext cx="6172200" cy="4641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D15C4119-4703-ABFE-3D93-76F1F254DF53}"/>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25208027-E9E1-AFE8-C2CF-267B0B717A63}"/>
              </a:ext>
            </a:extLst>
          </p:cNvPr>
          <p:cNvSpPr>
            <a:spLocks noGrp="1"/>
          </p:cNvSpPr>
          <p:nvPr>
            <p:ph type="dt" idx="10"/>
          </p:nvPr>
        </p:nvSpPr>
        <p:spPr/>
        <p:txBody>
          <a:bodyPr/>
          <a:lstStyle/>
          <a:p>
            <a:fld id="{5750368A-0602-41DA-8C72-F3668C4CC159}" type="datetimeFigureOut">
              <a:t>9/2/2026</a:t>
            </a:fld>
            <a:endParaRPr/>
          </a:p>
        </p:txBody>
      </p:sp>
      <p:sp>
        <p:nvSpPr>
          <p:cNvPr id="6" name="Footer Placeholder 5">
            <a:extLst>
              <a:ext uri="{FF2B5EF4-FFF2-40B4-BE49-F238E27FC236}">
                <a16:creationId xmlns:a16="http://schemas.microsoft.com/office/drawing/2014/main" id="{17FFCF05-D3BC-4D51-B7E1-EDFADA0E8FE8}"/>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2DD992EE-B08D-5105-202E-3F06215E82B9}"/>
              </a:ext>
            </a:extLst>
          </p:cNvPr>
          <p:cNvSpPr>
            <a:spLocks noGrp="1"/>
          </p:cNvSpPr>
          <p:nvPr>
            <p:ph type="sldNum" idx="12"/>
          </p:nvPr>
        </p:nvSpPr>
        <p:spPr/>
        <p:txBody>
          <a:bodyPr/>
          <a:lstStyle/>
          <a:p>
            <a:fld id="{DEA345B2-507C-43D7-80BF-79F59DDCF0A3}" type="slidenum">
              <a:t>‹#›</a:t>
            </a:fld>
            <a:endParaRPr/>
          </a:p>
        </p:txBody>
      </p:sp>
      <p:sp>
        <p:nvSpPr>
          <p:cNvPr id="8" name="Rectangle 7">
            <a:extLst>
              <a:ext uri="{FF2B5EF4-FFF2-40B4-BE49-F238E27FC236}">
                <a16:creationId xmlns:a16="http://schemas.microsoft.com/office/drawing/2014/main" id="{66BB9E47-266A-449B-0690-EA113F897327}"/>
              </a:ext>
            </a:extLst>
          </p:cNvPr>
          <p:cNvSpPr>
            <a:spLocks noGrp="1"/>
          </p:cNvSpPr>
          <p:nvPr/>
        </p:nvSpPr>
        <p:spPr>
          <a:xfrm>
            <a:off x="0" y="0"/>
            <a:ext cx="157655"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641E680E-9AE0-1F51-2218-98C4A676EA4E}"/>
              </a:ext>
            </a:extLst>
          </p:cNvPr>
          <p:cNvSpPr>
            <a:spLocks noGrp="1"/>
          </p:cNvSpPr>
          <p:nvPr/>
        </p:nvSpPr>
        <p:spPr>
          <a:xfrm>
            <a:off x="98087" y="-9437"/>
            <a:ext cx="647700" cy="12853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2" name="Graphic 11"/>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8087" y="-9437"/>
            <a:ext cx="647700" cy="1295400"/>
          </a:xfrm>
          <a:prstGeom prst="rect">
            <a:avLst/>
          </a:prstGeom>
        </p:spPr>
      </p:pic>
      <p:pic>
        <p:nvPicPr>
          <p:cNvPr id="23" name="Graphic 1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73253" y="261293"/>
            <a:ext cx="1292556" cy="69093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BFC79-23A1-4C75-E226-24FAA8769F66}"/>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CF9E1CF8-7906-6964-F94B-A82C18B6DC4E}"/>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9EF018C3-1F7A-68D9-F106-B3E9DF573BD4}"/>
              </a:ext>
            </a:extLst>
          </p:cNvPr>
          <p:cNvSpPr>
            <a:spLocks noGrp="1"/>
          </p:cNvSpPr>
          <p:nvPr>
            <p:ph type="dt" idx="10"/>
          </p:nvPr>
        </p:nvSpPr>
        <p:spPr/>
        <p:txBody>
          <a:bodyPr/>
          <a:lstStyle/>
          <a:p>
            <a:fld id="{5750368A-0602-41DA-8C72-F3668C4CC159}" type="datetimeFigureOut">
              <a:t>9/2/2026</a:t>
            </a:fld>
            <a:endParaRPr/>
          </a:p>
        </p:txBody>
      </p:sp>
      <p:sp>
        <p:nvSpPr>
          <p:cNvPr id="5" name="Footer Placeholder 4">
            <a:extLst>
              <a:ext uri="{FF2B5EF4-FFF2-40B4-BE49-F238E27FC236}">
                <a16:creationId xmlns:a16="http://schemas.microsoft.com/office/drawing/2014/main" id="{D75C044C-642A-B1F3-B761-AC4E930E04C7}"/>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83F30CAD-B8A9-C9D6-2C4B-86E1BC5168AE}"/>
              </a:ext>
            </a:extLst>
          </p:cNvPr>
          <p:cNvSpPr>
            <a:spLocks noGrp="1"/>
          </p:cNvSpPr>
          <p:nvPr>
            <p:ph type="sldNum" idx="12"/>
          </p:nvPr>
        </p:nvSpPr>
        <p:spPr/>
        <p:txBody>
          <a:bodyPr/>
          <a:lstStyle/>
          <a:p>
            <a:fld id="{DEA345B2-507C-43D7-80BF-79F59DDCF0A3}" type="slidenum">
              <a:t>‹#›</a:t>
            </a:fld>
            <a:endParaRPr/>
          </a:p>
        </p:txBody>
      </p:sp>
      <p:sp>
        <p:nvSpPr>
          <p:cNvPr id="7" name="Rectangle 6">
            <a:extLst>
              <a:ext uri="{FF2B5EF4-FFF2-40B4-BE49-F238E27FC236}">
                <a16:creationId xmlns:a16="http://schemas.microsoft.com/office/drawing/2014/main" id="{F067F39E-E68E-53C9-D0D5-DBD631643F9E}"/>
              </a:ext>
            </a:extLst>
          </p:cNvPr>
          <p:cNvSpPr>
            <a:spLocks noGrp="1"/>
          </p:cNvSpPr>
          <p:nvPr/>
        </p:nvSpPr>
        <p:spPr>
          <a:xfrm>
            <a:off x="0" y="0"/>
            <a:ext cx="157655"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DF1B0B79-95A6-CFCE-EFDD-FECD5A381C32}"/>
              </a:ext>
            </a:extLst>
          </p:cNvPr>
          <p:cNvSpPr>
            <a:spLocks noGrp="1"/>
          </p:cNvSpPr>
          <p:nvPr/>
        </p:nvSpPr>
        <p:spPr>
          <a:xfrm>
            <a:off x="98087" y="-9437"/>
            <a:ext cx="647700" cy="12853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1" name="Graphic 12"/>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8087" y="-9437"/>
            <a:ext cx="647700" cy="129540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A63DC65-B013-FE6E-EC24-75CE5E5821E6}"/>
              </a:ext>
            </a:extLst>
          </p:cNvPr>
          <p:cNvSpPr>
            <a:spLocks noGrp="1"/>
          </p:cNvSpPr>
          <p:nvPr>
            <p:ph type="title"/>
          </p:nvPr>
        </p:nvSpPr>
        <p:spPr>
          <a:xfrm>
            <a:off x="8724900" y="365125"/>
            <a:ext cx="2628900" cy="5811838"/>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23F5FF98-96D5-B94A-633D-AA80D7617E36}"/>
              </a:ext>
            </a:extLst>
          </p:cNvPr>
          <p:cNvSpPr>
            <a:spLocks noGrp="1"/>
          </p:cNvSpPr>
          <p:nvPr>
            <p:ph type="body" idx="1"/>
          </p:nvPr>
        </p:nvSpPr>
        <p:spPr>
          <a:xfrm>
            <a:off x="838200" y="365125"/>
            <a:ext cx="7734300" cy="5811838"/>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3F4A29F5-20EF-68ED-9A31-EF9B85F25C39}"/>
              </a:ext>
            </a:extLst>
          </p:cNvPr>
          <p:cNvSpPr>
            <a:spLocks noGrp="1"/>
          </p:cNvSpPr>
          <p:nvPr>
            <p:ph type="dt" idx="10"/>
          </p:nvPr>
        </p:nvSpPr>
        <p:spPr/>
        <p:txBody>
          <a:bodyPr/>
          <a:lstStyle/>
          <a:p>
            <a:fld id="{5750368A-0602-41DA-8C72-F3668C4CC159}" type="datetimeFigureOut">
              <a:t>9/2/2026</a:t>
            </a:fld>
            <a:endParaRPr/>
          </a:p>
        </p:txBody>
      </p:sp>
      <p:sp>
        <p:nvSpPr>
          <p:cNvPr id="5" name="Footer Placeholder 4">
            <a:extLst>
              <a:ext uri="{FF2B5EF4-FFF2-40B4-BE49-F238E27FC236}">
                <a16:creationId xmlns:a16="http://schemas.microsoft.com/office/drawing/2014/main" id="{04EE87FD-C808-4643-2317-3CDB3CBCB449}"/>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ACF01170-CC99-1C80-2814-8C172DEF9DA3}"/>
              </a:ext>
            </a:extLst>
          </p:cNvPr>
          <p:cNvSpPr>
            <a:spLocks noGrp="1"/>
          </p:cNvSpPr>
          <p:nvPr>
            <p:ph type="sldNum" idx="12"/>
          </p:nvPr>
        </p:nvSpPr>
        <p:spPr/>
        <p:txBody>
          <a:bodyPr/>
          <a:lstStyle/>
          <a:p>
            <a:fld id="{DEA345B2-507C-43D7-80BF-79F59DDCF0A3}"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61B42E-1446-2B7F-B0AB-68026A695039}"/>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32E6454A-9B58-1467-10AE-5BAA88523177}"/>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B6688D33-D71B-794B-B556-D3F17CC2B085}"/>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latin typeface="+mj-lt"/>
                <a:ea typeface="+mj-lt"/>
                <a:cs typeface="+mj-lt"/>
              </a:defRPr>
            </a:lvl1pPr>
          </a:lstStyle>
          <a:p>
            <a:fld id="{5750368A-0602-41DA-8C72-F3668C4CC159}" type="datetimeFigureOut">
              <a:t>9/2/2026</a:t>
            </a:fld>
            <a:endParaRPr/>
          </a:p>
        </p:txBody>
      </p:sp>
      <p:sp>
        <p:nvSpPr>
          <p:cNvPr id="5" name="Footer Placeholder 4">
            <a:extLst>
              <a:ext uri="{FF2B5EF4-FFF2-40B4-BE49-F238E27FC236}">
                <a16:creationId xmlns:a16="http://schemas.microsoft.com/office/drawing/2014/main" id="{E82302E3-550F-6EB1-3682-88ECDCAB2B66}"/>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latin typeface="+mj-lt"/>
                <a:ea typeface="+mj-lt"/>
                <a:cs typeface="+mj-lt"/>
              </a:defRPr>
            </a:lvl1pPr>
          </a:lstStyle>
          <a:p>
            <a:endParaRPr/>
          </a:p>
        </p:txBody>
      </p:sp>
      <p:sp>
        <p:nvSpPr>
          <p:cNvPr id="6" name="Slide Number Placeholder 5">
            <a:extLst>
              <a:ext uri="{FF2B5EF4-FFF2-40B4-BE49-F238E27FC236}">
                <a16:creationId xmlns:a16="http://schemas.microsoft.com/office/drawing/2014/main" id="{F30F3CC4-BECA-E918-14B4-1688C26034E1}"/>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latin typeface="+mj-lt"/>
                <a:ea typeface="+mj-lt"/>
                <a:cs typeface="+mj-lt"/>
              </a:defRPr>
            </a:lvl1pPr>
          </a:lstStyle>
          <a:p>
            <a:fld id="{DEA345B2-507C-43D7-80BF-79F59DDCF0A3}"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j-lt"/>
          <a:ea typeface="+mj-lt"/>
          <a:cs typeface="+mj-lt"/>
        </a:defRPr>
      </a:lvl1pPr>
      <a:lvl2pPr marL="685800" indent="-228600" algn="l" defTabSz="914400">
        <a:lnSpc>
          <a:spcPct val="90000"/>
        </a:lnSpc>
        <a:spcBef>
          <a:spcPts val="500"/>
        </a:spcBef>
        <a:buFont typeface="Arial"/>
        <a:buChar char="•"/>
        <a:defRPr sz="2400" kern="1200">
          <a:solidFill>
            <a:schemeClr val="tx1"/>
          </a:solidFill>
          <a:latin typeface="+mj-lt"/>
          <a:ea typeface="+mj-lt"/>
          <a:cs typeface="+mj-lt"/>
        </a:defRPr>
      </a:lvl2pPr>
      <a:lvl3pPr marL="1143000" indent="-228600" algn="l" defTabSz="914400">
        <a:lnSpc>
          <a:spcPct val="90000"/>
        </a:lnSpc>
        <a:spcBef>
          <a:spcPts val="500"/>
        </a:spcBef>
        <a:buFont typeface="Arial"/>
        <a:buChar char="•"/>
        <a:defRPr sz="2000" kern="1200">
          <a:solidFill>
            <a:schemeClr val="tx1"/>
          </a:solidFill>
          <a:latin typeface="+mj-lt"/>
          <a:ea typeface="+mj-lt"/>
          <a:cs typeface="+mj-lt"/>
        </a:defRPr>
      </a:lvl3pPr>
      <a:lvl4pPr marL="1600200" indent="-228600" algn="l" defTabSz="914400">
        <a:lnSpc>
          <a:spcPct val="90000"/>
        </a:lnSpc>
        <a:spcBef>
          <a:spcPts val="500"/>
        </a:spcBef>
        <a:buFont typeface="Arial"/>
        <a:buChar char="•"/>
        <a:defRPr sz="1800" kern="1200">
          <a:solidFill>
            <a:schemeClr val="tx1"/>
          </a:solidFill>
          <a:latin typeface="+mj-lt"/>
          <a:ea typeface="+mj-lt"/>
          <a:cs typeface="+mj-lt"/>
        </a:defRPr>
      </a:lvl4pPr>
      <a:lvl5pPr marL="2057400" indent="-228600" algn="l" defTabSz="914400">
        <a:lnSpc>
          <a:spcPct val="90000"/>
        </a:lnSpc>
        <a:spcBef>
          <a:spcPts val="500"/>
        </a:spcBef>
        <a:buFont typeface="Arial"/>
        <a:buChar char="•"/>
        <a:defRPr sz="1800" kern="1200">
          <a:solidFill>
            <a:schemeClr val="tx1"/>
          </a:solidFill>
          <a:latin typeface="+mj-lt"/>
          <a:ea typeface="+mj-lt"/>
          <a:cs typeface="+mj-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DAB2F-A7AF-BCC5-168B-81E525269E29}"/>
              </a:ext>
            </a:extLst>
          </p:cNvPr>
          <p:cNvSpPr>
            <a:spLocks noGrp="1"/>
          </p:cNvSpPr>
          <p:nvPr>
            <p:ph type="ctrTitle"/>
          </p:nvPr>
        </p:nvSpPr>
        <p:spPr>
          <a:xfrm>
            <a:off x="6096000" y="2722563"/>
            <a:ext cx="5077521" cy="2387600"/>
          </a:xfrm>
        </p:spPr>
        <p:txBody>
          <a:bodyPr>
            <a:normAutofit fontScale="91014"/>
          </a:bodyPr>
          <a:lstStyle/>
          <a:p>
            <a:pPr>
              <a:lnSpc>
                <a:spcPts val="5000"/>
              </a:lnSpc>
              <a:buNone/>
            </a:pPr>
            <a:r>
              <a:rPr sz="6600"/>
              <a:t>CONVERSATION</a:t>
            </a:r>
          </a:p>
          <a:p>
            <a:pPr>
              <a:lnSpc>
                <a:spcPts val="5000"/>
              </a:lnSpc>
              <a:buNone/>
            </a:pPr>
            <a:r>
              <a:rPr sz="6600"/>
              <a:t>TRAJECTORY LAB</a:t>
            </a:r>
          </a:p>
        </p:txBody>
      </p:sp>
      <p:sp>
        <p:nvSpPr>
          <p:cNvPr id="3" name="Subtitle 2">
            <a:extLst>
              <a:ext uri="{FF2B5EF4-FFF2-40B4-BE49-F238E27FC236}">
                <a16:creationId xmlns:a16="http://schemas.microsoft.com/office/drawing/2014/main" id="{BC628D34-8338-454B-E97A-2B8FE3681CB4}"/>
              </a:ext>
            </a:extLst>
          </p:cNvPr>
          <p:cNvSpPr>
            <a:spLocks noGrp="1"/>
          </p:cNvSpPr>
          <p:nvPr>
            <p:ph type="subTitle" idx="1"/>
          </p:nvPr>
        </p:nvSpPr>
        <p:spPr>
          <a:xfrm>
            <a:off x="6096000" y="5202238"/>
            <a:ext cx="5077521" cy="1655762"/>
          </a:xfrm>
        </p:spPr>
        <p:txBody>
          <a:bodyPr>
            <a:normAutofit/>
          </a:bodyPr>
          <a:lstStyle/>
          <a:p>
            <a:r>
              <a:rPr sz="2000"/>
              <a:t>AI-Based Detection of Grooming-Related Interactions in Chat Conversations Using Contextual and Behavioral Analysis</a:t>
            </a:r>
          </a:p>
        </p:txBody>
      </p:sp>
    </p:spTree>
    <p:extLst>
      <p:ext uri="{BB962C8B-B14F-4D97-AF65-F5344CB8AC3E}">
        <p14:creationId xmlns:p14="http://schemas.microsoft.com/office/powerpoint/2010/main" val="6874192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4"/>
          <p:cNvPicPr>
            <a:picLocks noChangeAspect="1"/>
          </p:cNvPicPr>
          <p:nvPr/>
        </p:nvPicPr>
        <p:blipFill>
          <a:blip r:embed="rId3"/>
          <a:stretch>
            <a:fillRect/>
          </a:stretch>
        </p:blipFill>
        <p:spPr>
          <a:xfrm>
            <a:off x="0" y="5568"/>
            <a:ext cx="12192000" cy="6846864"/>
          </a:xfrm>
          <a:prstGeom prst="rect">
            <a:avLst/>
          </a:prstGeom>
        </p:spPr>
      </p:pic>
      <p:pic>
        <p:nvPicPr>
          <p:cNvPr id="7" name="Picture 6"/>
          <p:cNvPicPr>
            <a:picLocks noChangeAspect="1"/>
          </p:cNvPicPr>
          <p:nvPr/>
        </p:nvPicPr>
        <p:blipFill>
          <a:blip r:embed="rId4"/>
          <a:stretch>
            <a:fillRect/>
          </a:stretch>
        </p:blipFill>
        <p:spPr>
          <a:xfrm>
            <a:off x="10719917" y="6099734"/>
            <a:ext cx="1286054" cy="514422"/>
          </a:xfrm>
          <a:prstGeom prst="rect">
            <a:avLst/>
          </a:prstGeom>
        </p:spPr>
      </p:pic>
    </p:spTree>
    <p:extLst>
      <p:ext uri="{BB962C8B-B14F-4D97-AF65-F5344CB8AC3E}">
        <p14:creationId xmlns:p14="http://schemas.microsoft.com/office/powerpoint/2010/main" val="17049548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9FE59-E69B-FA61-1F9F-69D2B6BE4BF3}"/>
              </a:ext>
            </a:extLst>
          </p:cNvPr>
          <p:cNvSpPr>
            <a:spLocks noGrp="1"/>
          </p:cNvSpPr>
          <p:nvPr>
            <p:ph type="title"/>
          </p:nvPr>
        </p:nvSpPr>
        <p:spPr/>
        <p:txBody>
          <a:bodyPr>
            <a:normAutofit/>
          </a:bodyPr>
          <a:lstStyle/>
          <a:p>
            <a:r>
              <a:rPr lang="en-PH"/>
              <a:t>Introduction</a:t>
            </a:r>
            <a:endParaRPr/>
          </a:p>
        </p:txBody>
      </p:sp>
      <p:sp>
        <p:nvSpPr>
          <p:cNvPr id="3" name="Text Placeholder 2">
            <a:extLst>
              <a:ext uri="{FF2B5EF4-FFF2-40B4-BE49-F238E27FC236}">
                <a16:creationId xmlns:a16="http://schemas.microsoft.com/office/drawing/2014/main" id="{361CC8EF-A543-7340-D864-3EE048E2398C}"/>
              </a:ext>
            </a:extLst>
          </p:cNvPr>
          <p:cNvSpPr>
            <a:spLocks noGrp="1"/>
          </p:cNvSpPr>
          <p:nvPr>
            <p:ph type="body" idx="1"/>
          </p:nvPr>
        </p:nvSpPr>
        <p:spPr/>
        <p:txBody>
          <a:bodyPr/>
          <a:lstStyle/>
          <a:p>
            <a:r>
              <a:rPr lang="en-US"/>
              <a:t>Why contextual and behavioral analysis matters</a:t>
            </a:r>
            <a:endParaRPr/>
          </a:p>
        </p:txBody>
      </p:sp>
    </p:spTree>
    <p:extLst>
      <p:ext uri="{BB962C8B-B14F-4D97-AF65-F5344CB8AC3E}">
        <p14:creationId xmlns:p14="http://schemas.microsoft.com/office/powerpoint/2010/main" val="7454735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44C2198-1C42-A790-4121-5218735B7DDB}"/>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endParaRPr>
              <a:solidFill>
                <a:schemeClr val="accent1">
                  <a:lumMod val="75000"/>
                </a:schemeClr>
              </a:solidFill>
            </a:endParaRPr>
          </a:p>
        </p:txBody>
      </p:sp>
      <p:sp>
        <p:nvSpPr>
          <p:cNvPr id="8" name="Content Placeholder 6">
            <a:extLst>
              <a:ext uri="{FF2B5EF4-FFF2-40B4-BE49-F238E27FC236}">
                <a16:creationId xmlns:a16="http://schemas.microsoft.com/office/drawing/2014/main" id="{166323FE-9773-D041-E0C5-1689233D65B8}"/>
              </a:ext>
            </a:extLst>
          </p:cNvPr>
          <p:cNvSpPr>
            <a:spLocks noGrp="1"/>
          </p:cNvSpPr>
          <p:nvPr>
            <p:ph idx="1"/>
          </p:nvPr>
        </p:nvSpPr>
        <p:spPr>
          <a:xfrm>
            <a:off x="838200" y="1825625"/>
            <a:ext cx="9781489" cy="4351338"/>
          </a:xfrm>
        </p:spPr>
        <p:txBody>
          <a:bodyPr vert="horz" wrap="square" lIns="91440" tIns="45720" rIns="91440" bIns="45720" anchor="t">
            <a:noAutofit/>
          </a:bodyPr>
          <a:lstStyle/>
          <a:p>
            <a:pPr>
              <a:lnSpc>
                <a:spcPct val="100000"/>
              </a:lnSpc>
              <a:spcAft>
                <a:spcPts val="700"/>
              </a:spcAft>
            </a:pPr>
            <a:r>
              <a:rPr lang="en-US" sz="2700">
                <a:latin typeface="Calibri Light" panose="020F0302020204030204" pitchFamily="34" charset="0"/>
              </a:rPr>
              <a:t>Online chats can carry harmful interactions across many turns.</a:t>
            </a:r>
          </a:p>
          <a:p>
            <a:pPr>
              <a:lnSpc>
                <a:spcPct val="100000"/>
              </a:lnSpc>
              <a:spcAft>
                <a:spcPts val="700"/>
              </a:spcAft>
            </a:pPr>
            <a:r>
              <a:rPr lang="en-US" sz="2700">
                <a:latin typeface="Calibri Light" panose="020F0302020204030204" pitchFamily="34" charset="0"/>
              </a:rPr>
              <a:t>Keyword filters detect explicit words but miss context and progression.</a:t>
            </a:r>
          </a:p>
          <a:p>
            <a:pPr>
              <a:lnSpc>
                <a:spcPct val="100000"/>
              </a:lnSpc>
              <a:spcAft>
                <a:spcPts val="700"/>
              </a:spcAft>
            </a:pPr>
            <a:r>
              <a:rPr lang="en-US" sz="2700">
                <a:latin typeface="Calibri Light" panose="020F0302020204030204" pitchFamily="34" charset="0"/>
              </a:rPr>
              <a:t>User reports help, but they usually act after someone notices a problem.</a:t>
            </a:r>
          </a:p>
          <a:p>
            <a:pPr>
              <a:lnSpc>
                <a:spcPct val="100000"/>
              </a:lnSpc>
              <a:spcAft>
                <a:spcPts val="700"/>
              </a:spcAft>
            </a:pPr>
            <a:r>
              <a:rPr lang="en-US" sz="2700">
                <a:latin typeface="Calibri Light" panose="020F0302020204030204" pitchFamily="34" charset="0"/>
              </a:rPr>
              <a:t>Moderation needs both local context and conversation-wide patterns.</a:t>
            </a:r>
            <a:endParaRPr sz="2700">
              <a:latin typeface="Calibri Light" panose="020F0302020204030204" pitchFamily="34" charset="0"/>
            </a:endParaRPr>
          </a:p>
        </p:txBody>
      </p:sp>
      <p:sp>
        <p:nvSpPr>
          <p:cNvPr id="9" name="Rectangle 8">
            <a:extLst>
              <a:ext uri="{FF2B5EF4-FFF2-40B4-BE49-F238E27FC236}">
                <a16:creationId xmlns:a16="http://schemas.microsoft.com/office/drawing/2014/main" id="{B1F26A3C-9B81-B8D3-EEA5-D7DD35D3D218}"/>
              </a:ext>
            </a:extLst>
          </p:cNvPr>
          <p:cNvSpPr>
            <a:spLocks noGrp="1"/>
          </p:cNvSpPr>
          <p:nvPr/>
        </p:nvSpPr>
        <p:spPr>
          <a:xfrm>
            <a:off x="161544" y="0"/>
            <a:ext cx="10710672" cy="741680"/>
          </a:xfrm>
          <a:prstGeom prst="rect">
            <a:avLst/>
          </a:prstGeom>
          <a:solidFill>
            <a:schemeClr val="bg1"/>
          </a:solidFill>
          <a:ln>
            <a:solidFill>
              <a:schemeClr val="bg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Title 5">
            <a:extLst>
              <a:ext uri="{FF2B5EF4-FFF2-40B4-BE49-F238E27FC236}">
                <a16:creationId xmlns:a16="http://schemas.microsoft.com/office/drawing/2014/main" id="{562366F7-771B-E12D-0784-5DF536657F4F}"/>
              </a:ext>
            </a:extLst>
          </p:cNvPr>
          <p:cNvSpPr>
            <a:spLocks noGrp="1"/>
          </p:cNvSpPr>
          <p:nvPr/>
        </p:nvSpPr>
        <p:spPr>
          <a:xfrm>
            <a:off x="3148127" y="87629"/>
            <a:ext cx="8882329" cy="593408"/>
          </a:xfrm>
          <a:prstGeom prst="rect">
            <a:avLst/>
          </a:prstGeom>
        </p:spPr>
        <p:txBody>
          <a:bodyPr vert="horz" lIns="91440" tIns="45720" rIns="91440" bIns="45720" anchor="ctr">
            <a:normAutofit fontScale="90000" lnSpcReduction="10000"/>
          </a:bodyPr>
          <a:lstStyle>
            <a:lvl1pPr algn="l" defTabSz="914400">
              <a:lnSpc>
                <a:spcPct val="90000"/>
              </a:lnSpc>
              <a:spcBef>
                <a:spcPct val="0"/>
              </a:spcBef>
              <a:buNone/>
              <a:defRPr sz="4400" kern="1200">
                <a:solidFill>
                  <a:schemeClr val="tx1"/>
                </a:solidFill>
                <a:latin typeface="+mj-lt"/>
                <a:ea typeface="+mj-lt"/>
                <a:cs typeface="+mj-lt"/>
              </a:defRPr>
            </a:lvl1pPr>
          </a:lstStyle>
          <a:p>
            <a:r>
              <a:t>Background of the Study</a:t>
            </a:r>
            <a:endParaRPr>
              <a:latin typeface="Corbel"/>
              <a:ea typeface="Corbel"/>
              <a:cs typeface="Corbel"/>
            </a:endParaRPr>
          </a:p>
        </p:txBody>
      </p:sp>
    </p:spTree>
    <p:extLst>
      <p:ext uri="{BB962C8B-B14F-4D97-AF65-F5344CB8AC3E}">
        <p14:creationId xmlns:p14="http://schemas.microsoft.com/office/powerpoint/2010/main" val="487461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36837-15F7-9AC5-506D-EB98ECC48AD4}"/>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a:solidFill>
                  <a:schemeClr val="accent1">
                    <a:lumMod val="75000"/>
                  </a:schemeClr>
                </a:solidFill>
              </a:rPr>
              <a:t>Statement of the Problem</a:t>
            </a:r>
            <a:endParaRPr>
              <a:solidFill>
                <a:schemeClr val="accent1">
                  <a:lumMod val="75000"/>
                </a:schemeClr>
              </a:solidFill>
            </a:endParaRPr>
          </a:p>
        </p:txBody>
      </p:sp>
      <p:sp>
        <p:nvSpPr>
          <p:cNvPr id="7" name="Content Placeholder 6">
            <a:extLst>
              <a:ext uri="{FF2B5EF4-FFF2-40B4-BE49-F238E27FC236}">
                <a16:creationId xmlns:a16="http://schemas.microsoft.com/office/drawing/2014/main" id="{11F6840A-CC91-616E-AB80-9489D4871FF5}"/>
              </a:ext>
            </a:extLst>
          </p:cNvPr>
          <p:cNvSpPr>
            <a:spLocks noGrp="1"/>
          </p:cNvSpPr>
          <p:nvPr>
            <p:ph idx="1"/>
          </p:nvPr>
        </p:nvSpPr>
        <p:spPr/>
        <p:txBody>
          <a:bodyPr wrap="square">
            <a:noAutofit/>
          </a:bodyPr>
          <a:lstStyle/>
          <a:p>
            <a:pPr>
              <a:lnSpc>
                <a:spcPct val="100000"/>
              </a:lnSpc>
              <a:spcAft>
                <a:spcPts val="700"/>
              </a:spcAft>
            </a:pPr>
            <a:r>
              <a:rPr lang="en-US" sz="2900">
                <a:latin typeface="Calibri Light" panose="020F0302020204030204" pitchFamily="34" charset="0"/>
              </a:rPr>
              <a:t>An ordinary message can change meaning when viewed with surrounding turns.</a:t>
            </a:r>
          </a:p>
          <a:p>
            <a:pPr>
              <a:lnSpc>
                <a:spcPct val="100000"/>
              </a:lnSpc>
              <a:spcAft>
                <a:spcPts val="700"/>
              </a:spcAft>
            </a:pPr>
            <a:r>
              <a:rPr lang="en-US" sz="2900">
                <a:latin typeface="Calibri Light" panose="020F0302020204030204" pitchFamily="34" charset="0"/>
              </a:rPr>
              <a:t>Static methods miss gradual or obfuscated behavior.</a:t>
            </a:r>
          </a:p>
          <a:p>
            <a:pPr>
              <a:lnSpc>
                <a:spcPct val="100000"/>
              </a:lnSpc>
              <a:spcAft>
                <a:spcPts val="700"/>
              </a:spcAft>
            </a:pPr>
            <a:r>
              <a:rPr lang="en-US" sz="2900">
                <a:latin typeface="Calibri Light" panose="020F0302020204030204" pitchFamily="34" charset="0"/>
              </a:rPr>
              <a:t>The study tests whether contextual and trajectory modeling reduces missed cases.</a:t>
            </a:r>
            <a:endParaRPr sz="2900">
              <a:latin typeface="Calibri Light" panose="020F0302020204030204" pitchFamily="34" charset="0"/>
            </a:endParaRPr>
          </a:p>
        </p:txBody>
      </p:sp>
    </p:spTree>
    <p:extLst>
      <p:ext uri="{BB962C8B-B14F-4D97-AF65-F5344CB8AC3E}">
        <p14:creationId xmlns:p14="http://schemas.microsoft.com/office/powerpoint/2010/main" val="26724494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F420E-DB4F-AAC4-E6C3-9E670B879997}"/>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a:solidFill>
                  <a:schemeClr val="accent1">
                    <a:lumMod val="75000"/>
                  </a:schemeClr>
                </a:solidFill>
              </a:rPr>
              <a:t>Research Questions</a:t>
            </a:r>
            <a:endParaRPr>
              <a:solidFill>
                <a:schemeClr val="accent1">
                  <a:lumMod val="75000"/>
                </a:schemeClr>
              </a:solidFill>
            </a:endParaRPr>
          </a:p>
        </p:txBody>
      </p:sp>
      <p:sp>
        <p:nvSpPr>
          <p:cNvPr id="7" name="Content Placeholder 6">
            <a:extLst>
              <a:ext uri="{FF2B5EF4-FFF2-40B4-BE49-F238E27FC236}">
                <a16:creationId xmlns:a16="http://schemas.microsoft.com/office/drawing/2014/main" id="{C6973DE6-43FD-6A2F-BD6D-2870C787B5DE}"/>
              </a:ext>
            </a:extLst>
          </p:cNvPr>
          <p:cNvSpPr>
            <a:spLocks noGrp="1"/>
          </p:cNvSpPr>
          <p:nvPr>
            <p:ph idx="1"/>
          </p:nvPr>
        </p:nvSpPr>
        <p:spPr/>
        <p:txBody>
          <a:bodyPr wrap="square">
            <a:noAutofit/>
          </a:bodyPr>
          <a:lstStyle/>
          <a:p>
            <a:pPr>
              <a:lnSpc>
                <a:spcPct val="100000"/>
              </a:lnSpc>
              <a:spcAft>
                <a:spcPts val="700"/>
              </a:spcAft>
            </a:pPr>
            <a:r>
              <a:rPr lang="en-US" sz="2500">
                <a:latin typeface="Calibri Light" panose="020F0302020204030204" pitchFamily="34" charset="0"/>
              </a:rPr>
              <a:t>How effective are existing chat moderation systems?</a:t>
            </a:r>
          </a:p>
          <a:p>
            <a:pPr>
              <a:lnSpc>
                <a:spcPct val="100000"/>
              </a:lnSpc>
              <a:spcAft>
                <a:spcPts val="700"/>
              </a:spcAft>
            </a:pPr>
            <a:r>
              <a:rPr lang="en-US" sz="2500">
                <a:latin typeface="Calibri Light" panose="020F0302020204030204" pitchFamily="34" charset="0"/>
              </a:rPr>
              <a:t>Where do keyword and rule-based methods fail on context?</a:t>
            </a:r>
          </a:p>
          <a:p>
            <a:pPr>
              <a:lnSpc>
                <a:spcPct val="100000"/>
              </a:lnSpc>
              <a:spcAft>
                <a:spcPts val="700"/>
              </a:spcAft>
            </a:pPr>
            <a:r>
              <a:rPr lang="en-US" sz="2500">
                <a:latin typeface="Calibri Light" panose="020F0302020204030204" pitchFamily="34" charset="0"/>
              </a:rPr>
              <a:t>How can ML and NLP analyze behavior across a conversation?</a:t>
            </a:r>
          </a:p>
          <a:p>
            <a:pPr>
              <a:lnSpc>
                <a:spcPct val="100000"/>
              </a:lnSpc>
              <a:spcAft>
                <a:spcPts val="700"/>
              </a:spcAft>
            </a:pPr>
            <a:r>
              <a:rPr lang="en-US" sz="2500">
                <a:latin typeface="Calibri Light" panose="020F0302020204030204" pitchFamily="34" charset="0"/>
              </a:rPr>
              <a:t>How much can the proposed module improve recall and reduce false negatives?</a:t>
            </a:r>
            <a:endParaRPr sz="2500">
              <a:latin typeface="Calibri Light" panose="020F0302020204030204" pitchFamily="34" charset="0"/>
            </a:endParaRPr>
          </a:p>
        </p:txBody>
      </p:sp>
    </p:spTree>
    <p:extLst>
      <p:ext uri="{BB962C8B-B14F-4D97-AF65-F5344CB8AC3E}">
        <p14:creationId xmlns:p14="http://schemas.microsoft.com/office/powerpoint/2010/main" val="578051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E9F28-BE19-01F7-925B-315A4EB7E370}"/>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a:solidFill>
                  <a:schemeClr val="accent1">
                    <a:lumMod val="75000"/>
                  </a:schemeClr>
                </a:solidFill>
              </a:rPr>
              <a:t>Objectives of the Study</a:t>
            </a:r>
            <a:endParaRPr>
              <a:solidFill>
                <a:schemeClr val="accent1">
                  <a:lumMod val="75000"/>
                </a:schemeClr>
              </a:solidFill>
            </a:endParaRPr>
          </a:p>
        </p:txBody>
      </p:sp>
      <p:sp>
        <p:nvSpPr>
          <p:cNvPr id="7" name="Content Placeholder 6">
            <a:extLst>
              <a:ext uri="{FF2B5EF4-FFF2-40B4-BE49-F238E27FC236}">
                <a16:creationId xmlns:a16="http://schemas.microsoft.com/office/drawing/2014/main" id="{862A178E-C1B3-DC86-F272-7BC7DA7322ED}"/>
              </a:ext>
            </a:extLst>
          </p:cNvPr>
          <p:cNvSpPr>
            <a:spLocks noGrp="1"/>
          </p:cNvSpPr>
          <p:nvPr>
            <p:ph idx="1"/>
          </p:nvPr>
        </p:nvSpPr>
        <p:spPr>
          <a:xfrm>
            <a:off x="838200" y="1825625"/>
            <a:ext cx="10017369" cy="4351338"/>
          </a:xfrm>
        </p:spPr>
        <p:txBody>
          <a:bodyPr wrap="square">
            <a:noAutofit/>
          </a:bodyPr>
          <a:lstStyle/>
          <a:p>
            <a:pPr marL="34" indent="-20">
              <a:lnSpc>
                <a:spcPct val="100000"/>
              </a:lnSpc>
              <a:spcAft>
                <a:spcPts val="700"/>
              </a:spcAft>
              <a:buChar char="•"/>
            </a:pPr>
            <a:r>
              <a:rPr lang="en-US" sz="2400" b="0">
                <a:latin typeface="Calibri Light" panose="020F0302020204030204" pitchFamily="34" charset="0"/>
              </a:rPr>
              <a:t>General: Build an AI moderation module using context and behavioral patterns.</a:t>
            </a:r>
          </a:p>
          <a:p>
            <a:pPr marL="34" indent="-20">
              <a:lnSpc>
                <a:spcPct val="100000"/>
              </a:lnSpc>
              <a:spcAft>
                <a:spcPts val="700"/>
              </a:spcAft>
              <a:buChar char="•"/>
            </a:pPr>
            <a:r>
              <a:rPr lang="en-US" sz="2400" b="0">
                <a:latin typeface="Calibri Light" panose="020F0302020204030204" pitchFamily="34" charset="0"/>
              </a:rPr>
              <a:t>1. Evaluate the limits of keyword-based and rule-based moderation.</a:t>
            </a:r>
          </a:p>
          <a:p>
            <a:pPr marL="34" indent="-20">
              <a:lnSpc>
                <a:spcPct val="100000"/>
              </a:lnSpc>
              <a:spcAft>
                <a:spcPts val="700"/>
              </a:spcAft>
              <a:buChar char="•"/>
            </a:pPr>
            <a:r>
              <a:rPr lang="en-US" sz="2400" b="0">
                <a:latin typeface="Calibri Light" panose="020F0302020204030204" pitchFamily="34" charset="0"/>
              </a:rPr>
              <a:t>2. Develop a two-layer module for multi-turn chat analysis.</a:t>
            </a:r>
          </a:p>
          <a:p>
            <a:pPr marL="34" indent="-20">
              <a:lnSpc>
                <a:spcPct val="100000"/>
              </a:lnSpc>
              <a:spcAft>
                <a:spcPts val="700"/>
              </a:spcAft>
              <a:buChar char="•"/>
            </a:pPr>
            <a:r>
              <a:rPr lang="en-US" sz="2400" b="0">
                <a:latin typeface="Calibri Light" panose="020F0302020204030204" pitchFamily="34" charset="0"/>
              </a:rPr>
              <a:t>3. Measure recall improvement and false-negative reduction.</a:t>
            </a:r>
            <a:endParaRPr sz="2400" b="0">
              <a:latin typeface="Calibri Light" panose="020F0302020204030204" pitchFamily="34" charset="0"/>
            </a:endParaRPr>
          </a:p>
        </p:txBody>
      </p:sp>
    </p:spTree>
    <p:extLst>
      <p:ext uri="{BB962C8B-B14F-4D97-AF65-F5344CB8AC3E}">
        <p14:creationId xmlns:p14="http://schemas.microsoft.com/office/powerpoint/2010/main" val="1880484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A5E93-C842-C508-5F66-693F2C47905E}"/>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a:solidFill>
                  <a:schemeClr val="accent1">
                    <a:lumMod val="75000"/>
                  </a:schemeClr>
                </a:solidFill>
              </a:rPr>
              <a:t>What the Study Built</a:t>
            </a:r>
            <a:endParaRPr>
              <a:solidFill>
                <a:schemeClr val="accent1">
                  <a:lumMod val="75000"/>
                </a:schemeClr>
              </a:solidFill>
            </a:endParaRPr>
          </a:p>
        </p:txBody>
      </p:sp>
      <p:sp>
        <p:nvSpPr>
          <p:cNvPr id="7" name="Content Placeholder 6">
            <a:extLst>
              <a:ext uri="{FF2B5EF4-FFF2-40B4-BE49-F238E27FC236}">
                <a16:creationId xmlns:a16="http://schemas.microsoft.com/office/drawing/2014/main" id="{E850D05B-5DDE-91E6-D1C2-16CA5550A002}"/>
              </a:ext>
            </a:extLst>
          </p:cNvPr>
          <p:cNvSpPr>
            <a:spLocks noGrp="1"/>
          </p:cNvSpPr>
          <p:nvPr>
            <p:ph idx="1"/>
          </p:nvPr>
        </p:nvSpPr>
        <p:spPr/>
        <p:txBody>
          <a:bodyPr wrap="square">
            <a:noAutofit/>
          </a:bodyPr>
          <a:lstStyle/>
          <a:p>
            <a:pPr>
              <a:lnSpc>
                <a:spcPct val="100000"/>
              </a:lnSpc>
              <a:spcAft>
                <a:spcPts val="700"/>
              </a:spcAft>
            </a:pPr>
            <a:r>
              <a:rPr lang="en-US" sz="2700" b="1">
                <a:latin typeface="Calibri Light" panose="020F0302020204030204" pitchFamily="34" charset="0"/>
              </a:rPr>
              <a:t>Context-conditioned DistilBERT reads each turn with recent context.</a:t>
            </a:r>
          </a:p>
          <a:p>
            <a:pPr>
              <a:lnSpc>
                <a:spcPct val="100000"/>
              </a:lnSpc>
              <a:spcAft>
                <a:spcPts val="700"/>
              </a:spcAft>
            </a:pPr>
            <a:r>
              <a:rPr lang="en-US" sz="2700" b="1">
                <a:latin typeface="Calibri Light" panose="020F0302020204030204" pitchFamily="34" charset="0"/>
              </a:rPr>
              <a:t>Seven trajectory features describe how evidence changes over time.</a:t>
            </a:r>
          </a:p>
          <a:p>
            <a:pPr>
              <a:lnSpc>
                <a:spcPct val="100000"/>
              </a:lnSpc>
              <a:spcAft>
                <a:spcPts val="700"/>
              </a:spcAft>
            </a:pPr>
            <a:r>
              <a:rPr lang="en-US" sz="2700" b="1">
                <a:latin typeface="Calibri Light" panose="020F0302020204030204" pitchFamily="34" charset="0"/>
              </a:rPr>
              <a:t>An LSTM learns from the ordered feature sequence.</a:t>
            </a:r>
          </a:p>
          <a:p>
            <a:pPr>
              <a:lnSpc>
                <a:spcPct val="100000"/>
              </a:lnSpc>
              <a:spcAft>
                <a:spcPts val="700"/>
              </a:spcAft>
            </a:pPr>
            <a:r>
              <a:rPr lang="en-US" sz="2700" b="1">
                <a:latin typeface="Calibri Light" panose="020F0302020204030204" pitchFamily="34" charset="0"/>
              </a:rPr>
              <a:t>A working interface supports sequential human review.</a:t>
            </a:r>
            <a:endParaRPr sz="2700">
              <a:latin typeface="Calibri Light" panose="020F0302020204030204" pitchFamily="34" charset="0"/>
            </a:endParaRPr>
          </a:p>
        </p:txBody>
      </p:sp>
    </p:spTree>
    <p:extLst>
      <p:ext uri="{BB962C8B-B14F-4D97-AF65-F5344CB8AC3E}">
        <p14:creationId xmlns:p14="http://schemas.microsoft.com/office/powerpoint/2010/main" val="35128682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49445-6B2E-B038-2128-77567FA741F6}"/>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sz="4000">
                <a:solidFill>
                  <a:schemeClr val="accent1">
                    <a:lumMod val="75000"/>
                  </a:schemeClr>
                </a:solidFill>
              </a:rPr>
              <a:t>Scope and Evaluation Boundary</a:t>
            </a:r>
            <a:endParaRPr sz="4000">
              <a:solidFill>
                <a:schemeClr val="accent1">
                  <a:lumMod val="75000"/>
                </a:schemeClr>
              </a:solidFill>
            </a:endParaRPr>
          </a:p>
        </p:txBody>
      </p:sp>
      <p:sp>
        <p:nvSpPr>
          <p:cNvPr id="7" name="Content Placeholder 6">
            <a:extLst>
              <a:ext uri="{FF2B5EF4-FFF2-40B4-BE49-F238E27FC236}">
                <a16:creationId xmlns:a16="http://schemas.microsoft.com/office/drawing/2014/main" id="{2022CCDC-E1F7-4223-6BE8-FB27B350BED5}"/>
              </a:ext>
            </a:extLst>
          </p:cNvPr>
          <p:cNvSpPr>
            <a:spLocks noGrp="1"/>
          </p:cNvSpPr>
          <p:nvPr>
            <p:ph idx="1"/>
          </p:nvPr>
        </p:nvSpPr>
        <p:spPr/>
        <p:txBody>
          <a:bodyPr wrap="square">
            <a:noAutofit/>
          </a:bodyPr>
          <a:lstStyle/>
          <a:p>
            <a:pPr marL="34" indent="-20">
              <a:lnSpc>
                <a:spcPct val="100000"/>
              </a:lnSpc>
              <a:spcAft>
                <a:spcPts val="700"/>
              </a:spcAft>
              <a:buChar char="•"/>
            </a:pPr>
            <a:r>
              <a:rPr lang="en-US" sz="2500" b="1">
                <a:latin typeface="Calibri Light" panose="020F0302020204030204" pitchFamily="34" charset="0"/>
              </a:rPr>
              <a:t>PAN-2012 was selected to evaluate the completed architecture.</a:t>
            </a:r>
          </a:p>
          <a:p>
            <a:pPr marL="34" indent="-20">
              <a:lnSpc>
                <a:spcPct val="100000"/>
              </a:lnSpc>
              <a:spcAft>
                <a:spcPts val="700"/>
              </a:spcAft>
              <a:buChar char="•"/>
            </a:pPr>
            <a:r>
              <a:rPr lang="en-US" sz="2500" b="1">
                <a:latin typeface="Calibri Light" panose="020F0302020204030204" pitchFamily="34" charset="0"/>
              </a:rPr>
              <a:t>18,567 eligible dyadic conversations; 218,114 turns.</a:t>
            </a:r>
          </a:p>
          <a:p>
            <a:pPr marL="34" indent="-20">
              <a:lnSpc>
                <a:spcPct val="100000"/>
              </a:lnSpc>
              <a:spcAft>
                <a:spcPts val="700"/>
              </a:spcAft>
              <a:buChar char="•"/>
            </a:pPr>
            <a:r>
              <a:rPr lang="en-US" sz="2500" b="1">
                <a:latin typeface="Calibri Light" panose="020F0302020204030204" pitchFamily="34" charset="0"/>
              </a:rPr>
              <a:t>Conversation-level prediction with author-disjoint partitions.</a:t>
            </a:r>
          </a:p>
          <a:p>
            <a:pPr marL="34" indent="-20">
              <a:lnSpc>
                <a:spcPct val="100000"/>
              </a:lnSpc>
              <a:spcAft>
                <a:spcPts val="700"/>
              </a:spcAft>
              <a:buChar char="•"/>
            </a:pPr>
            <a:r>
              <a:rPr lang="en-US" sz="2500" b="1">
                <a:latin typeface="Calibri Light" panose="020F0302020204030204" pitchFamily="34" charset="0"/>
              </a:rPr>
              <a:t>Offline English-language evaluation; external and local validation are next.</a:t>
            </a:r>
            <a:endParaRPr sz="2500" b="0">
              <a:latin typeface="Calibri Light" panose="020F0302020204030204" pitchFamily="34" charset="0"/>
            </a:endParaRPr>
          </a:p>
        </p:txBody>
      </p:sp>
    </p:spTree>
    <p:extLst>
      <p:ext uri="{BB962C8B-B14F-4D97-AF65-F5344CB8AC3E}">
        <p14:creationId xmlns:p14="http://schemas.microsoft.com/office/powerpoint/2010/main" val="24613100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D25D0-52EA-24D7-C74D-83A7B28B9AE9}"/>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sz="3600">
                <a:solidFill>
                  <a:schemeClr val="accent1">
                    <a:lumMod val="75000"/>
                  </a:schemeClr>
                </a:solidFill>
              </a:rPr>
              <a:t>Why the Study Matters</a:t>
            </a:r>
            <a:endParaRPr sz="3600">
              <a:solidFill>
                <a:schemeClr val="accent1">
                  <a:lumMod val="75000"/>
                </a:schemeClr>
              </a:solidFill>
            </a:endParaRPr>
          </a:p>
        </p:txBody>
      </p:sp>
      <p:sp>
        <p:nvSpPr>
          <p:cNvPr id="7" name="Content Placeholder 6">
            <a:extLst>
              <a:ext uri="{FF2B5EF4-FFF2-40B4-BE49-F238E27FC236}">
                <a16:creationId xmlns:a16="http://schemas.microsoft.com/office/drawing/2014/main" id="{EFBFA35A-4305-BE3F-97F4-B3E6C550E91E}"/>
              </a:ext>
            </a:extLst>
          </p:cNvPr>
          <p:cNvSpPr>
            <a:spLocks noGrp="1"/>
          </p:cNvSpPr>
          <p:nvPr>
            <p:ph idx="1"/>
          </p:nvPr>
        </p:nvSpPr>
        <p:spPr/>
        <p:txBody>
          <a:bodyPr wrap="square">
            <a:noAutofit/>
          </a:bodyPr>
          <a:lstStyle/>
          <a:p>
            <a:pPr marL="34" indent="-20">
              <a:lnSpc>
                <a:spcPct val="100000"/>
              </a:lnSpc>
              <a:spcAft>
                <a:spcPts val="700"/>
              </a:spcAft>
              <a:buChar char="•"/>
            </a:pPr>
            <a:r>
              <a:rPr lang="en-US" sz="2500" b="1">
                <a:latin typeface="Calibri Light" panose="020F0302020204030204" pitchFamily="34" charset="0"/>
              </a:rPr>
              <a:t>Academic: tests sequence modeling against matched static methods.</a:t>
            </a:r>
          </a:p>
          <a:p>
            <a:pPr marL="34" indent="-20">
              <a:lnSpc>
                <a:spcPct val="100000"/>
              </a:lnSpc>
              <a:spcAft>
                <a:spcPts val="700"/>
              </a:spcAft>
              <a:buChar char="•"/>
            </a:pPr>
            <a:r>
              <a:rPr lang="en-US" sz="2500" b="1">
                <a:latin typeface="Calibri Light" panose="020F0302020204030204" pitchFamily="34" charset="0"/>
              </a:rPr>
              <a:t>Practical: delivers a working conversation-review workflow.</a:t>
            </a:r>
          </a:p>
          <a:p>
            <a:pPr marL="34" indent="-20">
              <a:lnSpc>
                <a:spcPct val="100000"/>
              </a:lnSpc>
              <a:spcAft>
                <a:spcPts val="700"/>
              </a:spcAft>
              <a:buChar char="•"/>
            </a:pPr>
            <a:r>
              <a:rPr lang="en-US" sz="2500" b="1">
                <a:latin typeface="Calibri Light" panose="020F0302020204030204" pitchFamily="34" charset="0"/>
              </a:rPr>
              <a:t>Social: supports earlier prioritization of concerning interactions.</a:t>
            </a:r>
          </a:p>
          <a:p>
            <a:pPr marL="34" indent="-20">
              <a:lnSpc>
                <a:spcPct val="100000"/>
              </a:lnSpc>
              <a:spcAft>
                <a:spcPts val="700"/>
              </a:spcAft>
              <a:buChar char="•"/>
            </a:pPr>
            <a:r>
              <a:rPr lang="en-US" sz="2500" b="1">
                <a:latin typeface="Calibri Light" panose="020F0302020204030204" pitchFamily="34" charset="0"/>
              </a:rPr>
              <a:t>Research: provides a reproducible author-disjoint evaluation design.</a:t>
            </a:r>
            <a:endParaRPr sz="2500" b="0">
              <a:latin typeface="Calibri Light" panose="020F0302020204030204" pitchFamily="34" charset="0"/>
            </a:endParaRPr>
          </a:p>
        </p:txBody>
      </p:sp>
    </p:spTree>
    <p:extLst>
      <p:ext uri="{BB962C8B-B14F-4D97-AF65-F5344CB8AC3E}">
        <p14:creationId xmlns:p14="http://schemas.microsoft.com/office/powerpoint/2010/main" val="13669525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04548-D28E-C567-67D9-A7F73A398348}"/>
              </a:ext>
            </a:extLst>
          </p:cNvPr>
          <p:cNvSpPr>
            <a:spLocks noGrp="1"/>
          </p:cNvSpPr>
          <p:nvPr>
            <p:ph type="title"/>
          </p:nvPr>
        </p:nvSpPr>
        <p:spPr/>
        <p:txBody>
          <a:bodyPr>
            <a:normAutofit/>
          </a:bodyPr>
          <a:lstStyle/>
          <a:p>
            <a:r>
              <a:rPr lang="en-PH"/>
              <a:t>Review of Related Literature</a:t>
            </a:r>
            <a:endParaRPr/>
          </a:p>
        </p:txBody>
      </p:sp>
      <p:sp>
        <p:nvSpPr>
          <p:cNvPr id="3" name="Text Placeholder 2">
            <a:extLst>
              <a:ext uri="{FF2B5EF4-FFF2-40B4-BE49-F238E27FC236}">
                <a16:creationId xmlns:a16="http://schemas.microsoft.com/office/drawing/2014/main" id="{F83A8EAC-3CA8-6793-6398-0B05C4D71CEC}"/>
              </a:ext>
            </a:extLst>
          </p:cNvPr>
          <p:cNvSpPr>
            <a:spLocks noGrp="1"/>
          </p:cNvSpPr>
          <p:nvPr>
            <p:ph type="body" idx="1"/>
          </p:nvPr>
        </p:nvSpPr>
        <p:spPr/>
        <p:txBody>
          <a:bodyPr/>
          <a:lstStyle/>
          <a:p>
            <a:r>
              <a:rPr lang="en-US"/>
              <a:t>Context, behavior, and sequence learning</a:t>
            </a:r>
            <a:endParaRPr/>
          </a:p>
        </p:txBody>
      </p:sp>
    </p:spTree>
    <p:extLst>
      <p:ext uri="{BB962C8B-B14F-4D97-AF65-F5344CB8AC3E}">
        <p14:creationId xmlns:p14="http://schemas.microsoft.com/office/powerpoint/2010/main" val="6816114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D346D-8683-5037-C23F-47F648DF5CA9}"/>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US" sz="4000">
                <a:solidFill>
                  <a:schemeClr val="accent1">
                    <a:lumMod val="75000"/>
                  </a:schemeClr>
                </a:solidFill>
              </a:rPr>
              <a:t>Why Context and Sequence Matter</a:t>
            </a:r>
            <a:endParaRPr sz="4000">
              <a:solidFill>
                <a:schemeClr val="accent1">
                  <a:lumMod val="75000"/>
                </a:schemeClr>
              </a:solidFill>
            </a:endParaRPr>
          </a:p>
        </p:txBody>
      </p:sp>
      <p:sp>
        <p:nvSpPr>
          <p:cNvPr id="7" name="Content Placeholder 6">
            <a:extLst>
              <a:ext uri="{FF2B5EF4-FFF2-40B4-BE49-F238E27FC236}">
                <a16:creationId xmlns:a16="http://schemas.microsoft.com/office/drawing/2014/main" id="{33D99DDF-C87D-BE06-E16D-DC3C465370B2}"/>
              </a:ext>
            </a:extLst>
          </p:cNvPr>
          <p:cNvSpPr>
            <a:spLocks noGrp="1"/>
          </p:cNvSpPr>
          <p:nvPr>
            <p:ph idx="1"/>
          </p:nvPr>
        </p:nvSpPr>
        <p:spPr>
          <a:xfrm>
            <a:off x="838200" y="1825624"/>
            <a:ext cx="10909151" cy="4811843"/>
          </a:xfrm>
        </p:spPr>
        <p:txBody>
          <a:bodyPr wrap="square">
            <a:noAutofit/>
          </a:bodyPr>
          <a:lstStyle/>
          <a:p>
            <a:pPr>
              <a:lnSpc>
                <a:spcPct val="100000"/>
              </a:lnSpc>
              <a:spcAft>
                <a:spcPts val="700"/>
              </a:spcAft>
            </a:pPr>
            <a:r>
              <a:rPr lang="en-US" b="1">
                <a:latin typeface="Calibri Light" panose="020F0302020204030204" pitchFamily="34" charset="0"/>
              </a:rPr>
              <a:t>The meaning of a turn depends on the surrounding conversation.</a:t>
            </a:r>
          </a:p>
          <a:p>
            <a:pPr>
              <a:lnSpc>
                <a:spcPct val="100000"/>
              </a:lnSpc>
              <a:spcAft>
                <a:spcPts val="700"/>
              </a:spcAft>
            </a:pPr>
            <a:r>
              <a:rPr lang="en-US" b="1">
                <a:latin typeface="Calibri Light" panose="020F0302020204030204" pitchFamily="34" charset="0"/>
              </a:rPr>
              <a:t>Transformers represent local conversational context.</a:t>
            </a:r>
          </a:p>
          <a:p>
            <a:pPr>
              <a:lnSpc>
                <a:spcPct val="100000"/>
              </a:lnSpc>
              <a:spcAft>
                <a:spcPts val="700"/>
              </a:spcAft>
            </a:pPr>
            <a:r>
              <a:rPr lang="en-US" b="1">
                <a:latin typeface="Calibri Light" panose="020F0302020204030204" pitchFamily="34" charset="0"/>
              </a:rPr>
              <a:t>Behavioral evidence develops across multiple turns.</a:t>
            </a:r>
          </a:p>
          <a:p>
            <a:pPr>
              <a:lnSpc>
                <a:spcPct val="100000"/>
              </a:lnSpc>
              <a:spcAft>
                <a:spcPts val="700"/>
              </a:spcAft>
            </a:pPr>
            <a:r>
              <a:rPr lang="en-US" b="1">
                <a:latin typeface="Calibri Light" panose="020F0302020204030204" pitchFamily="34" charset="0"/>
              </a:rPr>
              <a:t>Sequence models can learn how that evidence changes over time.</a:t>
            </a:r>
            <a:endParaRPr>
              <a:latin typeface="Calibri Light" panose="020F0302020204030204" pitchFamily="34" charset="0"/>
            </a:endParaRPr>
          </a:p>
        </p:txBody>
      </p:sp>
    </p:spTree>
    <p:extLst>
      <p:ext uri="{BB962C8B-B14F-4D97-AF65-F5344CB8AC3E}">
        <p14:creationId xmlns:p14="http://schemas.microsoft.com/office/powerpoint/2010/main" val="21857111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A1058-A08A-BE33-9A5D-98508987B929}"/>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sz="4000">
                <a:solidFill>
                  <a:schemeClr val="accent1">
                    <a:lumMod val="75000"/>
                  </a:schemeClr>
                </a:solidFill>
              </a:rPr>
              <a:t>Theory and Dataset Selection</a:t>
            </a:r>
            <a:endParaRPr sz="4000">
              <a:solidFill>
                <a:schemeClr val="accent1">
                  <a:lumMod val="75000"/>
                </a:schemeClr>
              </a:solidFill>
            </a:endParaRPr>
          </a:p>
        </p:txBody>
      </p:sp>
      <p:sp>
        <p:nvSpPr>
          <p:cNvPr id="7" name="Content Placeholder 6">
            <a:extLst>
              <a:ext uri="{FF2B5EF4-FFF2-40B4-BE49-F238E27FC236}">
                <a16:creationId xmlns:a16="http://schemas.microsoft.com/office/drawing/2014/main" id="{0A1BB844-FBB1-BD47-1E3E-3185B77F22F6}"/>
              </a:ext>
            </a:extLst>
          </p:cNvPr>
          <p:cNvSpPr>
            <a:spLocks noGrp="1"/>
          </p:cNvSpPr>
          <p:nvPr>
            <p:ph idx="1"/>
          </p:nvPr>
        </p:nvSpPr>
        <p:spPr>
          <a:xfrm>
            <a:off x="838200" y="1825624"/>
            <a:ext cx="10909151" cy="4811843"/>
          </a:xfrm>
        </p:spPr>
        <p:txBody>
          <a:bodyPr wrap="square">
            <a:noAutofit/>
          </a:bodyPr>
          <a:lstStyle/>
          <a:p>
            <a:pPr>
              <a:lnSpc>
                <a:spcPct val="100000"/>
              </a:lnSpc>
              <a:spcAft>
                <a:spcPts val="700"/>
              </a:spcAft>
            </a:pPr>
            <a:r>
              <a:rPr lang="en-US" sz="2600" b="1">
                <a:latin typeface="Calibri Light" panose="020F0302020204030204" pitchFamily="34" charset="0"/>
              </a:rPr>
              <a:t>OGDM explains grooming as a non-linear conversational process.</a:t>
            </a:r>
          </a:p>
          <a:p>
            <a:pPr>
              <a:lnSpc>
                <a:spcPct val="100000"/>
              </a:lnSpc>
              <a:spcAft>
                <a:spcPts val="700"/>
              </a:spcAft>
            </a:pPr>
            <a:r>
              <a:rPr lang="en-US" sz="2600" b="1">
                <a:latin typeface="Calibri Light" panose="020F0302020204030204" pitchFamily="34" charset="0"/>
              </a:rPr>
              <a:t>Trajectory features translate progression into measurable signals.</a:t>
            </a:r>
          </a:p>
          <a:p>
            <a:pPr>
              <a:lnSpc>
                <a:spcPct val="100000"/>
              </a:lnSpc>
              <a:spcAft>
                <a:spcPts val="700"/>
              </a:spcAft>
            </a:pPr>
            <a:r>
              <a:rPr lang="en-US" sz="2600" b="1">
                <a:latin typeface="Calibri Light" panose="020F0302020204030204" pitchFamily="34" charset="0"/>
              </a:rPr>
              <a:t>PAN-2012 was selected for its scale, chronology, and persistent speaker IDs.</a:t>
            </a:r>
          </a:p>
          <a:p>
            <a:pPr>
              <a:lnSpc>
                <a:spcPct val="100000"/>
              </a:lnSpc>
              <a:spcAft>
                <a:spcPts val="700"/>
              </a:spcAft>
            </a:pPr>
            <a:r>
              <a:rPr lang="en-US" sz="2600" b="1">
                <a:latin typeface="Calibri Light" panose="020F0302020204030204" pitchFamily="34" charset="0"/>
              </a:rPr>
              <a:t>Related studies support combining language and behavioral evidence.</a:t>
            </a:r>
            <a:endParaRPr sz="2600">
              <a:latin typeface="Calibri Light" panose="020F0302020204030204" pitchFamily="34" charset="0"/>
            </a:endParaRPr>
          </a:p>
        </p:txBody>
      </p:sp>
    </p:spTree>
    <p:extLst>
      <p:ext uri="{BB962C8B-B14F-4D97-AF65-F5344CB8AC3E}">
        <p14:creationId xmlns:p14="http://schemas.microsoft.com/office/powerpoint/2010/main" val="21637014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CAD7C-1915-C02D-55A4-9E64523BC0CF}"/>
              </a:ext>
            </a:extLst>
          </p:cNvPr>
          <p:cNvSpPr>
            <a:spLocks noGrp="1"/>
          </p:cNvSpPr>
          <p:nvPr>
            <p:ph type="title"/>
          </p:nvPr>
        </p:nvSpPr>
        <p:spPr/>
        <p:txBody>
          <a:bodyPr>
            <a:normAutofit/>
          </a:bodyPr>
          <a:lstStyle/>
          <a:p>
            <a:r>
              <a:rPr lang="en-PH"/>
              <a:t>Methodology</a:t>
            </a:r>
            <a:endParaRPr/>
          </a:p>
        </p:txBody>
      </p:sp>
      <p:sp>
        <p:nvSpPr>
          <p:cNvPr id="3" name="Text Placeholder 2">
            <a:extLst>
              <a:ext uri="{FF2B5EF4-FFF2-40B4-BE49-F238E27FC236}">
                <a16:creationId xmlns:a16="http://schemas.microsoft.com/office/drawing/2014/main" id="{5F4850A2-3852-8302-39D5-B2A6F6E7D26B}"/>
              </a:ext>
            </a:extLst>
          </p:cNvPr>
          <p:cNvSpPr>
            <a:spLocks noGrp="1"/>
          </p:cNvSpPr>
          <p:nvPr>
            <p:ph type="body" idx="1"/>
          </p:nvPr>
        </p:nvSpPr>
        <p:spPr/>
        <p:txBody>
          <a:bodyPr/>
          <a:lstStyle/>
          <a:p>
            <a:r>
              <a:rPr lang="en-US"/>
              <a:t>How the two-layer system was evaluated</a:t>
            </a:r>
            <a:endParaRPr/>
          </a:p>
        </p:txBody>
      </p:sp>
    </p:spTree>
    <p:extLst>
      <p:ext uri="{BB962C8B-B14F-4D97-AF65-F5344CB8AC3E}">
        <p14:creationId xmlns:p14="http://schemas.microsoft.com/office/powerpoint/2010/main" val="27807462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96913-EAEA-8B97-D32E-31E06E13A28E}"/>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a:solidFill>
                  <a:schemeClr val="accent1">
                    <a:lumMod val="75000"/>
                  </a:schemeClr>
                </a:solidFill>
              </a:rPr>
              <a:t>Two-Layer Architecture</a:t>
            </a:r>
            <a:endParaRPr>
              <a:solidFill>
                <a:schemeClr val="accent1">
                  <a:lumMod val="75000"/>
                </a:schemeClr>
              </a:solidFill>
            </a:endParaRPr>
          </a:p>
        </p:txBody>
      </p:sp>
      <p:sp>
        <p:nvSpPr>
          <p:cNvPr id="7" name="Content Placeholder 6">
            <a:extLst>
              <a:ext uri="{FF2B5EF4-FFF2-40B4-BE49-F238E27FC236}">
                <a16:creationId xmlns:a16="http://schemas.microsoft.com/office/drawing/2014/main" id="{EBF3AD4A-AEF9-C2DC-D178-5F1FAFB632BB}"/>
              </a:ext>
            </a:extLst>
          </p:cNvPr>
          <p:cNvSpPr>
            <a:spLocks noGrp="1"/>
          </p:cNvSpPr>
          <p:nvPr>
            <p:ph idx="1"/>
          </p:nvPr>
        </p:nvSpPr>
        <p:spPr>
          <a:xfrm>
            <a:off x="838200" y="1825624"/>
            <a:ext cx="10417629" cy="4812919"/>
          </a:xfrm>
        </p:spPr>
        <p:txBody>
          <a:bodyPr wrap="square">
            <a:noAutofit/>
          </a:bodyPr>
          <a:lstStyle/>
          <a:p>
            <a:pPr>
              <a:lnSpc>
                <a:spcPct val="100000"/>
              </a:lnSpc>
              <a:spcAft>
                <a:spcPts val="700"/>
              </a:spcAft>
            </a:pPr>
            <a:r>
              <a:rPr lang="en-US" sz="2500" b="1">
                <a:latin typeface="Calibri Light" panose="020F0302020204030204" pitchFamily="34" charset="0"/>
              </a:rPr>
              <a:t>Input: current turn plus up to two preceding turns.</a:t>
            </a:r>
          </a:p>
          <a:p>
            <a:pPr>
              <a:lnSpc>
                <a:spcPct val="100000"/>
              </a:lnSpc>
              <a:spcAft>
                <a:spcPts val="700"/>
              </a:spcAft>
            </a:pPr>
            <a:r>
              <a:rPr lang="en-US" sz="2500" b="1">
                <a:latin typeface="Calibri Light" panose="020F0302020204030204" pitchFamily="34" charset="0"/>
              </a:rPr>
              <a:t>Layer 1: DistilBERT produces a contextual proxy score.</a:t>
            </a:r>
          </a:p>
          <a:p>
            <a:pPr>
              <a:lnSpc>
                <a:spcPct val="100000"/>
              </a:lnSpc>
              <a:spcAft>
                <a:spcPts val="700"/>
              </a:spcAft>
            </a:pPr>
            <a:r>
              <a:rPr lang="en-US" sz="2500" b="1">
                <a:latin typeface="Calibri Light" panose="020F0302020204030204" pitchFamily="34" charset="0"/>
              </a:rPr>
              <a:t>Features: seven signals summarize the evolving conversation.</a:t>
            </a:r>
          </a:p>
          <a:p>
            <a:pPr>
              <a:lnSpc>
                <a:spcPct val="100000"/>
              </a:lnSpc>
              <a:spcAft>
                <a:spcPts val="700"/>
              </a:spcAft>
            </a:pPr>
            <a:r>
              <a:rPr lang="en-US" sz="2500" b="1">
                <a:latin typeface="Calibri Light" panose="020F0302020204030204" pitchFamily="34" charset="0"/>
              </a:rPr>
              <a:t>Layer 2: the LSTM produces a conversation-priority score.</a:t>
            </a:r>
          </a:p>
          <a:p>
            <a:pPr>
              <a:lnSpc>
                <a:spcPct val="100000"/>
              </a:lnSpc>
              <a:spcAft>
                <a:spcPts val="700"/>
              </a:spcAft>
            </a:pPr>
            <a:r>
              <a:rPr lang="en-US" sz="2500" b="1">
                <a:latin typeface="Calibri Light" panose="020F0302020204030204" pitchFamily="34" charset="0"/>
              </a:rPr>
              <a:t>Output: flagged conversations are presented for human review.</a:t>
            </a:r>
            <a:endParaRPr sz="2500">
              <a:latin typeface="Calibri Light" panose="020F0302020204030204" pitchFamily="34" charset="0"/>
            </a:endParaRPr>
          </a:p>
        </p:txBody>
      </p:sp>
    </p:spTree>
    <p:extLst>
      <p:ext uri="{BB962C8B-B14F-4D97-AF65-F5344CB8AC3E}">
        <p14:creationId xmlns:p14="http://schemas.microsoft.com/office/powerpoint/2010/main" val="42522183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88E86-068B-D8BF-990F-DD00E04F07CA}"/>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sz="4000">
                <a:solidFill>
                  <a:schemeClr val="accent1">
                    <a:lumMod val="75000"/>
                  </a:schemeClr>
                </a:solidFill>
              </a:rPr>
              <a:t>Data Preparation and Controls</a:t>
            </a:r>
            <a:endParaRPr sz="4000">
              <a:solidFill>
                <a:schemeClr val="accent1">
                  <a:lumMod val="75000"/>
                </a:schemeClr>
              </a:solidFill>
            </a:endParaRPr>
          </a:p>
        </p:txBody>
      </p:sp>
      <p:sp>
        <p:nvSpPr>
          <p:cNvPr id="7" name="Content Placeholder 6">
            <a:extLst>
              <a:ext uri="{FF2B5EF4-FFF2-40B4-BE49-F238E27FC236}">
                <a16:creationId xmlns:a16="http://schemas.microsoft.com/office/drawing/2014/main" id="{5E709072-0147-F7DF-E372-8343EA23989F}"/>
              </a:ext>
            </a:extLst>
          </p:cNvPr>
          <p:cNvSpPr>
            <a:spLocks noGrp="1"/>
          </p:cNvSpPr>
          <p:nvPr>
            <p:ph idx="1"/>
          </p:nvPr>
        </p:nvSpPr>
        <p:spPr>
          <a:xfrm>
            <a:off x="838200" y="1825624"/>
            <a:ext cx="10417629" cy="4812919"/>
          </a:xfrm>
        </p:spPr>
        <p:txBody>
          <a:bodyPr wrap="square">
            <a:noAutofit/>
          </a:bodyPr>
          <a:lstStyle/>
          <a:p>
            <a:pPr marL="34" indent="-20">
              <a:lnSpc>
                <a:spcPct val="100000"/>
              </a:lnSpc>
              <a:spcAft>
                <a:spcPts val="700"/>
              </a:spcAft>
              <a:buChar char="•"/>
            </a:pPr>
            <a:r>
              <a:rPr lang="en-US" sz="2500" b="1">
                <a:latin typeface="Calibri Light" panose="020F0302020204030204" pitchFamily="34" charset="0"/>
              </a:rPr>
              <a:t>18,567 eligible conversations and 218,114 turns.</a:t>
            </a:r>
          </a:p>
          <a:p>
            <a:pPr marL="34" indent="-20">
              <a:lnSpc>
                <a:spcPct val="100000"/>
              </a:lnSpc>
              <a:spcAft>
                <a:spcPts val="700"/>
              </a:spcAft>
              <a:buChar char="•"/>
            </a:pPr>
            <a:r>
              <a:rPr lang="en-US" sz="2500" b="1">
                <a:latin typeface="Calibri Light" panose="020F0302020204030204" pitchFamily="34" charset="0"/>
              </a:rPr>
              <a:t>Connected-author partitioning prevents author overlap.</a:t>
            </a:r>
          </a:p>
          <a:p>
            <a:pPr marL="34" indent="-20">
              <a:lnSpc>
                <a:spcPct val="100000"/>
              </a:lnSpc>
              <a:spcAft>
                <a:spcPts val="700"/>
              </a:spcAft>
              <a:buChar char="•"/>
            </a:pPr>
            <a:r>
              <a:rPr lang="en-US" sz="2500" b="1">
                <a:latin typeface="Calibri Light" panose="020F0302020204030204" pitchFamily="34" charset="0"/>
              </a:rPr>
              <a:t>Training resources come only from the training partition.</a:t>
            </a:r>
          </a:p>
          <a:p>
            <a:pPr marL="34" indent="-20">
              <a:lnSpc>
                <a:spcPct val="100000"/>
              </a:lnSpc>
              <a:spcAft>
                <a:spcPts val="700"/>
              </a:spcAft>
              <a:buChar char="•"/>
            </a:pPr>
            <a:r>
              <a:rPr lang="en-US" sz="2500" b="1">
                <a:latin typeface="Calibri Light" panose="020F0302020204030204" pitchFamily="34" charset="0"/>
              </a:rPr>
              <a:t>Models and thresholds are selected only on validation.</a:t>
            </a:r>
          </a:p>
          <a:p>
            <a:pPr marL="34" indent="-20">
              <a:lnSpc>
                <a:spcPct val="100000"/>
              </a:lnSpc>
              <a:spcAft>
                <a:spcPts val="700"/>
              </a:spcAft>
              <a:buChar char="•"/>
            </a:pPr>
            <a:r>
              <a:rPr lang="en-US" sz="2500" b="1">
                <a:latin typeface="Calibri Light" panose="020F0302020204030204" pitchFamily="34" charset="0"/>
              </a:rPr>
              <a:t>The locked final test was evaluated once.</a:t>
            </a:r>
            <a:endParaRPr sz="2500" b="0">
              <a:latin typeface="Calibri Light" panose="020F0302020204030204" pitchFamily="34" charset="0"/>
            </a:endParaRPr>
          </a:p>
        </p:txBody>
      </p:sp>
    </p:spTree>
    <p:extLst>
      <p:ext uri="{BB962C8B-B14F-4D97-AF65-F5344CB8AC3E}">
        <p14:creationId xmlns:p14="http://schemas.microsoft.com/office/powerpoint/2010/main" val="24834554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AC6D1-29B6-538B-7D25-7C5544CC89C0}"/>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sz="4000">
                <a:solidFill>
                  <a:schemeClr val="accent1">
                    <a:lumMod val="75000"/>
                  </a:schemeClr>
                </a:solidFill>
              </a:rPr>
              <a:t>Models Compared Fairly</a:t>
            </a:r>
            <a:endParaRPr sz="4000">
              <a:solidFill>
                <a:schemeClr val="accent1">
                  <a:lumMod val="75000"/>
                </a:schemeClr>
              </a:solidFill>
            </a:endParaRPr>
          </a:p>
        </p:txBody>
      </p:sp>
      <p:sp>
        <p:nvSpPr>
          <p:cNvPr id="7" name="Content Placeholder 6">
            <a:extLst>
              <a:ext uri="{FF2B5EF4-FFF2-40B4-BE49-F238E27FC236}">
                <a16:creationId xmlns:a16="http://schemas.microsoft.com/office/drawing/2014/main" id="{F2C7DB05-330E-CFEE-9864-80C9E88E5EAE}"/>
              </a:ext>
            </a:extLst>
          </p:cNvPr>
          <p:cNvSpPr>
            <a:spLocks noGrp="1"/>
          </p:cNvSpPr>
          <p:nvPr>
            <p:ph idx="1"/>
          </p:nvPr>
        </p:nvSpPr>
        <p:spPr>
          <a:xfrm>
            <a:off x="838200" y="1825624"/>
            <a:ext cx="10417629" cy="4812919"/>
          </a:xfrm>
        </p:spPr>
        <p:txBody>
          <a:bodyPr wrap="square">
            <a:noAutofit/>
          </a:bodyPr>
          <a:lstStyle/>
          <a:p>
            <a:pPr>
              <a:lnSpc>
                <a:spcPct val="100000"/>
              </a:lnSpc>
              <a:spcAft>
                <a:spcPts val="700"/>
              </a:spcAft>
            </a:pPr>
            <a:r>
              <a:rPr lang="en-US" sz="2400" b="1">
                <a:latin typeface="Calibri Light" panose="020F0302020204030204" pitchFamily="34" charset="0"/>
              </a:rPr>
              <a:t>Primary LSTM: chronological sequence of seven trajectory features.</a:t>
            </a:r>
          </a:p>
          <a:p>
            <a:pPr>
              <a:lnSpc>
                <a:spcPct val="100000"/>
              </a:lnSpc>
              <a:spcAft>
                <a:spcPts val="700"/>
              </a:spcAft>
            </a:pPr>
            <a:r>
              <a:rPr lang="en-US" sz="2400" b="1">
                <a:latin typeface="Calibri Light" panose="020F0302020204030204" pitchFamily="34" charset="0"/>
              </a:rPr>
              <a:t>Weighted scorer: the same seven inputs combined statically.</a:t>
            </a:r>
          </a:p>
          <a:p>
            <a:pPr>
              <a:lnSpc>
                <a:spcPct val="100000"/>
              </a:lnSpc>
              <a:spcAft>
                <a:spcPts val="700"/>
              </a:spcAft>
            </a:pPr>
            <a:r>
              <a:rPr lang="en-US" sz="2400" b="1">
                <a:latin typeface="Calibri Light" panose="020F0302020204030204" pitchFamily="34" charset="0"/>
              </a:rPr>
              <a:t>Additional baselines: keyword rule and maximum Layer 1 score.</a:t>
            </a:r>
          </a:p>
          <a:p>
            <a:pPr>
              <a:lnSpc>
                <a:spcPct val="100000"/>
              </a:lnSpc>
              <a:spcAft>
                <a:spcPts val="700"/>
              </a:spcAft>
            </a:pPr>
            <a:r>
              <a:rPr lang="en-US" sz="2400" b="1">
                <a:latin typeface="Calibri Light" panose="020F0302020204030204" pitchFamily="34" charset="0"/>
              </a:rPr>
              <a:t>Enhanced LSTM: seven features plus DistilBERT embeddings.</a:t>
            </a:r>
          </a:p>
          <a:p>
            <a:pPr>
              <a:lnSpc>
                <a:spcPct val="100000"/>
              </a:lnSpc>
              <a:spcAft>
                <a:spcPts val="700"/>
              </a:spcAft>
            </a:pPr>
            <a:r>
              <a:rPr lang="en-US" sz="2400" b="1">
                <a:latin typeface="Calibri Light" panose="020F0302020204030204" pitchFamily="34" charset="0"/>
              </a:rPr>
              <a:t>The matched comparison isolates the value of recurrent aggregation.</a:t>
            </a:r>
            <a:endParaRPr sz="2400">
              <a:latin typeface="Calibri Light" panose="020F0302020204030204" pitchFamily="34" charset="0"/>
            </a:endParaRPr>
          </a:p>
        </p:txBody>
      </p:sp>
    </p:spTree>
    <p:extLst>
      <p:ext uri="{BB962C8B-B14F-4D97-AF65-F5344CB8AC3E}">
        <p14:creationId xmlns:p14="http://schemas.microsoft.com/office/powerpoint/2010/main" val="3649870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FFB7C-5425-F0E1-52E3-30955A4CD23A}"/>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sz="4000">
                <a:solidFill>
                  <a:schemeClr val="accent1">
                    <a:lumMod val="75000"/>
                  </a:schemeClr>
                </a:solidFill>
              </a:rPr>
              <a:t>Evaluation and Responsible Use</a:t>
            </a:r>
            <a:endParaRPr sz="4000">
              <a:solidFill>
                <a:schemeClr val="accent1">
                  <a:lumMod val="75000"/>
                </a:schemeClr>
              </a:solidFill>
            </a:endParaRPr>
          </a:p>
        </p:txBody>
      </p:sp>
      <p:sp>
        <p:nvSpPr>
          <p:cNvPr id="7" name="Content Placeholder 6">
            <a:extLst>
              <a:ext uri="{FF2B5EF4-FFF2-40B4-BE49-F238E27FC236}">
                <a16:creationId xmlns:a16="http://schemas.microsoft.com/office/drawing/2014/main" id="{D8EE5D27-CD57-594D-6577-4F7D22ECD5F1}"/>
              </a:ext>
            </a:extLst>
          </p:cNvPr>
          <p:cNvSpPr>
            <a:spLocks noGrp="1"/>
          </p:cNvSpPr>
          <p:nvPr>
            <p:ph idx="1"/>
          </p:nvPr>
        </p:nvSpPr>
        <p:spPr>
          <a:xfrm>
            <a:off x="838200" y="1825624"/>
            <a:ext cx="10417629" cy="4812919"/>
          </a:xfrm>
        </p:spPr>
        <p:txBody>
          <a:bodyPr wrap="square">
            <a:noAutofit/>
          </a:bodyPr>
          <a:lstStyle/>
          <a:p>
            <a:pPr>
              <a:lnSpc>
                <a:spcPct val="100000"/>
              </a:lnSpc>
              <a:spcAft>
                <a:spcPts val="700"/>
              </a:spcAft>
            </a:pPr>
            <a:r>
              <a:rPr lang="en-US" sz="2500" b="1">
                <a:latin typeface="Calibri Light" panose="020F0302020204030204" pitchFamily="34" charset="0"/>
              </a:rPr>
              <a:t>Primary metrics: PR-AUC, F0.5, precision, recall, and false negatives.</a:t>
            </a:r>
          </a:p>
          <a:p>
            <a:pPr>
              <a:lnSpc>
                <a:spcPct val="100000"/>
              </a:lnSpc>
              <a:spcAft>
                <a:spcPts val="700"/>
              </a:spcAft>
            </a:pPr>
            <a:r>
              <a:rPr lang="en-US" sz="2500" b="1">
                <a:latin typeface="Calibri Light" panose="020F0302020204030204" pitchFamily="34" charset="0"/>
              </a:rPr>
              <a:t>Confidence intervals use 2,000 author-grouped bootstrap samples.</a:t>
            </a:r>
          </a:p>
          <a:p>
            <a:pPr>
              <a:lnSpc>
                <a:spcPct val="100000"/>
              </a:lnSpc>
              <a:spcAft>
                <a:spcPts val="700"/>
              </a:spcAft>
            </a:pPr>
            <a:r>
              <a:rPr lang="en-US" sz="2500" b="1">
                <a:latin typeface="Calibri Light" panose="020F0302020204030204" pitchFamily="34" charset="0"/>
              </a:rPr>
              <a:t>Thresholds were frozen before the final test.</a:t>
            </a:r>
          </a:p>
          <a:p>
            <a:pPr>
              <a:lnSpc>
                <a:spcPct val="100000"/>
              </a:lnSpc>
              <a:spcAft>
                <a:spcPts val="700"/>
              </a:spcAft>
            </a:pPr>
            <a:r>
              <a:rPr lang="en-US" sz="2500" b="1">
                <a:latin typeface="Calibri Light" panose="020F0302020204030204" pitchFamily="34" charset="0"/>
              </a:rPr>
              <a:t>All evaluation was offline; the output supports human review.</a:t>
            </a:r>
            <a:endParaRPr sz="2500">
              <a:latin typeface="Calibri Light" panose="020F0302020204030204" pitchFamily="34" charset="0"/>
            </a:endParaRPr>
          </a:p>
        </p:txBody>
      </p:sp>
    </p:spTree>
    <p:extLst>
      <p:ext uri="{BB962C8B-B14F-4D97-AF65-F5344CB8AC3E}">
        <p14:creationId xmlns:p14="http://schemas.microsoft.com/office/powerpoint/2010/main" val="1984140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0C014-A5FB-697C-FD43-5C83E2EDF2EF}"/>
              </a:ext>
            </a:extLst>
          </p:cNvPr>
          <p:cNvSpPr>
            <a:spLocks noGrp="1"/>
          </p:cNvSpPr>
          <p:nvPr>
            <p:ph type="title"/>
          </p:nvPr>
        </p:nvSpPr>
        <p:spPr/>
        <p:txBody>
          <a:bodyPr>
            <a:normAutofit/>
          </a:bodyPr>
          <a:lstStyle/>
          <a:p>
            <a:r>
              <a:rPr lang="en-PH" sz="5600"/>
              <a:t>Results and Conclusions</a:t>
            </a:r>
            <a:endParaRPr sz="5600"/>
          </a:p>
        </p:txBody>
      </p:sp>
      <p:sp>
        <p:nvSpPr>
          <p:cNvPr id="3" name="Text Placeholder 2">
            <a:extLst>
              <a:ext uri="{FF2B5EF4-FFF2-40B4-BE49-F238E27FC236}">
                <a16:creationId xmlns:a16="http://schemas.microsoft.com/office/drawing/2014/main" id="{DAAFFF55-7B74-69F4-9D7B-0BC8CB569A04}"/>
              </a:ext>
            </a:extLst>
          </p:cNvPr>
          <p:cNvSpPr>
            <a:spLocks noGrp="1"/>
          </p:cNvSpPr>
          <p:nvPr>
            <p:ph type="body" idx="1"/>
          </p:nvPr>
        </p:nvSpPr>
        <p:spPr/>
        <p:txBody>
          <a:bodyPr/>
          <a:lstStyle/>
          <a:p>
            <a:r>
              <a:rPr lang="en-US"/>
              <a:t>What the frozen held-out evaluation demonstrated</a:t>
            </a:r>
            <a:endParaRPr/>
          </a:p>
        </p:txBody>
      </p:sp>
    </p:spTree>
    <p:extLst>
      <p:ext uri="{BB962C8B-B14F-4D97-AF65-F5344CB8AC3E}">
        <p14:creationId xmlns:p14="http://schemas.microsoft.com/office/powerpoint/2010/main" val="10809800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DCEE2-687D-86E2-A4AC-7703E81DFB23}"/>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sz="3800">
                <a:solidFill>
                  <a:schemeClr val="accent1">
                    <a:lumMod val="75000"/>
                  </a:schemeClr>
                </a:solidFill>
              </a:rPr>
              <a:t>Frozen Experimental Setup</a:t>
            </a:r>
            <a:endParaRPr sz="3800">
              <a:solidFill>
                <a:schemeClr val="accent1">
                  <a:lumMod val="75000"/>
                </a:schemeClr>
              </a:solidFill>
            </a:endParaRPr>
          </a:p>
        </p:txBody>
      </p:sp>
      <p:sp>
        <p:nvSpPr>
          <p:cNvPr id="7" name="Content Placeholder 6">
            <a:extLst>
              <a:ext uri="{FF2B5EF4-FFF2-40B4-BE49-F238E27FC236}">
                <a16:creationId xmlns:a16="http://schemas.microsoft.com/office/drawing/2014/main" id="{B91042CF-BDB0-7449-206F-A9449A7E0216}"/>
              </a:ext>
            </a:extLst>
          </p:cNvPr>
          <p:cNvSpPr>
            <a:spLocks noGrp="1"/>
          </p:cNvSpPr>
          <p:nvPr>
            <p:ph idx="1"/>
          </p:nvPr>
        </p:nvSpPr>
        <p:spPr>
          <a:xfrm>
            <a:off x="838200" y="1825624"/>
            <a:ext cx="10417629" cy="4812919"/>
          </a:xfrm>
        </p:spPr>
        <p:txBody>
          <a:bodyPr wrap="square">
            <a:noAutofit/>
          </a:bodyPr>
          <a:lstStyle/>
          <a:p>
            <a:pPr marL="34" indent="-20">
              <a:lnSpc>
                <a:spcPct val="100000"/>
              </a:lnSpc>
              <a:spcAft>
                <a:spcPts val="700"/>
              </a:spcAft>
              <a:buChar char="•"/>
            </a:pPr>
            <a:r>
              <a:rPr lang="en-US" sz="2600" b="1">
                <a:latin typeface="Calibri Light" panose="020F0302020204030204" pitchFamily="34" charset="0"/>
              </a:rPr>
              <a:t>Training: 13,031 conversations - 319 positive.</a:t>
            </a:r>
          </a:p>
          <a:p>
            <a:pPr marL="34" indent="-20">
              <a:lnSpc>
                <a:spcPct val="100000"/>
              </a:lnSpc>
              <a:spcAft>
                <a:spcPts val="700"/>
              </a:spcAft>
              <a:buChar char="•"/>
            </a:pPr>
            <a:r>
              <a:rPr lang="en-US" sz="2600" b="1">
                <a:latin typeface="Calibri Light" panose="020F0302020204030204" pitchFamily="34" charset="0"/>
              </a:rPr>
              <a:t>Validation: 1,827 conversations - 49 positive.</a:t>
            </a:r>
          </a:p>
          <a:p>
            <a:pPr marL="34" indent="-20">
              <a:lnSpc>
                <a:spcPct val="100000"/>
              </a:lnSpc>
              <a:spcAft>
                <a:spcPts val="700"/>
              </a:spcAft>
              <a:buChar char="•"/>
            </a:pPr>
            <a:r>
              <a:rPr lang="en-US" sz="2600" b="1">
                <a:latin typeface="Calibri Light" panose="020F0302020204030204" pitchFamily="34" charset="0"/>
              </a:rPr>
              <a:t>Held-out test: 1,862 conversations - 44 positive.</a:t>
            </a:r>
          </a:p>
          <a:p>
            <a:pPr marL="34" indent="-20">
              <a:lnSpc>
                <a:spcPct val="100000"/>
              </a:lnSpc>
              <a:spcAft>
                <a:spcPts val="700"/>
              </a:spcAft>
              <a:buChar char="•"/>
            </a:pPr>
            <a:r>
              <a:rPr lang="en-US" sz="2600" b="1">
                <a:latin typeface="Calibri Light" panose="020F0302020204030204" pitchFamily="34" charset="0"/>
              </a:rPr>
              <a:t>Zero author overlap; validation-only selection; one-time final evaluation.</a:t>
            </a:r>
            <a:endParaRPr sz="2600" b="0" dirty="0">
              <a:latin typeface="Calibri Light" panose="020F0302020204030204" pitchFamily="34" charset="0"/>
            </a:endParaRPr>
          </a:p>
        </p:txBody>
      </p:sp>
    </p:spTree>
    <p:extLst>
      <p:ext uri="{BB962C8B-B14F-4D97-AF65-F5344CB8AC3E}">
        <p14:creationId xmlns:p14="http://schemas.microsoft.com/office/powerpoint/2010/main" val="23253375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9D8BC-1F83-AEE8-FB1E-A56E1DC9E5A3}"/>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US" sz="3100">
                <a:solidFill>
                  <a:schemeClr val="accent1">
                    <a:lumMod val="75000"/>
                  </a:schemeClr>
                </a:solidFill>
              </a:rPr>
              <a:t>Held-Out Results: The Trajectory LSTM Led the Matched Methods</a:t>
            </a:r>
            <a:endParaRPr sz="3100">
              <a:solidFill>
                <a:schemeClr val="accent1">
                  <a:lumMod val="75000"/>
                </a:schemeClr>
              </a:solidFill>
            </a:endParaRPr>
          </a:p>
        </p:txBody>
      </p:sp>
      <p:graphicFrame>
        <p:nvGraphicFramePr>
          <p:cNvPr id="5" name="Results Table">
            <a:extLst>
              <a:ext uri="{FF2B5EF4-FFF2-40B4-BE49-F238E27FC236}">
                <a16:creationId xmlns:a16="http://schemas.microsoft.com/office/drawing/2014/main" id="{C856E440-A226-86DE-A51C-5161681A5DFD}"/>
              </a:ext>
            </a:extLst>
          </p:cNvPr>
          <p:cNvGraphicFramePr>
            <a:graphicFrameLocks noGrp="1"/>
          </p:cNvGraphicFramePr>
          <p:nvPr>
            <p:ph idx="1"/>
            <p:extLst>
              <p:ext uri="{D42A27DB-BD31-4B8C-83A1-F6EECF244321}">
                <p14:modId xmlns:p14="http://schemas.microsoft.com/office/powerpoint/2010/main" val="673736008"/>
              </p:ext>
            </p:extLst>
          </p:nvPr>
        </p:nvGraphicFramePr>
        <p:xfrm>
          <a:off x="660399" y="1651000"/>
          <a:ext cx="10871200" cy="3708402"/>
        </p:xfrm>
        <a:graphic>
          <a:graphicData uri="http://schemas.openxmlformats.org/drawingml/2006/table">
            <a:tbl>
              <a:tblPr firstRow="1" bandRow="1">
                <a:tableStyleId>{5C22544A-7EE6-4342-B048-85BDC9FD1C3A}</a:tableStyleId>
              </a:tblPr>
              <a:tblGrid>
                <a:gridCol w="2997200">
                  <a:extLst>
                    <a:ext uri="{9D8B030D-6E8A-4147-A177-3AD203B41FA5}">
                      <a16:colId xmlns:a16="http://schemas.microsoft.com/office/drawing/2014/main" val="2060636180"/>
                    </a:ext>
                  </a:extLst>
                </a:gridCol>
                <a:gridCol w="1524000">
                  <a:extLst>
                    <a:ext uri="{9D8B030D-6E8A-4147-A177-3AD203B41FA5}">
                      <a16:colId xmlns:a16="http://schemas.microsoft.com/office/drawing/2014/main" val="4199649200"/>
                    </a:ext>
                  </a:extLst>
                </a:gridCol>
                <a:gridCol w="1397000">
                  <a:extLst>
                    <a:ext uri="{9D8B030D-6E8A-4147-A177-3AD203B41FA5}">
                      <a16:colId xmlns:a16="http://schemas.microsoft.com/office/drawing/2014/main" val="3668404456"/>
                    </a:ext>
                  </a:extLst>
                </a:gridCol>
                <a:gridCol w="1524000">
                  <a:extLst>
                    <a:ext uri="{9D8B030D-6E8A-4147-A177-3AD203B41FA5}">
                      <a16:colId xmlns:a16="http://schemas.microsoft.com/office/drawing/2014/main" val="1410816486"/>
                    </a:ext>
                  </a:extLst>
                </a:gridCol>
                <a:gridCol w="1397000">
                  <a:extLst>
                    <a:ext uri="{9D8B030D-6E8A-4147-A177-3AD203B41FA5}">
                      <a16:colId xmlns:a16="http://schemas.microsoft.com/office/drawing/2014/main" val="2794559133"/>
                    </a:ext>
                  </a:extLst>
                </a:gridCol>
                <a:gridCol w="1016000">
                  <a:extLst>
                    <a:ext uri="{9D8B030D-6E8A-4147-A177-3AD203B41FA5}">
                      <a16:colId xmlns:a16="http://schemas.microsoft.com/office/drawing/2014/main" val="352518138"/>
                    </a:ext>
                  </a:extLst>
                </a:gridCol>
                <a:gridCol w="1016000">
                  <a:extLst>
                    <a:ext uri="{9D8B030D-6E8A-4147-A177-3AD203B41FA5}">
                      <a16:colId xmlns:a16="http://schemas.microsoft.com/office/drawing/2014/main" val="194572329"/>
                    </a:ext>
                  </a:extLst>
                </a:gridCol>
              </a:tblGrid>
              <a:tr h="618067">
                <a:tc>
                  <a:txBody>
                    <a:bodyPr/>
                    <a:lstStyle/>
                    <a:p>
                      <a:pPr algn="l"/>
                      <a:r>
                        <a:rPr lang="en-PH" sz="1600" b="1">
                          <a:solidFill>
                            <a:srgbClr val="000000"/>
                          </a:solidFill>
                          <a:latin typeface="Calibri" panose="020F0502020204030204" pitchFamily="34" charset="0"/>
                        </a:rPr>
                        <a:t>Method</a:t>
                      </a:r>
                    </a:p>
                  </a:txBody>
                  <a:tcPr marL="50800" marR="50800" marT="38100" marB="38100" anchor="ctr">
                    <a:solidFill>
                      <a:srgbClr val="E1E7EF"/>
                    </a:solidFill>
                  </a:tcPr>
                </a:tc>
                <a:tc>
                  <a:txBody>
                    <a:bodyPr/>
                    <a:lstStyle/>
                    <a:p>
                      <a:pPr algn="ctr"/>
                      <a:r>
                        <a:rPr lang="en-PH" sz="1600" b="1">
                          <a:solidFill>
                            <a:srgbClr val="000000"/>
                          </a:solidFill>
                          <a:latin typeface="Calibri" panose="020F0502020204030204" pitchFamily="34" charset="0"/>
                        </a:rPr>
                        <a:t>PR-AUC</a:t>
                      </a:r>
                    </a:p>
                  </a:txBody>
                  <a:tcPr marL="50800" marR="50800" marT="38100" marB="38100" anchor="ctr">
                    <a:solidFill>
                      <a:srgbClr val="E1E7EF"/>
                    </a:solidFill>
                  </a:tcPr>
                </a:tc>
                <a:tc>
                  <a:txBody>
                    <a:bodyPr/>
                    <a:lstStyle/>
                    <a:p>
                      <a:pPr algn="ctr"/>
                      <a:r>
                        <a:rPr lang="en-PH" sz="1600" b="1">
                          <a:solidFill>
                            <a:srgbClr val="000000"/>
                          </a:solidFill>
                          <a:latin typeface="Calibri" panose="020F0502020204030204" pitchFamily="34" charset="0"/>
                        </a:rPr>
                        <a:t>F0.5</a:t>
                      </a:r>
                    </a:p>
                  </a:txBody>
                  <a:tcPr marL="50800" marR="50800" marT="38100" marB="38100" anchor="ctr">
                    <a:solidFill>
                      <a:srgbClr val="E1E7EF"/>
                    </a:solidFill>
                  </a:tcPr>
                </a:tc>
                <a:tc>
                  <a:txBody>
                    <a:bodyPr/>
                    <a:lstStyle/>
                    <a:p>
                      <a:pPr algn="ctr"/>
                      <a:r>
                        <a:rPr lang="en-PH" sz="1600" b="1">
                          <a:solidFill>
                            <a:srgbClr val="000000"/>
                          </a:solidFill>
                          <a:latin typeface="Calibri" panose="020F0502020204030204" pitchFamily="34" charset="0"/>
                        </a:rPr>
                        <a:t>Precision</a:t>
                      </a:r>
                    </a:p>
                  </a:txBody>
                  <a:tcPr marL="50800" marR="50800" marT="38100" marB="38100" anchor="ctr">
                    <a:solidFill>
                      <a:srgbClr val="E1E7EF"/>
                    </a:solidFill>
                  </a:tcPr>
                </a:tc>
                <a:tc>
                  <a:txBody>
                    <a:bodyPr/>
                    <a:lstStyle/>
                    <a:p>
                      <a:pPr algn="ctr"/>
                      <a:r>
                        <a:rPr lang="en-PH" sz="1600" b="1">
                          <a:solidFill>
                            <a:srgbClr val="000000"/>
                          </a:solidFill>
                          <a:latin typeface="Calibri" panose="020F0502020204030204" pitchFamily="34" charset="0"/>
                        </a:rPr>
                        <a:t>Recall</a:t>
                      </a:r>
                    </a:p>
                  </a:txBody>
                  <a:tcPr marL="50800" marR="50800" marT="38100" marB="38100" anchor="ctr">
                    <a:solidFill>
                      <a:srgbClr val="E1E7EF"/>
                    </a:solidFill>
                  </a:tcPr>
                </a:tc>
                <a:tc>
                  <a:txBody>
                    <a:bodyPr/>
                    <a:lstStyle/>
                    <a:p>
                      <a:pPr algn="ctr"/>
                      <a:r>
                        <a:rPr lang="en-PH" sz="1600" b="1">
                          <a:solidFill>
                            <a:srgbClr val="000000"/>
                          </a:solidFill>
                          <a:latin typeface="Calibri" panose="020F0502020204030204" pitchFamily="34" charset="0"/>
                        </a:rPr>
                        <a:t>FP</a:t>
                      </a:r>
                    </a:p>
                  </a:txBody>
                  <a:tcPr marL="50800" marR="50800" marT="38100" marB="38100" anchor="ctr">
                    <a:solidFill>
                      <a:srgbClr val="E1E7EF"/>
                    </a:solidFill>
                  </a:tcPr>
                </a:tc>
                <a:tc>
                  <a:txBody>
                    <a:bodyPr/>
                    <a:lstStyle/>
                    <a:p>
                      <a:pPr algn="ctr"/>
                      <a:r>
                        <a:rPr lang="en-PH" sz="1600" b="1">
                          <a:solidFill>
                            <a:srgbClr val="000000"/>
                          </a:solidFill>
                          <a:latin typeface="Calibri" panose="020F0502020204030204" pitchFamily="34" charset="0"/>
                        </a:rPr>
                        <a:t>FN</a:t>
                      </a:r>
                    </a:p>
                  </a:txBody>
                  <a:tcPr marL="50800" marR="50800" marT="38100" marB="38100" anchor="ctr">
                    <a:solidFill>
                      <a:srgbClr val="E1E7EF"/>
                    </a:solidFill>
                  </a:tcPr>
                </a:tc>
                <a:extLst>
                  <a:ext uri="{0D108BD9-81ED-4DB2-BD59-A6C34878D82A}">
                    <a16:rowId xmlns:a16="http://schemas.microsoft.com/office/drawing/2014/main" val="936655367"/>
                  </a:ext>
                </a:extLst>
              </a:tr>
              <a:tr h="618067">
                <a:tc>
                  <a:txBody>
                    <a:bodyPr/>
                    <a:lstStyle/>
                    <a:p>
                      <a:pPr algn="l"/>
                      <a:r>
                        <a:rPr lang="en-PH" sz="1600">
                          <a:solidFill>
                            <a:srgbClr val="000000"/>
                          </a:solidFill>
                          <a:latin typeface="Calibri" panose="020F0502020204030204" pitchFamily="34" charset="0"/>
                        </a:rPr>
                        <a:t>Keyword rule</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0.4451</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0.6888</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0.7105</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0.6136</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11</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17</a:t>
                      </a:r>
                    </a:p>
                  </a:txBody>
                  <a:tcPr marL="50800" marR="50800" marT="38100" marB="38100" anchor="ctr">
                    <a:solidFill>
                      <a:srgbClr val="FFFFFF"/>
                    </a:solidFill>
                  </a:tcPr>
                </a:tc>
                <a:extLst>
                  <a:ext uri="{0D108BD9-81ED-4DB2-BD59-A6C34878D82A}">
                    <a16:rowId xmlns:a16="http://schemas.microsoft.com/office/drawing/2014/main" val="3916212824"/>
                  </a:ext>
                </a:extLst>
              </a:tr>
              <a:tr h="618067">
                <a:tc>
                  <a:txBody>
                    <a:bodyPr/>
                    <a:lstStyle/>
                    <a:p>
                      <a:pPr algn="l"/>
                      <a:r>
                        <a:rPr lang="en-PH" sz="1600">
                          <a:solidFill>
                            <a:srgbClr val="000000"/>
                          </a:solidFill>
                          <a:latin typeface="Calibri" panose="020F0502020204030204" pitchFamily="34" charset="0"/>
                        </a:rPr>
                        <a:t>Maximum Layer 1</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0.5523</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0.5529</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0.5610</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0.5227</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18</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21</a:t>
                      </a:r>
                    </a:p>
                  </a:txBody>
                  <a:tcPr marL="50800" marR="50800" marT="38100" marB="38100" anchor="ctr">
                    <a:solidFill>
                      <a:srgbClr val="FFFFFF"/>
                    </a:solidFill>
                  </a:tcPr>
                </a:tc>
                <a:extLst>
                  <a:ext uri="{0D108BD9-81ED-4DB2-BD59-A6C34878D82A}">
                    <a16:rowId xmlns:a16="http://schemas.microsoft.com/office/drawing/2014/main" val="3868423462"/>
                  </a:ext>
                </a:extLst>
              </a:tr>
              <a:tr h="618067">
                <a:tc>
                  <a:txBody>
                    <a:bodyPr/>
                    <a:lstStyle/>
                    <a:p>
                      <a:pPr algn="l"/>
                      <a:r>
                        <a:rPr lang="en-PH" sz="1600">
                          <a:solidFill>
                            <a:srgbClr val="000000"/>
                          </a:solidFill>
                          <a:latin typeface="Calibri" panose="020F0502020204030204" pitchFamily="34" charset="0"/>
                        </a:rPr>
                        <a:t>Weighted scorer</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0.8050</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0.7500</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0.7347</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0.8182</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13</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8</a:t>
                      </a:r>
                    </a:p>
                  </a:txBody>
                  <a:tcPr marL="50800" marR="50800" marT="38100" marB="38100" anchor="ctr">
                    <a:solidFill>
                      <a:srgbClr val="FFFFFF"/>
                    </a:solidFill>
                  </a:tcPr>
                </a:tc>
                <a:extLst>
                  <a:ext uri="{0D108BD9-81ED-4DB2-BD59-A6C34878D82A}">
                    <a16:rowId xmlns:a16="http://schemas.microsoft.com/office/drawing/2014/main" val="594079778"/>
                  </a:ext>
                </a:extLst>
              </a:tr>
              <a:tr h="618067">
                <a:tc>
                  <a:txBody>
                    <a:bodyPr/>
                    <a:lstStyle/>
                    <a:p>
                      <a:pPr algn="l"/>
                      <a:r>
                        <a:rPr lang="en-PH" sz="1600" b="1">
                          <a:solidFill>
                            <a:srgbClr val="000000"/>
                          </a:solidFill>
                          <a:latin typeface="Calibri" panose="020F0502020204030204" pitchFamily="34" charset="0"/>
                        </a:rPr>
                        <a:t>Primary trajectory LSTM</a:t>
                      </a:r>
                    </a:p>
                  </a:txBody>
                  <a:tcPr marL="50800" marR="50800" marT="38100" marB="38100" anchor="ctr">
                    <a:solidFill>
                      <a:srgbClr val="E2EFE6"/>
                    </a:solidFill>
                  </a:tcPr>
                </a:tc>
                <a:tc>
                  <a:txBody>
                    <a:bodyPr/>
                    <a:lstStyle/>
                    <a:p>
                      <a:pPr algn="ctr"/>
                      <a:r>
                        <a:rPr lang="en-PH" sz="1600" b="1">
                          <a:solidFill>
                            <a:srgbClr val="000000"/>
                          </a:solidFill>
                          <a:latin typeface="Calibri" panose="020F0502020204030204" pitchFamily="34" charset="0"/>
                        </a:rPr>
                        <a:t>0.9153</a:t>
                      </a:r>
                    </a:p>
                  </a:txBody>
                  <a:tcPr marL="50800" marR="50800" marT="38100" marB="38100" anchor="ctr">
                    <a:solidFill>
                      <a:srgbClr val="E2EFE6"/>
                    </a:solidFill>
                  </a:tcPr>
                </a:tc>
                <a:tc>
                  <a:txBody>
                    <a:bodyPr/>
                    <a:lstStyle/>
                    <a:p>
                      <a:pPr algn="ctr"/>
                      <a:r>
                        <a:rPr lang="en-PH" sz="1600" b="1">
                          <a:solidFill>
                            <a:srgbClr val="000000"/>
                          </a:solidFill>
                          <a:latin typeface="Calibri" panose="020F0502020204030204" pitchFamily="34" charset="0"/>
                        </a:rPr>
                        <a:t>0.8621</a:t>
                      </a:r>
                    </a:p>
                  </a:txBody>
                  <a:tcPr marL="50800" marR="50800" marT="38100" marB="38100" anchor="ctr">
                    <a:solidFill>
                      <a:srgbClr val="E2EFE6"/>
                    </a:solidFill>
                  </a:tcPr>
                </a:tc>
                <a:tc>
                  <a:txBody>
                    <a:bodyPr/>
                    <a:lstStyle/>
                    <a:p>
                      <a:pPr algn="ctr"/>
                      <a:r>
                        <a:rPr lang="en-PH" sz="1600" b="1">
                          <a:solidFill>
                            <a:srgbClr val="000000"/>
                          </a:solidFill>
                          <a:latin typeface="Calibri" panose="020F0502020204030204" pitchFamily="34" charset="0"/>
                        </a:rPr>
                        <a:t>0.8511</a:t>
                      </a:r>
                    </a:p>
                  </a:txBody>
                  <a:tcPr marL="50800" marR="50800" marT="38100" marB="38100" anchor="ctr">
                    <a:solidFill>
                      <a:srgbClr val="E2EFE6"/>
                    </a:solidFill>
                  </a:tcPr>
                </a:tc>
                <a:tc>
                  <a:txBody>
                    <a:bodyPr/>
                    <a:lstStyle/>
                    <a:p>
                      <a:pPr algn="ctr"/>
                      <a:r>
                        <a:rPr lang="en-PH" sz="1600" b="1">
                          <a:solidFill>
                            <a:srgbClr val="000000"/>
                          </a:solidFill>
                          <a:latin typeface="Calibri" panose="020F0502020204030204" pitchFamily="34" charset="0"/>
                        </a:rPr>
                        <a:t>0.9091</a:t>
                      </a:r>
                    </a:p>
                  </a:txBody>
                  <a:tcPr marL="50800" marR="50800" marT="38100" marB="38100" anchor="ctr">
                    <a:solidFill>
                      <a:srgbClr val="E2EFE6"/>
                    </a:solidFill>
                  </a:tcPr>
                </a:tc>
                <a:tc>
                  <a:txBody>
                    <a:bodyPr/>
                    <a:lstStyle/>
                    <a:p>
                      <a:pPr algn="ctr"/>
                      <a:r>
                        <a:rPr lang="en-PH" sz="1600" b="1">
                          <a:solidFill>
                            <a:srgbClr val="000000"/>
                          </a:solidFill>
                          <a:latin typeface="Calibri" panose="020F0502020204030204" pitchFamily="34" charset="0"/>
                        </a:rPr>
                        <a:t>7</a:t>
                      </a:r>
                    </a:p>
                  </a:txBody>
                  <a:tcPr marL="50800" marR="50800" marT="38100" marB="38100" anchor="ctr">
                    <a:solidFill>
                      <a:srgbClr val="E2EFE6"/>
                    </a:solidFill>
                  </a:tcPr>
                </a:tc>
                <a:tc>
                  <a:txBody>
                    <a:bodyPr/>
                    <a:lstStyle/>
                    <a:p>
                      <a:pPr algn="ctr"/>
                      <a:r>
                        <a:rPr lang="en-PH" sz="1600" b="1">
                          <a:solidFill>
                            <a:srgbClr val="000000"/>
                          </a:solidFill>
                          <a:latin typeface="Calibri" panose="020F0502020204030204" pitchFamily="34" charset="0"/>
                        </a:rPr>
                        <a:t>4</a:t>
                      </a:r>
                    </a:p>
                  </a:txBody>
                  <a:tcPr marL="50800" marR="50800" marT="38100" marB="38100" anchor="ctr">
                    <a:solidFill>
                      <a:srgbClr val="E2EFE6"/>
                    </a:solidFill>
                  </a:tcPr>
                </a:tc>
                <a:extLst>
                  <a:ext uri="{0D108BD9-81ED-4DB2-BD59-A6C34878D82A}">
                    <a16:rowId xmlns:a16="http://schemas.microsoft.com/office/drawing/2014/main" val="3528414813"/>
                  </a:ext>
                </a:extLst>
              </a:tr>
              <a:tr h="618067">
                <a:tc>
                  <a:txBody>
                    <a:bodyPr/>
                    <a:lstStyle/>
                    <a:p>
                      <a:pPr algn="l"/>
                      <a:r>
                        <a:rPr lang="en-PH" sz="1600">
                          <a:solidFill>
                            <a:srgbClr val="000000"/>
                          </a:solidFill>
                          <a:latin typeface="Calibri" panose="020F0502020204030204" pitchFamily="34" charset="0"/>
                        </a:rPr>
                        <a:t>Enhanced LSTM</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0.9483</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0.8836</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0.8723</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0.9318</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6</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3</a:t>
                      </a:r>
                    </a:p>
                  </a:txBody>
                  <a:tcPr marL="50800" marR="50800" marT="38100" marB="38100" anchor="ctr">
                    <a:solidFill>
                      <a:srgbClr val="FFFFFF"/>
                    </a:solidFill>
                  </a:tcPr>
                </a:tc>
                <a:extLst>
                  <a:ext uri="{0D108BD9-81ED-4DB2-BD59-A6C34878D82A}">
                    <a16:rowId xmlns:a16="http://schemas.microsoft.com/office/drawing/2014/main" val="2266072408"/>
                  </a:ext>
                </a:extLst>
              </a:tr>
            </a:tbl>
          </a:graphicData>
        </a:graphic>
      </p:graphicFrame>
      <p:sp>
        <p:nvSpPr>
          <p:cNvPr id="8" name="Results Footnote">
            <a:extLst>
              <a:ext uri="{FF2B5EF4-FFF2-40B4-BE49-F238E27FC236}">
                <a16:creationId xmlns:a16="http://schemas.microsoft.com/office/drawing/2014/main" id="{0B2770C0-A40A-B5FB-1DC6-B35CA7D9AE11}"/>
              </a:ext>
            </a:extLst>
          </p:cNvPr>
          <p:cNvSpPr txBox="1"/>
          <p:nvPr/>
        </p:nvSpPr>
        <p:spPr>
          <a:xfrm>
            <a:off x="660400" y="5588000"/>
            <a:ext cx="10871200" cy="353943"/>
          </a:xfrm>
          <a:prstGeom prst="rect">
            <a:avLst/>
          </a:prstGeom>
          <a:noFill/>
        </p:spPr>
        <p:txBody>
          <a:bodyPr vert="horz" rtlCol="0">
            <a:spAutoFit/>
          </a:bodyPr>
          <a:lstStyle/>
          <a:p>
            <a:pPr algn="ctr"/>
            <a:r>
              <a:rPr lang="en-US" sz="1700">
                <a:solidFill>
                  <a:srgbClr val="404040"/>
                </a:solidFill>
                <a:latin typeface="Calibri Light" panose="020F0302020204030204" pitchFamily="34" charset="0"/>
              </a:rPr>
              <a:t>Held-out test: N = 1,862 conversations; 44 positive. Thresholds were frozen on validation.</a:t>
            </a:r>
            <a:endParaRPr lang="en-PH" sz="1700">
              <a:solidFill>
                <a:srgbClr val="404040"/>
              </a:solidFill>
              <a:latin typeface="Calibri Light" panose="020F0302020204030204" pitchFamily="34" charset="0"/>
            </a:endParaRPr>
          </a:p>
        </p:txBody>
      </p:sp>
    </p:spTree>
    <p:extLst>
      <p:ext uri="{BB962C8B-B14F-4D97-AF65-F5344CB8AC3E}">
        <p14:creationId xmlns:p14="http://schemas.microsoft.com/office/powerpoint/2010/main" val="1657540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598A0-9FA3-ADAE-2623-D2D08491DEAB}"/>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sz="3800">
                <a:solidFill>
                  <a:schemeClr val="accent1">
                    <a:lumMod val="75000"/>
                  </a:schemeClr>
                </a:solidFill>
              </a:rPr>
              <a:t>Sequence Modeling Added Value</a:t>
            </a:r>
            <a:endParaRPr sz="3800">
              <a:solidFill>
                <a:schemeClr val="accent1">
                  <a:lumMod val="75000"/>
                </a:schemeClr>
              </a:solidFill>
            </a:endParaRPr>
          </a:p>
        </p:txBody>
      </p:sp>
      <p:sp>
        <p:nvSpPr>
          <p:cNvPr id="7" name="Content Placeholder 6">
            <a:extLst>
              <a:ext uri="{FF2B5EF4-FFF2-40B4-BE49-F238E27FC236}">
                <a16:creationId xmlns:a16="http://schemas.microsoft.com/office/drawing/2014/main" id="{9041BE92-E854-95BC-140D-667CB9E565BA}"/>
              </a:ext>
            </a:extLst>
          </p:cNvPr>
          <p:cNvSpPr>
            <a:spLocks noGrp="1"/>
          </p:cNvSpPr>
          <p:nvPr>
            <p:ph idx="1"/>
          </p:nvPr>
        </p:nvSpPr>
        <p:spPr>
          <a:xfrm>
            <a:off x="838200" y="1825624"/>
            <a:ext cx="10787743" cy="4812919"/>
          </a:xfrm>
        </p:spPr>
        <p:txBody>
          <a:bodyPr wrap="square">
            <a:noAutofit/>
          </a:bodyPr>
          <a:lstStyle/>
          <a:p>
            <a:pPr marL="34" indent="-20">
              <a:lnSpc>
                <a:spcPct val="100000"/>
              </a:lnSpc>
              <a:spcAft>
                <a:spcPts val="700"/>
              </a:spcAft>
              <a:buChar char="•"/>
            </a:pPr>
            <a:r>
              <a:rPr lang="en-PH" sz="2500" b="1">
                <a:latin typeface="Calibri Light" panose="020F0302020204030204" pitchFamily="34" charset="0"/>
              </a:rPr>
              <a:t>Same seven inputs: primary LSTM versus weighted scorer.</a:t>
            </a:r>
          </a:p>
          <a:p>
            <a:pPr marL="34" indent="-20">
              <a:lnSpc>
                <a:spcPct val="100000"/>
              </a:lnSpc>
              <a:spcAft>
                <a:spcPts val="700"/>
              </a:spcAft>
              <a:buChar char="•"/>
            </a:pPr>
            <a:r>
              <a:rPr lang="en-PH" sz="2500" b="1">
                <a:latin typeface="Calibri Light" panose="020F0302020204030204" pitchFamily="34" charset="0"/>
              </a:rPr>
              <a:t>+0.1103 PR-AUC [95% CI: +0.0251, +0.2254].</a:t>
            </a:r>
          </a:p>
          <a:p>
            <a:pPr marL="34" indent="-20">
              <a:lnSpc>
                <a:spcPct val="100000"/>
              </a:lnSpc>
              <a:spcAft>
                <a:spcPts val="700"/>
              </a:spcAft>
              <a:buChar char="•"/>
            </a:pPr>
            <a:r>
              <a:rPr lang="en-PH" sz="2500" b="1">
                <a:latin typeface="Calibri Light" panose="020F0302020204030204" pitchFamily="34" charset="0"/>
              </a:rPr>
              <a:t>+0.1121 F0.5 [95% CI: +0.0194, +0.2336].</a:t>
            </a:r>
          </a:p>
          <a:p>
            <a:pPr marL="34" indent="-20">
              <a:lnSpc>
                <a:spcPct val="100000"/>
              </a:lnSpc>
              <a:spcAft>
                <a:spcPts val="700"/>
              </a:spcAft>
              <a:buChar char="•"/>
            </a:pPr>
            <a:r>
              <a:rPr lang="en-PH" sz="2500" b="1">
                <a:latin typeface="Calibri Light" panose="020F0302020204030204" pitchFamily="34" charset="0"/>
              </a:rPr>
              <a:t>False negatives: 17 keyword -&gt; 8 weighted -&gt; 4 LSTM.</a:t>
            </a:r>
          </a:p>
          <a:p>
            <a:pPr marL="34" indent="-20">
              <a:lnSpc>
                <a:spcPct val="100000"/>
              </a:lnSpc>
              <a:spcAft>
                <a:spcPts val="700"/>
              </a:spcAft>
              <a:buChar char="•"/>
            </a:pPr>
            <a:r>
              <a:rPr lang="en-PH" sz="2500" b="1">
                <a:latin typeface="Calibri Light" panose="020F0302020204030204" pitchFamily="34" charset="0"/>
              </a:rPr>
              <a:t>Learned recurrent aggregation outperformed static aggregation.</a:t>
            </a:r>
            <a:endParaRPr sz="2500" b="0" dirty="0">
              <a:latin typeface="Calibri Light" panose="020F0302020204030204" pitchFamily="34" charset="0"/>
            </a:endParaRPr>
          </a:p>
        </p:txBody>
      </p:sp>
    </p:spTree>
    <p:extLst>
      <p:ext uri="{BB962C8B-B14F-4D97-AF65-F5344CB8AC3E}">
        <p14:creationId xmlns:p14="http://schemas.microsoft.com/office/powerpoint/2010/main" val="29446447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D35F6-715A-F097-9D74-51FCC60B8438}"/>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sz="3800">
                <a:solidFill>
                  <a:schemeClr val="accent1">
                    <a:lumMod val="75000"/>
                  </a:schemeClr>
                </a:solidFill>
              </a:rPr>
              <a:t>The Objectives Were Achieved</a:t>
            </a:r>
            <a:endParaRPr sz="3800">
              <a:solidFill>
                <a:schemeClr val="accent1">
                  <a:lumMod val="75000"/>
                </a:schemeClr>
              </a:solidFill>
            </a:endParaRPr>
          </a:p>
        </p:txBody>
      </p:sp>
      <p:sp>
        <p:nvSpPr>
          <p:cNvPr id="7" name="Content Placeholder 6">
            <a:extLst>
              <a:ext uri="{FF2B5EF4-FFF2-40B4-BE49-F238E27FC236}">
                <a16:creationId xmlns:a16="http://schemas.microsoft.com/office/drawing/2014/main" id="{6CFC9BB0-3A49-1A92-9D3D-8ECF57197D48}"/>
              </a:ext>
            </a:extLst>
          </p:cNvPr>
          <p:cNvSpPr>
            <a:spLocks noGrp="1"/>
          </p:cNvSpPr>
          <p:nvPr>
            <p:ph idx="1"/>
          </p:nvPr>
        </p:nvSpPr>
        <p:spPr>
          <a:xfrm>
            <a:off x="838200" y="1825624"/>
            <a:ext cx="10787743" cy="4812919"/>
          </a:xfrm>
        </p:spPr>
        <p:txBody>
          <a:bodyPr wrap="square">
            <a:noAutofit/>
          </a:bodyPr>
          <a:lstStyle/>
          <a:p>
            <a:pPr marL="34" indent="-20">
              <a:lnSpc>
                <a:spcPct val="100000"/>
              </a:lnSpc>
              <a:spcAft>
                <a:spcPts val="700"/>
              </a:spcAft>
              <a:buChar char="•"/>
            </a:pPr>
            <a:r>
              <a:rPr lang="en-US" sz="2500" b="1">
                <a:latin typeface="Calibri Light" panose="020F0302020204030204" pitchFamily="34" charset="0"/>
              </a:rPr>
              <a:t>Static methods missed more context-dependent conversations.</a:t>
            </a:r>
          </a:p>
          <a:p>
            <a:pPr marL="34" indent="-20">
              <a:lnSpc>
                <a:spcPct val="100000"/>
              </a:lnSpc>
              <a:spcAft>
                <a:spcPts val="700"/>
              </a:spcAft>
              <a:buChar char="•"/>
            </a:pPr>
            <a:r>
              <a:rPr lang="en-US" sz="2500" b="1">
                <a:latin typeface="Calibri Light" panose="020F0302020204030204" pitchFamily="34" charset="0"/>
              </a:rPr>
              <a:t>A complete two-layer module and review interface were delivered.</a:t>
            </a:r>
          </a:p>
          <a:p>
            <a:pPr marL="34" indent="-20">
              <a:lnSpc>
                <a:spcPct val="100000"/>
              </a:lnSpc>
              <a:spcAft>
                <a:spcPts val="700"/>
              </a:spcAft>
              <a:buChar char="•"/>
            </a:pPr>
            <a:r>
              <a:rPr lang="en-US" sz="2500" b="1">
                <a:latin typeface="Calibri Light" panose="020F0302020204030204" pitchFamily="34" charset="0"/>
              </a:rPr>
              <a:t>The primary LSTM reached 0.9091 recall with four false negatives.</a:t>
            </a:r>
          </a:p>
          <a:p>
            <a:pPr marL="34" indent="-20">
              <a:lnSpc>
                <a:spcPct val="100000"/>
              </a:lnSpc>
              <a:spcAft>
                <a:spcPts val="700"/>
              </a:spcAft>
              <a:buChar char="•"/>
            </a:pPr>
            <a:r>
              <a:rPr lang="en-US" sz="2500" b="1">
                <a:latin typeface="Calibri Light" panose="020F0302020204030204" pitchFamily="34" charset="0"/>
              </a:rPr>
              <a:t>Next: external validation, ablations, and moderator-centered evaluation.</a:t>
            </a:r>
            <a:endParaRPr sz="2500" b="0" dirty="0">
              <a:latin typeface="Calibri Light" panose="020F0302020204030204" pitchFamily="34" charset="0"/>
            </a:endParaRPr>
          </a:p>
        </p:txBody>
      </p:sp>
    </p:spTree>
    <p:extLst>
      <p:ext uri="{BB962C8B-B14F-4D97-AF65-F5344CB8AC3E}">
        <p14:creationId xmlns:p14="http://schemas.microsoft.com/office/powerpoint/2010/main" val="41545632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E62D6-6609-3BEA-6165-A7F5095A16AC}"/>
              </a:ext>
            </a:extLst>
          </p:cNvPr>
          <p:cNvSpPr>
            <a:spLocks noGrp="1"/>
          </p:cNvSpPr>
          <p:nvPr>
            <p:ph type="title"/>
          </p:nvPr>
        </p:nvSpPr>
        <p:spPr/>
        <p:txBody>
          <a:bodyPr>
            <a:normAutofit/>
          </a:bodyPr>
          <a:lstStyle/>
          <a:p>
            <a:r>
              <a:rPr lang="en-US" sz="4800"/>
              <a:t>The LSTM Reduced Missed Cases</a:t>
            </a:r>
            <a:endParaRPr sz="4800"/>
          </a:p>
        </p:txBody>
      </p:sp>
      <p:sp>
        <p:nvSpPr>
          <p:cNvPr id="3" name="Text Placeholder 2">
            <a:extLst>
              <a:ext uri="{FF2B5EF4-FFF2-40B4-BE49-F238E27FC236}">
                <a16:creationId xmlns:a16="http://schemas.microsoft.com/office/drawing/2014/main" id="{563B6A9D-5621-CA75-6BD4-0A403BD9EBA4}"/>
              </a:ext>
            </a:extLst>
          </p:cNvPr>
          <p:cNvSpPr>
            <a:spLocks noGrp="1"/>
          </p:cNvSpPr>
          <p:nvPr>
            <p:ph type="body" idx="1"/>
          </p:nvPr>
        </p:nvSpPr>
        <p:spPr>
          <a:xfrm>
            <a:off x="831850" y="5186854"/>
            <a:ext cx="10062122" cy="625025"/>
          </a:xfrm>
        </p:spPr>
        <p:txBody>
          <a:bodyPr/>
          <a:lstStyle/>
          <a:p>
            <a:pPr marL="0" marR="0" lvl="0" indent="0" defTabSz="914400">
              <a:lnSpc>
                <a:spcPct val="100000"/>
              </a:lnSpc>
              <a:spcBef>
                <a:spcPts val="0"/>
              </a:spcBef>
              <a:spcAft>
                <a:spcPts val="0"/>
              </a:spcAft>
              <a:buClrTx/>
              <a:buSzTx/>
              <a:buFontTx/>
              <a:buNone/>
            </a:pPr>
            <a:r>
              <a:rPr lang="en-PH" sz="2400" b="0" i="1" u="none" cap="none">
                <a:ln>
                  <a:noFill/>
                </a:ln>
                <a:solidFill>
                  <a:srgbClr val="FFFFFF"/>
                </a:solidFill>
                <a:latin typeface="Calibri Light"/>
                <a:ea typeface="Calibri Light"/>
                <a:cs typeface="Calibri Light"/>
              </a:rPr>
              <a:t>Questions and discussion</a:t>
            </a:r>
            <a:endParaRPr sz="2400" b="0" i="1" u="none" kern="1200" cap="none" spc="0" baseline="0">
              <a:ln>
                <a:noFill/>
              </a:ln>
              <a:solidFill>
                <a:srgbClr val="FFFFFF"/>
              </a:solidFill>
              <a:latin typeface="Calibri Light"/>
              <a:ea typeface="Calibri Light"/>
              <a:cs typeface="Calibri Light"/>
            </a:endParaRPr>
          </a:p>
        </p:txBody>
      </p:sp>
      <p:sp>
        <p:nvSpPr>
          <p:cNvPr id="5" name="Straight Connector 4">
            <a:extLst>
              <a:ext uri="{FF2B5EF4-FFF2-40B4-BE49-F238E27FC236}">
                <a16:creationId xmlns:a16="http://schemas.microsoft.com/office/drawing/2014/main" id="{AE7566C8-41F1-4BB5-AE3E-9D4B12E72064}"/>
              </a:ext>
            </a:extLst>
          </p:cNvPr>
          <p:cNvSpPr>
            <a:spLocks noGrp="1"/>
          </p:cNvSpPr>
          <p:nvPr/>
        </p:nvSpPr>
        <p:spPr>
          <a:xfrm>
            <a:off x="856937" y="5174411"/>
            <a:ext cx="756184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a:lstStyle/>
          <a:p>
            <a:endParaRPr lang="en-PH"/>
          </a:p>
        </p:txBody>
      </p:sp>
    </p:spTree>
    <p:extLst>
      <p:ext uri="{BB962C8B-B14F-4D97-AF65-F5344CB8AC3E}">
        <p14:creationId xmlns:p14="http://schemas.microsoft.com/office/powerpoint/2010/main" val="30531080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844B5-70AB-4288-3250-7B9D2AE0D6B1}"/>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endParaRPr>
              <a:solidFill>
                <a:schemeClr val="accent1">
                  <a:lumMod val="75000"/>
                </a:schemeClr>
              </a:solidFill>
            </a:endParaRPr>
          </a:p>
        </p:txBody>
      </p:sp>
      <p:sp>
        <p:nvSpPr>
          <p:cNvPr id="6" name="Title 5">
            <a:extLst>
              <a:ext uri="{FF2B5EF4-FFF2-40B4-BE49-F238E27FC236}">
                <a16:creationId xmlns:a16="http://schemas.microsoft.com/office/drawing/2014/main" id="{9C1D6124-563A-7F70-DF21-E8FEA2257CAD}"/>
              </a:ext>
            </a:extLst>
          </p:cNvPr>
          <p:cNvSpPr>
            <a:spLocks noGrp="1"/>
          </p:cNvSpPr>
          <p:nvPr>
            <p:ph type="title"/>
          </p:nvPr>
        </p:nvSpPr>
        <p:spPr>
          <a:xfrm>
            <a:off x="1205255" y="2850418"/>
            <a:ext cx="9781489" cy="1325563"/>
          </a:xfrm>
        </p:spPr>
        <p:txBody>
          <a:bodyPr>
            <a:noAutofit/>
          </a:bodyPr>
          <a:lstStyle/>
          <a:p>
            <a:pPr algn="ctr">
              <a:buNone/>
            </a:pPr>
            <a:r>
              <a:rPr sz="8000" b="1"/>
              <a:t>RESOURCE SLIDES</a:t>
            </a:r>
            <a:br/>
            <a:r>
              <a:rPr sz="8000" b="1"/>
              <a:t>vvv</a:t>
            </a:r>
          </a:p>
        </p:txBody>
      </p:sp>
      <p:sp>
        <p:nvSpPr>
          <p:cNvPr id="3" name="Rectangle 2">
            <a:extLst>
              <a:ext uri="{FF2B5EF4-FFF2-40B4-BE49-F238E27FC236}">
                <a16:creationId xmlns:a16="http://schemas.microsoft.com/office/drawing/2014/main" id="{972EB74F-12A3-192F-04F0-FA096E2E1BCF}"/>
              </a:ext>
            </a:extLst>
          </p:cNvPr>
          <p:cNvSpPr>
            <a:spLocks noGrp="1"/>
          </p:cNvSpPr>
          <p:nvPr/>
        </p:nvSpPr>
        <p:spPr>
          <a:xfrm>
            <a:off x="-1" y="1342521"/>
            <a:ext cx="12192001" cy="773723"/>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 name="Rectangle 3">
            <a:extLst>
              <a:ext uri="{FF2B5EF4-FFF2-40B4-BE49-F238E27FC236}">
                <a16:creationId xmlns:a16="http://schemas.microsoft.com/office/drawing/2014/main" id="{623FB5B4-11EE-FCD9-7BF8-04B000C6621F}"/>
              </a:ext>
            </a:extLst>
          </p:cNvPr>
          <p:cNvSpPr>
            <a:spLocks noGrp="1"/>
          </p:cNvSpPr>
          <p:nvPr/>
        </p:nvSpPr>
        <p:spPr>
          <a:xfrm>
            <a:off x="-1" y="4523293"/>
            <a:ext cx="12192001" cy="773723"/>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5375067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F6EC9-01F9-3331-09AA-19C64635D555}"/>
              </a:ext>
            </a:extLst>
          </p:cNvPr>
          <p:cNvSpPr>
            <a:spLocks noGrp="1"/>
          </p:cNvSpPr>
          <p:nvPr>
            <p:ph type="ctrTitle"/>
          </p:nvPr>
        </p:nvSpPr>
        <p:spPr>
          <a:xfrm>
            <a:off x="6096000" y="2722563"/>
            <a:ext cx="5077521" cy="2387600"/>
          </a:xfrm>
        </p:spPr>
        <p:txBody>
          <a:bodyPr>
            <a:normAutofit/>
          </a:bodyPr>
          <a:lstStyle/>
          <a:p>
            <a:pPr>
              <a:lnSpc>
                <a:spcPts val="5000"/>
              </a:lnSpc>
              <a:buNone/>
            </a:pPr>
            <a:r>
              <a:rPr sz="6600"/>
              <a:t>PACIFIC COLLEGE</a:t>
            </a:r>
          </a:p>
        </p:txBody>
      </p:sp>
    </p:spTree>
    <p:extLst>
      <p:ext uri="{BB962C8B-B14F-4D97-AF65-F5344CB8AC3E}">
        <p14:creationId xmlns:p14="http://schemas.microsoft.com/office/powerpoint/2010/main" val="40219051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BB60773-11B5-CF24-34E2-87D3F196B882}"/>
              </a:ext>
            </a:extLst>
          </p:cNvPr>
          <p:cNvSpPr>
            <a:spLocks noGrp="1"/>
          </p:cNvSpPr>
          <p:nvPr/>
        </p:nvSpPr>
        <p:spPr>
          <a:xfrm>
            <a:off x="831850" y="605343"/>
            <a:ext cx="10062122" cy="1284059"/>
          </a:xfrm>
          <a:prstGeom prst="rect">
            <a:avLst/>
          </a:prstGeom>
        </p:spPr>
        <p:txBody>
          <a:bodyPr vert="horz" lIns="91440" tIns="45720" rIns="91440" bIns="45720" anchor="b">
            <a:normAutofit/>
          </a:bodyPr>
          <a:lstStyle>
            <a:lvl1pPr algn="l" defTabSz="914400">
              <a:lnSpc>
                <a:spcPct val="90000"/>
              </a:lnSpc>
              <a:spcBef>
                <a:spcPct val="0"/>
              </a:spcBef>
              <a:buNone/>
              <a:defRPr sz="6000" kern="1200">
                <a:solidFill>
                  <a:schemeClr val="bg1"/>
                </a:solidFill>
                <a:latin typeface="+mj-lt"/>
                <a:ea typeface="+mj-lt"/>
                <a:cs typeface="+mj-lt"/>
              </a:defRPr>
            </a:lvl1pPr>
          </a:lstStyle>
          <a:p>
            <a:r>
              <a:rPr b="1"/>
              <a:t>Sustainable Development Goals </a:t>
            </a:r>
          </a:p>
        </p:txBody>
      </p:sp>
      <p:pic>
        <p:nvPicPr>
          <p:cNvPr id="9" name="Picture 5"/>
          <p:cNvPicPr>
            <a:picLocks noChangeAspect="1"/>
          </p:cNvPicPr>
          <p:nvPr/>
        </p:nvPicPr>
        <p:blipFill>
          <a:blip r:embed="rId3"/>
          <a:stretch>
            <a:fillRect/>
          </a:stretch>
        </p:blipFill>
        <p:spPr>
          <a:xfrm>
            <a:off x="1131626" y="2706805"/>
            <a:ext cx="3559791" cy="3548418"/>
          </a:xfrm>
          <a:prstGeom prst="rect">
            <a:avLst/>
          </a:prstGeom>
        </p:spPr>
      </p:pic>
      <p:pic>
        <p:nvPicPr>
          <p:cNvPr id="10" name="Picture 6"/>
          <p:cNvPicPr>
            <a:picLocks noChangeAspect="1"/>
          </p:cNvPicPr>
          <p:nvPr/>
        </p:nvPicPr>
        <p:blipFill>
          <a:blip r:embed="rId4"/>
          <a:stretch>
            <a:fillRect/>
          </a:stretch>
        </p:blipFill>
        <p:spPr>
          <a:xfrm>
            <a:off x="6863687" y="2706805"/>
            <a:ext cx="3616657" cy="3548419"/>
          </a:xfrm>
          <a:prstGeom prst="rect">
            <a:avLst/>
          </a:prstGeom>
        </p:spPr>
      </p:pic>
    </p:spTree>
    <p:extLst>
      <p:ext uri="{BB962C8B-B14F-4D97-AF65-F5344CB8AC3E}">
        <p14:creationId xmlns:p14="http://schemas.microsoft.com/office/powerpoint/2010/main" val="1313818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33980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34F65-AA79-3DA3-8DD3-52D817FFB6A3}"/>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endParaRPr>
              <a:solidFill>
                <a:schemeClr val="accent1">
                  <a:lumMod val="75000"/>
                </a:schemeClr>
              </a:solidFill>
            </a:endParaRPr>
          </a:p>
        </p:txBody>
      </p:sp>
    </p:spTree>
    <p:extLst>
      <p:ext uri="{BB962C8B-B14F-4D97-AF65-F5344CB8AC3E}">
        <p14:creationId xmlns:p14="http://schemas.microsoft.com/office/powerpoint/2010/main" val="5982917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2610</Words>
  <Application>Microsoft Office PowerPoint</Application>
  <DocSecurity>0</DocSecurity>
  <PresentationFormat>Widescreen</PresentationFormat>
  <Paragraphs>239</Paragraphs>
  <Slides>29</Slides>
  <Notes>29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Calibri Light</vt:lpstr>
      <vt:lpstr>Corbel</vt:lpstr>
      <vt:lpstr>Office Theme</vt:lpstr>
      <vt:lpstr>CONVERSATION TRAJECTORY LAB</vt:lpstr>
      <vt:lpstr>PowerPoint Presentation</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Review of Related Literature</vt:lpstr>
      <vt:lpstr>PowerPoint Presentation</vt:lpstr>
      <vt:lpstr>PowerPoint Presentation</vt:lpstr>
      <vt:lpstr>Methodology</vt:lpstr>
      <vt:lpstr>PowerPoint Presentation</vt:lpstr>
      <vt:lpstr>PowerPoint Presentation</vt:lpstr>
      <vt:lpstr>PowerPoint Presentation</vt:lpstr>
      <vt:lpstr>PowerPoint Presentation</vt:lpstr>
      <vt:lpstr>Results and Conclusions</vt:lpstr>
      <vt:lpstr>PowerPoint Presentation</vt:lpstr>
      <vt:lpstr>PowerPoint Presentation</vt:lpstr>
      <vt:lpstr>PowerPoint Presentation</vt:lpstr>
      <vt:lpstr>PowerPoint Presentation</vt:lpstr>
      <vt:lpstr>The LSTM Reduced Missed Cases</vt:lpstr>
      <vt:lpstr>RESOURCE SLIDES vvv</vt:lpstr>
      <vt:lpstr>PACIFIC COLLEGE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John Michael Maala</cp:lastModifiedBy>
  <cp:revision>3</cp:revision>
  <dcterms:created xsi:type="dcterms:W3CDTF">2026-08-12T16:37:22Z</dcterms:created>
  <dcterms:modified xsi:type="dcterms:W3CDTF">2026-09-02T09:47:06Z</dcterms:modified>
</cp:coreProperties>
</file>