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83" autoAdjust="0"/>
  </p:normalViewPr>
  <p:slideViewPr>
    <p:cSldViewPr snapToGrid="0">
      <p:cViewPr varScale="1">
        <p:scale>
          <a:sx n="65" d="100"/>
          <a:sy n="65" d="100"/>
        </p:scale>
        <p:origin x="13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short module title when introducing the project. The full research title remains visible as the subtitle.</a:t>
            </a:r>
          </a:p>
          <a:p>
            <a:endParaRPr/>
          </a:p>
          <a:p>
            <a:r>
              <a:t>[Sources]</a:t>
            </a:r>
          </a:p>
          <a:p>
            <a:r>
              <a:t>- thesis_docs/archive/planning/comments_matrix_2.md</a:t>
            </a:r>
          </a:p>
          <a:p>
            <a:r>
              <a:t>- thesis_docs/Finals_Revised_Paper_WASD.md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begin, let's move into the introduction of our study, where we will discuss the core concepts and the primary motivations for developing an AI-driven approach to keep digital platforms safe.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Online game chats are great for communities, but predators use them to groom minors. Current systems just filter bad words, which predators easily bypass using coded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Thiat lead to the problem that existing systems just don't understand context. By looking at messages one by one, they miss the subtle, progressive behaviors typical of grooming. We need a system that is proactive, rather than waiting for a user to hit the report button.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built our research around three main questions: First, exactly where do keyword and rule-based filters fail when dealing with context? Second, how can we apply ML and NLP to actually track behavior across a conversation? And finally, how much can our AI module improve detection, particularly by catching those dangerous false negatives?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our objectives. We are evaluating current limitations, designing the NLP architecture to analyze multi-turn conversations, and rigorously testing it to prove it reduces false negatives.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our scope, we are building an offline, platform-independent prototype. We are testing it by comparing it against a keyword baseline using multiple datasets, alongside synthetic data that specifically includes modern gaming slang and obfuscation tactics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current interface demonstrates ordered analysis locally. It has not been evaluated as a live platform service, and the current English-language evidence is not Philippine-language validation.</a:t>
            </a:r>
          </a:p>
          <a:p>
            <a:endParaRPr/>
          </a:p>
          <a:p>
            <a:r>
              <a:t>[Sources]</a:t>
            </a:r>
          </a:p>
          <a:p>
            <a:r>
              <a:t>- thesis_docs/Finals_Revised_Paper_WASD.md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Philippine relevance as the motivation and possible future value of the work, not as evidence that the current model is localized or deployment-ready.</a:t>
            </a:r>
          </a:p>
          <a:p>
            <a:endParaRPr/>
          </a:p>
          <a:p>
            <a:r>
              <a:t>[Sources]</a:t>
            </a:r>
          </a:p>
          <a:p>
            <a:r>
              <a:t>- thesis_docs/Finals_Revised_Paper_WASD.md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Introduction:</a:t>
            </a:r>
            <a:r>
              <a:t> "For our Review of Related Literature, we focused on the shift from traditional moderation to AI-driven behavioral analysis."</a:t>
            </a:r>
          </a:p>
          <a:p>
            <a:r>
              <a:rPr b="1"/>
              <a:t>Technical Evolution:</a:t>
            </a:r>
            <a:r>
              <a:t> "Past studies show that keyword filters are no longer enough because most grooming language is context-dependent. A harmless word in one context is predatory in another. This justifies our use of advanced models like DistilBERT."</a:t>
            </a:r>
          </a:p>
          <a:p>
            <a:r>
              <a:rPr b="1"/>
              <a:t>Behavioral Modeling:</a:t>
            </a:r>
            <a:r>
              <a:t> "Research proves that looking at isolated messages leads to false negatives. By tracking 'interaction chains' or how a conversation evolves over time, models can achieve up to 95% precision."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Theoretical Framework:</a:t>
            </a:r>
            <a:r>
              <a:t> "The backbone of our detection logic is the Online Grooming Discourse Model (OGDM). Grooming isn't a straight line; it's a web of trust-building and isolation tactics. Our system is designed to look for these specific behavioral markers."</a:t>
            </a:r>
          </a:p>
          <a:p>
            <a:r>
              <a:rPr b="1"/>
              <a:t>Validation:</a:t>
            </a:r>
            <a:r>
              <a:t> "Finally, we anchor our validation in established datasets like PAN-2012, but we've noted the literature's call to update these benchmarks with modern internet slang and evasion tactics, which our module incorporates."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Chapter 3 outlines our developmental and experimental research design. The primary objective is to move beyond static keyword filters by creating a dual-layer AI moderation architecture. Layer 1 uses DistilBERT for message-level contextual understanding, while Layer 2 utilizes a Long Short-Term Memory (LSTM) network to sequence behavioral risk scores across conversation turns. Importantly, this prototype is designed not to replace human moderation, but to serve as a decision-support tool that flags suspicious trajectories early for human review.</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Explain the feature groups in ordinary language. The exact formulas and software versions are available in Chapter 3. Avoid entering real sensitive data in the demo because automatic masking is incomplete.</a:t>
            </a:r>
          </a:p>
          <a:p>
            <a:endParaRPr sz="1200" b="0" i="0">
              <a:solidFill>
                <a:schemeClr val="tx1"/>
              </a:solidFill>
              <a:latin typeface="+mn-lt"/>
              <a:ea typeface="+mn-lt"/>
              <a:cs typeface="+mn-lt"/>
            </a:endParaRPr>
          </a:p>
          <a:p>
            <a:r>
              <a:rPr sz="1200" b="0" i="0">
                <a:solidFill>
                  <a:schemeClr val="tx1"/>
                </a:solidFill>
                <a:latin typeface="+mn-lt"/>
                <a:ea typeface="+mn-lt"/>
                <a:cs typeface="+mn-lt"/>
              </a:rPr>
              <a:t>[Sources]</a:t>
            </a:r>
          </a:p>
          <a:p>
            <a:r>
              <a:rPr sz="1200" b="0" i="0">
                <a:solidFill>
                  <a:schemeClr val="tx1"/>
                </a:solidFill>
                <a:latin typeface="+mn-lt"/>
                <a:ea typeface="+mn-lt"/>
                <a:cs typeface="+mn-lt"/>
              </a:rPr>
              <a:t>- thesis_docs/Finals_Revised_Paper_WASD.md</a:t>
            </a:r>
          </a:p>
          <a:p>
            <a:r>
              <a:rPr sz="1200" b="0" i="0">
                <a:solidFill>
                  <a:schemeClr val="tx1"/>
                </a:solidFill>
                <a:latin typeface="+mn-lt"/>
                <a:ea typeface="+mn-lt"/>
                <a:cs typeface="+mn-lt"/>
              </a:rPr>
              <a:t>- grooming-detector/grooming-detector-trajectory-pipeline/features.py</a:t>
            </a:r>
          </a:p>
          <a:p>
            <a:r>
              <a:rPr sz="1200" b="0" i="0">
                <a:solidFill>
                  <a:schemeClr val="tx1"/>
                </a:solidFill>
                <a:latin typeface="+mn-lt"/>
                <a:ea typeface="+mn-lt"/>
                <a:cs typeface="+mn-lt"/>
              </a:rPr>
              <a:t>- grooming-detector/grooming-detector-trajectory-pipeline/environment_snapshot.json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Our model development consists of three main components. First, a fine-tuned DistilBERT classifier processes individual messages and outputs a risk probability score between 0 and 1, trained using class-weighted loss to handle data imbalance. Second, an LSTM network takes these chronological message scores and trajectory indicators across chat turns to track risk escalation over time. Third, to evaluate performance gains empirically, we constructed a comparative keyword-based baseline using term-frequency lexicons to mirror traditional platform moderation filters.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Finally, our evaluation and validation strategy focuses heavily on Recall and False-Negative reduction, as missing a grooming attempt poses severe safety risks. We evaluate model robustness against adversarial evasions such as obfuscated text, coded slang, and subtle multi-turn trust-building. Ethically, the evaluation is conducted completely offline with fully anonymized records, ensuring that flagged interactions are queued for human review to maintain operational fairness and transparency.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four slides show all ten panel comments. Only changes that are independent of the adviser-level methodology decision are marked as completed now.</a:t>
            </a:r>
          </a:p>
          <a:p>
            <a:endParaRPr/>
          </a:p>
          <a:p>
            <a:r>
              <a:t>[Sources]</a:t>
            </a:r>
          </a:p>
          <a:p>
            <a:r>
              <a:t>- thesis_docs/archive/planning/comments_matrix_2.md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Explain each completed revision in plain language and point to the corresponding section of the paper or working prototype.</a:t>
            </a:r>
            <a:endParaRPr/>
          </a:p>
          <a:p>
            <a:endParaRPr/>
          </a:p>
          <a:p>
            <a:r>
              <a:rPr sz="1200" b="0" i="0">
                <a:solidFill>
                  <a:schemeClr val="tx1"/>
                </a:solidFill>
                <a:latin typeface="+mn-lt"/>
                <a:ea typeface="+mn-lt"/>
                <a:cs typeface="+mn-lt"/>
              </a:rPr>
              <a:t>[Sources]</a:t>
            </a:r>
            <a:endParaRPr/>
          </a:p>
          <a:p>
            <a:r>
              <a:rPr sz="1200" b="0" i="0">
                <a:solidFill>
                  <a:schemeClr val="tx1"/>
                </a:solidFill>
                <a:latin typeface="+mn-lt"/>
                <a:ea typeface="+mn-lt"/>
                <a:cs typeface="+mn-lt"/>
              </a:rPr>
              <a:t>- thesis_docs/archive/planning/comments_matrix_2.md</a:t>
            </a:r>
            <a:endParaRPr/>
          </a:p>
          <a:p>
            <a:r>
              <a:rPr sz="1200" b="0" i="0">
                <a:solidFill>
                  <a:schemeClr val="tx1"/>
                </a:solidFill>
                <a:latin typeface="+mn-lt"/>
                <a:ea typeface="+mn-lt"/>
                <a:cs typeface="+mn-lt"/>
              </a:rPr>
              <a:t>- thesis_docs/Finals_Revised_Paper_WASD.md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Explain each completed revision in plain language and point to the corresponding section of the paper or working prototype.</a:t>
            </a:r>
            <a:endParaRPr/>
          </a:p>
          <a:p>
            <a:endParaRPr/>
          </a:p>
          <a:p>
            <a:r>
              <a:rPr sz="1200" b="0" i="0">
                <a:solidFill>
                  <a:schemeClr val="tx1"/>
                </a:solidFill>
                <a:latin typeface="+mn-lt"/>
                <a:ea typeface="+mn-lt"/>
                <a:cs typeface="+mn-lt"/>
              </a:rPr>
              <a:t>[Sources]</a:t>
            </a:r>
            <a:endParaRPr/>
          </a:p>
          <a:p>
            <a:r>
              <a:rPr sz="1200" b="0" i="0">
                <a:solidFill>
                  <a:schemeClr val="tx1"/>
                </a:solidFill>
                <a:latin typeface="+mn-lt"/>
                <a:ea typeface="+mn-lt"/>
                <a:cs typeface="+mn-lt"/>
              </a:rPr>
              <a:t>- thesis_docs/archive/planning/comments_matrix_2.md</a:t>
            </a:r>
            <a:endParaRPr/>
          </a:p>
          <a:p>
            <a:r>
              <a:rPr sz="1200" b="0" i="0">
                <a:solidFill>
                  <a:schemeClr val="tx1"/>
                </a:solidFill>
                <a:latin typeface="+mn-lt"/>
                <a:ea typeface="+mn-lt"/>
                <a:cs typeface="+mn-lt"/>
              </a:rPr>
              <a:t>- thesis_docs/Finals_Revised_Paper_WASD.md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Explain each completed revision in plain language and point to the corresponding section of the paper or working prototype.</a:t>
            </a:r>
            <a:endParaRPr/>
          </a:p>
          <a:p>
            <a:endParaRPr/>
          </a:p>
          <a:p>
            <a:r>
              <a:rPr sz="1200" b="0" i="0">
                <a:solidFill>
                  <a:schemeClr val="tx1"/>
                </a:solidFill>
                <a:latin typeface="+mn-lt"/>
                <a:ea typeface="+mn-lt"/>
                <a:cs typeface="+mn-lt"/>
              </a:rPr>
              <a:t>[Sources]</a:t>
            </a:r>
            <a:endParaRPr/>
          </a:p>
          <a:p>
            <a:r>
              <a:rPr sz="1200" b="0" i="0">
                <a:solidFill>
                  <a:schemeClr val="tx1"/>
                </a:solidFill>
                <a:latin typeface="+mn-lt"/>
                <a:ea typeface="+mn-lt"/>
                <a:cs typeface="+mn-lt"/>
              </a:rPr>
              <a:t>- thesis_docs/archive/planning/comments_matrix_2.md</a:t>
            </a:r>
            <a:endParaRPr/>
          </a:p>
          <a:p>
            <a:r>
              <a:rPr sz="1200" b="0" i="0">
                <a:solidFill>
                  <a:schemeClr val="tx1"/>
                </a:solidFill>
                <a:latin typeface="+mn-lt"/>
                <a:ea typeface="+mn-lt"/>
                <a:cs typeface="+mn-lt"/>
              </a:rPr>
              <a:t>- thesis_docs/Finals_Revised_Paper_WASD.md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solidFill>
                  <a:schemeClr val="tx1"/>
                </a:solidFill>
                <a:latin typeface="+mn-lt"/>
                <a:ea typeface="+mn-lt"/>
                <a:cs typeface="+mn-lt"/>
              </a:rPr>
              <a:t>These four items are not rejected. They are intentionally held because changing them now would pre-empt the adviser's decision on the study's central methodology.</a:t>
            </a:r>
            <a:endParaRPr/>
          </a:p>
          <a:p>
            <a:endParaRPr/>
          </a:p>
          <a:p>
            <a:r>
              <a:rPr sz="1200" b="0" i="0">
                <a:solidFill>
                  <a:schemeClr val="tx1"/>
                </a:solidFill>
                <a:latin typeface="+mn-lt"/>
                <a:ea typeface="+mn-lt"/>
                <a:cs typeface="+mn-lt"/>
              </a:rPr>
              <a:t>[Sources]</a:t>
            </a:r>
            <a:endParaRPr/>
          </a:p>
          <a:p>
            <a:r>
              <a:rPr sz="1200" b="0" i="0">
                <a:solidFill>
                  <a:schemeClr val="tx1"/>
                </a:solidFill>
                <a:latin typeface="+mn-lt"/>
                <a:ea typeface="+mn-lt"/>
                <a:cs typeface="+mn-lt"/>
              </a:rPr>
              <a:t>- thesis_docs/archive/planning/comments_matrix_2.md</a:t>
            </a:r>
            <a:endParaRPr/>
          </a:p>
          <a:p>
            <a:r>
              <a:rPr sz="1200" b="0" i="0">
                <a:solidFill>
                  <a:schemeClr val="tx1"/>
                </a:solidFill>
                <a:latin typeface="+mn-lt"/>
                <a:ea typeface="+mn-lt"/>
                <a:cs typeface="+mn-lt"/>
              </a:rPr>
              <a:t>- thesis_docs/THESIS_RECOVERY_NEXT_STEPS.md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0" name="Picture 14"/>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4160312" y="337011"/>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0312" y="337011"/>
            <a:ext cx="647700" cy="1295400"/>
          </a:xfrm>
          <a:prstGeom prst="rect">
            <a:avLst/>
          </a:prstGeom>
        </p:spPr>
      </p:pic>
      <p:pic>
        <p:nvPicPr>
          <p:cNvPr id="27" name="Graphic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092" y="261292"/>
            <a:ext cx="2018121" cy="10787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B8A-7AB0-01A2-A126-A218F7CD2D94}"/>
              </a:ext>
            </a:extLst>
          </p:cNvPr>
          <p:cNvSpPr>
            <a:spLocks noGrp="1"/>
          </p:cNvSpPr>
          <p:nvPr>
            <p:ph type="title"/>
          </p:nvPr>
        </p:nvSpPr>
        <p:spPr>
          <a:xfrm>
            <a:off x="838200" y="365125"/>
            <a:ext cx="9781489" cy="1325563"/>
          </a:xfrm>
        </p:spPr>
        <p:txBody>
          <a:bodyPr/>
          <a:lstStyle/>
          <a:p>
            <a:r>
              <a:t>Click to edit Master title style</a:t>
            </a:r>
          </a:p>
        </p:txBody>
      </p:sp>
      <p:sp>
        <p:nvSpPr>
          <p:cNvPr id="3" name="Content Placeholder 2">
            <a:extLst>
              <a:ext uri="{FF2B5EF4-FFF2-40B4-BE49-F238E27FC236}">
                <a16:creationId xmlns:a16="http://schemas.microsoft.com/office/drawing/2014/main" id="{E2AF2D31-8C3D-DD6A-FF19-980A28830403}"/>
              </a:ext>
            </a:extLst>
          </p:cNvPr>
          <p:cNvSpPr>
            <a:spLocks noGrp="1"/>
          </p:cNvSpPr>
          <p:nvPr>
            <p:ph idx="1"/>
          </p:nvPr>
        </p:nvSpPr>
        <p:spPr>
          <a:xfrm>
            <a:off x="838200" y="1825625"/>
            <a:ext cx="978148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098455-C645-8AEB-AC43-0325DA4FAF77}"/>
              </a:ext>
            </a:extLst>
          </p:cNvPr>
          <p:cNvSpPr>
            <a:spLocks noGrp="1"/>
          </p:cNvSpPr>
          <p:nvPr>
            <p:ph type="dt" idx="10"/>
          </p:nvPr>
        </p:nvSpPr>
        <p:spPr/>
        <p:txBody>
          <a:bodyPr/>
          <a:lstStyle/>
          <a:p>
            <a:fld id="{5750368A-0602-41DA-8C72-F3668C4CC159}" type="datetimeFigureOut">
              <a:t>8/13/2026</a:t>
            </a:fld>
            <a:endParaRPr/>
          </a:p>
        </p:txBody>
      </p:sp>
      <p:sp>
        <p:nvSpPr>
          <p:cNvPr id="5" name="Footer Placeholder 4">
            <a:extLst>
              <a:ext uri="{FF2B5EF4-FFF2-40B4-BE49-F238E27FC236}">
                <a16:creationId xmlns:a16="http://schemas.microsoft.com/office/drawing/2014/main" id="{E7065D6F-F540-C08F-2265-B5D2D5CCF5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F2013-7326-AAFC-EDFD-0E440ADDE41A}"/>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C6FA413D-DBF3-6C5E-11D0-8AD41C06F2E3}"/>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56153" y="153965"/>
            <a:ext cx="842573" cy="882695"/>
          </a:xfrm>
          <a:prstGeom prst="rect">
            <a:avLst/>
          </a:prstGeom>
        </p:spPr>
      </p:pic>
      <p:pic>
        <p:nvPicPr>
          <p:cNvPr id="18" name="Picture 11"/>
          <p:cNvPicPr>
            <a:picLocks noChangeAspect="1"/>
          </p:cNvPicPr>
          <p:nvPr/>
        </p:nvPicPr>
        <p:blipFill>
          <a:blip r:embed="rId3"/>
          <a:stretch>
            <a:fillRect/>
          </a:stretch>
        </p:blipFill>
        <p:spPr>
          <a:xfrm>
            <a:off x="10984081" y="1246733"/>
            <a:ext cx="1009241" cy="365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8/13/2026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8/13/2026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5681-F3A2-40A5-A9EA-7166B07C9E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EB8B488-E7D3-935C-277F-C21ECB6D87A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95AA6DE-DDA8-FF2B-FD76-96F4B00724E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6C2EDAA-B6F0-BAE3-0023-77078903916A}"/>
              </a:ext>
            </a:extLst>
          </p:cNvPr>
          <p:cNvSpPr>
            <a:spLocks noGrp="1"/>
          </p:cNvSpPr>
          <p:nvPr>
            <p:ph type="dt" idx="10"/>
          </p:nvPr>
        </p:nvSpPr>
        <p:spPr/>
        <p:txBody>
          <a:bodyPr/>
          <a:lstStyle/>
          <a:p>
            <a:fld id="{5750368A-0602-41DA-8C72-F3668C4CC159}" type="datetimeFigureOut">
              <a:t>8/13/2026</a:t>
            </a:fld>
            <a:endParaRPr/>
          </a:p>
        </p:txBody>
      </p:sp>
      <p:sp>
        <p:nvSpPr>
          <p:cNvPr id="6" name="Footer Placeholder 5">
            <a:extLst>
              <a:ext uri="{FF2B5EF4-FFF2-40B4-BE49-F238E27FC236}">
                <a16:creationId xmlns:a16="http://schemas.microsoft.com/office/drawing/2014/main" id="{DC10A058-AA1A-CDC2-FF66-8D3A35F6DB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89E0F8-44E2-4A76-2B57-8359A388CD9C}"/>
              </a:ext>
            </a:extLst>
          </p:cNvPr>
          <p:cNvSpPr>
            <a:spLocks noGrp="1"/>
          </p:cNvSpPr>
          <p:nvPr>
            <p:ph type="sldNum" idx="12"/>
          </p:nvPr>
        </p:nvSpPr>
        <p:spPr/>
        <p:txBody>
          <a:bodyPr/>
          <a:lstStyle/>
          <a:p>
            <a:fld id="{DEA345B2-507C-43D7-80BF-79F59DDCF0A3}" type="slidenum">
              <a:t>‹#›</a:t>
            </a:fld>
            <a:endParaRPr/>
          </a:p>
        </p:txBody>
      </p:sp>
      <p:sp>
        <p:nvSpPr>
          <p:cNvPr id="10" name="Rectangle 9">
            <a:extLst>
              <a:ext uri="{FF2B5EF4-FFF2-40B4-BE49-F238E27FC236}">
                <a16:creationId xmlns:a16="http://schemas.microsoft.com/office/drawing/2014/main" id="{4D025B53-CC35-C249-1081-E752796BE04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1"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9F0-5F10-E13F-AB63-76AC9A23EA8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58DFCF9-73B2-EF35-7501-7BE217954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6B7AC54-B991-35A0-F037-68B94E34451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28D6D34-BBA3-122B-A6D7-45A5E90F8C64}"/>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AFA6EFC-F0B8-F706-C203-A56328A24E13}"/>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CEBC52-F71A-B504-62EF-9D7E439E71B0}"/>
              </a:ext>
            </a:extLst>
          </p:cNvPr>
          <p:cNvSpPr>
            <a:spLocks noGrp="1"/>
          </p:cNvSpPr>
          <p:nvPr>
            <p:ph type="dt" idx="10"/>
          </p:nvPr>
        </p:nvSpPr>
        <p:spPr/>
        <p:txBody>
          <a:bodyPr/>
          <a:lstStyle/>
          <a:p>
            <a:fld id="{5750368A-0602-41DA-8C72-F3668C4CC159}" type="datetimeFigureOut">
              <a:t>8/13/2026</a:t>
            </a:fld>
            <a:endParaRPr/>
          </a:p>
        </p:txBody>
      </p:sp>
      <p:sp>
        <p:nvSpPr>
          <p:cNvPr id="8" name="Footer Placeholder 7">
            <a:extLst>
              <a:ext uri="{FF2B5EF4-FFF2-40B4-BE49-F238E27FC236}">
                <a16:creationId xmlns:a16="http://schemas.microsoft.com/office/drawing/2014/main" id="{147BD498-27EC-05AD-4788-497CF407CA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6AD9F0F-FA93-6068-7489-31750FAC1EAC}"/>
              </a:ext>
            </a:extLst>
          </p:cNvPr>
          <p:cNvSpPr>
            <a:spLocks noGrp="1"/>
          </p:cNvSpPr>
          <p:nvPr>
            <p:ph type="sldNum" idx="12"/>
          </p:nvPr>
        </p:nvSpPr>
        <p:spPr/>
        <p:txBody>
          <a:bodyPr/>
          <a:lstStyle/>
          <a:p>
            <a:fld id="{DEA345B2-507C-43D7-80BF-79F59DDCF0A3}" type="slidenum">
              <a:t>‹#›</a:t>
            </a:fld>
            <a:endParaRPr/>
          </a:p>
        </p:txBody>
      </p:sp>
      <p:sp>
        <p:nvSpPr>
          <p:cNvPr id="12" name="Rectangle 11">
            <a:extLst>
              <a:ext uri="{FF2B5EF4-FFF2-40B4-BE49-F238E27FC236}">
                <a16:creationId xmlns:a16="http://schemas.microsoft.com/office/drawing/2014/main" id="{56B6D730-5CCC-3A0F-07C5-E177B23EB43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9776FB-D0A1-D9FE-95EC-7FC45484C5D7}"/>
              </a:ext>
            </a:extLst>
          </p:cNvPr>
          <p:cNvSpPr>
            <a:spLocks noGrp="1"/>
          </p:cNvSpPr>
          <p:nvPr/>
        </p:nvSpPr>
        <p:spPr>
          <a:xfrm>
            <a:off x="0" y="6721474"/>
            <a:ext cx="12191999" cy="1500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8/13/2026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9" name="Rectangle 8">
            <a:extLst>
              <a:ext uri="{FF2B5EF4-FFF2-40B4-BE49-F238E27FC236}">
                <a16:creationId xmlns:a16="http://schemas.microsoft.com/office/drawing/2014/main" id="{36BE3AD5-276B-966C-24E2-2E7C8C7B4B3B}"/>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8/13/2026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D11C6594-2F3D-BF1F-E328-BEF238877366}"/>
              </a:ext>
            </a:extLst>
          </p:cNvPr>
          <p:cNvSpPr>
            <a:spLocks noGrp="1"/>
          </p:cNvSpPr>
          <p:nvPr/>
        </p:nvSpPr>
        <p:spPr>
          <a:xfrm>
            <a:off x="12021015" y="0"/>
            <a:ext cx="170984"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6F2C923C-188F-78A4-9EBF-A50E775EE8BF}"/>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FCBA4-BC60-BBA3-1928-200ADA4CB434}"/>
              </a:ext>
            </a:extLst>
          </p:cNvPr>
          <p:cNvSpPr>
            <a:spLocks noGrp="1"/>
          </p:cNvSpPr>
          <p:nvPr>
            <p:ph type="dt" idx="10"/>
          </p:nvPr>
        </p:nvSpPr>
        <p:spPr/>
        <p:txBody>
          <a:bodyPr/>
          <a:lstStyle/>
          <a:p>
            <a:fld id="{5750368A-0602-41DA-8C72-F3668C4CC159}" type="datetimeFigureOut">
              <a:t>8/13/2026</a:t>
            </a:fld>
            <a:endParaRPr/>
          </a:p>
        </p:txBody>
      </p:sp>
      <p:sp>
        <p:nvSpPr>
          <p:cNvPr id="3" name="Footer Placeholder 2">
            <a:extLst>
              <a:ext uri="{FF2B5EF4-FFF2-40B4-BE49-F238E27FC236}">
                <a16:creationId xmlns:a16="http://schemas.microsoft.com/office/drawing/2014/main" id="{FBF75781-DD6B-802C-A2A1-0C35279A16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1782606-1EA0-41A1-3BF0-BF1A775C445A}"/>
              </a:ext>
            </a:extLst>
          </p:cNvPr>
          <p:cNvSpPr>
            <a:spLocks noGrp="1"/>
          </p:cNvSpPr>
          <p:nvPr>
            <p:ph type="sldNum" idx="12"/>
          </p:nvPr>
        </p:nvSpPr>
        <p:spPr/>
        <p:txBody>
          <a:bodyPr/>
          <a:lstStyle/>
          <a:p>
            <a:fld id="{DEA345B2-507C-43D7-80BF-79F59DDCF0A3}" type="slidenum">
              <a:t>‹#›</a:t>
            </a:fld>
            <a:endParaRPr/>
          </a:p>
        </p:txBody>
      </p:sp>
      <p:sp>
        <p:nvSpPr>
          <p:cNvPr id="5" name="Rectangle 4">
            <a:extLst>
              <a:ext uri="{FF2B5EF4-FFF2-40B4-BE49-F238E27FC236}">
                <a16:creationId xmlns:a16="http://schemas.microsoft.com/office/drawing/2014/main" id="{CBC13CDF-943F-636D-D5DB-2FDBB1961722}"/>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00C19DF9-E21D-1085-1DFC-9FE4B99E53AD}"/>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17"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ECBE-34FA-41CD-B39E-E682DB66CCF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5407737-3DE7-D4A3-E002-F26143FB5EA5}"/>
              </a:ext>
            </a:extLst>
          </p:cNvPr>
          <p:cNvSpPr>
            <a:spLocks noGrp="1"/>
          </p:cNvSpPr>
          <p:nvPr>
            <p:ph idx="1"/>
          </p:nvPr>
        </p:nvSpPr>
        <p:spPr>
          <a:xfrm>
            <a:off x="5183188" y="1244600"/>
            <a:ext cx="6172200" cy="4616450"/>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7DDE05A-F981-052B-D9CA-2307E6582F2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2B4FF3B-390C-C8D3-3713-88461DB202A3}"/>
              </a:ext>
            </a:extLst>
          </p:cNvPr>
          <p:cNvSpPr>
            <a:spLocks noGrp="1"/>
          </p:cNvSpPr>
          <p:nvPr>
            <p:ph type="dt" idx="10"/>
          </p:nvPr>
        </p:nvSpPr>
        <p:spPr/>
        <p:txBody>
          <a:bodyPr/>
          <a:lstStyle/>
          <a:p>
            <a:fld id="{5750368A-0602-41DA-8C72-F3668C4CC159}" type="datetimeFigureOut">
              <a:t>8/13/2026</a:t>
            </a:fld>
            <a:endParaRPr/>
          </a:p>
        </p:txBody>
      </p:sp>
      <p:sp>
        <p:nvSpPr>
          <p:cNvPr id="6" name="Footer Placeholder 5">
            <a:extLst>
              <a:ext uri="{FF2B5EF4-FFF2-40B4-BE49-F238E27FC236}">
                <a16:creationId xmlns:a16="http://schemas.microsoft.com/office/drawing/2014/main" id="{508635E4-8B8B-231A-102E-E0EF2EE4228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EB191B-A130-1FB5-D1C7-27E0B608ADBF}"/>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70DD950B-956C-0CC5-90DF-600294A61021}"/>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E872611-7B62-0858-2F35-215FC7BEDC7C}"/>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5" name="Graphic 1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6"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3E5F-CFA9-31D3-ED26-1E57AC1EFA0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349FB75-59BA-B6B1-9EFA-B9D58E548B8E}"/>
              </a:ext>
            </a:extLst>
          </p:cNvPr>
          <p:cNvSpPr>
            <a:spLocks noGrp="1"/>
          </p:cNvSpPr>
          <p:nvPr>
            <p:ph type="pic" idx="1"/>
          </p:nvPr>
        </p:nvSpPr>
        <p:spPr>
          <a:xfrm>
            <a:off x="5183188" y="1219200"/>
            <a:ext cx="6172200" cy="4641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15C4119-4703-ABFE-3D93-76F1F254DF5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208027-E9E1-AFE8-C2CF-267B0B717A63}"/>
              </a:ext>
            </a:extLst>
          </p:cNvPr>
          <p:cNvSpPr>
            <a:spLocks noGrp="1"/>
          </p:cNvSpPr>
          <p:nvPr>
            <p:ph type="dt" idx="10"/>
          </p:nvPr>
        </p:nvSpPr>
        <p:spPr/>
        <p:txBody>
          <a:bodyPr/>
          <a:lstStyle/>
          <a:p>
            <a:fld id="{5750368A-0602-41DA-8C72-F3668C4CC159}" type="datetimeFigureOut">
              <a:t>8/13/2026</a:t>
            </a:fld>
            <a:endParaRPr/>
          </a:p>
        </p:txBody>
      </p:sp>
      <p:sp>
        <p:nvSpPr>
          <p:cNvPr id="6" name="Footer Placeholder 5">
            <a:extLst>
              <a:ext uri="{FF2B5EF4-FFF2-40B4-BE49-F238E27FC236}">
                <a16:creationId xmlns:a16="http://schemas.microsoft.com/office/drawing/2014/main" id="{17FFCF05-D3BC-4D51-B7E1-EDFADA0E8FE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DD992EE-B08D-5105-202E-3F06215E82B9}"/>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66BB9E47-266A-449B-0690-EA113F897327}"/>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641E680E-9AE0-1F51-2218-98C4A676EA4E}"/>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3"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FC79-23A1-4C75-E226-24FAA8769F6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F9E1CF8-7906-6964-F94B-A82C18B6DC4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EF018C3-1F7A-68D9-F106-B3E9DF573BD4}"/>
              </a:ext>
            </a:extLst>
          </p:cNvPr>
          <p:cNvSpPr>
            <a:spLocks noGrp="1"/>
          </p:cNvSpPr>
          <p:nvPr>
            <p:ph type="dt" idx="10"/>
          </p:nvPr>
        </p:nvSpPr>
        <p:spPr/>
        <p:txBody>
          <a:bodyPr/>
          <a:lstStyle/>
          <a:p>
            <a:fld id="{5750368A-0602-41DA-8C72-F3668C4CC159}" type="datetimeFigureOut">
              <a:t>8/13/2026</a:t>
            </a:fld>
            <a:endParaRPr/>
          </a:p>
        </p:txBody>
      </p:sp>
      <p:sp>
        <p:nvSpPr>
          <p:cNvPr id="5" name="Footer Placeholder 4">
            <a:extLst>
              <a:ext uri="{FF2B5EF4-FFF2-40B4-BE49-F238E27FC236}">
                <a16:creationId xmlns:a16="http://schemas.microsoft.com/office/drawing/2014/main" id="{D75C044C-642A-B1F3-B761-AC4E930E04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30CAD-B8A9-C9D6-2C4B-86E1BC5168AE}"/>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F067F39E-E68E-53C9-D0D5-DBD631643F9E}"/>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F1B0B79-95A6-CFCE-EFDD-FECD5A381C32}"/>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3DC65-B013-FE6E-EC24-75CE5E5821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F5FF98-96D5-B94A-633D-AA80D7617E3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4A29F5-20EF-68ED-9A31-EF9B85F25C39}"/>
              </a:ext>
            </a:extLst>
          </p:cNvPr>
          <p:cNvSpPr>
            <a:spLocks noGrp="1"/>
          </p:cNvSpPr>
          <p:nvPr>
            <p:ph type="dt" idx="10"/>
          </p:nvPr>
        </p:nvSpPr>
        <p:spPr/>
        <p:txBody>
          <a:bodyPr/>
          <a:lstStyle/>
          <a:p>
            <a:fld id="{5750368A-0602-41DA-8C72-F3668C4CC159}" type="datetimeFigureOut">
              <a:t>8/13/2026</a:t>
            </a:fld>
            <a:endParaRPr/>
          </a:p>
        </p:txBody>
      </p:sp>
      <p:sp>
        <p:nvSpPr>
          <p:cNvPr id="5" name="Footer Placeholder 4">
            <a:extLst>
              <a:ext uri="{FF2B5EF4-FFF2-40B4-BE49-F238E27FC236}">
                <a16:creationId xmlns:a16="http://schemas.microsoft.com/office/drawing/2014/main" id="{04EE87FD-C808-4643-2317-3CDB3CBCB4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CF01170-CC99-1C80-2814-8C172DEF9DA3}"/>
              </a:ext>
            </a:extLst>
          </p:cNvPr>
          <p:cNvSpPr>
            <a:spLocks noGrp="1"/>
          </p:cNvSpPr>
          <p:nvPr>
            <p:ph type="sldNum" idx="12"/>
          </p:nvPr>
        </p:nvSpPr>
        <p:spPr/>
        <p:txBody>
          <a:bodyPr/>
          <a:lstStyle/>
          <a:p>
            <a:fld id="{DEA345B2-507C-43D7-80BF-79F59DDCF0A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1B42E-1446-2B7F-B0AB-68026A6950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E6454A-9B58-1467-10AE-5BAA8852317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6688D33-D71B-794B-B556-D3F17CC2B08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mj-lt"/>
                <a:ea typeface="+mj-lt"/>
                <a:cs typeface="+mj-lt"/>
              </a:defRPr>
            </a:lvl1pPr>
          </a:lstStyle>
          <a:p>
            <a:fld id="{5750368A-0602-41DA-8C72-F3668C4CC159}" type="datetimeFigureOut">
              <a:t>8/13/2026</a:t>
            </a:fld>
            <a:endParaRPr/>
          </a:p>
        </p:txBody>
      </p:sp>
      <p:sp>
        <p:nvSpPr>
          <p:cNvPr id="5" name="Footer Placeholder 4">
            <a:extLst>
              <a:ext uri="{FF2B5EF4-FFF2-40B4-BE49-F238E27FC236}">
                <a16:creationId xmlns:a16="http://schemas.microsoft.com/office/drawing/2014/main" id="{E82302E3-550F-6EB1-3682-88ECDCAB2B6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mj-lt"/>
                <a:ea typeface="+mj-lt"/>
                <a:cs typeface="+mj-lt"/>
              </a:defRPr>
            </a:lvl1pPr>
          </a:lstStyle>
          <a:p>
            <a:endParaRPr/>
          </a:p>
        </p:txBody>
      </p:sp>
      <p:sp>
        <p:nvSpPr>
          <p:cNvPr id="6" name="Slide Number Placeholder 5">
            <a:extLst>
              <a:ext uri="{FF2B5EF4-FFF2-40B4-BE49-F238E27FC236}">
                <a16:creationId xmlns:a16="http://schemas.microsoft.com/office/drawing/2014/main" id="{F30F3CC4-BECA-E918-14B4-1688C26034E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mj-lt"/>
                <a:ea typeface="+mj-lt"/>
                <a:cs typeface="+mj-lt"/>
              </a:defRPr>
            </a:lvl1pPr>
          </a:lstStyle>
          <a:p>
            <a:fld id="{DEA345B2-507C-43D7-80BF-79F59DDCF0A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j-lt"/>
          <a:ea typeface="+mj-lt"/>
          <a:cs typeface="+mj-lt"/>
        </a:defRPr>
      </a:lvl1pPr>
      <a:lvl2pPr marL="685800" indent="-228600" algn="l" defTabSz="914400">
        <a:lnSpc>
          <a:spcPct val="90000"/>
        </a:lnSpc>
        <a:spcBef>
          <a:spcPts val="500"/>
        </a:spcBef>
        <a:buFont typeface="Arial"/>
        <a:buChar char="•"/>
        <a:defRPr sz="2400" kern="1200">
          <a:solidFill>
            <a:schemeClr val="tx1"/>
          </a:solidFill>
          <a:latin typeface="+mj-lt"/>
          <a:ea typeface="+mj-lt"/>
          <a:cs typeface="+mj-lt"/>
        </a:defRPr>
      </a:lvl2pPr>
      <a:lvl3pPr marL="1143000" indent="-228600" algn="l" defTabSz="914400">
        <a:lnSpc>
          <a:spcPct val="90000"/>
        </a:lnSpc>
        <a:spcBef>
          <a:spcPts val="500"/>
        </a:spcBef>
        <a:buFont typeface="Arial"/>
        <a:buChar char="•"/>
        <a:defRPr sz="2000" kern="1200">
          <a:solidFill>
            <a:schemeClr val="tx1"/>
          </a:solidFill>
          <a:latin typeface="+mj-lt"/>
          <a:ea typeface="+mj-lt"/>
          <a:cs typeface="+mj-lt"/>
        </a:defRPr>
      </a:lvl3pPr>
      <a:lvl4pPr marL="1600200" indent="-228600" algn="l" defTabSz="914400">
        <a:lnSpc>
          <a:spcPct val="90000"/>
        </a:lnSpc>
        <a:spcBef>
          <a:spcPts val="500"/>
        </a:spcBef>
        <a:buFont typeface="Arial"/>
        <a:buChar char="•"/>
        <a:defRPr sz="1800" kern="1200">
          <a:solidFill>
            <a:schemeClr val="tx1"/>
          </a:solidFill>
          <a:latin typeface="+mj-lt"/>
          <a:ea typeface="+mj-lt"/>
          <a:cs typeface="+mj-lt"/>
        </a:defRPr>
      </a:lvl4pPr>
      <a:lvl5pPr marL="2057400" indent="-228600" algn="l" defTabSz="914400">
        <a:lnSpc>
          <a:spcPct val="90000"/>
        </a:lnSpc>
        <a:spcBef>
          <a:spcPts val="500"/>
        </a:spcBef>
        <a:buFont typeface="Arial"/>
        <a:buChar char="•"/>
        <a:defRPr sz="1800" kern="1200">
          <a:solidFill>
            <a:schemeClr val="tx1"/>
          </a:solidFill>
          <a:latin typeface="+mj-lt"/>
          <a:ea typeface="+mj-lt"/>
          <a:cs typeface="+mj-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DAB2F-A7AF-BCC5-168B-81E525269E29}"/>
              </a:ext>
            </a:extLst>
          </p:cNvPr>
          <p:cNvSpPr>
            <a:spLocks noGrp="1"/>
          </p:cNvSpPr>
          <p:nvPr>
            <p:ph type="ctrTitle"/>
          </p:nvPr>
        </p:nvSpPr>
        <p:spPr>
          <a:xfrm>
            <a:off x="6096000" y="2722563"/>
            <a:ext cx="5077521" cy="2387600"/>
          </a:xfrm>
        </p:spPr>
        <p:txBody>
          <a:bodyPr>
            <a:normAutofit fontScale="91014"/>
          </a:bodyPr>
          <a:lstStyle/>
          <a:p>
            <a:pPr>
              <a:lnSpc>
                <a:spcPts val="5000"/>
              </a:lnSpc>
              <a:buNone/>
            </a:pPr>
            <a:r>
              <a:rPr sz="6600"/>
              <a:t>CONVERSATION</a:t>
            </a:r>
          </a:p>
          <a:p>
            <a:pPr>
              <a:lnSpc>
                <a:spcPts val="5000"/>
              </a:lnSpc>
              <a:buNone/>
            </a:pPr>
            <a:r>
              <a:rPr sz="6600"/>
              <a:t>TRAJECTORY LAB</a:t>
            </a:r>
          </a:p>
        </p:txBody>
      </p:sp>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5202238"/>
            <a:ext cx="5077521" cy="1655762"/>
          </a:xfrm>
        </p:spPr>
        <p:txBody>
          <a:bodyPr>
            <a:normAutofit/>
          </a:bodyPr>
          <a:lstStyle/>
          <a:p>
            <a:r>
              <a:rPr sz="2000"/>
              <a:t>AI-Based Detection of Grooming-Related Interactions in Chat Conversations Using Contextual and Behavioral Analysis</a:t>
            </a:r>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FE59-E69B-FA61-1F9F-69D2B6BE4BF3}"/>
              </a:ext>
            </a:extLst>
          </p:cNvPr>
          <p:cNvSpPr>
            <a:spLocks noGrp="1"/>
          </p:cNvSpPr>
          <p:nvPr>
            <p:ph type="title"/>
          </p:nvPr>
        </p:nvSpPr>
        <p:spPr/>
        <p:txBody>
          <a:bodyPr/>
          <a:lstStyle/>
          <a:p>
            <a:r>
              <a:t>Introduction</a:t>
            </a:r>
          </a:p>
        </p:txBody>
      </p:sp>
      <p:sp>
        <p:nvSpPr>
          <p:cNvPr id="3" name="Text Placeholder 2">
            <a:extLst>
              <a:ext uri="{FF2B5EF4-FFF2-40B4-BE49-F238E27FC236}">
                <a16:creationId xmlns:a16="http://schemas.microsoft.com/office/drawing/2014/main" id="{361CC8EF-A543-7340-D864-3EE048E2398C}"/>
              </a:ext>
            </a:extLst>
          </p:cNvPr>
          <p:cNvSpPr>
            <a:spLocks noGrp="1"/>
          </p:cNvSpPr>
          <p:nvPr>
            <p:ph type="body" idx="1"/>
          </p:nvPr>
        </p:nvSpPr>
        <p:spPr/>
        <p:txBody>
          <a:bodyPr/>
          <a:lstStyle/>
          <a:p>
            <a:r>
              <a:t>AI-Based Detection of Grooming-Related Interactions in Chat Conversations Using Contextual and Behavioral Analysis</a:t>
            </a:r>
          </a:p>
          <a:p>
            <a:endParaRPr/>
          </a:p>
        </p:txBody>
      </p:sp>
    </p:spTree>
    <p:extLst>
      <p:ext uri="{BB962C8B-B14F-4D97-AF65-F5344CB8AC3E}">
        <p14:creationId xmlns:p14="http://schemas.microsoft.com/office/powerpoint/2010/main" val="745473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44C2198-1C42-A790-4121-5218735B7DD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8" name="Content Placeholder 6">
            <a:extLst>
              <a:ext uri="{FF2B5EF4-FFF2-40B4-BE49-F238E27FC236}">
                <a16:creationId xmlns:a16="http://schemas.microsoft.com/office/drawing/2014/main" id="{166323FE-9773-D041-E0C5-1689233D65B8}"/>
              </a:ext>
            </a:extLst>
          </p:cNvPr>
          <p:cNvSpPr>
            <a:spLocks noGrp="1"/>
          </p:cNvSpPr>
          <p:nvPr>
            <p:ph idx="1"/>
          </p:nvPr>
        </p:nvSpPr>
        <p:spPr>
          <a:xfrm>
            <a:off x="838200" y="1825625"/>
            <a:ext cx="9781489" cy="4351338"/>
          </a:xfrm>
        </p:spPr>
        <p:txBody>
          <a:bodyPr vert="horz" lIns="91440" tIns="45720" rIns="91440" bIns="45720" anchor="t">
            <a:normAutofit/>
          </a:bodyPr>
          <a:lstStyle/>
          <a:p>
            <a:r>
              <a:t>Real-time chat systems in games and digital platforms carry risks of grooming-related interactions. </a:t>
            </a:r>
          </a:p>
          <a:p>
            <a:r>
              <a:t>Traditional moderation relies on keyword filters and user reporting. </a:t>
            </a:r>
          </a:p>
          <a:p>
            <a:r>
              <a:t>These systems fail to detect context, intent, and behavioral progression, often missing obfuscated language. </a:t>
            </a:r>
          </a:p>
          <a:p>
            <a:r>
              <a:t>AI-driven systems using Machine Learning (ML) and Natural Language Processing (NLP) can track behavioral patterns over time. </a:t>
            </a:r>
          </a:p>
        </p:txBody>
      </p:sp>
      <p:sp>
        <p:nvSpPr>
          <p:cNvPr id="9" name="Rectangle 8">
            <a:extLst>
              <a:ext uri="{FF2B5EF4-FFF2-40B4-BE49-F238E27FC236}">
                <a16:creationId xmlns:a16="http://schemas.microsoft.com/office/drawing/2014/main" id="{B1F26A3C-9B81-B8D3-EEA5-D7DD35D3D218}"/>
              </a:ext>
            </a:extLst>
          </p:cNvPr>
          <p:cNvSpPr>
            <a:spLocks noGrp="1"/>
          </p:cNvSpPr>
          <p:nvPr/>
        </p:nvSpPr>
        <p:spPr>
          <a:xfrm>
            <a:off x="161544" y="0"/>
            <a:ext cx="10710672" cy="741680"/>
          </a:xfrm>
          <a:prstGeom prst="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Title 5">
            <a:extLst>
              <a:ext uri="{FF2B5EF4-FFF2-40B4-BE49-F238E27FC236}">
                <a16:creationId xmlns:a16="http://schemas.microsoft.com/office/drawing/2014/main" id="{562366F7-771B-E12D-0784-5DF536657F4F}"/>
              </a:ext>
            </a:extLst>
          </p:cNvPr>
          <p:cNvSpPr>
            <a:spLocks noGrp="1"/>
          </p:cNvSpPr>
          <p:nvPr/>
        </p:nvSpPr>
        <p:spPr>
          <a:xfrm>
            <a:off x="3148127" y="87629"/>
            <a:ext cx="8882329" cy="593408"/>
          </a:xfrm>
          <a:prstGeom prst="rect">
            <a:avLst/>
          </a:prstGeom>
        </p:spPr>
        <p:txBody>
          <a:bodyPr vert="horz" lIns="91440" tIns="45720" rIns="91440" bIns="45720" anchor="ctr">
            <a:normAutofit fontScale="90000" lnSpcReduction="10000"/>
          </a:bodyPr>
          <a:lstStyle>
            <a:lvl1pPr algn="l" defTabSz="914400">
              <a:lnSpc>
                <a:spcPct val="90000"/>
              </a:lnSpc>
              <a:spcBef>
                <a:spcPct val="0"/>
              </a:spcBef>
              <a:buNone/>
              <a:defRPr sz="4400" kern="1200">
                <a:solidFill>
                  <a:schemeClr val="tx1"/>
                </a:solidFill>
                <a:latin typeface="+mj-lt"/>
                <a:ea typeface="+mj-lt"/>
                <a:cs typeface="+mj-lt"/>
              </a:defRPr>
            </a:lvl1pPr>
          </a:lstStyle>
          <a:p>
            <a:r>
              <a:t>Background of the Study</a:t>
            </a:r>
            <a:endParaRPr>
              <a:latin typeface="Corbel"/>
              <a:ea typeface="Corbel"/>
              <a:cs typeface="Corbel"/>
            </a:endParaRPr>
          </a:p>
        </p:txBody>
      </p:sp>
    </p:spTree>
    <p:extLst>
      <p:ext uri="{BB962C8B-B14F-4D97-AF65-F5344CB8AC3E}">
        <p14:creationId xmlns:p14="http://schemas.microsoft.com/office/powerpoint/2010/main" val="48746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6837-15F7-9AC5-506D-EB98ECC48AD4}"/>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56607249-F0BC-669C-5E67-1CF711555367}"/>
              </a:ext>
            </a:extLst>
          </p:cNvPr>
          <p:cNvSpPr>
            <a:spLocks noGrp="1"/>
          </p:cNvSpPr>
          <p:nvPr>
            <p:ph type="title"/>
          </p:nvPr>
        </p:nvSpPr>
        <p:spPr/>
        <p:txBody>
          <a:bodyPr/>
          <a:lstStyle/>
          <a:p>
            <a:r>
              <a:t>Statement of the Problem</a:t>
            </a:r>
          </a:p>
        </p:txBody>
      </p:sp>
      <p:sp>
        <p:nvSpPr>
          <p:cNvPr id="7" name="Content Placeholder 6">
            <a:extLst>
              <a:ext uri="{FF2B5EF4-FFF2-40B4-BE49-F238E27FC236}">
                <a16:creationId xmlns:a16="http://schemas.microsoft.com/office/drawing/2014/main" id="{11F6840A-CC91-616E-AB80-9489D4871FF5}"/>
              </a:ext>
            </a:extLst>
          </p:cNvPr>
          <p:cNvSpPr>
            <a:spLocks noGrp="1"/>
          </p:cNvSpPr>
          <p:nvPr>
            <p:ph idx="1"/>
          </p:nvPr>
        </p:nvSpPr>
        <p:spPr/>
        <p:txBody>
          <a:bodyPr>
            <a:normAutofit/>
          </a:bodyPr>
          <a:lstStyle/>
          <a:p>
            <a:r>
              <a:t>Existing moderation approaches are ineffective at detecting context-dependent grooming behaviors. </a:t>
            </a:r>
          </a:p>
          <a:p>
            <a:r>
              <a:t>Relying on user reporting creates delayed, reactive moderation. </a:t>
            </a:r>
          </a:p>
          <a:p>
            <a:r>
              <a:t>Current systems evaluate messages in isolation rather than analyzing the conversational trajectory. </a:t>
            </a:r>
          </a:p>
        </p:txBody>
      </p:sp>
    </p:spTree>
    <p:extLst>
      <p:ext uri="{BB962C8B-B14F-4D97-AF65-F5344CB8AC3E}">
        <p14:creationId xmlns:p14="http://schemas.microsoft.com/office/powerpoint/2010/main" val="267244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420E-DB4F-AAC4-E6C3-9E670B879997}"/>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C9DDDB5F-C27B-89D7-A479-237B03C65240}"/>
              </a:ext>
            </a:extLst>
          </p:cNvPr>
          <p:cNvSpPr>
            <a:spLocks noGrp="1"/>
          </p:cNvSpPr>
          <p:nvPr>
            <p:ph type="title"/>
          </p:nvPr>
        </p:nvSpPr>
        <p:spPr/>
        <p:txBody>
          <a:bodyPr/>
          <a:lstStyle/>
          <a:p>
            <a:r>
              <a:t>Research Questions</a:t>
            </a:r>
          </a:p>
        </p:txBody>
      </p:sp>
      <p:sp>
        <p:nvSpPr>
          <p:cNvPr id="7" name="Content Placeholder 6">
            <a:extLst>
              <a:ext uri="{FF2B5EF4-FFF2-40B4-BE49-F238E27FC236}">
                <a16:creationId xmlns:a16="http://schemas.microsoft.com/office/drawing/2014/main" id="{C6973DE6-43FD-6A2F-BD6D-2870C787B5DE}"/>
              </a:ext>
            </a:extLst>
          </p:cNvPr>
          <p:cNvSpPr>
            <a:spLocks noGrp="1"/>
          </p:cNvSpPr>
          <p:nvPr>
            <p:ph idx="1"/>
          </p:nvPr>
        </p:nvSpPr>
        <p:spPr/>
        <p:txBody>
          <a:bodyPr/>
          <a:lstStyle/>
          <a:p>
            <a:r>
              <a:t>What are the limitations of keyword-based and rule-based moderation in handling context-dependent communication? </a:t>
            </a:r>
          </a:p>
          <a:p>
            <a:r>
              <a:t>How can ML and NLP analyze behavioral patterns and context in chat systems? </a:t>
            </a:r>
          </a:p>
          <a:p>
            <a:r>
              <a:t>To what extent can an AI-driven module improve detection, specifically in reducing false negatives?</a:t>
            </a:r>
          </a:p>
        </p:txBody>
      </p:sp>
    </p:spTree>
    <p:extLst>
      <p:ext uri="{BB962C8B-B14F-4D97-AF65-F5344CB8AC3E}">
        <p14:creationId xmlns:p14="http://schemas.microsoft.com/office/powerpoint/2010/main" val="5780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9F28-BE19-01F7-925B-315A4EB7E37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6C4A70A5-31D0-0EB6-C3E3-4DD4DF3A7D73}"/>
              </a:ext>
            </a:extLst>
          </p:cNvPr>
          <p:cNvSpPr>
            <a:spLocks noGrp="1"/>
          </p:cNvSpPr>
          <p:nvPr>
            <p:ph type="title"/>
          </p:nvPr>
        </p:nvSpPr>
        <p:spPr/>
        <p:txBody>
          <a:bodyPr/>
          <a:lstStyle/>
          <a:p>
            <a:r>
              <a:t>1.3 Objectives of the Study</a:t>
            </a:r>
          </a:p>
        </p:txBody>
      </p:sp>
      <p:sp>
        <p:nvSpPr>
          <p:cNvPr id="7" name="Content Placeholder 6">
            <a:extLst>
              <a:ext uri="{FF2B5EF4-FFF2-40B4-BE49-F238E27FC236}">
                <a16:creationId xmlns:a16="http://schemas.microsoft.com/office/drawing/2014/main" id="{862A178E-C1B3-DC86-F272-7BC7DA7322ED}"/>
              </a:ext>
            </a:extLst>
          </p:cNvPr>
          <p:cNvSpPr>
            <a:spLocks noGrp="1"/>
          </p:cNvSpPr>
          <p:nvPr>
            <p:ph idx="1"/>
          </p:nvPr>
        </p:nvSpPr>
        <p:spPr>
          <a:xfrm>
            <a:off x="838200" y="1825625"/>
            <a:ext cx="10017369" cy="4351338"/>
          </a:xfrm>
        </p:spPr>
        <p:txBody>
          <a:bodyPr>
            <a:normAutofit/>
          </a:bodyPr>
          <a:lstStyle/>
          <a:p>
            <a:pPr marL="34" indent="-20">
              <a:spcAft>
                <a:spcPts val="8"/>
              </a:spcAft>
              <a:buChar char="•"/>
            </a:pPr>
            <a:r>
              <a:rPr sz="2100" b="0"/>
              <a:t>  Evaluate the limitations of current rule-based systems.</a:t>
            </a:r>
          </a:p>
          <a:p>
            <a:pPr marL="34" indent="-20">
              <a:spcAft>
                <a:spcPts val="8"/>
              </a:spcAft>
              <a:buChar char="•"/>
            </a:pPr>
            <a:r>
              <a:rPr sz="2100" b="0"/>
              <a:t>  Design an AI module using NLP to analyze multi-turn chat interactions.</a:t>
            </a:r>
          </a:p>
          <a:p>
            <a:pPr marL="34" indent="-20">
              <a:spcAft>
                <a:spcPts val="8"/>
              </a:spcAft>
              <a:buChar char="•"/>
            </a:pPr>
            <a:r>
              <a:rPr sz="2100" b="0"/>
              <a:t>  Assess the module's ability to reduce false negatives compared to traditional approaches</a:t>
            </a:r>
          </a:p>
        </p:txBody>
      </p:sp>
    </p:spTree>
    <p:extLst>
      <p:ext uri="{BB962C8B-B14F-4D97-AF65-F5344CB8AC3E}">
        <p14:creationId xmlns:p14="http://schemas.microsoft.com/office/powerpoint/2010/main" val="188048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ACF81403-46D4-251C-8B54-D9D0884FE3A2}"/>
              </a:ext>
            </a:extLst>
          </p:cNvPr>
          <p:cNvSpPr>
            <a:spLocks noGrp="1"/>
          </p:cNvSpPr>
          <p:nvPr>
            <p:ph type="title"/>
          </p:nvPr>
        </p:nvSpPr>
        <p:spPr/>
        <p:txBody>
          <a:bodyPr/>
          <a:lstStyle/>
          <a:p>
            <a:r>
              <a:t>1.4 Scope and Limitations</a:t>
            </a:r>
          </a:p>
        </p:txBody>
      </p:sp>
      <p:sp>
        <p:nvSpPr>
          <p:cNvPr id="7" name="Content Placeholder 6">
            <a:extLst>
              <a:ext uri="{FF2B5EF4-FFF2-40B4-BE49-F238E27FC236}">
                <a16:creationId xmlns:a16="http://schemas.microsoft.com/office/drawing/2014/main" id="{E850D05B-5DDE-91E6-D1C2-16CA5550A002}"/>
              </a:ext>
            </a:extLst>
          </p:cNvPr>
          <p:cNvSpPr>
            <a:spLocks noGrp="1"/>
          </p:cNvSpPr>
          <p:nvPr>
            <p:ph idx="1"/>
          </p:nvPr>
        </p:nvSpPr>
        <p:spPr/>
        <p:txBody>
          <a:bodyPr>
            <a:normAutofit/>
          </a:bodyPr>
          <a:lstStyle/>
          <a:p>
            <a:r>
              <a:rPr b="1"/>
              <a:t>Scope:</a:t>
            </a:r>
            <a:endParaRPr/>
          </a:p>
          <a:p>
            <a:r>
              <a:t>Develop a platform-independent prototype to augment existing systems. </a:t>
            </a:r>
          </a:p>
          <a:p>
            <a:r>
              <a:t>Test using multiple datasets, real chat logs, and synthetic data featuring modern gaming lingo. </a:t>
            </a:r>
          </a:p>
          <a:p>
            <a:r>
              <a:t>Compare performance against a keyword-based baseline. </a:t>
            </a:r>
          </a:p>
        </p:txBody>
      </p:sp>
    </p:spTree>
    <p:extLst>
      <p:ext uri="{BB962C8B-B14F-4D97-AF65-F5344CB8AC3E}">
        <p14:creationId xmlns:p14="http://schemas.microsoft.com/office/powerpoint/2010/main" val="351286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1E4259B3-B52B-7E0B-B4CF-D0381B9CAEB6}"/>
              </a:ext>
            </a:extLst>
          </p:cNvPr>
          <p:cNvSpPr>
            <a:spLocks noGrp="1"/>
          </p:cNvSpPr>
          <p:nvPr>
            <p:ph type="title"/>
          </p:nvPr>
        </p:nvSpPr>
        <p:spPr/>
        <p:txBody>
          <a:bodyPr/>
          <a:lstStyle/>
          <a:p>
            <a:r>
              <a:t>1.4 Scope and Limitations</a:t>
            </a:r>
          </a:p>
        </p:txBody>
      </p:sp>
      <p:sp>
        <p:nvSpPr>
          <p:cNvPr id="7" name="Content Placeholder 6">
            <a:extLst>
              <a:ext uri="{FF2B5EF4-FFF2-40B4-BE49-F238E27FC236}">
                <a16:creationId xmlns:a16="http://schemas.microsoft.com/office/drawing/2014/main" id="{2022CCDC-E1F7-4223-6BE8-FB27B350BED5}"/>
              </a:ext>
            </a:extLst>
          </p:cNvPr>
          <p:cNvSpPr>
            <a:spLocks noGrp="1"/>
          </p:cNvSpPr>
          <p:nvPr>
            <p:ph idx="1"/>
          </p:nvPr>
        </p:nvSpPr>
        <p:spPr/>
        <p:txBody>
          <a:bodyPr>
            <a:normAutofit/>
          </a:bodyPr>
          <a:lstStyle/>
          <a:p>
            <a:pPr marL="34" indent="-20">
              <a:spcAft>
                <a:spcPts val="9"/>
              </a:spcAft>
              <a:buChar char="•"/>
            </a:pPr>
            <a:r>
              <a:rPr sz="2025" b="1"/>
              <a:t>  Offline prototype. </a:t>
            </a:r>
            <a:r>
              <a:rPr sz="2025" b="0"/>
              <a:t>Messages are replayed in order; the system is not connected to a live chat platform.</a:t>
            </a:r>
          </a:p>
          <a:p>
            <a:pPr marL="34" indent="-20">
              <a:spcAft>
                <a:spcPts val="9"/>
              </a:spcAft>
              <a:buChar char="•"/>
            </a:pPr>
            <a:r>
              <a:rPr sz="2025" b="1"/>
              <a:t>  English-language evidence. </a:t>
            </a:r>
            <a:r>
              <a:rPr sz="2025" b="0"/>
              <a:t>The current work does not validate Filipino or Taglish conversations.</a:t>
            </a:r>
          </a:p>
          <a:p>
            <a:pPr marL="34" indent="-20">
              <a:spcAft>
                <a:spcPts val="9"/>
              </a:spcAft>
              <a:buChar char="•"/>
            </a:pPr>
            <a:r>
              <a:rPr sz="2025" b="1"/>
              <a:t>  Deployment remains future work. </a:t>
            </a:r>
            <a:r>
              <a:rPr sz="2025" b="0"/>
              <a:t>Live-user testing, integration, latency, scalability, and throughput have not been evaluated.</a:t>
            </a:r>
          </a:p>
        </p:txBody>
      </p:sp>
    </p:spTree>
    <p:extLst>
      <p:ext uri="{BB962C8B-B14F-4D97-AF65-F5344CB8AC3E}">
        <p14:creationId xmlns:p14="http://schemas.microsoft.com/office/powerpoint/2010/main" val="2461310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25D0-52EA-24D7-C74D-83A7B28B9AE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E0B2484B-570A-778F-AECF-77901B2E7435}"/>
              </a:ext>
            </a:extLst>
          </p:cNvPr>
          <p:cNvSpPr>
            <a:spLocks noGrp="1"/>
          </p:cNvSpPr>
          <p:nvPr>
            <p:ph type="title"/>
          </p:nvPr>
        </p:nvSpPr>
        <p:spPr>
          <a:xfrm>
            <a:off x="933450" y="685800"/>
            <a:ext cx="7620000" cy="781050"/>
          </a:xfrm>
        </p:spPr>
        <p:txBody>
          <a:bodyPr/>
          <a:lstStyle/>
          <a:p>
            <a:r>
              <a:rPr sz="3600"/>
              <a:t>1.5 Significance of the Study</a:t>
            </a:r>
          </a:p>
        </p:txBody>
      </p:sp>
      <p:sp>
        <p:nvSpPr>
          <p:cNvPr id="7" name="Content Placeholder 6">
            <a:extLst>
              <a:ext uri="{FF2B5EF4-FFF2-40B4-BE49-F238E27FC236}">
                <a16:creationId xmlns:a16="http://schemas.microsoft.com/office/drawing/2014/main" id="{EFBFA35A-4305-BE3F-97F4-B3E6C550E91E}"/>
              </a:ext>
            </a:extLst>
          </p:cNvPr>
          <p:cNvSpPr>
            <a:spLocks noGrp="1"/>
          </p:cNvSpPr>
          <p:nvPr>
            <p:ph idx="1"/>
          </p:nvPr>
        </p:nvSpPr>
        <p:spPr/>
        <p:txBody>
          <a:bodyPr/>
          <a:lstStyle/>
          <a:p>
            <a:pPr marL="34" indent="-20">
              <a:spcAft>
                <a:spcPts val="9"/>
              </a:spcAft>
              <a:buChar char="•"/>
            </a:pPr>
            <a:r>
              <a:rPr sz="1875" b="1"/>
              <a:t>  Academic value. </a:t>
            </a:r>
            <a:r>
              <a:rPr sz="1875" b="0"/>
              <a:t>The study explores how message context and conversation patterns can support moderation research.</a:t>
            </a:r>
          </a:p>
          <a:p>
            <a:pPr marL="34" indent="-20">
              <a:spcAft>
                <a:spcPts val="9"/>
              </a:spcAft>
              <a:buChar char="•"/>
            </a:pPr>
            <a:r>
              <a:rPr sz="1875" b="1"/>
              <a:t>  Practical value. </a:t>
            </a:r>
            <a:r>
              <a:rPr sz="1875" b="0"/>
              <a:t>The prototype demonstrates a possible decision-support workflow for human moderators.</a:t>
            </a:r>
          </a:p>
          <a:p>
            <a:pPr marL="34" indent="-20">
              <a:spcAft>
                <a:spcPts val="9"/>
              </a:spcAft>
              <a:buChar char="•"/>
            </a:pPr>
            <a:r>
              <a:rPr sz="1875" b="1"/>
              <a:t>  Philippine relevance. </a:t>
            </a:r>
            <a:r>
              <a:rPr sz="1875" b="0"/>
              <a:t>Online youth safety motivates the study, while local-language validation remains future work.</a:t>
            </a:r>
          </a:p>
          <a:p>
            <a:pPr marL="34" indent="-20">
              <a:spcAft>
                <a:spcPts val="9"/>
              </a:spcAft>
              <a:buChar char="•"/>
            </a:pPr>
            <a:r>
              <a:rPr sz="1875" b="1"/>
              <a:t>  Responsible scope. </a:t>
            </a:r>
            <a:r>
              <a:rPr sz="1875" b="0"/>
              <a:t>The prototype is not presented as a deployed safety system or an autonomous decision-maker.</a:t>
            </a:r>
          </a:p>
        </p:txBody>
      </p:sp>
    </p:spTree>
    <p:extLst>
      <p:ext uri="{BB962C8B-B14F-4D97-AF65-F5344CB8AC3E}">
        <p14:creationId xmlns:p14="http://schemas.microsoft.com/office/powerpoint/2010/main" val="136695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4548-D28E-C567-67D9-A7F73A398348}"/>
              </a:ext>
            </a:extLst>
          </p:cNvPr>
          <p:cNvSpPr>
            <a:spLocks noGrp="1"/>
          </p:cNvSpPr>
          <p:nvPr>
            <p:ph type="title"/>
          </p:nvPr>
        </p:nvSpPr>
        <p:spPr/>
        <p:txBody>
          <a:bodyPr/>
          <a:lstStyle/>
          <a:p>
            <a:r>
              <a:t>Review of Related Literature</a:t>
            </a:r>
          </a:p>
        </p:txBody>
      </p:sp>
      <p:sp>
        <p:nvSpPr>
          <p:cNvPr id="3" name="Text Placeholder 2">
            <a:extLst>
              <a:ext uri="{FF2B5EF4-FFF2-40B4-BE49-F238E27FC236}">
                <a16:creationId xmlns:a16="http://schemas.microsoft.com/office/drawing/2014/main" id="{F83A8EAC-3CA8-6793-6398-0B05C4D71CEC}"/>
              </a:ext>
            </a:extLst>
          </p:cNvPr>
          <p:cNvSpPr>
            <a:spLocks noGrp="1"/>
          </p:cNvSpPr>
          <p:nvPr>
            <p:ph type="body" idx="1"/>
          </p:nvPr>
        </p:nvSpPr>
        <p:spPr/>
        <p:txBody>
          <a:bodyPr/>
          <a:lstStyle/>
          <a:p>
            <a:r>
              <a:t>Chapter 2</a:t>
            </a:r>
          </a:p>
        </p:txBody>
      </p:sp>
    </p:spTree>
    <p:extLst>
      <p:ext uri="{BB962C8B-B14F-4D97-AF65-F5344CB8AC3E}">
        <p14:creationId xmlns:p14="http://schemas.microsoft.com/office/powerpoint/2010/main" val="681611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46D-8683-5037-C23F-47F648DF5CA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2F2DE485-AA9A-FFDB-70D4-9CBE126968A2}"/>
              </a:ext>
            </a:extLst>
          </p:cNvPr>
          <p:cNvSpPr>
            <a:spLocks noGrp="1"/>
          </p:cNvSpPr>
          <p:nvPr>
            <p:ph type="title"/>
          </p:nvPr>
        </p:nvSpPr>
        <p:spPr/>
        <p:txBody>
          <a:bodyPr/>
          <a:lstStyle/>
          <a:p>
            <a:r>
              <a:t>2 Review of Related Literature</a:t>
            </a:r>
          </a:p>
        </p:txBody>
      </p:sp>
      <p:sp>
        <p:nvSpPr>
          <p:cNvPr id="7" name="Content Placeholder 6">
            <a:extLst>
              <a:ext uri="{FF2B5EF4-FFF2-40B4-BE49-F238E27FC236}">
                <a16:creationId xmlns:a16="http://schemas.microsoft.com/office/drawing/2014/main" id="{33D99DDF-C87D-BE06-E16D-DC3C465370B2}"/>
              </a:ext>
            </a:extLst>
          </p:cNvPr>
          <p:cNvSpPr>
            <a:spLocks noGrp="1"/>
          </p:cNvSpPr>
          <p:nvPr>
            <p:ph idx="1"/>
          </p:nvPr>
        </p:nvSpPr>
        <p:spPr>
          <a:xfrm>
            <a:off x="838200" y="1825624"/>
            <a:ext cx="10909151" cy="4811843"/>
          </a:xfrm>
        </p:spPr>
        <p:txBody>
          <a:bodyPr>
            <a:normAutofit/>
          </a:bodyPr>
          <a:lstStyle/>
          <a:p>
            <a:r>
              <a:rPr sz="3200" b="1"/>
              <a:t>Technical Evolution:</a:t>
            </a:r>
            <a:r>
              <a:rPr sz="3200"/>
              <a:t> Moving beyond keyword blacklists; modern detection requires context-aware AI models (e.g., DistilBERT) to analyze complex sequences.</a:t>
            </a:r>
          </a:p>
          <a:p>
            <a:r>
              <a:rPr sz="3200" b="1"/>
              <a:t>Behavioral Modeling:</a:t>
            </a:r>
            <a:r>
              <a:rPr sz="3200"/>
              <a:t> Tracking longitudinal "interaction chains" over time (using LSTMs) significantly increases precision and reduces false negatives.</a:t>
            </a:r>
          </a:p>
        </p:txBody>
      </p:sp>
    </p:spTree>
    <p:extLst>
      <p:ext uri="{BB962C8B-B14F-4D97-AF65-F5344CB8AC3E}">
        <p14:creationId xmlns:p14="http://schemas.microsoft.com/office/powerpoint/2010/main" val="218571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1058-A08A-BE33-9A5D-98508987B92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0B5A3935-754C-80F1-772A-436DCEE7A09F}"/>
              </a:ext>
            </a:extLst>
          </p:cNvPr>
          <p:cNvSpPr>
            <a:spLocks noGrp="1"/>
          </p:cNvSpPr>
          <p:nvPr>
            <p:ph type="title"/>
          </p:nvPr>
        </p:nvSpPr>
        <p:spPr/>
        <p:txBody>
          <a:bodyPr/>
          <a:lstStyle/>
          <a:p>
            <a:r>
              <a:t>2 Review of Related Literature</a:t>
            </a:r>
          </a:p>
        </p:txBody>
      </p:sp>
      <p:sp>
        <p:nvSpPr>
          <p:cNvPr id="7" name="Content Placeholder 6">
            <a:extLst>
              <a:ext uri="{FF2B5EF4-FFF2-40B4-BE49-F238E27FC236}">
                <a16:creationId xmlns:a16="http://schemas.microsoft.com/office/drawing/2014/main" id="{0A1BB844-FBB1-BD47-1E3E-3185B77F22F6}"/>
              </a:ext>
            </a:extLst>
          </p:cNvPr>
          <p:cNvSpPr>
            <a:spLocks noGrp="1"/>
          </p:cNvSpPr>
          <p:nvPr>
            <p:ph idx="1"/>
          </p:nvPr>
        </p:nvSpPr>
        <p:spPr>
          <a:xfrm>
            <a:off x="838200" y="1825624"/>
            <a:ext cx="10909151" cy="4811843"/>
          </a:xfrm>
        </p:spPr>
        <p:txBody>
          <a:bodyPr>
            <a:normAutofit/>
          </a:bodyPr>
          <a:lstStyle/>
          <a:p>
            <a:r>
              <a:rPr sz="3200" b="1"/>
              <a:t>Theoretical Framework:</a:t>
            </a:r>
            <a:r>
              <a:rPr sz="3200"/>
              <a:t> Anchored in the </a:t>
            </a:r>
            <a:r>
              <a:rPr sz="3200" i="1"/>
              <a:t>Online Grooming Discourse Model (OGDM)</a:t>
            </a:r>
            <a:r>
              <a:rPr sz="3200"/>
              <a:t>, which categorizes predatory behavior into stages like trust development, isolation, and risk assessment.</a:t>
            </a:r>
          </a:p>
          <a:p>
            <a:r>
              <a:rPr sz="3200" b="1"/>
              <a:t>Benchmarks &amp; Validation:</a:t>
            </a:r>
            <a:r>
              <a:rPr sz="3200"/>
              <a:t> Utilizes established datasets (like PAN-2012) enhanced with modern obfuscation techniques to ensure the model detects contemporary evasion strategies.</a:t>
            </a:r>
          </a:p>
        </p:txBody>
      </p:sp>
    </p:spTree>
    <p:extLst>
      <p:ext uri="{BB962C8B-B14F-4D97-AF65-F5344CB8AC3E}">
        <p14:creationId xmlns:p14="http://schemas.microsoft.com/office/powerpoint/2010/main" val="216370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AD7C-1915-C02D-55A4-9E64523BC0CF}"/>
              </a:ext>
            </a:extLst>
          </p:cNvPr>
          <p:cNvSpPr>
            <a:spLocks noGrp="1"/>
          </p:cNvSpPr>
          <p:nvPr>
            <p:ph type="title"/>
          </p:nvPr>
        </p:nvSpPr>
        <p:spPr/>
        <p:txBody>
          <a:bodyPr/>
          <a:lstStyle/>
          <a:p>
            <a:r>
              <a:t>Methodology</a:t>
            </a:r>
          </a:p>
        </p:txBody>
      </p:sp>
      <p:sp>
        <p:nvSpPr>
          <p:cNvPr id="3" name="Text Placeholder 2">
            <a:extLst>
              <a:ext uri="{FF2B5EF4-FFF2-40B4-BE49-F238E27FC236}">
                <a16:creationId xmlns:a16="http://schemas.microsoft.com/office/drawing/2014/main" id="{5F4850A2-3852-8302-39D5-B2A6F6E7D26B}"/>
              </a:ext>
            </a:extLst>
          </p:cNvPr>
          <p:cNvSpPr>
            <a:spLocks noGrp="1"/>
          </p:cNvSpPr>
          <p:nvPr>
            <p:ph type="body" idx="1"/>
          </p:nvPr>
        </p:nvSpPr>
        <p:spPr/>
        <p:txBody>
          <a:bodyPr/>
          <a:lstStyle/>
          <a:p>
            <a:r>
              <a:t>Chapter 3</a:t>
            </a:r>
          </a:p>
        </p:txBody>
      </p:sp>
    </p:spTree>
    <p:extLst>
      <p:ext uri="{BB962C8B-B14F-4D97-AF65-F5344CB8AC3E}">
        <p14:creationId xmlns:p14="http://schemas.microsoft.com/office/powerpoint/2010/main" val="278074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B14E7707-AECF-EAD7-693D-162031B6724C}"/>
              </a:ext>
            </a:extLst>
          </p:cNvPr>
          <p:cNvSpPr>
            <a:spLocks noGrp="1"/>
          </p:cNvSpPr>
          <p:nvPr>
            <p:ph type="title"/>
          </p:nvPr>
        </p:nvSpPr>
        <p:spPr/>
        <p:txBody>
          <a:bodyPr/>
          <a:lstStyle/>
          <a:p>
            <a:r>
              <a:t>Research Design &amp; Architecture</a:t>
            </a:r>
          </a:p>
        </p:txBody>
      </p:sp>
      <p:sp>
        <p:nvSpPr>
          <p:cNvPr id="7" name="Content Placeholder 6">
            <a:extLst>
              <a:ext uri="{FF2B5EF4-FFF2-40B4-BE49-F238E27FC236}">
                <a16:creationId xmlns:a16="http://schemas.microsoft.com/office/drawing/2014/main" id="{EBF3AD4A-AEF9-C2DC-D178-5F1FAFB632BB}"/>
              </a:ext>
            </a:extLst>
          </p:cNvPr>
          <p:cNvSpPr>
            <a:spLocks noGrp="1"/>
          </p:cNvSpPr>
          <p:nvPr>
            <p:ph idx="1"/>
          </p:nvPr>
        </p:nvSpPr>
        <p:spPr>
          <a:xfrm>
            <a:off x="838200" y="1825624"/>
            <a:ext cx="10417629" cy="4812919"/>
          </a:xfrm>
        </p:spPr>
        <p:txBody>
          <a:bodyPr>
            <a:normAutofit/>
          </a:bodyPr>
          <a:lstStyle/>
          <a:p>
            <a:r>
              <a:rPr sz="3200" b="1"/>
              <a:t>Approach:</a:t>
            </a:r>
            <a:r>
              <a:rPr sz="3200"/>
              <a:t> Developmental &amp; experimental research design</a:t>
            </a:r>
          </a:p>
          <a:p>
            <a:r>
              <a:rPr sz="3200" b="1"/>
              <a:t>Layer 1:</a:t>
            </a:r>
            <a:r>
              <a:rPr sz="3200"/>
              <a:t> DistilBERT for message-level NLP</a:t>
            </a:r>
          </a:p>
          <a:p>
            <a:r>
              <a:rPr sz="3200" b="1"/>
              <a:t>Layer 2:</a:t>
            </a:r>
            <a:r>
              <a:rPr sz="3200"/>
              <a:t> LSTM for multi-turn trajectory scoring</a:t>
            </a:r>
          </a:p>
          <a:p>
            <a:r>
              <a:rPr sz="3200" b="1"/>
              <a:t>Integration:</a:t>
            </a:r>
            <a:r>
              <a:rPr sz="3200"/>
              <a:t> Human-in-the-loop decision support tool</a:t>
            </a:r>
          </a:p>
          <a:p>
            <a:r>
              <a:rPr sz="3200" b="1"/>
              <a:t>Core Goal:</a:t>
            </a:r>
            <a:r>
              <a:rPr sz="3200"/>
              <a:t> Earlier detection &amp; lower false-negative rates</a:t>
            </a:r>
          </a:p>
        </p:txBody>
      </p:sp>
    </p:spTree>
    <p:extLst>
      <p:ext uri="{BB962C8B-B14F-4D97-AF65-F5344CB8AC3E}">
        <p14:creationId xmlns:p14="http://schemas.microsoft.com/office/powerpoint/2010/main" val="4252218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8E86-068B-D8BF-990F-DD00E04F07CA}"/>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1AB61292-70F8-24C5-6B67-BD36AD9C3BDA}"/>
              </a:ext>
            </a:extLst>
          </p:cNvPr>
          <p:cNvSpPr>
            <a:spLocks noGrp="1"/>
          </p:cNvSpPr>
          <p:nvPr>
            <p:ph type="title"/>
          </p:nvPr>
        </p:nvSpPr>
        <p:spPr/>
        <p:txBody>
          <a:bodyPr/>
          <a:lstStyle/>
          <a:p>
            <a:r>
              <a:t>Data preparation and trajectory features</a:t>
            </a:r>
          </a:p>
        </p:txBody>
      </p:sp>
      <p:sp>
        <p:nvSpPr>
          <p:cNvPr id="7" name="Content Placeholder 6">
            <a:extLst>
              <a:ext uri="{FF2B5EF4-FFF2-40B4-BE49-F238E27FC236}">
                <a16:creationId xmlns:a16="http://schemas.microsoft.com/office/drawing/2014/main" id="{5E709072-0147-F7DF-E372-8343EA23989F}"/>
              </a:ext>
            </a:extLst>
          </p:cNvPr>
          <p:cNvSpPr>
            <a:spLocks noGrp="1"/>
          </p:cNvSpPr>
          <p:nvPr>
            <p:ph idx="1"/>
          </p:nvPr>
        </p:nvSpPr>
        <p:spPr>
          <a:xfrm>
            <a:off x="838200" y="1825624"/>
            <a:ext cx="10417629" cy="4812919"/>
          </a:xfrm>
        </p:spPr>
        <p:txBody>
          <a:bodyPr>
            <a:normAutofit/>
          </a:bodyPr>
          <a:lstStyle/>
          <a:p>
            <a:pPr marL="34" indent="-20">
              <a:spcAft>
                <a:spcPts val="9"/>
              </a:spcAft>
              <a:buChar char="•"/>
            </a:pPr>
            <a:r>
              <a:rPr sz="1875" b="1"/>
              <a:t>  Ordered conversations. </a:t>
            </a:r>
            <a:r>
              <a:rPr sz="1875" b="0"/>
              <a:t>Messages are processed turn by turn so changes across the conversation can be represented.</a:t>
            </a:r>
          </a:p>
          <a:p>
            <a:pPr marL="34" indent="-20">
              <a:spcAft>
                <a:spcPts val="9"/>
              </a:spcAft>
              <a:buChar char="•"/>
            </a:pPr>
            <a:r>
              <a:rPr sz="1875" b="1"/>
              <a:t>  Seven trajectory features. </a:t>
            </a:r>
            <a:r>
              <a:rPr sz="1875" b="0"/>
              <a:t>The system tracks current and peak scores, spikes, drops, score change, topic change, and participation imbalance.</a:t>
            </a:r>
          </a:p>
          <a:p>
            <a:pPr marL="34" indent="-20">
              <a:spcAft>
                <a:spcPts val="9"/>
              </a:spcAft>
              <a:buChar char="•"/>
            </a:pPr>
            <a:r>
              <a:rPr sz="1875" b="1"/>
              <a:t>  Privacy safeguards. </a:t>
            </a:r>
            <a:r>
              <a:rPr sz="1875" b="0"/>
              <a:t>The local demo masks common direct identifiers before scoring and avoids browser caching.</a:t>
            </a:r>
          </a:p>
          <a:p>
            <a:pPr marL="34" indent="-20">
              <a:spcAft>
                <a:spcPts val="9"/>
              </a:spcAft>
              <a:buChar char="•"/>
            </a:pPr>
            <a:r>
              <a:rPr sz="1875" b="1"/>
              <a:t>  Reproducibility. </a:t>
            </a:r>
            <a:r>
              <a:rPr sz="1875" b="0"/>
              <a:t>The current Python and library versions are recorded in Chapter 3 and in the repository.</a:t>
            </a:r>
          </a:p>
        </p:txBody>
      </p:sp>
    </p:spTree>
    <p:extLst>
      <p:ext uri="{BB962C8B-B14F-4D97-AF65-F5344CB8AC3E}">
        <p14:creationId xmlns:p14="http://schemas.microsoft.com/office/powerpoint/2010/main" val="2483455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C6D1-29B6-538B-7D25-7C5544CC89C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F8D178B6-053D-0439-C71B-54E337A8BF0C}"/>
              </a:ext>
            </a:extLst>
          </p:cNvPr>
          <p:cNvSpPr>
            <a:spLocks noGrp="1"/>
          </p:cNvSpPr>
          <p:nvPr>
            <p:ph type="title"/>
          </p:nvPr>
        </p:nvSpPr>
        <p:spPr/>
        <p:txBody>
          <a:bodyPr/>
          <a:lstStyle/>
          <a:p>
            <a:r>
              <a:t>Model Development &amp; Baseline</a:t>
            </a:r>
          </a:p>
        </p:txBody>
      </p:sp>
      <p:sp>
        <p:nvSpPr>
          <p:cNvPr id="7" name="Content Placeholder 6">
            <a:extLst>
              <a:ext uri="{FF2B5EF4-FFF2-40B4-BE49-F238E27FC236}">
                <a16:creationId xmlns:a16="http://schemas.microsoft.com/office/drawing/2014/main" id="{F2C7DB05-330E-CFEE-9864-80C9E88E5EAE}"/>
              </a:ext>
            </a:extLst>
          </p:cNvPr>
          <p:cNvSpPr>
            <a:spLocks noGrp="1"/>
          </p:cNvSpPr>
          <p:nvPr>
            <p:ph idx="1"/>
          </p:nvPr>
        </p:nvSpPr>
        <p:spPr>
          <a:xfrm>
            <a:off x="838200" y="1825624"/>
            <a:ext cx="10417629" cy="4812919"/>
          </a:xfrm>
        </p:spPr>
        <p:txBody>
          <a:bodyPr>
            <a:normAutofit/>
          </a:bodyPr>
          <a:lstStyle/>
          <a:p>
            <a:r>
              <a:rPr sz="3200" b="1"/>
              <a:t>DistilBERT Model:</a:t>
            </a:r>
            <a:r>
              <a:rPr sz="3200"/>
              <a:t> Message classifier with class-weighted loss</a:t>
            </a:r>
          </a:p>
          <a:p>
            <a:r>
              <a:rPr sz="3200" b="1"/>
              <a:t>LSTM Model:</a:t>
            </a:r>
            <a:r>
              <a:rPr sz="3200"/>
              <a:t> Turn-by-turn risk escalation tracking</a:t>
            </a:r>
          </a:p>
          <a:p>
            <a:r>
              <a:rPr sz="3200" b="1"/>
              <a:t>Keyword Baseline:</a:t>
            </a:r>
            <a:r>
              <a:rPr sz="3200"/>
              <a:t> Term-frequency lexicon filter baseline</a:t>
            </a:r>
          </a:p>
          <a:p>
            <a:r>
              <a:rPr sz="3200" b="1"/>
              <a:t>Primary Output:</a:t>
            </a:r>
            <a:r>
              <a:rPr sz="3200"/>
              <a:t> Real-time risk score &amp; time-to-detection</a:t>
            </a:r>
          </a:p>
        </p:txBody>
      </p:sp>
    </p:spTree>
    <p:extLst>
      <p:ext uri="{BB962C8B-B14F-4D97-AF65-F5344CB8AC3E}">
        <p14:creationId xmlns:p14="http://schemas.microsoft.com/office/powerpoint/2010/main" val="36498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FB7C-5425-F0E1-52E3-30955A4CD23A}"/>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318C9C0B-6374-7D1A-4F70-2FD243AFB8C0}"/>
              </a:ext>
            </a:extLst>
          </p:cNvPr>
          <p:cNvSpPr>
            <a:spLocks noGrp="1"/>
          </p:cNvSpPr>
          <p:nvPr>
            <p:ph type="title"/>
          </p:nvPr>
        </p:nvSpPr>
        <p:spPr/>
        <p:txBody>
          <a:bodyPr/>
          <a:lstStyle/>
          <a:p>
            <a:r>
              <a:t>Evaluation, Validation &amp; Ethics</a:t>
            </a:r>
          </a:p>
        </p:txBody>
      </p:sp>
      <p:sp>
        <p:nvSpPr>
          <p:cNvPr id="7" name="Content Placeholder 6">
            <a:extLst>
              <a:ext uri="{FF2B5EF4-FFF2-40B4-BE49-F238E27FC236}">
                <a16:creationId xmlns:a16="http://schemas.microsoft.com/office/drawing/2014/main" id="{D8EE5D27-CD57-594D-6577-4F7D22ECD5F1}"/>
              </a:ext>
            </a:extLst>
          </p:cNvPr>
          <p:cNvSpPr>
            <a:spLocks noGrp="1"/>
          </p:cNvSpPr>
          <p:nvPr>
            <p:ph idx="1"/>
          </p:nvPr>
        </p:nvSpPr>
        <p:spPr>
          <a:xfrm>
            <a:off x="838200" y="1825624"/>
            <a:ext cx="10417629" cy="4812919"/>
          </a:xfrm>
        </p:spPr>
        <p:txBody>
          <a:bodyPr>
            <a:normAutofit/>
          </a:bodyPr>
          <a:lstStyle/>
          <a:p>
            <a:r>
              <a:rPr sz="3200" b="1"/>
              <a:t>Key Metric:</a:t>
            </a:r>
            <a:r>
              <a:rPr sz="3200"/>
              <a:t> Recall &amp; False Negative Rate reduction</a:t>
            </a:r>
          </a:p>
          <a:p>
            <a:r>
              <a:rPr sz="3200" b="1"/>
              <a:t>Other Metrics:</a:t>
            </a:r>
            <a:r>
              <a:rPr sz="3200"/>
              <a:t> Precision, F1-Score &amp; Time-to-Detection</a:t>
            </a:r>
          </a:p>
          <a:p>
            <a:r>
              <a:rPr sz="3200" b="1"/>
              <a:t>Robustness:</a:t>
            </a:r>
            <a:r>
              <a:rPr sz="3200"/>
              <a:t> Tested against obfuscation &amp; coded slang</a:t>
            </a:r>
          </a:p>
          <a:p>
            <a:r>
              <a:rPr sz="3200" b="1"/>
              <a:t>Ethics:</a:t>
            </a:r>
            <a:r>
              <a:rPr sz="3200"/>
              <a:t> Offline testing + human moderator queue</a:t>
            </a:r>
          </a:p>
        </p:txBody>
      </p:sp>
    </p:spTree>
    <p:extLst>
      <p:ext uri="{BB962C8B-B14F-4D97-AF65-F5344CB8AC3E}">
        <p14:creationId xmlns:p14="http://schemas.microsoft.com/office/powerpoint/2010/main" val="198414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C014-A5FB-697C-FD43-5C83E2EDF2EF}"/>
              </a:ext>
            </a:extLst>
          </p:cNvPr>
          <p:cNvSpPr>
            <a:spLocks noGrp="1"/>
          </p:cNvSpPr>
          <p:nvPr>
            <p:ph type="title"/>
          </p:nvPr>
        </p:nvSpPr>
        <p:spPr/>
        <p:txBody>
          <a:bodyPr/>
          <a:lstStyle/>
          <a:p>
            <a:r>
              <a:t>Comments Matrix</a:t>
            </a:r>
          </a:p>
        </p:txBody>
      </p:sp>
      <p:sp>
        <p:nvSpPr>
          <p:cNvPr id="3" name="Text Placeholder 2">
            <a:extLst>
              <a:ext uri="{FF2B5EF4-FFF2-40B4-BE49-F238E27FC236}">
                <a16:creationId xmlns:a16="http://schemas.microsoft.com/office/drawing/2014/main" id="{DAAFFF55-7B74-69F4-9D7B-0BC8CB569A04}"/>
              </a:ext>
            </a:extLst>
          </p:cNvPr>
          <p:cNvSpPr>
            <a:spLocks noGrp="1"/>
          </p:cNvSpPr>
          <p:nvPr>
            <p:ph type="body" idx="1"/>
          </p:nvPr>
        </p:nvSpPr>
        <p:spPr/>
        <p:txBody>
          <a:bodyPr/>
          <a:lstStyle/>
          <a:p>
            <a:r>
              <a:t>Panel comments and revisions that can be completed now</a:t>
            </a:r>
          </a:p>
        </p:txBody>
      </p:sp>
    </p:spTree>
    <p:extLst>
      <p:ext uri="{BB962C8B-B14F-4D97-AF65-F5344CB8AC3E}">
        <p14:creationId xmlns:p14="http://schemas.microsoft.com/office/powerpoint/2010/main" val="1080980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EE2-687D-86E2-A4AC-7703E81DFB2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D1BFD8D-44B5-3792-EC47-974B2556A5EE}"/>
              </a:ext>
            </a:extLst>
          </p:cNvPr>
          <p:cNvSpPr>
            <a:spLocks noGrp="1"/>
          </p:cNvSpPr>
          <p:nvPr>
            <p:ph type="title"/>
          </p:nvPr>
        </p:nvSpPr>
        <p:spPr>
          <a:xfrm>
            <a:off x="933450" y="685800"/>
            <a:ext cx="9906000" cy="781050"/>
          </a:xfrm>
        </p:spPr>
        <p:txBody>
          <a:bodyPr/>
          <a:lstStyle/>
          <a:p>
            <a:r>
              <a:rPr sz="3450"/>
              <a:t>Privacy and Philippine context</a:t>
            </a:r>
          </a:p>
        </p:txBody>
      </p:sp>
      <p:sp>
        <p:nvSpPr>
          <p:cNvPr id="7" name="Content Placeholder 6">
            <a:extLst>
              <a:ext uri="{FF2B5EF4-FFF2-40B4-BE49-F238E27FC236}">
                <a16:creationId xmlns:a16="http://schemas.microsoft.com/office/drawing/2014/main" id="{B91042CF-BDB0-7449-206F-A9449A7E0216}"/>
              </a:ext>
            </a:extLst>
          </p:cNvPr>
          <p:cNvSpPr>
            <a:spLocks noGrp="1"/>
          </p:cNvSpPr>
          <p:nvPr>
            <p:ph idx="1"/>
          </p:nvPr>
        </p:nvSpPr>
        <p:spPr>
          <a:xfrm>
            <a:off x="838200" y="1825624"/>
            <a:ext cx="10417629" cy="4812919"/>
          </a:xfrm>
        </p:spPr>
        <p:txBody>
          <a:bodyPr>
            <a:normAutofit/>
          </a:bodyPr>
          <a:lstStyle/>
          <a:p>
            <a:pPr marL="34" indent="-20">
              <a:spcAft>
                <a:spcPts val="9"/>
              </a:spcAft>
              <a:buChar char="•"/>
            </a:pPr>
            <a:r>
              <a:rPr b="1" dirty="0"/>
              <a:t>  1. Stronger privacy safeguards. </a:t>
            </a:r>
            <a:r>
              <a:rPr b="0" dirty="0"/>
              <a:t>The demo masks common direct identifiers before scoring, prevents browser caching, and warns that automatic masking still requires manual review.</a:t>
            </a:r>
          </a:p>
          <a:p>
            <a:pPr marL="34" indent="-20">
              <a:spcAft>
                <a:spcPts val="9"/>
              </a:spcAft>
              <a:buChar char="•"/>
            </a:pPr>
            <a:r>
              <a:rPr b="1" dirty="0"/>
              <a:t>  2. Philippine context. </a:t>
            </a:r>
            <a:r>
              <a:rPr b="0" dirty="0"/>
              <a:t>The paper explains the study's local relevance while stating clearly that the current work does not validate Filipino or </a:t>
            </a:r>
            <a:r>
              <a:rPr b="0" dirty="0" err="1"/>
              <a:t>Taglish</a:t>
            </a:r>
            <a:r>
              <a:rPr b="0" dirty="0"/>
              <a:t> performance.</a:t>
            </a:r>
          </a:p>
        </p:txBody>
      </p:sp>
    </p:spTree>
    <p:extLst>
      <p:ext uri="{BB962C8B-B14F-4D97-AF65-F5344CB8AC3E}">
        <p14:creationId xmlns:p14="http://schemas.microsoft.com/office/powerpoint/2010/main" val="2325337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D8BC-1F83-AEE8-FB1E-A56E1DC9E5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6498FA5B-5D86-8E83-9DA7-B40A332689F1}"/>
              </a:ext>
            </a:extLst>
          </p:cNvPr>
          <p:cNvSpPr>
            <a:spLocks noGrp="1"/>
          </p:cNvSpPr>
          <p:nvPr>
            <p:ph type="title"/>
          </p:nvPr>
        </p:nvSpPr>
        <p:spPr>
          <a:xfrm>
            <a:off x="933450" y="685800"/>
            <a:ext cx="9906000" cy="781050"/>
          </a:xfrm>
        </p:spPr>
        <p:txBody>
          <a:bodyPr/>
          <a:lstStyle/>
          <a:p>
            <a:r>
              <a:rPr sz="3450"/>
              <a:t>Title and deployment scope</a:t>
            </a:r>
          </a:p>
        </p:txBody>
      </p:sp>
      <p:sp>
        <p:nvSpPr>
          <p:cNvPr id="7" name="Content Placeholder 6">
            <a:extLst>
              <a:ext uri="{FF2B5EF4-FFF2-40B4-BE49-F238E27FC236}">
                <a16:creationId xmlns:a16="http://schemas.microsoft.com/office/drawing/2014/main" id="{4AF7ADB4-23B2-B209-ECFF-B3E0843A1932}"/>
              </a:ext>
            </a:extLst>
          </p:cNvPr>
          <p:cNvSpPr>
            <a:spLocks noGrp="1"/>
          </p:cNvSpPr>
          <p:nvPr>
            <p:ph idx="1"/>
          </p:nvPr>
        </p:nvSpPr>
        <p:spPr>
          <a:xfrm>
            <a:off x="838200" y="1825624"/>
            <a:ext cx="10787743" cy="4812919"/>
          </a:xfrm>
        </p:spPr>
        <p:txBody>
          <a:bodyPr>
            <a:normAutofit/>
          </a:bodyPr>
          <a:lstStyle/>
          <a:p>
            <a:pPr marL="34" indent="-20">
              <a:spcAft>
                <a:spcPts val="9"/>
              </a:spcAft>
              <a:buChar char="•"/>
            </a:pPr>
            <a:r>
              <a:rPr b="1" dirty="0"/>
              <a:t>  5. Shorter title. </a:t>
            </a:r>
            <a:r>
              <a:rPr b="0" dirty="0"/>
              <a:t>Conversation Trajectory Lab is now the short module title. The full research title remains the descriptive subtitle.</a:t>
            </a:r>
          </a:p>
          <a:p>
            <a:pPr marL="34" indent="-20">
              <a:spcAft>
                <a:spcPts val="9"/>
              </a:spcAft>
              <a:buChar char="•"/>
            </a:pPr>
            <a:r>
              <a:rPr b="1" dirty="0"/>
              <a:t>  9. Offline deployment limitation. </a:t>
            </a:r>
            <a:r>
              <a:rPr b="0" dirty="0"/>
              <a:t>The prototype is described as controlled offline replay, not a live moderation service.</a:t>
            </a:r>
          </a:p>
        </p:txBody>
      </p:sp>
    </p:spTree>
    <p:extLst>
      <p:ext uri="{BB962C8B-B14F-4D97-AF65-F5344CB8AC3E}">
        <p14:creationId xmlns:p14="http://schemas.microsoft.com/office/powerpoint/2010/main" val="165754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98A0-9FA3-ADAE-2623-D2D08491DEA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F6423041-7765-4AC8-4FA6-4F16EF41ADCC}"/>
              </a:ext>
            </a:extLst>
          </p:cNvPr>
          <p:cNvSpPr>
            <a:spLocks noGrp="1"/>
          </p:cNvSpPr>
          <p:nvPr>
            <p:ph type="title"/>
          </p:nvPr>
        </p:nvSpPr>
        <p:spPr>
          <a:xfrm>
            <a:off x="933450" y="685800"/>
            <a:ext cx="9906000" cy="781050"/>
          </a:xfrm>
        </p:spPr>
        <p:txBody>
          <a:bodyPr/>
          <a:lstStyle/>
          <a:p>
            <a:r>
              <a:rPr sz="3450"/>
              <a:t>Feature and software details</a:t>
            </a:r>
          </a:p>
        </p:txBody>
      </p:sp>
      <p:sp>
        <p:nvSpPr>
          <p:cNvPr id="7" name="Content Placeholder 6">
            <a:extLst>
              <a:ext uri="{FF2B5EF4-FFF2-40B4-BE49-F238E27FC236}">
                <a16:creationId xmlns:a16="http://schemas.microsoft.com/office/drawing/2014/main" id="{9041BE92-E854-95BC-140D-667CB9E565BA}"/>
              </a:ext>
            </a:extLst>
          </p:cNvPr>
          <p:cNvSpPr>
            <a:spLocks noGrp="1"/>
          </p:cNvSpPr>
          <p:nvPr>
            <p:ph idx="1"/>
          </p:nvPr>
        </p:nvSpPr>
        <p:spPr>
          <a:xfrm>
            <a:off x="838200" y="1825624"/>
            <a:ext cx="10787743" cy="4812919"/>
          </a:xfrm>
        </p:spPr>
        <p:txBody>
          <a:bodyPr>
            <a:normAutofit/>
          </a:bodyPr>
          <a:lstStyle/>
          <a:p>
            <a:pPr marL="34" indent="-20">
              <a:spcAft>
                <a:spcPts val="9"/>
              </a:spcAft>
              <a:buChar char="•"/>
            </a:pPr>
            <a:r>
              <a:rPr b="1" dirty="0"/>
              <a:t>  7. Feature definitions. </a:t>
            </a:r>
            <a:r>
              <a:rPr b="0" dirty="0"/>
              <a:t>Chapter 3 now gives the actual formula and range for each of the seven implemented trajectory features.</a:t>
            </a:r>
          </a:p>
          <a:p>
            <a:pPr marL="34" indent="-20">
              <a:spcAft>
                <a:spcPts val="9"/>
              </a:spcAft>
              <a:buChar char="•"/>
            </a:pPr>
            <a:r>
              <a:rPr b="1" dirty="0"/>
              <a:t>  8. Software details. </a:t>
            </a:r>
            <a:r>
              <a:rPr b="0" dirty="0"/>
              <a:t>The current Python, </a:t>
            </a:r>
            <a:r>
              <a:rPr b="0" dirty="0" err="1"/>
              <a:t>PyTorch</a:t>
            </a:r>
            <a:r>
              <a:rPr b="0" dirty="0"/>
              <a:t>, Transformers, scikit-learn, NumPy, pandas, and Flask versions are recorded for reproducibility.</a:t>
            </a:r>
          </a:p>
        </p:txBody>
      </p:sp>
    </p:spTree>
    <p:extLst>
      <p:ext uri="{BB962C8B-B14F-4D97-AF65-F5344CB8AC3E}">
        <p14:creationId xmlns:p14="http://schemas.microsoft.com/office/powerpoint/2010/main" val="2944644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F6-715A-F097-9D74-51FCC60B8438}"/>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5521B0EC-7A29-C893-0E5A-83099F8ABAFC}"/>
              </a:ext>
            </a:extLst>
          </p:cNvPr>
          <p:cNvSpPr>
            <a:spLocks noGrp="1"/>
          </p:cNvSpPr>
          <p:nvPr>
            <p:ph type="title"/>
          </p:nvPr>
        </p:nvSpPr>
        <p:spPr>
          <a:xfrm>
            <a:off x="933450" y="685800"/>
            <a:ext cx="9906000" cy="781050"/>
          </a:xfrm>
        </p:spPr>
        <p:txBody>
          <a:bodyPr/>
          <a:lstStyle/>
          <a:p>
            <a:r>
              <a:rPr sz="3450"/>
              <a:t>Items awaiting adviser approval</a:t>
            </a:r>
          </a:p>
        </p:txBody>
      </p:sp>
      <p:sp>
        <p:nvSpPr>
          <p:cNvPr id="7" name="Content Placeholder 6">
            <a:extLst>
              <a:ext uri="{FF2B5EF4-FFF2-40B4-BE49-F238E27FC236}">
                <a16:creationId xmlns:a16="http://schemas.microsoft.com/office/drawing/2014/main" id="{6CFC9BB0-3A49-1A92-9D3D-8ECF57197D48}"/>
              </a:ext>
            </a:extLst>
          </p:cNvPr>
          <p:cNvSpPr>
            <a:spLocks noGrp="1"/>
          </p:cNvSpPr>
          <p:nvPr>
            <p:ph idx="1"/>
          </p:nvPr>
        </p:nvSpPr>
        <p:spPr>
          <a:xfrm>
            <a:off x="838200" y="1825624"/>
            <a:ext cx="10787743" cy="4812919"/>
          </a:xfrm>
        </p:spPr>
        <p:txBody>
          <a:bodyPr>
            <a:normAutofit/>
          </a:bodyPr>
          <a:lstStyle/>
          <a:p>
            <a:pPr marL="34" indent="-20">
              <a:spcAft>
                <a:spcPts val="9"/>
              </a:spcAft>
              <a:buChar char="•"/>
            </a:pPr>
            <a:r>
              <a:rPr b="1" dirty="0"/>
              <a:t>  Comments 3 and 4. </a:t>
            </a:r>
            <a:r>
              <a:rPr b="0" dirty="0"/>
              <a:t>Dataset-table and label-definition revisions are deferred.</a:t>
            </a:r>
          </a:p>
          <a:p>
            <a:pPr marL="34" indent="-20">
              <a:spcAft>
                <a:spcPts val="9"/>
              </a:spcAft>
              <a:buChar char="•"/>
            </a:pPr>
            <a:r>
              <a:rPr b="1" dirty="0"/>
              <a:t>  Comment 6. </a:t>
            </a:r>
            <a:r>
              <a:rPr b="0" dirty="0"/>
              <a:t>The final evaluation design is deferred.</a:t>
            </a:r>
          </a:p>
          <a:p>
            <a:pPr marL="34" indent="-20">
              <a:spcAft>
                <a:spcPts val="9"/>
              </a:spcAft>
              <a:buChar char="•"/>
            </a:pPr>
            <a:r>
              <a:rPr b="1" dirty="0"/>
              <a:t>  Comment 10. </a:t>
            </a:r>
            <a:r>
              <a:rPr b="0" dirty="0" err="1"/>
              <a:t>DistilBERT</a:t>
            </a:r>
            <a:r>
              <a:rPr b="0" dirty="0"/>
              <a:t> training and label-alignment revisions are deferred.</a:t>
            </a:r>
          </a:p>
          <a:p>
            <a:pPr marL="34" indent="-20">
              <a:spcAft>
                <a:spcPts val="9"/>
              </a:spcAft>
              <a:buChar char="•"/>
            </a:pPr>
            <a:r>
              <a:rPr b="1" dirty="0"/>
              <a:t>  Reason. </a:t>
            </a:r>
            <a:r>
              <a:rPr b="0" dirty="0"/>
              <a:t>These items change the study's core methodology and will be revised only after the adviser confirms the direction.</a:t>
            </a:r>
          </a:p>
        </p:txBody>
      </p:sp>
    </p:spTree>
    <p:extLst>
      <p:ext uri="{BB962C8B-B14F-4D97-AF65-F5344CB8AC3E}">
        <p14:creationId xmlns:p14="http://schemas.microsoft.com/office/powerpoint/2010/main" val="4154563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3F31-E264-21B8-6FC3-A3637B8D634C}"/>
              </a:ext>
            </a:extLst>
          </p:cNvPr>
          <p:cNvSpPr>
            <a:spLocks noGrp="1"/>
          </p:cNvSpPr>
          <p:nvPr>
            <p:ph type="title"/>
          </p:nvPr>
        </p:nvSpPr>
        <p:spPr/>
        <p:txBody>
          <a:bodyPr/>
          <a:lstStyle/>
          <a:p>
            <a:r>
              <a:t>AI Tool Usage Plan</a:t>
            </a:r>
          </a:p>
        </p:txBody>
      </p:sp>
      <p:sp>
        <p:nvSpPr>
          <p:cNvPr id="3" name="Text Placeholder 2">
            <a:extLst>
              <a:ext uri="{FF2B5EF4-FFF2-40B4-BE49-F238E27FC236}">
                <a16:creationId xmlns:a16="http://schemas.microsoft.com/office/drawing/2014/main" id="{F16E4341-5665-B7BC-E630-673275FE75E9}"/>
              </a:ext>
            </a:extLst>
          </p:cNvPr>
          <p:cNvSpPr>
            <a:spLocks noGrp="1"/>
          </p:cNvSpPr>
          <p:nvPr>
            <p:ph type="body" idx="1"/>
          </p:nvPr>
        </p:nvSpPr>
        <p:spPr/>
        <p:txBody>
          <a:bodyPr/>
          <a:lstStyle/>
          <a:p>
            <a:r>
              <a:t>AI is used to </a:t>
            </a:r>
            <a:r>
              <a:rPr b="1"/>
              <a:t>assist</a:t>
            </a:r>
            <a:r>
              <a:t>, not replace, the research process.</a:t>
            </a:r>
          </a:p>
        </p:txBody>
      </p:sp>
    </p:spTree>
    <p:extLst>
      <p:ext uri="{BB962C8B-B14F-4D97-AF65-F5344CB8AC3E}">
        <p14:creationId xmlns:p14="http://schemas.microsoft.com/office/powerpoint/2010/main" val="3250652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798A5-1CA9-AA6B-3D2F-BA38F4B77DF7}"/>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4980A873-EA93-10B8-1881-FEB633AC5A32}"/>
              </a:ext>
            </a:extLst>
          </p:cNvPr>
          <p:cNvSpPr>
            <a:spLocks noGrp="1"/>
          </p:cNvSpPr>
          <p:nvPr>
            <p:ph type="title"/>
          </p:nvPr>
        </p:nvSpPr>
        <p:spPr/>
        <p:txBody>
          <a:bodyPr/>
          <a:lstStyle/>
          <a:p>
            <a:r>
              <a:t>AI Tools Used:</a:t>
            </a:r>
          </a:p>
        </p:txBody>
      </p:sp>
      <p:sp>
        <p:nvSpPr>
          <p:cNvPr id="7" name="Content Placeholder 6">
            <a:extLst>
              <a:ext uri="{FF2B5EF4-FFF2-40B4-BE49-F238E27FC236}">
                <a16:creationId xmlns:a16="http://schemas.microsoft.com/office/drawing/2014/main" id="{828F0545-FA5A-470E-0FCA-99C4D6425241}"/>
              </a:ext>
            </a:extLst>
          </p:cNvPr>
          <p:cNvSpPr>
            <a:spLocks noGrp="1"/>
          </p:cNvSpPr>
          <p:nvPr>
            <p:ph idx="1"/>
          </p:nvPr>
        </p:nvSpPr>
        <p:spPr/>
        <p:txBody>
          <a:bodyPr/>
          <a:lstStyle/>
          <a:p>
            <a:r>
              <a:t>ChatGPT</a:t>
            </a:r>
          </a:p>
          <a:p>
            <a:r>
              <a:t>Google Gemini</a:t>
            </a:r>
          </a:p>
        </p:txBody>
      </p:sp>
    </p:spTree>
    <p:extLst>
      <p:ext uri="{BB962C8B-B14F-4D97-AF65-F5344CB8AC3E}">
        <p14:creationId xmlns:p14="http://schemas.microsoft.com/office/powerpoint/2010/main" val="412730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C629-3656-86A4-C467-4DEB50AD8BCD}"/>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85D46F63-B3AC-CF53-F8AC-D5F369209306}"/>
              </a:ext>
            </a:extLst>
          </p:cNvPr>
          <p:cNvSpPr>
            <a:spLocks noGrp="1"/>
          </p:cNvSpPr>
          <p:nvPr>
            <p:ph type="title"/>
          </p:nvPr>
        </p:nvSpPr>
        <p:spPr/>
        <p:txBody>
          <a:bodyPr/>
          <a:lstStyle/>
          <a:p>
            <a:r>
              <a:t>AI Support</a:t>
            </a:r>
          </a:p>
        </p:txBody>
      </p:sp>
      <p:sp>
        <p:nvSpPr>
          <p:cNvPr id="7" name="Content Placeholder 6">
            <a:extLst>
              <a:ext uri="{FF2B5EF4-FFF2-40B4-BE49-F238E27FC236}">
                <a16:creationId xmlns:a16="http://schemas.microsoft.com/office/drawing/2014/main" id="{1F516172-740F-ACA9-8CEE-71C9B6FC87C4}"/>
              </a:ext>
            </a:extLst>
          </p:cNvPr>
          <p:cNvSpPr>
            <a:spLocks noGrp="1"/>
          </p:cNvSpPr>
          <p:nvPr>
            <p:ph idx="1"/>
          </p:nvPr>
        </p:nvSpPr>
        <p:spPr/>
        <p:txBody>
          <a:bodyPr/>
          <a:lstStyle/>
          <a:p>
            <a:r>
              <a:t>Grammar and writing refinement </a:t>
            </a:r>
          </a:p>
          <a:p>
            <a:r>
              <a:t>Literature search and synthesis </a:t>
            </a:r>
          </a:p>
          <a:p>
            <a:r>
              <a:t>Methodology clarification </a:t>
            </a:r>
          </a:p>
          <a:p>
            <a:r>
              <a:t>Programming assistance </a:t>
            </a:r>
          </a:p>
          <a:p>
            <a:r>
              <a:t>Synthetic data generation </a:t>
            </a:r>
          </a:p>
          <a:p>
            <a:r>
              <a:t>Proofreading</a:t>
            </a:r>
          </a:p>
        </p:txBody>
      </p:sp>
    </p:spTree>
    <p:extLst>
      <p:ext uri="{BB962C8B-B14F-4D97-AF65-F5344CB8AC3E}">
        <p14:creationId xmlns:p14="http://schemas.microsoft.com/office/powerpoint/2010/main" val="819245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E285-C330-F604-A20B-AD94F9081825}"/>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DFF6982F-5DCB-9354-59A1-771CC3C6F6E7}"/>
              </a:ext>
            </a:extLst>
          </p:cNvPr>
          <p:cNvSpPr>
            <a:spLocks noGrp="1"/>
          </p:cNvSpPr>
          <p:nvPr>
            <p:ph type="title"/>
          </p:nvPr>
        </p:nvSpPr>
        <p:spPr/>
        <p:txBody>
          <a:bodyPr/>
          <a:lstStyle/>
          <a:p>
            <a:r>
              <a:t>Responsible AI Use</a:t>
            </a:r>
          </a:p>
        </p:txBody>
      </p:sp>
      <p:sp>
        <p:nvSpPr>
          <p:cNvPr id="7" name="Content Placeholder 6">
            <a:extLst>
              <a:ext uri="{FF2B5EF4-FFF2-40B4-BE49-F238E27FC236}">
                <a16:creationId xmlns:a16="http://schemas.microsoft.com/office/drawing/2014/main" id="{C94547B8-A413-BC6E-85E2-0CCA740C6A35}"/>
              </a:ext>
            </a:extLst>
          </p:cNvPr>
          <p:cNvSpPr>
            <a:spLocks noGrp="1"/>
          </p:cNvSpPr>
          <p:nvPr>
            <p:ph idx="1"/>
          </p:nvPr>
        </p:nvSpPr>
        <p:spPr/>
        <p:txBody>
          <a:bodyPr/>
          <a:lstStyle/>
          <a:p>
            <a:pPr marL="0" indent="0">
              <a:buNone/>
            </a:pPr>
            <a:r>
              <a:t>Human Validation</a:t>
            </a:r>
          </a:p>
          <a:p>
            <a:r>
              <a:t>Verify AI outputs using credible academic sources </a:t>
            </a:r>
          </a:p>
          <a:p>
            <a:r>
              <a:t>Researchers remain responsible for all submitted work </a:t>
            </a:r>
          </a:p>
          <a:p>
            <a:r>
              <a:t>No fabricated citations or results </a:t>
            </a:r>
          </a:p>
          <a:p>
            <a:r>
              <a:t>No confidential or sensitive data uploaded to AI platforms </a:t>
            </a:r>
          </a:p>
          <a:p>
            <a:r>
              <a:t>AI usage will be disclosed in the final paper</a:t>
            </a:r>
          </a:p>
        </p:txBody>
      </p:sp>
    </p:spTree>
    <p:extLst>
      <p:ext uri="{BB962C8B-B14F-4D97-AF65-F5344CB8AC3E}">
        <p14:creationId xmlns:p14="http://schemas.microsoft.com/office/powerpoint/2010/main" val="2534624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96D2-3170-EC83-D278-F361952F34AF}"/>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10F1361B-7088-2FDF-2FED-04890376121C}"/>
              </a:ext>
            </a:extLst>
          </p:cNvPr>
          <p:cNvSpPr>
            <a:spLocks noGrp="1"/>
          </p:cNvSpPr>
          <p:nvPr>
            <p:ph type="title"/>
          </p:nvPr>
        </p:nvSpPr>
        <p:spPr/>
        <p:txBody>
          <a:bodyPr/>
          <a:lstStyle/>
          <a:p>
            <a:r>
              <a:t>Risk Mitigation</a:t>
            </a:r>
          </a:p>
        </p:txBody>
      </p:sp>
      <p:sp>
        <p:nvSpPr>
          <p:cNvPr id="7" name="Content Placeholder 6">
            <a:extLst>
              <a:ext uri="{FF2B5EF4-FFF2-40B4-BE49-F238E27FC236}">
                <a16:creationId xmlns:a16="http://schemas.microsoft.com/office/drawing/2014/main" id="{F9DA66C0-EF4A-D7D6-F727-E1FDFDF4287E}"/>
              </a:ext>
            </a:extLst>
          </p:cNvPr>
          <p:cNvSpPr>
            <a:spLocks noGrp="1"/>
          </p:cNvSpPr>
          <p:nvPr>
            <p:ph idx="1"/>
          </p:nvPr>
        </p:nvSpPr>
        <p:spPr/>
        <p:txBody>
          <a:bodyPr/>
          <a:lstStyle/>
          <a:p>
            <a:r>
              <a:t>Verify hallucinated information </a:t>
            </a:r>
          </a:p>
          <a:p>
            <a:r>
              <a:t>Validate citations </a:t>
            </a:r>
          </a:p>
          <a:p>
            <a:r>
              <a:t>Remove sensitive data before AI use </a:t>
            </a:r>
          </a:p>
          <a:p>
            <a:r>
              <a:t>Conduct manual review to reduce bias </a:t>
            </a:r>
          </a:p>
          <a:p>
            <a:r>
              <a:t>Maintain independent analysis to avoid overreliance on AI</a:t>
            </a:r>
          </a:p>
        </p:txBody>
      </p:sp>
    </p:spTree>
    <p:extLst>
      <p:ext uri="{BB962C8B-B14F-4D97-AF65-F5344CB8AC3E}">
        <p14:creationId xmlns:p14="http://schemas.microsoft.com/office/powerpoint/2010/main" val="4003493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62D6-6609-3BEA-6165-A7F5095A16AC}"/>
              </a:ext>
            </a:extLst>
          </p:cNvPr>
          <p:cNvSpPr>
            <a:spLocks noGrp="1"/>
          </p:cNvSpPr>
          <p:nvPr>
            <p:ph type="title"/>
          </p:nvPr>
        </p:nvSpPr>
        <p:spPr/>
        <p:txBody>
          <a:bodyPr/>
          <a:lstStyle/>
          <a:p>
            <a:r>
              <a:t>Thank you</a:t>
            </a:r>
          </a:p>
        </p:txBody>
      </p:sp>
      <p:sp>
        <p:nvSpPr>
          <p:cNvPr id="3" name="Text Placeholder 2">
            <a:extLst>
              <a:ext uri="{FF2B5EF4-FFF2-40B4-BE49-F238E27FC236}">
                <a16:creationId xmlns:a16="http://schemas.microsoft.com/office/drawing/2014/main" id="{563B6A9D-5621-CA75-6BD4-0A403BD9EBA4}"/>
              </a:ext>
            </a:extLst>
          </p:cNvPr>
          <p:cNvSpPr>
            <a:spLocks noGrp="1"/>
          </p:cNvSpPr>
          <p:nvPr>
            <p:ph type="body" idx="1"/>
          </p:nvPr>
        </p:nvSpPr>
        <p:spPr>
          <a:xfrm>
            <a:off x="831850" y="5186854"/>
            <a:ext cx="10062122" cy="625025"/>
          </a:xfrm>
        </p:spPr>
        <p:txBody>
          <a:bodyPr/>
          <a:lstStyle/>
          <a:p>
            <a:pPr marL="0" marR="0" lvl="0" indent="0" defTabSz="914400">
              <a:lnSpc>
                <a:spcPct val="100000"/>
              </a:lnSpc>
              <a:spcBef>
                <a:spcPts val="0"/>
              </a:spcBef>
              <a:spcAft>
                <a:spcPts val="0"/>
              </a:spcAft>
              <a:buClrTx/>
              <a:buSzTx/>
              <a:buFontTx/>
              <a:buNone/>
            </a:pPr>
            <a:r>
              <a:rPr sz="2400" b="0" i="1" u="none" cap="none">
                <a:ln>
                  <a:noFill/>
                </a:ln>
                <a:solidFill>
                  <a:srgbClr val="FFFFFF"/>
                </a:solidFill>
                <a:latin typeface="Calibri Light"/>
                <a:ea typeface="Calibri Light"/>
                <a:cs typeface="Calibri Light"/>
              </a:rPr>
              <a:t>Agility and resiliency in times of adversity.</a:t>
            </a:r>
            <a:endParaRPr sz="2400" b="0" i="1" u="none" kern="1200" cap="none" spc="0" baseline="0">
              <a:ln>
                <a:noFill/>
              </a:ln>
              <a:solidFill>
                <a:srgbClr val="FFFFFF"/>
              </a:solidFill>
              <a:latin typeface="Calibri Light"/>
              <a:ea typeface="Calibri Light"/>
              <a:cs typeface="Calibri Light"/>
            </a:endParaRPr>
          </a:p>
        </p:txBody>
      </p:sp>
      <p:sp>
        <p:nvSpPr>
          <p:cNvPr id="5" name="Straight Connector 4">
            <a:extLst>
              <a:ext uri="{FF2B5EF4-FFF2-40B4-BE49-F238E27FC236}">
                <a16:creationId xmlns:a16="http://schemas.microsoft.com/office/drawing/2014/main" id="{AE7566C8-41F1-4BB5-AE3E-9D4B12E72064}"/>
              </a:ext>
            </a:extLst>
          </p:cNvPr>
          <p:cNvSpPr>
            <a:spLocks noGrp="1"/>
          </p:cNvSpPr>
          <p:nvPr/>
        </p:nvSpPr>
        <p:spPr>
          <a:xfrm>
            <a:off x="856937" y="5174411"/>
            <a:ext cx="75618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PH"/>
          </a:p>
        </p:txBody>
      </p:sp>
    </p:spTree>
    <p:extLst>
      <p:ext uri="{BB962C8B-B14F-4D97-AF65-F5344CB8AC3E}">
        <p14:creationId xmlns:p14="http://schemas.microsoft.com/office/powerpoint/2010/main" val="3053108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44B5-70AB-4288-3250-7B9D2AE0D6B1}"/>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C1D6124-563A-7F70-DF21-E8FEA2257CAD}"/>
              </a:ext>
            </a:extLst>
          </p:cNvPr>
          <p:cNvSpPr>
            <a:spLocks noGrp="1"/>
          </p:cNvSpPr>
          <p:nvPr>
            <p:ph type="title"/>
          </p:nvPr>
        </p:nvSpPr>
        <p:spPr>
          <a:xfrm>
            <a:off x="1205255" y="2850418"/>
            <a:ext cx="9781489" cy="1325563"/>
          </a:xfrm>
        </p:spPr>
        <p:txBody>
          <a:bodyPr>
            <a:noAutofit/>
          </a:bodyPr>
          <a:lstStyle/>
          <a:p>
            <a:pPr algn="ctr">
              <a:buNone/>
            </a:pPr>
            <a:r>
              <a:rPr sz="8000" b="1"/>
              <a:t>RESOURCE SLIDES</a:t>
            </a:r>
            <a:br/>
            <a:r>
              <a:rPr sz="8000" b="1"/>
              <a:t>vvv</a:t>
            </a:r>
          </a:p>
        </p:txBody>
      </p:sp>
      <p:sp>
        <p:nvSpPr>
          <p:cNvPr id="3" name="Rectangle 2">
            <a:extLst>
              <a:ext uri="{FF2B5EF4-FFF2-40B4-BE49-F238E27FC236}">
                <a16:creationId xmlns:a16="http://schemas.microsoft.com/office/drawing/2014/main" id="{972EB74F-12A3-192F-04F0-FA096E2E1BCF}"/>
              </a:ext>
            </a:extLst>
          </p:cNvPr>
          <p:cNvSpPr>
            <a:spLocks noGrp="1"/>
          </p:cNvSpPr>
          <p:nvPr/>
        </p:nvSpPr>
        <p:spPr>
          <a:xfrm>
            <a:off x="-1" y="1342521"/>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623FB5B4-11EE-FCD9-7BF8-04B000C6621F}"/>
              </a:ext>
            </a:extLst>
          </p:cNvPr>
          <p:cNvSpPr>
            <a:spLocks noGrp="1"/>
          </p:cNvSpPr>
          <p:nvPr/>
        </p:nvSpPr>
        <p:spPr>
          <a:xfrm>
            <a:off x="-1" y="4523293"/>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37506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EC9-01F9-3331-09AA-19C64635D555}"/>
              </a:ext>
            </a:extLst>
          </p:cNvPr>
          <p:cNvSpPr>
            <a:spLocks noGrp="1"/>
          </p:cNvSpPr>
          <p:nvPr>
            <p:ph type="ctrTitle"/>
          </p:nvPr>
        </p:nvSpPr>
        <p:spPr>
          <a:xfrm>
            <a:off x="6096000" y="2722563"/>
            <a:ext cx="5077521" cy="2387600"/>
          </a:xfrm>
        </p:spPr>
        <p:txBody>
          <a:bodyPr>
            <a:normAutofit/>
          </a:bodyPr>
          <a:lstStyle/>
          <a:p>
            <a:pPr>
              <a:lnSpc>
                <a:spcPts val="5000"/>
              </a:lnSpc>
              <a:buNone/>
            </a:pPr>
            <a:r>
              <a:rPr sz="6600"/>
              <a:t>PACIFIC COLLEGE</a:t>
            </a:r>
          </a:p>
        </p:txBody>
      </p:sp>
    </p:spTree>
    <p:extLst>
      <p:ext uri="{BB962C8B-B14F-4D97-AF65-F5344CB8AC3E}">
        <p14:creationId xmlns:p14="http://schemas.microsoft.com/office/powerpoint/2010/main" val="4021905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B60773-11B5-CF24-34E2-87D3F196B882}"/>
              </a:ext>
            </a:extLst>
          </p:cNvPr>
          <p:cNvSpPr>
            <a:spLocks noGrp="1"/>
          </p:cNvSpPr>
          <p:nvPr/>
        </p:nvSpPr>
        <p:spPr>
          <a:xfrm>
            <a:off x="831850" y="605343"/>
            <a:ext cx="10062122" cy="1284059"/>
          </a:xfrm>
          <a:prstGeom prst="rect">
            <a:avLst/>
          </a:prstGeom>
        </p:spPr>
        <p:txBody>
          <a:bodyPr vert="horz" lIns="91440" tIns="45720" rIns="91440" bIns="45720" anchor="b">
            <a:normAutofit/>
          </a:bodyPr>
          <a:lstStyle>
            <a:lvl1pPr algn="l" defTabSz="914400">
              <a:lnSpc>
                <a:spcPct val="90000"/>
              </a:lnSpc>
              <a:spcBef>
                <a:spcPct val="0"/>
              </a:spcBef>
              <a:buNone/>
              <a:defRPr sz="6000" kern="1200">
                <a:solidFill>
                  <a:schemeClr val="bg1"/>
                </a:solidFill>
                <a:latin typeface="+mj-lt"/>
                <a:ea typeface="+mj-lt"/>
                <a:cs typeface="+mj-lt"/>
              </a:defRPr>
            </a:lvl1pPr>
          </a:lstStyle>
          <a:p>
            <a:r>
              <a:rPr b="1"/>
              <a:t>Sustainable Development Goals </a:t>
            </a:r>
          </a:p>
        </p:txBody>
      </p:sp>
      <p:pic>
        <p:nvPicPr>
          <p:cNvPr id="9" name="Picture 5"/>
          <p:cNvPicPr>
            <a:picLocks noChangeAspect="1"/>
          </p:cNvPicPr>
          <p:nvPr/>
        </p:nvPicPr>
        <p:blipFill>
          <a:blip r:embed="rId3"/>
          <a:stretch>
            <a:fillRect/>
          </a:stretch>
        </p:blipFill>
        <p:spPr>
          <a:xfrm>
            <a:off x="1131626" y="2706805"/>
            <a:ext cx="3559791" cy="3548418"/>
          </a:xfrm>
          <a:prstGeom prst="rect">
            <a:avLst/>
          </a:prstGeom>
        </p:spPr>
      </p:pic>
      <p:pic>
        <p:nvPicPr>
          <p:cNvPr id="10" name="Picture 6"/>
          <p:cNvPicPr>
            <a:picLocks noChangeAspect="1"/>
          </p:cNvPicPr>
          <p:nvPr/>
        </p:nvPicPr>
        <p:blipFill>
          <a:blip r:embed="rId4"/>
          <a:stretch>
            <a:fillRect/>
          </a:stretch>
        </p:blipFill>
        <p:spPr>
          <a:xfrm>
            <a:off x="6863687" y="2706805"/>
            <a:ext cx="3616657" cy="3548419"/>
          </a:xfrm>
          <a:prstGeom prst="rect">
            <a:avLst/>
          </a:prstGeom>
        </p:spPr>
      </p:pic>
    </p:spTree>
    <p:extLst>
      <p:ext uri="{BB962C8B-B14F-4D97-AF65-F5344CB8AC3E}">
        <p14:creationId xmlns:p14="http://schemas.microsoft.com/office/powerpoint/2010/main" val="131381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98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4F65-AA79-3DA3-8DD3-52D817FFB6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Tree>
    <p:extLst>
      <p:ext uri="{BB962C8B-B14F-4D97-AF65-F5344CB8AC3E}">
        <p14:creationId xmlns:p14="http://schemas.microsoft.com/office/powerpoint/2010/main" val="598291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2249</Words>
  <Application>Microsoft Office PowerPoint</Application>
  <DocSecurity>0</DocSecurity>
  <PresentationFormat>Widescreen</PresentationFormat>
  <Paragraphs>170</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Corbel</vt:lpstr>
      <vt:lpstr>Office Theme</vt:lpstr>
      <vt:lpstr>CONVERSATION TRAJECTORY LAB</vt:lpstr>
      <vt:lpstr>PowerPoint Presentation</vt:lpstr>
      <vt:lpstr>Introduction</vt:lpstr>
      <vt:lpstr>PowerPoint Presentation</vt:lpstr>
      <vt:lpstr>Statement of the Problem</vt:lpstr>
      <vt:lpstr>Research Questions</vt:lpstr>
      <vt:lpstr>1.3 Objectives of the Study</vt:lpstr>
      <vt:lpstr>1.4 Scope and Limitations</vt:lpstr>
      <vt:lpstr>1.4 Scope and Limitations</vt:lpstr>
      <vt:lpstr>1.5 Significance of the Study</vt:lpstr>
      <vt:lpstr>Review of Related Literature</vt:lpstr>
      <vt:lpstr>2 Review of Related Literature</vt:lpstr>
      <vt:lpstr>2 Review of Related Literature</vt:lpstr>
      <vt:lpstr>Methodology</vt:lpstr>
      <vt:lpstr>Research Design &amp; Architecture</vt:lpstr>
      <vt:lpstr>Data preparation and trajectory features</vt:lpstr>
      <vt:lpstr>Model Development &amp; Baseline</vt:lpstr>
      <vt:lpstr>Evaluation, Validation &amp; Ethics</vt:lpstr>
      <vt:lpstr>Comments Matrix</vt:lpstr>
      <vt:lpstr>Privacy and Philippine context</vt:lpstr>
      <vt:lpstr>Title and deployment scope</vt:lpstr>
      <vt:lpstr>Feature and software details</vt:lpstr>
      <vt:lpstr>Items awaiting adviser approval</vt:lpstr>
      <vt:lpstr>AI Tool Usage Plan</vt:lpstr>
      <vt:lpstr>AI Tools Used:</vt:lpstr>
      <vt:lpstr>AI Support</vt:lpstr>
      <vt:lpstr>Responsible AI Use</vt:lpstr>
      <vt:lpstr>Risk Mitigation</vt:lpstr>
      <vt:lpstr>Thank you</vt:lpstr>
      <vt:lpstr>RESOURCE SLIDES vvv</vt:lpstr>
      <vt:lpstr>PACIFIC COLLEGE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Michael Maala</cp:lastModifiedBy>
  <cp:revision>1</cp:revision>
  <dcterms:created xsi:type="dcterms:W3CDTF">2026-08-12T16:37:22Z</dcterms:created>
  <dcterms:modified xsi:type="dcterms:W3CDTF">2026-08-12T23:29:06Z</dcterms:modified>
</cp:coreProperties>
</file>